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  <p:sldMasterId id="2147483655" r:id="rId3"/>
    <p:sldMasterId id="2147483657" r:id="rId4"/>
    <p:sldMasterId id="2147483670" r:id="rId5"/>
    <p:sldMasterId id="2147483659" r:id="rId6"/>
    <p:sldMasterId id="2147483661" r:id="rId7"/>
    <p:sldMasterId id="2147483663" r:id="rId8"/>
    <p:sldMasterId id="2147483665" r:id="rId9"/>
    <p:sldMasterId id="2147483667" r:id="rId10"/>
  </p:sldMasterIdLst>
  <p:notesMasterIdLst>
    <p:notesMasterId r:id="rId73"/>
  </p:notesMasterIdLst>
  <p:handoutMasterIdLst>
    <p:handoutMasterId r:id="rId74"/>
  </p:handoutMasterIdLst>
  <p:sldIdLst>
    <p:sldId id="256" r:id="rId11"/>
    <p:sldId id="343" r:id="rId12"/>
    <p:sldId id="344" r:id="rId13"/>
    <p:sldId id="345" r:id="rId14"/>
    <p:sldId id="346" r:id="rId15"/>
    <p:sldId id="412" r:id="rId16"/>
    <p:sldId id="408" r:id="rId17"/>
    <p:sldId id="348" r:id="rId18"/>
    <p:sldId id="349" r:id="rId19"/>
    <p:sldId id="415" r:id="rId20"/>
    <p:sldId id="416" r:id="rId21"/>
    <p:sldId id="352" r:id="rId22"/>
    <p:sldId id="356" r:id="rId23"/>
    <p:sldId id="355" r:id="rId24"/>
    <p:sldId id="354" r:id="rId25"/>
    <p:sldId id="357" r:id="rId26"/>
    <p:sldId id="358" r:id="rId27"/>
    <p:sldId id="359" r:id="rId28"/>
    <p:sldId id="360" r:id="rId29"/>
    <p:sldId id="361" r:id="rId30"/>
    <p:sldId id="362" r:id="rId31"/>
    <p:sldId id="363" r:id="rId32"/>
    <p:sldId id="364" r:id="rId33"/>
    <p:sldId id="365" r:id="rId34"/>
    <p:sldId id="366" r:id="rId35"/>
    <p:sldId id="367" r:id="rId36"/>
    <p:sldId id="368" r:id="rId37"/>
    <p:sldId id="369" r:id="rId38"/>
    <p:sldId id="370" r:id="rId39"/>
    <p:sldId id="371" r:id="rId40"/>
    <p:sldId id="372" r:id="rId41"/>
    <p:sldId id="374" r:id="rId42"/>
    <p:sldId id="375" r:id="rId43"/>
    <p:sldId id="376" r:id="rId44"/>
    <p:sldId id="377" r:id="rId45"/>
    <p:sldId id="378" r:id="rId46"/>
    <p:sldId id="379" r:id="rId47"/>
    <p:sldId id="380" r:id="rId48"/>
    <p:sldId id="381" r:id="rId49"/>
    <p:sldId id="382" r:id="rId50"/>
    <p:sldId id="383" r:id="rId51"/>
    <p:sldId id="384" r:id="rId52"/>
    <p:sldId id="385" r:id="rId53"/>
    <p:sldId id="397" r:id="rId54"/>
    <p:sldId id="386" r:id="rId55"/>
    <p:sldId id="387" r:id="rId56"/>
    <p:sldId id="388" r:id="rId57"/>
    <p:sldId id="389" r:id="rId58"/>
    <p:sldId id="390" r:id="rId59"/>
    <p:sldId id="391" r:id="rId60"/>
    <p:sldId id="392" r:id="rId61"/>
    <p:sldId id="393" r:id="rId62"/>
    <p:sldId id="394" r:id="rId63"/>
    <p:sldId id="395" r:id="rId64"/>
    <p:sldId id="396" r:id="rId65"/>
    <p:sldId id="398" r:id="rId66"/>
    <p:sldId id="399" r:id="rId67"/>
    <p:sldId id="400" r:id="rId68"/>
    <p:sldId id="404" r:id="rId69"/>
    <p:sldId id="405" r:id="rId70"/>
    <p:sldId id="407" r:id="rId71"/>
    <p:sldId id="270" r:id="rId72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BEBB"/>
    <a:srgbClr val="FF66FF"/>
    <a:srgbClr val="FF0000"/>
    <a:srgbClr val="000000"/>
    <a:srgbClr val="61789A"/>
    <a:srgbClr val="CC00FF"/>
    <a:srgbClr val="9900CC"/>
    <a:srgbClr val="474748"/>
    <a:srgbClr val="99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946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85" d="100"/>
          <a:sy n="85" d="100"/>
        </p:scale>
        <p:origin x="-378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6.xml"/><Relationship Id="rId21" Type="http://schemas.openxmlformats.org/officeDocument/2006/relationships/slide" Target="slides/slide11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63" Type="http://schemas.openxmlformats.org/officeDocument/2006/relationships/slide" Target="slides/slide53.xml"/><Relationship Id="rId68" Type="http://schemas.openxmlformats.org/officeDocument/2006/relationships/slide" Target="slides/slide58.xml"/><Relationship Id="rId16" Type="http://schemas.openxmlformats.org/officeDocument/2006/relationships/slide" Target="slides/slide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53" Type="http://schemas.openxmlformats.org/officeDocument/2006/relationships/slide" Target="slides/slide43.xml"/><Relationship Id="rId58" Type="http://schemas.openxmlformats.org/officeDocument/2006/relationships/slide" Target="slides/slide48.xml"/><Relationship Id="rId66" Type="http://schemas.openxmlformats.org/officeDocument/2006/relationships/slide" Target="slides/slide56.xml"/><Relationship Id="rId74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1.xml"/><Relationship Id="rId19" Type="http://schemas.openxmlformats.org/officeDocument/2006/relationships/slide" Target="slides/slide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56" Type="http://schemas.openxmlformats.org/officeDocument/2006/relationships/slide" Target="slides/slide46.xml"/><Relationship Id="rId64" Type="http://schemas.openxmlformats.org/officeDocument/2006/relationships/slide" Target="slides/slide54.xml"/><Relationship Id="rId69" Type="http://schemas.openxmlformats.org/officeDocument/2006/relationships/slide" Target="slides/slide59.xml"/><Relationship Id="rId77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1.xml"/><Relationship Id="rId72" Type="http://schemas.openxmlformats.org/officeDocument/2006/relationships/slide" Target="slides/slide6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59" Type="http://schemas.openxmlformats.org/officeDocument/2006/relationships/slide" Target="slides/slide49.xml"/><Relationship Id="rId67" Type="http://schemas.openxmlformats.org/officeDocument/2006/relationships/slide" Target="slides/slide57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54" Type="http://schemas.openxmlformats.org/officeDocument/2006/relationships/slide" Target="slides/slide44.xml"/><Relationship Id="rId62" Type="http://schemas.openxmlformats.org/officeDocument/2006/relationships/slide" Target="slides/slide52.xml"/><Relationship Id="rId70" Type="http://schemas.openxmlformats.org/officeDocument/2006/relationships/slide" Target="slides/slide60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openxmlformats.org/officeDocument/2006/relationships/slide" Target="slides/slide47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Relationship Id="rId60" Type="http://schemas.openxmlformats.org/officeDocument/2006/relationships/slide" Target="slides/slide50.xml"/><Relationship Id="rId65" Type="http://schemas.openxmlformats.org/officeDocument/2006/relationships/slide" Target="slides/slide55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9" Type="http://schemas.openxmlformats.org/officeDocument/2006/relationships/slide" Target="slides/slide29.xml"/><Relationship Id="rId34" Type="http://schemas.openxmlformats.org/officeDocument/2006/relationships/slide" Target="slides/slide24.xml"/><Relationship Id="rId50" Type="http://schemas.openxmlformats.org/officeDocument/2006/relationships/slide" Target="slides/slide40.xml"/><Relationship Id="rId55" Type="http://schemas.openxmlformats.org/officeDocument/2006/relationships/slide" Target="slides/slide45.xml"/><Relationship Id="rId76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D6A30C-50D2-4409-8C57-B758E4448AF7}" type="datetimeFigureOut">
              <a:rPr lang="pt-BR" smtClean="0"/>
              <a:t>30/07/2022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4CFC7-C996-4863-90E8-DB58BF8229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23489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CBAFB-72C8-4421-82CF-2C64DCD5A75B}" type="datetimeFigureOut">
              <a:rPr lang="pt-BR" smtClean="0"/>
              <a:t>30/07/2022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F4808-22E8-406A-932F-9218A9615E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127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87624" y="1589798"/>
            <a:ext cx="7056784" cy="1261963"/>
          </a:xfrm>
          <a:prstGeom prst="rect">
            <a:avLst/>
          </a:prstGeom>
        </p:spPr>
        <p:txBody>
          <a:bodyPr anchor="ctr"/>
          <a:lstStyle>
            <a:lvl1pPr algn="l">
              <a:defRPr sz="5600" b="1" baseline="0">
                <a:solidFill>
                  <a:srgbClr val="474748"/>
                </a:solidFill>
              </a:defRPr>
            </a:lvl1pPr>
          </a:lstStyle>
          <a:p>
            <a:r>
              <a:rPr lang="pt-BR" dirty="0"/>
              <a:t>Título da Aula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187624" y="2908593"/>
            <a:ext cx="7056784" cy="56630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0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Nome do Professor</a:t>
            </a:r>
          </a:p>
        </p:txBody>
      </p:sp>
    </p:spTree>
    <p:extLst>
      <p:ext uri="{BB962C8B-B14F-4D97-AF65-F5344CB8AC3E}">
        <p14:creationId xmlns:p14="http://schemas.microsoft.com/office/powerpoint/2010/main" val="6891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3707319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0" y="2131862"/>
            <a:ext cx="9144000" cy="857250"/>
          </a:xfrm>
          <a:prstGeom prst="rect">
            <a:avLst/>
          </a:prstGeom>
        </p:spPr>
        <p:txBody>
          <a:bodyPr anchor="ctr"/>
          <a:lstStyle>
            <a:lvl1pPr algn="ctr">
              <a:defRPr sz="4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Subtítulo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3028343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enas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897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132371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4015330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3946" y="93385"/>
            <a:ext cx="8506526" cy="750173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3385020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82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enas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195487"/>
            <a:ext cx="9180512" cy="432048"/>
          </a:xfrm>
          <a:prstGeom prst="rect">
            <a:avLst/>
          </a:prstGeom>
        </p:spPr>
        <p:txBody>
          <a:bodyPr anchor="ctr"/>
          <a:lstStyle>
            <a:lvl1pPr>
              <a:defRPr sz="2500" b="1" strike="noStrike" baseline="0">
                <a:solidFill>
                  <a:srgbClr val="17BEBB"/>
                </a:solidFill>
              </a:defRPr>
            </a:lvl1pPr>
          </a:lstStyle>
          <a:p>
            <a:r>
              <a:rPr lang="pt-BR" dirty="0"/>
              <a:t>Exemplo – Slide Com Imagem (Foto)</a:t>
            </a:r>
          </a:p>
        </p:txBody>
      </p:sp>
    </p:spTree>
    <p:extLst>
      <p:ext uri="{BB962C8B-B14F-4D97-AF65-F5344CB8AC3E}">
        <p14:creationId xmlns:p14="http://schemas.microsoft.com/office/powerpoint/2010/main" val="391671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195487"/>
            <a:ext cx="9144000" cy="432048"/>
          </a:xfrm>
          <a:prstGeom prst="rect">
            <a:avLst/>
          </a:prstGeom>
        </p:spPr>
        <p:txBody>
          <a:bodyPr anchor="ctr"/>
          <a:lstStyle>
            <a:lvl1pPr>
              <a:defRPr sz="2500" b="1" strike="noStrike" baseline="0">
                <a:solidFill>
                  <a:srgbClr val="17BEBB"/>
                </a:solidFill>
              </a:defRPr>
            </a:lvl1pPr>
          </a:lstStyle>
          <a:p>
            <a:r>
              <a:rPr lang="pt-BR" dirty="0"/>
              <a:t>Exemplo – Tabela</a:t>
            </a:r>
          </a:p>
        </p:txBody>
      </p:sp>
    </p:spTree>
    <p:extLst>
      <p:ext uri="{BB962C8B-B14F-4D97-AF65-F5344CB8AC3E}">
        <p14:creationId xmlns:p14="http://schemas.microsoft.com/office/powerpoint/2010/main" val="137580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213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8552" y="0"/>
            <a:ext cx="4585447" cy="5143500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5738" y="1586205"/>
            <a:ext cx="7464491" cy="1309396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753" y="2796988"/>
            <a:ext cx="7467600" cy="80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81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8552" y="0"/>
            <a:ext cx="4585447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772653"/>
            <a:ext cx="9144000" cy="161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974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6463" y="176462"/>
            <a:ext cx="8799096" cy="440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67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9144000" cy="3529263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71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9144000" cy="3529263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802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4812632" cy="360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18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764505" cy="474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710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99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44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061411" cy="5143500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088469" y="-4496"/>
            <a:ext cx="206141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28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4800" dirty="0"/>
              <a:t>Busca em Largura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Leonardo Vilela Cardoso</a:t>
            </a:r>
          </a:p>
        </p:txBody>
      </p:sp>
    </p:spTree>
    <p:extLst>
      <p:ext uri="{BB962C8B-B14F-4D97-AF65-F5344CB8AC3E}">
        <p14:creationId xmlns:p14="http://schemas.microsoft.com/office/powerpoint/2010/main" val="2989746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Introdução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prstClr val="black">
                    <a:lumMod val="65000"/>
                    <a:lumOff val="35000"/>
                  </a:prstClr>
                </a:solidFill>
              </a:rPr>
              <a:t>Uma busca é dita em largura quando o critério de escolha de vértice marcado for:</a:t>
            </a:r>
          </a:p>
          <a:p>
            <a:pPr algn="ctr"/>
            <a:r>
              <a:rPr lang="pt-BR" sz="2000" dirty="0">
                <a:solidFill>
                  <a:prstClr val="black">
                    <a:lumMod val="65000"/>
                    <a:lumOff val="35000"/>
                  </a:prstClr>
                </a:solidFill>
              </a:rPr>
              <a:t>“dentre todos os vértices marcados e incidentes a alguma aresta ainda não explorada, escolher aquele </a:t>
            </a:r>
            <a:r>
              <a:rPr lang="pt-BR" sz="2000" b="1" dirty="0">
                <a:solidFill>
                  <a:srgbClr val="FF0000"/>
                </a:solidFill>
              </a:rPr>
              <a:t>menos recentemente</a:t>
            </a:r>
            <a:r>
              <a:rPr lang="pt-BR" sz="2000" dirty="0">
                <a:solidFill>
                  <a:prstClr val="black">
                    <a:lumMod val="65000"/>
                    <a:lumOff val="35000"/>
                  </a:prstClr>
                </a:solidFill>
              </a:rPr>
              <a:t> alcançado na busca”.</a:t>
            </a:r>
          </a:p>
          <a:p>
            <a:endParaRPr lang="pt-BR" sz="20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r>
              <a:rPr lang="pt-BR" sz="2000" dirty="0">
                <a:solidFill>
                  <a:prstClr val="black">
                    <a:lumMod val="65000"/>
                    <a:lumOff val="35000"/>
                  </a:prstClr>
                </a:solidFill>
              </a:rPr>
              <a:t>Como na busca em profundidade, a escolha de vértice marcado torna-se única e sem ambiguidade.</a:t>
            </a:r>
          </a:p>
          <a:p>
            <a:endParaRPr lang="pt-BR" sz="14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r>
              <a:rPr lang="pt-BR" sz="2000" dirty="0">
                <a:solidFill>
                  <a:prstClr val="black">
                    <a:lumMod val="65000"/>
                    <a:lumOff val="35000"/>
                  </a:prstClr>
                </a:solidFill>
              </a:rPr>
              <a:t>Porém ainda são arbitrárias a escolha da raiz da busca, bem como a escolha da aresta a ser explorada a partir do vértice marcado. </a:t>
            </a:r>
          </a:p>
        </p:txBody>
      </p:sp>
    </p:spTree>
    <p:extLst>
      <p:ext uri="{BB962C8B-B14F-4D97-AF65-F5344CB8AC3E}">
        <p14:creationId xmlns:p14="http://schemas.microsoft.com/office/powerpoint/2010/main" val="291451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3193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prstClr val="black">
                    <a:lumMod val="65000"/>
                    <a:lumOff val="35000"/>
                  </a:prstClr>
                </a:solidFill>
              </a:rPr>
              <a:t>Durante a busca, diversos atributos são definidos para os vértices: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prstClr val="black">
                    <a:lumMod val="65000"/>
                    <a:lumOff val="35000"/>
                  </a:prstClr>
                </a:solidFill>
              </a:rPr>
              <a:t>Cada vértice tem um valor de tempo associado a ele: </a:t>
            </a:r>
            <a:r>
              <a:rPr lang="pt-BR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índice ou L[v]</a:t>
            </a:r>
            <a:r>
              <a:rPr lang="pt-BR" dirty="0">
                <a:solidFill>
                  <a:prstClr val="black">
                    <a:lumMod val="65000"/>
                    <a:lumOff val="35000"/>
                  </a:prstClr>
                </a:solidFill>
              </a:rPr>
              <a:t> que indica quando ele é visitado pela primeira vez – semelhante ao tempo de descoberta na busca em profundidade.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105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14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14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lvl="1">
              <a:spcAft>
                <a:spcPts val="600"/>
              </a:spcAft>
            </a:pPr>
            <a:endParaRPr lang="pt-BR" sz="105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prstClr val="black">
                    <a:lumMod val="65000"/>
                    <a:lumOff val="35000"/>
                  </a:prstClr>
                </a:solidFill>
              </a:rPr>
              <a:t>Necessita-se de um </a:t>
            </a:r>
            <a:r>
              <a:rPr lang="pt-BR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contador global</a:t>
            </a:r>
            <a:r>
              <a:rPr lang="pt-BR" dirty="0">
                <a:solidFill>
                  <a:prstClr val="black">
                    <a:lumMod val="65000"/>
                    <a:lumOff val="35000"/>
                  </a:prstClr>
                </a:solidFill>
              </a:rPr>
              <a:t> que seja incrementado cada vez que um novo vértice é descoberto.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627672"/>
              </p:ext>
            </p:extLst>
          </p:nvPr>
        </p:nvGraphicFramePr>
        <p:xfrm>
          <a:off x="2672516" y="2738129"/>
          <a:ext cx="3859398" cy="609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38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3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34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3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34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i="1" dirty="0"/>
                        <a:t>v</a:t>
                      </a:r>
                      <a:r>
                        <a:rPr lang="pt-BR" sz="1400" baseline="-25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i="1" dirty="0"/>
                        <a:t>v</a:t>
                      </a:r>
                      <a:r>
                        <a:rPr lang="pt-BR" sz="1400" baseline="-25000" dirty="0"/>
                        <a:t>2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i="1" dirty="0"/>
                        <a:t>v</a:t>
                      </a:r>
                      <a:r>
                        <a:rPr lang="pt-BR" sz="1400" baseline="-25000" dirty="0"/>
                        <a:t>2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. . 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i="1" dirty="0"/>
                        <a:t>v</a:t>
                      </a:r>
                      <a:r>
                        <a:rPr lang="pt-BR" sz="1400" baseline="-25000" dirty="0"/>
                        <a:t>n-1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i="1" dirty="0" err="1"/>
                        <a:t>v</a:t>
                      </a:r>
                      <a:r>
                        <a:rPr lang="pt-BR" sz="1400" baseline="-25000" dirty="0" err="1"/>
                        <a:t>n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Índice</a:t>
                      </a:r>
                      <a:r>
                        <a:rPr lang="pt-BR" sz="1400" baseline="0" dirty="0"/>
                        <a:t> </a:t>
                      </a:r>
                      <a:r>
                        <a:rPr lang="pt-BR" sz="1400" baseline="0" dirty="0">
                          <a:sym typeface="Symbol" panose="05050102010706020507" pitchFamily="18" charset="2"/>
                        </a:rPr>
                        <a:t></a:t>
                      </a:r>
                      <a:r>
                        <a:rPr lang="pt-BR" sz="1400" baseline="0" dirty="0"/>
                        <a:t> L[ ]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112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Durante a busca, diversos atributos são definidos para os vértices: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Quando um </a:t>
            </a:r>
            <a:r>
              <a:rPr lang="pt-BR" dirty="0">
                <a:solidFill>
                  <a:srgbClr val="FF0000"/>
                </a:solidFill>
              </a:rPr>
              <a:t>vértice </a:t>
            </a:r>
            <a:r>
              <a:rPr lang="pt-BR" i="1" dirty="0">
                <a:solidFill>
                  <a:srgbClr val="FF0000"/>
                </a:solidFill>
              </a:rPr>
              <a:t>w</a:t>
            </a:r>
            <a:r>
              <a:rPr lang="pt-BR" dirty="0">
                <a:solidFill>
                  <a:srgbClr val="FF0000"/>
                </a:solidFill>
              </a:rPr>
              <a:t> for descoberto a partir de um vértice </a:t>
            </a:r>
            <a:r>
              <a:rPr lang="pt-BR" i="1" dirty="0">
                <a:solidFill>
                  <a:srgbClr val="FF0000"/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o predecessor (ou pai) do vértice 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na busca será o vértice 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ou ainda, </a:t>
            </a:r>
            <a:r>
              <a:rPr lang="pt-BR" dirty="0">
                <a:solidFill>
                  <a:srgbClr val="FF0000"/>
                </a:solidFill>
              </a:rPr>
              <a:t>pai[</a:t>
            </a:r>
            <a:r>
              <a:rPr lang="pt-BR" i="1" dirty="0">
                <a:solidFill>
                  <a:srgbClr val="FF0000"/>
                </a:solidFill>
              </a:rPr>
              <a:t>w</a:t>
            </a:r>
            <a:r>
              <a:rPr lang="pt-BR" dirty="0">
                <a:solidFill>
                  <a:srgbClr val="FF0000"/>
                </a:solidFill>
              </a:rPr>
              <a:t>] </a:t>
            </a:r>
            <a:r>
              <a:rPr lang="pt-BR" dirty="0">
                <a:solidFill>
                  <a:srgbClr val="FF0000"/>
                </a:solidFill>
                <a:sym typeface="Symbol" panose="05050102010706020507" pitchFamily="18" charset="2"/>
              </a:rPr>
              <a:t>= </a:t>
            </a:r>
            <a:r>
              <a:rPr lang="pt-BR" i="1" dirty="0">
                <a:solidFill>
                  <a:srgbClr val="FF0000"/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(idêntico a busca em profundidade).</a:t>
            </a:r>
          </a:p>
        </p:txBody>
      </p:sp>
      <p:sp>
        <p:nvSpPr>
          <p:cNvPr id="4" name="Elipse 3"/>
          <p:cNvSpPr>
            <a:spLocks noChangeAspect="1"/>
          </p:cNvSpPr>
          <p:nvPr/>
        </p:nvSpPr>
        <p:spPr>
          <a:xfrm>
            <a:off x="2262282" y="3235359"/>
            <a:ext cx="276117" cy="278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i="1" dirty="0">
                <a:solidFill>
                  <a:schemeClr val="tx1"/>
                </a:solidFill>
              </a:rPr>
              <a:t>w</a:t>
            </a:r>
          </a:p>
        </p:txBody>
      </p:sp>
      <p:sp>
        <p:nvSpPr>
          <p:cNvPr id="6" name="Elipse 5"/>
          <p:cNvSpPr>
            <a:spLocks noChangeAspect="1"/>
          </p:cNvSpPr>
          <p:nvPr/>
        </p:nvSpPr>
        <p:spPr>
          <a:xfrm>
            <a:off x="889315" y="3235357"/>
            <a:ext cx="276117" cy="27807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i="1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873240" y="3641875"/>
            <a:ext cx="1054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</a:t>
            </a:r>
          </a:p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explorado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15689" y="3641875"/>
            <a:ext cx="8233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</a:t>
            </a:r>
          </a:p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marcado</a:t>
            </a:r>
          </a:p>
        </p:txBody>
      </p:sp>
      <p:cxnSp>
        <p:nvCxnSpPr>
          <p:cNvPr id="9" name="Conector reto 8"/>
          <p:cNvCxnSpPr>
            <a:stCxn id="6" idx="6"/>
            <a:endCxn id="4" idx="2"/>
          </p:cNvCxnSpPr>
          <p:nvPr/>
        </p:nvCxnSpPr>
        <p:spPr>
          <a:xfrm>
            <a:off x="1165432" y="3374397"/>
            <a:ext cx="1096850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eta para a direita 12"/>
          <p:cNvSpPr/>
          <p:nvPr/>
        </p:nvSpPr>
        <p:spPr>
          <a:xfrm>
            <a:off x="2906619" y="3164939"/>
            <a:ext cx="792025" cy="41891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latin typeface="Arial" panose="020B0604020202020204" pitchFamily="34" charset="0"/>
                <a:cs typeface="Arial" panose="020B0604020202020204" pitchFamily="34" charset="0"/>
              </a:rPr>
              <a:t>1ª Visita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121268" y="3641873"/>
            <a:ext cx="8233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</a:t>
            </a:r>
          </a:p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marcado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3748301" y="3641873"/>
            <a:ext cx="8233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</a:t>
            </a:r>
          </a:p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marcado</a:t>
            </a:r>
          </a:p>
        </p:txBody>
      </p:sp>
      <p:cxnSp>
        <p:nvCxnSpPr>
          <p:cNvPr id="18" name="Conector reto 17"/>
          <p:cNvCxnSpPr>
            <a:stCxn id="15" idx="6"/>
            <a:endCxn id="14" idx="2"/>
          </p:cNvCxnSpPr>
          <p:nvPr/>
        </p:nvCxnSpPr>
        <p:spPr>
          <a:xfrm>
            <a:off x="4298044" y="3374395"/>
            <a:ext cx="1096850" cy="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/>
          <p:cNvSpPr>
            <a:spLocks noChangeAspect="1"/>
          </p:cNvSpPr>
          <p:nvPr/>
        </p:nvSpPr>
        <p:spPr>
          <a:xfrm>
            <a:off x="5394894" y="3235357"/>
            <a:ext cx="276117" cy="27807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i="1" dirty="0">
                <a:solidFill>
                  <a:schemeClr val="tx1"/>
                </a:solidFill>
              </a:rPr>
              <a:t>w</a:t>
            </a:r>
          </a:p>
        </p:txBody>
      </p:sp>
      <p:sp>
        <p:nvSpPr>
          <p:cNvPr id="15" name="Elipse 14"/>
          <p:cNvSpPr>
            <a:spLocks noChangeAspect="1"/>
          </p:cNvSpPr>
          <p:nvPr/>
        </p:nvSpPr>
        <p:spPr>
          <a:xfrm>
            <a:off x="4021927" y="3235355"/>
            <a:ext cx="276117" cy="27807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i="1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15689" y="2437470"/>
            <a:ext cx="9774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Aresta não explorada</a:t>
            </a:r>
          </a:p>
        </p:txBody>
      </p:sp>
      <p:cxnSp>
        <p:nvCxnSpPr>
          <p:cNvPr id="21" name="Conector de seta reta 20"/>
          <p:cNvCxnSpPr/>
          <p:nvPr/>
        </p:nvCxnSpPr>
        <p:spPr>
          <a:xfrm>
            <a:off x="1388585" y="2904227"/>
            <a:ext cx="195492" cy="41181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3745533" y="2406831"/>
            <a:ext cx="9774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Aresta explorada</a:t>
            </a:r>
          </a:p>
        </p:txBody>
      </p:sp>
      <p:cxnSp>
        <p:nvCxnSpPr>
          <p:cNvPr id="23" name="Conector de seta reta 22"/>
          <p:cNvCxnSpPr/>
          <p:nvPr/>
        </p:nvCxnSpPr>
        <p:spPr>
          <a:xfrm>
            <a:off x="4518429" y="2873588"/>
            <a:ext cx="195492" cy="41181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tângulo de cantos arredondados 23"/>
          <p:cNvSpPr/>
          <p:nvPr/>
        </p:nvSpPr>
        <p:spPr>
          <a:xfrm>
            <a:off x="7063182" y="3010333"/>
            <a:ext cx="1394781" cy="728123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pt-BR" dirty="0">
                <a:solidFill>
                  <a:schemeClr val="bg1"/>
                </a:solidFill>
              </a:rPr>
              <a:t>pai[</a:t>
            </a:r>
            <a:r>
              <a:rPr lang="pt-BR" i="1" dirty="0">
                <a:solidFill>
                  <a:schemeClr val="bg1"/>
                </a:solidFill>
              </a:rPr>
              <a:t>w</a:t>
            </a:r>
            <a:r>
              <a:rPr lang="pt-BR" dirty="0">
                <a:solidFill>
                  <a:schemeClr val="bg1"/>
                </a:solidFill>
              </a:rPr>
              <a:t>] </a:t>
            </a:r>
            <a:r>
              <a:rPr lang="pt-BR" dirty="0">
                <a:solidFill>
                  <a:schemeClr val="bg1"/>
                </a:solidFill>
                <a:sym typeface="Symbol" panose="05050102010706020507" pitchFamily="18" charset="2"/>
              </a:rPr>
              <a:t>=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i="1" dirty="0">
                <a:solidFill>
                  <a:schemeClr val="bg1"/>
                </a:solidFill>
              </a:rPr>
              <a:t>v</a:t>
            </a:r>
          </a:p>
        </p:txBody>
      </p:sp>
      <p:sp>
        <p:nvSpPr>
          <p:cNvPr id="25" name="Seta para a direita 24"/>
          <p:cNvSpPr/>
          <p:nvPr/>
        </p:nvSpPr>
        <p:spPr>
          <a:xfrm>
            <a:off x="5975836" y="3164937"/>
            <a:ext cx="792025" cy="41891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711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/>
      <p:bldP spid="17" grpId="0"/>
      <p:bldP spid="14" grpId="0" animBg="1"/>
      <p:bldP spid="15" grpId="0" animBg="1"/>
      <p:bldP spid="22" grpId="0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3193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prstClr val="black">
                    <a:lumMod val="65000"/>
                    <a:lumOff val="35000"/>
                  </a:prstClr>
                </a:solidFill>
              </a:rPr>
              <a:t>Durante a busca, diversos atributos são definidos para os vértices: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prstClr val="black">
                    <a:lumMod val="65000"/>
                    <a:lumOff val="35000"/>
                  </a:prstClr>
                </a:solidFill>
              </a:rPr>
              <a:t>Cada vértice tem um valor indicando a distância entre ele a raiz da busca em número de arcos: </a:t>
            </a:r>
            <a:r>
              <a:rPr lang="pt-BR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nível[v]</a:t>
            </a:r>
            <a:r>
              <a:rPr lang="pt-BR" dirty="0">
                <a:solidFill>
                  <a:prstClr val="black">
                    <a:lumMod val="65000"/>
                    <a:lumOff val="35000"/>
                  </a:prstClr>
                </a:solidFill>
              </a:rPr>
              <a:t>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14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14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105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prstClr val="black">
                    <a:lumMod val="65000"/>
                    <a:lumOff val="35000"/>
                  </a:prstClr>
                </a:solidFill>
              </a:rPr>
              <a:t>Define o </a:t>
            </a:r>
            <a:r>
              <a:rPr lang="pt-BR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nível da raiz da busca</a:t>
            </a:r>
            <a:r>
              <a:rPr lang="pt-BR" dirty="0">
                <a:solidFill>
                  <a:prstClr val="black">
                    <a:lumMod val="65000"/>
                    <a:lumOff val="35000"/>
                  </a:prstClr>
                </a:solidFill>
              </a:rPr>
              <a:t> como zero e os demais são obtidos a partir da raiz fazendo-se o nível de um vértice ser igual ao nível de seu pai acrescido de uma unidade, ou ainda, </a:t>
            </a:r>
            <a:r>
              <a:rPr lang="pt-BR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nível[v] = nível[pai[v]] + 1</a:t>
            </a:r>
            <a:r>
              <a:rPr lang="pt-BR" dirty="0">
                <a:solidFill>
                  <a:prstClr val="black">
                    <a:lumMod val="65000"/>
                    <a:lumOff val="35000"/>
                  </a:prstClr>
                </a:solidFill>
              </a:rPr>
              <a:t>.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217754"/>
              </p:ext>
            </p:extLst>
          </p:nvPr>
        </p:nvGraphicFramePr>
        <p:xfrm>
          <a:off x="2672516" y="2504799"/>
          <a:ext cx="3859398" cy="609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38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3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34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3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34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i="1" dirty="0"/>
                        <a:t>v</a:t>
                      </a:r>
                      <a:r>
                        <a:rPr lang="pt-BR" sz="1400" baseline="-25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i="1" dirty="0"/>
                        <a:t>v</a:t>
                      </a:r>
                      <a:r>
                        <a:rPr lang="pt-BR" sz="1400" baseline="-25000" dirty="0"/>
                        <a:t>2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i="1" dirty="0"/>
                        <a:t>v</a:t>
                      </a:r>
                      <a:r>
                        <a:rPr lang="pt-BR" sz="1400" baseline="-25000" dirty="0"/>
                        <a:t>2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. . 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i="1" dirty="0"/>
                        <a:t>v</a:t>
                      </a:r>
                      <a:r>
                        <a:rPr lang="pt-BR" sz="1400" baseline="-25000" dirty="0"/>
                        <a:t>n-1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i="1" dirty="0" err="1"/>
                        <a:t>v</a:t>
                      </a:r>
                      <a:r>
                        <a:rPr lang="pt-BR" sz="1400" baseline="-25000" dirty="0" err="1"/>
                        <a:t>n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7262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Busca em Largura em</a:t>
            </a:r>
            <a:br>
              <a:rPr lang="pt-BR" sz="4000" dirty="0"/>
            </a:br>
            <a:r>
              <a:rPr lang="pt-BR" sz="4000" dirty="0"/>
              <a:t>Grafo Não Direcionado</a:t>
            </a:r>
          </a:p>
        </p:txBody>
      </p:sp>
    </p:spTree>
    <p:extLst>
      <p:ext uri="{BB962C8B-B14F-4D97-AF65-F5344CB8AC3E}">
        <p14:creationId xmlns:p14="http://schemas.microsoft.com/office/powerpoint/2010/main" val="3267543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Grafo Não Direcionado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76617" y="1203960"/>
            <a:ext cx="8546665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Durante uma busca em largura em um grafo não direcionado, a aresta {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 pode ser rotulada de uma das seguintes quatro formas: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</a:t>
            </a:r>
            <a:r>
              <a:rPr lang="pt-BR" dirty="0">
                <a:solidFill>
                  <a:srgbClr val="00B0F0"/>
                </a:solidFill>
              </a:rPr>
              <a:t>árvore ou pai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quando a aresta {v, w} é usada para visitar w pela 1ª vez, isto é, caso nível[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= nível[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+ 1 e pai[w] = v;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</a:t>
            </a:r>
            <a:r>
              <a:rPr lang="pt-BR" dirty="0">
                <a:solidFill>
                  <a:srgbClr val="00B050"/>
                </a:solidFill>
              </a:rPr>
              <a:t>tio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caso nível[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= nível[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+ 1 e pai[w]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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v;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</a:t>
            </a:r>
            <a:r>
              <a:rPr lang="pt-BR" dirty="0">
                <a:solidFill>
                  <a:srgbClr val="FF0000"/>
                </a:solidFill>
              </a:rPr>
              <a:t>irmão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caso nível[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= nível[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e pai[w] = pai[v]; e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de </a:t>
            </a:r>
            <a:r>
              <a:rPr lang="pt-BR" dirty="0">
                <a:solidFill>
                  <a:srgbClr val="FFC000"/>
                </a:solidFill>
              </a:rPr>
              <a:t>primo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caso nível[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= nível[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e pai[w]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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pai[v].</a:t>
            </a:r>
          </a:p>
        </p:txBody>
      </p:sp>
    </p:spTree>
    <p:extLst>
      <p:ext uri="{BB962C8B-B14F-4D97-AF65-F5344CB8AC3E}">
        <p14:creationId xmlns:p14="http://schemas.microsoft.com/office/powerpoint/2010/main" val="1148501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Algoritmo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89746" y="1153511"/>
            <a:ext cx="8502733" cy="331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Inicialização / Chamada inicial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0;     Fila  ; 				</a:t>
            </a:r>
            <a:r>
              <a:rPr lang="pt-BR" sz="1400" dirty="0">
                <a:solidFill>
                  <a:srgbClr val="0070C0"/>
                </a:solidFill>
                <a:sym typeface="Symbol" panose="05050102010706020507" pitchFamily="18" charset="2"/>
              </a:rPr>
              <a:t>// Inicializar tempo e fila</a:t>
            </a:r>
            <a:endParaRPr lang="pt-BR" sz="1600" dirty="0">
              <a:solidFill>
                <a:srgbClr val="0070C0"/>
              </a:solidFill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todo vértice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V(G)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faça</a:t>
            </a:r>
          </a:p>
          <a:p>
            <a:pPr marL="914400" lvl="1" indent="-457200">
              <a:spcAft>
                <a:spcPts val="600"/>
              </a:spcAft>
              <a:buFont typeface="+mj-lt"/>
              <a:buAutoNum type="alphaLcPeriod"/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0; 					</a:t>
            </a:r>
            <a:r>
              <a:rPr lang="pt-BR" sz="1400" dirty="0">
                <a:solidFill>
                  <a:srgbClr val="0070C0"/>
                </a:solidFill>
                <a:sym typeface="Symbol" panose="05050102010706020507" pitchFamily="18" charset="2"/>
              </a:rPr>
              <a:t>// Inicializar índice</a:t>
            </a:r>
            <a:endParaRPr lang="pt-BR" sz="1600" dirty="0">
              <a:solidFill>
                <a:srgbClr val="0070C0"/>
              </a:solidFill>
              <a:sym typeface="Symbol" panose="05050102010706020507" pitchFamily="18" charset="2"/>
            </a:endParaRPr>
          </a:p>
          <a:p>
            <a:pPr marL="914400" lvl="1" indent="-457200">
              <a:spcAft>
                <a:spcPts val="600"/>
              </a:spcAft>
              <a:buFont typeface="+mj-lt"/>
              <a:buAutoNum type="alphaLcPeriod"/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nível[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   0;				</a:t>
            </a:r>
            <a:r>
              <a:rPr lang="pt-BR" sz="1400" dirty="0">
                <a:solidFill>
                  <a:srgbClr val="0070C0"/>
                </a:solidFill>
                <a:sym typeface="Symbol" panose="05050102010706020507" pitchFamily="18" charset="2"/>
              </a:rPr>
              <a:t>// Inicializar nível</a:t>
            </a:r>
            <a:endParaRPr lang="pt-BR" sz="1600" dirty="0">
              <a:solidFill>
                <a:srgbClr val="0070C0"/>
              </a:solidFill>
            </a:endParaRPr>
          </a:p>
          <a:p>
            <a:pPr marL="914400" lvl="1" indent="-457200">
              <a:spcAft>
                <a:spcPts val="600"/>
              </a:spcAft>
              <a:buFont typeface="+mj-lt"/>
              <a:buAutoNum type="alphaLcPeriod"/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null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;				</a:t>
            </a:r>
            <a:r>
              <a:rPr lang="pt-BR" sz="1400" dirty="0">
                <a:solidFill>
                  <a:srgbClr val="0070C0"/>
                </a:solidFill>
                <a:sym typeface="Symbol" panose="05050102010706020507" pitchFamily="18" charset="2"/>
              </a:rPr>
              <a:t>// Inicializar predecessor ou pai</a:t>
            </a:r>
            <a:endParaRPr lang="pt-BR" sz="1600" dirty="0">
              <a:solidFill>
                <a:srgbClr val="0070C0"/>
              </a:solidFill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enquanto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existir algum vértice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tal que 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= 0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efetuar</a:t>
            </a:r>
          </a:p>
          <a:p>
            <a:pPr marL="914400" lvl="1" indent="-457200">
              <a:spcAft>
                <a:spcPts val="600"/>
              </a:spcAft>
              <a:buFont typeface="+mj-lt"/>
              <a:buAutoNum type="alphaLcPeriod"/>
            </a:pP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+ 1;  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;				</a:t>
            </a:r>
            <a:r>
              <a:rPr lang="pt-BR" sz="1400" dirty="0">
                <a:solidFill>
                  <a:srgbClr val="0070C0"/>
                </a:solidFill>
                <a:sym typeface="Symbol" panose="05050102010706020507" pitchFamily="18" charset="2"/>
              </a:rPr>
              <a:t>// Atualizar nível da raiz</a:t>
            </a:r>
          </a:p>
          <a:p>
            <a:pPr marL="914400" lvl="1" indent="-457200">
              <a:spcAft>
                <a:spcPts val="600"/>
              </a:spcAft>
              <a:buFont typeface="+mj-lt"/>
              <a:buAutoNum type="alphaLcPeriod"/>
            </a:pP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Fila.Insere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);				</a:t>
            </a:r>
            <a:r>
              <a:rPr lang="pt-BR" sz="1400" dirty="0">
                <a:solidFill>
                  <a:srgbClr val="0070C0"/>
                </a:solidFill>
                <a:sym typeface="Symbol" panose="05050102010706020507" pitchFamily="18" charset="2"/>
              </a:rPr>
              <a:t>// Inserir a raiz na fila</a:t>
            </a:r>
            <a:endParaRPr lang="pt-BR" sz="1400" dirty="0">
              <a:solidFill>
                <a:srgbClr val="0070C0"/>
              </a:solidFill>
            </a:endParaRPr>
          </a:p>
          <a:p>
            <a:pPr marL="914400" lvl="1" indent="-457200">
              <a:spcAft>
                <a:spcPts val="600"/>
              </a:spcAft>
              <a:buFont typeface="+mj-lt"/>
              <a:buAutoNum type="alphaLcPeriod"/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Executar 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Busca_Largura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();			</a:t>
            </a:r>
            <a:r>
              <a:rPr lang="pt-BR" sz="1400" dirty="0">
                <a:solidFill>
                  <a:srgbClr val="0070C0"/>
                </a:solidFill>
              </a:rPr>
              <a:t>// Executar busca para raiz </a:t>
            </a:r>
            <a:r>
              <a:rPr lang="pt-BR" sz="1400" i="1" dirty="0">
                <a:solidFill>
                  <a:srgbClr val="0070C0"/>
                </a:solidFill>
              </a:rPr>
              <a:t>v</a:t>
            </a:r>
            <a:endParaRPr lang="pt-BR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02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Algoritmo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89747" y="1103063"/>
            <a:ext cx="8424936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"/>
              </a:spcAft>
            </a:pP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Busca_Largura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()</a:t>
            </a:r>
          </a:p>
          <a:p>
            <a:pPr>
              <a:spcAft>
                <a:spcPts val="1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enquanto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u="sng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not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Fila.Vazia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()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efetuar</a:t>
            </a:r>
          </a:p>
          <a:p>
            <a:pPr marL="914400" lvl="1" indent="-457200">
              <a:spcAft>
                <a:spcPts val="100"/>
              </a:spcAft>
              <a:buFont typeface="+mj-lt"/>
              <a:buAutoNum type="arabicPeriod"/>
            </a:pP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Fila.Remove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();				         </a:t>
            </a:r>
            <a:r>
              <a:rPr lang="pt-BR" sz="1400" dirty="0">
                <a:solidFill>
                  <a:srgbClr val="0070C0"/>
                </a:solidFill>
                <a:sym typeface="Symbol" panose="05050102010706020507" pitchFamily="18" charset="2"/>
              </a:rPr>
              <a:t>// Remover 1º elemento da fila</a:t>
            </a:r>
            <a:endParaRPr lang="pt-BR" sz="1600" dirty="0">
              <a:solidFill>
                <a:srgbClr val="0070C0"/>
              </a:solidFill>
            </a:endParaRPr>
          </a:p>
          <a:p>
            <a:pPr marL="914400" lvl="1" indent="-457200">
              <a:spcAft>
                <a:spcPts val="100"/>
              </a:spcAft>
              <a:buFont typeface="+mj-lt"/>
              <a:buAutoNum type="arabicPeriod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todo vértice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faça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			         </a:t>
            </a:r>
            <a:r>
              <a:rPr lang="pt-BR" sz="1400" dirty="0">
                <a:solidFill>
                  <a:srgbClr val="0070C0"/>
                </a:solidFill>
              </a:rPr>
              <a:t>// Para toda a vizinhança de v</a:t>
            </a:r>
            <a:endParaRPr lang="pt-BR" dirty="0">
              <a:solidFill>
                <a:srgbClr val="0070C0"/>
              </a:solidFill>
            </a:endParaRPr>
          </a:p>
          <a:p>
            <a:pPr marL="1371600" lvl="2" indent="-457200">
              <a:spcAft>
                <a:spcPts val="100"/>
              </a:spcAft>
              <a:buFont typeface="+mj-lt"/>
              <a:buAutoNum type="alphaLcPeriod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se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 = 0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então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			         </a:t>
            </a:r>
            <a:r>
              <a:rPr lang="pt-BR" sz="1400" dirty="0">
                <a:solidFill>
                  <a:srgbClr val="0070C0"/>
                </a:solidFill>
                <a:sym typeface="Symbol" panose="05050102010706020507" pitchFamily="18" charset="2"/>
              </a:rPr>
              <a:t>// Se w é visitado pela 1ª vez</a:t>
            </a:r>
            <a:endParaRPr lang="pt-BR" sz="1600" dirty="0">
              <a:solidFill>
                <a:srgbClr val="0070C0"/>
              </a:solidFill>
              <a:sym typeface="Symbol" panose="05050102010706020507" pitchFamily="18" charset="2"/>
            </a:endParaRPr>
          </a:p>
          <a:p>
            <a:pPr lvl="4">
              <a:spcAft>
                <a:spcPts val="1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Visitar aresta de </a:t>
            </a:r>
            <a:r>
              <a:rPr lang="pt-BR" sz="1600" dirty="0">
                <a:solidFill>
                  <a:srgbClr val="00B0F0"/>
                </a:solidFill>
                <a:sym typeface="Symbol" panose="05050102010706020507" pitchFamily="18" charset="2"/>
              </a:rPr>
              <a:t>árvore ou pai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{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,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};  pai[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;</a:t>
            </a:r>
          </a:p>
          <a:p>
            <a:pPr lvl="4">
              <a:spcAft>
                <a:spcPts val="1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nível[w]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nível[v] + 1;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+ 1;  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;  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Fila.Insere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);</a:t>
            </a:r>
            <a:endParaRPr lang="pt-BR" sz="1600" dirty="0">
              <a:solidFill>
                <a:srgbClr val="0070C0"/>
              </a:solidFill>
            </a:endParaRPr>
          </a:p>
          <a:p>
            <a:pPr marL="1371600" lvl="2" indent="-457200">
              <a:spcAft>
                <a:spcPts val="100"/>
              </a:spcAft>
              <a:buFont typeface="+mj-lt"/>
              <a:buAutoNum type="alphaLcPeriod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nível[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= nível[v] + 1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lvl="4">
              <a:spcAft>
                <a:spcPts val="1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Visitar aresta </a:t>
            </a:r>
            <a:r>
              <a:rPr lang="pt-BR" sz="1600" dirty="0">
                <a:solidFill>
                  <a:srgbClr val="00B050"/>
                </a:solidFill>
                <a:sym typeface="Symbol" panose="05050102010706020507" pitchFamily="18" charset="2"/>
              </a:rPr>
              <a:t>tio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{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};</a:t>
            </a:r>
            <a:endParaRPr lang="pt-BR" sz="1600" dirty="0">
              <a:solidFill>
                <a:srgbClr val="0070C0"/>
              </a:solidFill>
            </a:endParaRPr>
          </a:p>
          <a:p>
            <a:pPr marL="1371600" lvl="2" indent="-457200">
              <a:spcAft>
                <a:spcPts val="100"/>
              </a:spcAft>
              <a:buFont typeface="+mj-lt"/>
              <a:buAutoNum type="alphaLcPeriod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nível[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= nível[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pai[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= pai[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&gt; 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lvl="4">
              <a:spcAft>
                <a:spcPts val="1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Visitar aresta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dirty="0">
                <a:solidFill>
                  <a:srgbClr val="FF0000"/>
                </a:solidFill>
                <a:sym typeface="Symbol" panose="05050102010706020507" pitchFamily="18" charset="2"/>
              </a:rPr>
              <a:t>irmão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{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};</a:t>
            </a:r>
            <a:endParaRPr lang="pt-BR" sz="1600" dirty="0">
              <a:solidFill>
                <a:srgbClr val="0070C0"/>
              </a:solidFill>
            </a:endParaRPr>
          </a:p>
          <a:p>
            <a:pPr marL="1371600" lvl="2" indent="-457200">
              <a:spcAft>
                <a:spcPts val="100"/>
              </a:spcAft>
              <a:buFont typeface="+mj-lt"/>
              <a:buAutoNum type="alphaLcPeriod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nível[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= nível[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pai[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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pai[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&gt; 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pt-BR" sz="1600" u="sng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4">
              <a:spcAft>
                <a:spcPts val="1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Visitar aresta </a:t>
            </a:r>
            <a:r>
              <a:rPr lang="pt-BR" sz="1600" dirty="0">
                <a:solidFill>
                  <a:srgbClr val="FFC000"/>
                </a:solidFill>
              </a:rPr>
              <a:t>primo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{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};</a:t>
            </a:r>
            <a:endParaRPr lang="pt-BR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798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de cantos arredondados 2"/>
          <p:cNvSpPr/>
          <p:nvPr/>
        </p:nvSpPr>
        <p:spPr>
          <a:xfrm>
            <a:off x="5619262" y="3368431"/>
            <a:ext cx="883138" cy="922216"/>
          </a:xfrm>
          <a:prstGeom prst="round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Algoritmo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89747" y="1103063"/>
            <a:ext cx="8424936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"/>
              </a:spcAft>
            </a:pP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Busca_Largura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()</a:t>
            </a:r>
          </a:p>
          <a:p>
            <a:pPr>
              <a:spcAft>
                <a:spcPts val="1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enquanto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u="sng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not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Fila.Vazia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()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efetuar</a:t>
            </a:r>
          </a:p>
          <a:p>
            <a:pPr marL="914400" lvl="1" indent="-457200">
              <a:spcAft>
                <a:spcPts val="100"/>
              </a:spcAft>
              <a:buFont typeface="+mj-lt"/>
              <a:buAutoNum type="arabicPeriod"/>
            </a:pP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Fila.Remove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();				         </a:t>
            </a:r>
            <a:r>
              <a:rPr lang="pt-BR" sz="1400" dirty="0">
                <a:solidFill>
                  <a:srgbClr val="0070C0"/>
                </a:solidFill>
                <a:sym typeface="Symbol" panose="05050102010706020507" pitchFamily="18" charset="2"/>
              </a:rPr>
              <a:t>// Remover 1º elemento da fila</a:t>
            </a:r>
            <a:endParaRPr lang="pt-BR" sz="1600" dirty="0">
              <a:solidFill>
                <a:srgbClr val="0070C0"/>
              </a:solidFill>
            </a:endParaRPr>
          </a:p>
          <a:p>
            <a:pPr marL="914400" lvl="1" indent="-457200">
              <a:spcAft>
                <a:spcPts val="100"/>
              </a:spcAft>
              <a:buFont typeface="+mj-lt"/>
              <a:buAutoNum type="arabicPeriod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todo vértice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faça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			         </a:t>
            </a:r>
            <a:r>
              <a:rPr lang="pt-BR" sz="1400" dirty="0">
                <a:solidFill>
                  <a:srgbClr val="0070C0"/>
                </a:solidFill>
              </a:rPr>
              <a:t>// Para toda a vizinhança de v</a:t>
            </a:r>
            <a:endParaRPr lang="pt-BR" dirty="0">
              <a:solidFill>
                <a:srgbClr val="0070C0"/>
              </a:solidFill>
            </a:endParaRPr>
          </a:p>
          <a:p>
            <a:pPr marL="1371600" lvl="2" indent="-457200">
              <a:spcAft>
                <a:spcPts val="100"/>
              </a:spcAft>
              <a:buFont typeface="+mj-lt"/>
              <a:buAutoNum type="alphaLcPeriod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se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 = 0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então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			         </a:t>
            </a:r>
            <a:r>
              <a:rPr lang="pt-BR" sz="1400" dirty="0">
                <a:solidFill>
                  <a:srgbClr val="0070C0"/>
                </a:solidFill>
                <a:sym typeface="Symbol" panose="05050102010706020507" pitchFamily="18" charset="2"/>
              </a:rPr>
              <a:t>// Se w é visitado pela 1ª vez</a:t>
            </a:r>
            <a:endParaRPr lang="pt-BR" sz="1600" dirty="0">
              <a:solidFill>
                <a:srgbClr val="0070C0"/>
              </a:solidFill>
              <a:sym typeface="Symbol" panose="05050102010706020507" pitchFamily="18" charset="2"/>
            </a:endParaRPr>
          </a:p>
          <a:p>
            <a:pPr lvl="4">
              <a:spcAft>
                <a:spcPts val="1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Visitar aresta de </a:t>
            </a:r>
            <a:r>
              <a:rPr lang="pt-BR" sz="1600" dirty="0">
                <a:solidFill>
                  <a:srgbClr val="00B0F0"/>
                </a:solidFill>
                <a:sym typeface="Symbol" panose="05050102010706020507" pitchFamily="18" charset="2"/>
              </a:rPr>
              <a:t>árvore ou pai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{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,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};  pai[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;</a:t>
            </a:r>
          </a:p>
          <a:p>
            <a:pPr lvl="4">
              <a:spcAft>
                <a:spcPts val="1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nível[w]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nível[v] + 1;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+ 1;  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;  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Fila.Insere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);</a:t>
            </a:r>
            <a:endParaRPr lang="pt-BR" sz="1600" dirty="0">
              <a:solidFill>
                <a:srgbClr val="0070C0"/>
              </a:solidFill>
            </a:endParaRPr>
          </a:p>
          <a:p>
            <a:pPr marL="1371600" lvl="2" indent="-457200">
              <a:spcAft>
                <a:spcPts val="100"/>
              </a:spcAft>
              <a:buFont typeface="+mj-lt"/>
              <a:buAutoNum type="alphaLcPeriod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nível[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= nível[v] + 1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lvl="4">
              <a:spcAft>
                <a:spcPts val="1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Visitar aresta </a:t>
            </a:r>
            <a:r>
              <a:rPr lang="pt-BR" sz="1600" dirty="0">
                <a:solidFill>
                  <a:srgbClr val="00B050"/>
                </a:solidFill>
                <a:sym typeface="Symbol" panose="05050102010706020507" pitchFamily="18" charset="2"/>
              </a:rPr>
              <a:t>tio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{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};</a:t>
            </a:r>
            <a:endParaRPr lang="pt-BR" sz="1600" dirty="0">
              <a:solidFill>
                <a:srgbClr val="0070C0"/>
              </a:solidFill>
            </a:endParaRPr>
          </a:p>
          <a:p>
            <a:pPr marL="1371600" lvl="2" indent="-457200">
              <a:spcAft>
                <a:spcPts val="100"/>
              </a:spcAft>
              <a:buFont typeface="+mj-lt"/>
              <a:buAutoNum type="alphaLcPeriod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nível[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= nível[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pai[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= pai[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&gt; 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lvl="4">
              <a:spcAft>
                <a:spcPts val="1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Visitar aresta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dirty="0">
                <a:solidFill>
                  <a:srgbClr val="FF0000"/>
                </a:solidFill>
                <a:sym typeface="Symbol" panose="05050102010706020507" pitchFamily="18" charset="2"/>
              </a:rPr>
              <a:t>irmão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{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};</a:t>
            </a:r>
            <a:endParaRPr lang="pt-BR" sz="1600" dirty="0">
              <a:solidFill>
                <a:srgbClr val="0070C0"/>
              </a:solidFill>
            </a:endParaRPr>
          </a:p>
          <a:p>
            <a:pPr marL="1371600" lvl="2" indent="-457200">
              <a:spcAft>
                <a:spcPts val="100"/>
              </a:spcAft>
              <a:buFont typeface="+mj-lt"/>
              <a:buAutoNum type="alphaLcPeriod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nível[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= nível[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pai[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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pai[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&gt; 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pt-BR" sz="1600" u="sng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4">
              <a:spcAft>
                <a:spcPts val="1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Visitar aresta </a:t>
            </a:r>
            <a:r>
              <a:rPr lang="pt-BR" sz="1600" dirty="0">
                <a:solidFill>
                  <a:srgbClr val="FFC000"/>
                </a:solidFill>
              </a:rPr>
              <a:t>primo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{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};</a:t>
            </a:r>
            <a:endParaRPr lang="pt-BR" sz="1600" dirty="0">
              <a:solidFill>
                <a:srgbClr val="0070C0"/>
              </a:solidFill>
            </a:endParaRPr>
          </a:p>
        </p:txBody>
      </p:sp>
      <p:sp>
        <p:nvSpPr>
          <p:cNvPr id="6" name="Texto explicativo em elipse 5"/>
          <p:cNvSpPr/>
          <p:nvPr/>
        </p:nvSpPr>
        <p:spPr>
          <a:xfrm>
            <a:off x="2711938" y="1664677"/>
            <a:ext cx="3548185" cy="1352061"/>
          </a:xfrm>
          <a:prstGeom prst="wedgeEllipseCallout">
            <a:avLst>
              <a:gd name="adj1" fmla="val 31370"/>
              <a:gd name="adj2" fmla="val 72904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Condição necessária para que aresta seja explorada uma única vez</a:t>
            </a:r>
          </a:p>
        </p:txBody>
      </p:sp>
    </p:spTree>
    <p:extLst>
      <p:ext uri="{BB962C8B-B14F-4D97-AF65-F5344CB8AC3E}">
        <p14:creationId xmlns:p14="http://schemas.microsoft.com/office/powerpoint/2010/main" val="4047963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Algoritmo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89747" y="1103063"/>
            <a:ext cx="8424936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"/>
              </a:spcAft>
            </a:pP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Busca_Largura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()</a:t>
            </a:r>
          </a:p>
          <a:p>
            <a:pPr>
              <a:spcAft>
                <a:spcPts val="1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enquanto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u="sng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not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Fila.Vazia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()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efetuar</a:t>
            </a:r>
          </a:p>
          <a:p>
            <a:pPr marL="914400" lvl="1" indent="-457200">
              <a:spcAft>
                <a:spcPts val="100"/>
              </a:spcAft>
              <a:buFont typeface="+mj-lt"/>
              <a:buAutoNum type="arabicPeriod"/>
            </a:pP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Fila.Remove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();				         </a:t>
            </a:r>
            <a:r>
              <a:rPr lang="pt-BR" sz="1400" dirty="0">
                <a:solidFill>
                  <a:srgbClr val="0070C0"/>
                </a:solidFill>
                <a:sym typeface="Symbol" panose="05050102010706020507" pitchFamily="18" charset="2"/>
              </a:rPr>
              <a:t>// Remover 1º elemento da fila</a:t>
            </a:r>
            <a:endParaRPr lang="pt-BR" sz="1600" dirty="0">
              <a:solidFill>
                <a:srgbClr val="0070C0"/>
              </a:solidFill>
            </a:endParaRPr>
          </a:p>
          <a:p>
            <a:pPr marL="914400" lvl="1" indent="-457200">
              <a:spcAft>
                <a:spcPts val="100"/>
              </a:spcAft>
              <a:buFont typeface="+mj-lt"/>
              <a:buAutoNum type="arabicPeriod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todo vértice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faça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			         </a:t>
            </a:r>
            <a:r>
              <a:rPr lang="pt-BR" sz="1400" dirty="0">
                <a:solidFill>
                  <a:srgbClr val="0070C0"/>
                </a:solidFill>
              </a:rPr>
              <a:t>// Para toda a vizinhança de v</a:t>
            </a:r>
            <a:endParaRPr lang="pt-BR" dirty="0">
              <a:solidFill>
                <a:srgbClr val="0070C0"/>
              </a:solidFill>
            </a:endParaRPr>
          </a:p>
          <a:p>
            <a:pPr marL="1371600" lvl="2" indent="-457200">
              <a:spcAft>
                <a:spcPts val="100"/>
              </a:spcAft>
              <a:buFont typeface="+mj-lt"/>
              <a:buAutoNum type="alphaLcPeriod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se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 = 0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então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			         </a:t>
            </a:r>
            <a:r>
              <a:rPr lang="pt-BR" sz="1400" dirty="0">
                <a:solidFill>
                  <a:srgbClr val="0070C0"/>
                </a:solidFill>
                <a:sym typeface="Symbol" panose="05050102010706020507" pitchFamily="18" charset="2"/>
              </a:rPr>
              <a:t>// Se w é visitado pela 1ª vez</a:t>
            </a:r>
            <a:endParaRPr lang="pt-BR" sz="1600" dirty="0">
              <a:solidFill>
                <a:srgbClr val="0070C0"/>
              </a:solidFill>
              <a:sym typeface="Symbol" panose="05050102010706020507" pitchFamily="18" charset="2"/>
            </a:endParaRPr>
          </a:p>
          <a:p>
            <a:pPr lvl="4">
              <a:spcAft>
                <a:spcPts val="1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Visitar aresta de </a:t>
            </a:r>
            <a:r>
              <a:rPr lang="pt-BR" sz="1600" dirty="0">
                <a:solidFill>
                  <a:srgbClr val="00B0F0"/>
                </a:solidFill>
                <a:sym typeface="Symbol" panose="05050102010706020507" pitchFamily="18" charset="2"/>
              </a:rPr>
              <a:t>árvore ou pai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{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,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};  pai[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;</a:t>
            </a:r>
          </a:p>
          <a:p>
            <a:pPr lvl="4">
              <a:spcAft>
                <a:spcPts val="1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nível[w]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nível[v] + 1;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+ 1;  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]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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t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;  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Fila.Insere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);</a:t>
            </a:r>
            <a:endParaRPr lang="pt-BR" sz="1600" dirty="0">
              <a:solidFill>
                <a:srgbClr val="0070C0"/>
              </a:solidFill>
            </a:endParaRPr>
          </a:p>
          <a:p>
            <a:pPr marL="1371600" lvl="2" indent="-457200">
              <a:spcAft>
                <a:spcPts val="100"/>
              </a:spcAft>
              <a:buFont typeface="+mj-lt"/>
              <a:buAutoNum type="alphaLcPeriod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nível[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= nível[v] + 1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lvl="4">
              <a:spcAft>
                <a:spcPts val="1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Visitar aresta </a:t>
            </a:r>
            <a:r>
              <a:rPr lang="pt-BR" sz="1600" dirty="0">
                <a:solidFill>
                  <a:srgbClr val="00B050"/>
                </a:solidFill>
                <a:sym typeface="Symbol" panose="05050102010706020507" pitchFamily="18" charset="2"/>
              </a:rPr>
              <a:t>tio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{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};</a:t>
            </a:r>
            <a:endParaRPr lang="pt-BR" sz="1600" dirty="0">
              <a:solidFill>
                <a:srgbClr val="0070C0"/>
              </a:solidFill>
            </a:endParaRPr>
          </a:p>
          <a:p>
            <a:pPr marL="1371600" lvl="2" indent="-457200">
              <a:spcAft>
                <a:spcPts val="100"/>
              </a:spcAft>
              <a:buFont typeface="+mj-lt"/>
              <a:buAutoNum type="alphaLcPeriod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nível[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= nível[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e pai[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= pai[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e 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&gt; 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lvl="4">
              <a:spcAft>
                <a:spcPts val="1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Visitar aresta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1600" dirty="0">
                <a:solidFill>
                  <a:srgbClr val="FF0000"/>
                </a:solidFill>
                <a:sym typeface="Symbol" panose="05050102010706020507" pitchFamily="18" charset="2"/>
              </a:rPr>
              <a:t>irmão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{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};</a:t>
            </a:r>
            <a:endParaRPr lang="pt-BR" sz="1600" dirty="0">
              <a:solidFill>
                <a:srgbClr val="0070C0"/>
              </a:solidFill>
            </a:endParaRPr>
          </a:p>
          <a:p>
            <a:pPr marL="1371600" lvl="2" indent="-457200">
              <a:spcAft>
                <a:spcPts val="100"/>
              </a:spcAft>
              <a:buFont typeface="+mj-lt"/>
              <a:buAutoNum type="alphaLcPeriod"/>
            </a:pP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nível[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= nível[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pai[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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pai[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&gt; L[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]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então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pt-BR" sz="1600" u="sng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4">
              <a:spcAft>
                <a:spcPts val="1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Visitar aresta </a:t>
            </a:r>
            <a:r>
              <a:rPr lang="pt-BR" sz="1600" dirty="0">
                <a:solidFill>
                  <a:srgbClr val="FFC000"/>
                </a:solidFill>
              </a:rPr>
              <a:t>primo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{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};</a:t>
            </a:r>
            <a:endParaRPr lang="pt-BR" sz="1600" dirty="0">
              <a:solidFill>
                <a:srgbClr val="0070C0"/>
              </a:solidFill>
            </a:endParaRPr>
          </a:p>
        </p:txBody>
      </p:sp>
      <p:sp>
        <p:nvSpPr>
          <p:cNvPr id="4" name="Retângulo de cantos arredondados 3"/>
          <p:cNvSpPr/>
          <p:nvPr/>
        </p:nvSpPr>
        <p:spPr>
          <a:xfrm>
            <a:off x="1860331" y="1901527"/>
            <a:ext cx="5215233" cy="1866637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pt-BR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Custo da busca é O(</a:t>
            </a:r>
            <a:r>
              <a:rPr lang="pt-BR" sz="2400" b="1" i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n</a:t>
            </a:r>
            <a:r>
              <a:rPr lang="pt-BR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+ </a:t>
            </a:r>
            <a:r>
              <a:rPr lang="pt-BR" sz="2400" b="1" i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m</a:t>
            </a:r>
            <a:r>
              <a:rPr lang="pt-BR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), </a:t>
            </a:r>
          </a:p>
          <a:p>
            <a:pPr algn="ctr">
              <a:spcAft>
                <a:spcPts val="600"/>
              </a:spcAft>
            </a:pPr>
            <a:r>
              <a:rPr lang="pt-BR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em que </a:t>
            </a:r>
            <a:r>
              <a:rPr lang="pt-BR" sz="2400" b="1" i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n</a:t>
            </a:r>
            <a:r>
              <a:rPr lang="pt-BR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= |V(G)| e </a:t>
            </a:r>
            <a:r>
              <a:rPr lang="pt-BR" sz="2400" b="1" i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m</a:t>
            </a:r>
            <a:r>
              <a:rPr lang="pt-BR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= |E(G)|</a:t>
            </a:r>
          </a:p>
        </p:txBody>
      </p:sp>
    </p:spTree>
    <p:extLst>
      <p:ext uri="{BB962C8B-B14F-4D97-AF65-F5344CB8AC3E}">
        <p14:creationId xmlns:p14="http://schemas.microsoft.com/office/powerpoint/2010/main" val="4182455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</p:spTree>
    <p:extLst>
      <p:ext uri="{BB962C8B-B14F-4D97-AF65-F5344CB8AC3E}">
        <p14:creationId xmlns:p14="http://schemas.microsoft.com/office/powerpoint/2010/main" val="2259823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d,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b, c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d, c, a 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863200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027196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d,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b, c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d, c, a 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805355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aixaDeTexto 70"/>
          <p:cNvSpPr txBox="1"/>
          <p:nvPr/>
        </p:nvSpPr>
        <p:spPr>
          <a:xfrm>
            <a:off x="332985" y="2365105"/>
            <a:ext cx="627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Raiz da</a:t>
            </a:r>
          </a:p>
          <a:p>
            <a:pPr algn="ctr"/>
            <a:r>
              <a:rPr lang="pt-BR" sz="1200" dirty="0"/>
              <a:t>busca</a:t>
            </a:r>
          </a:p>
        </p:txBody>
      </p:sp>
      <p:cxnSp>
        <p:nvCxnSpPr>
          <p:cNvPr id="76" name="Conector de seta reta 75"/>
          <p:cNvCxnSpPr/>
          <p:nvPr/>
        </p:nvCxnSpPr>
        <p:spPr>
          <a:xfrm flipV="1">
            <a:off x="633919" y="2103572"/>
            <a:ext cx="24761" cy="293722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027196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d,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b, c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d, c, a 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770437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aixaDeTexto 70"/>
          <p:cNvSpPr txBox="1"/>
          <p:nvPr/>
        </p:nvSpPr>
        <p:spPr>
          <a:xfrm>
            <a:off x="332985" y="2365105"/>
            <a:ext cx="627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Raiz da</a:t>
            </a:r>
          </a:p>
          <a:p>
            <a:pPr algn="ctr"/>
            <a:r>
              <a:rPr lang="pt-BR" sz="1200" dirty="0"/>
              <a:t>busca</a:t>
            </a:r>
          </a:p>
        </p:txBody>
      </p:sp>
      <p:cxnSp>
        <p:nvCxnSpPr>
          <p:cNvPr id="76" name="Conector de seta reta 75"/>
          <p:cNvCxnSpPr/>
          <p:nvPr/>
        </p:nvCxnSpPr>
        <p:spPr>
          <a:xfrm flipV="1">
            <a:off x="633919" y="2103572"/>
            <a:ext cx="24761" cy="293722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376958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d,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b, c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d, c, a }</a:t>
            </a:r>
            <a:endParaRPr lang="pt-BR" sz="1600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3748421" y="2894803"/>
            <a:ext cx="772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</a:t>
            </a:r>
          </a:p>
        </p:txBody>
      </p:sp>
    </p:spTree>
    <p:extLst>
      <p:ext uri="{BB962C8B-B14F-4D97-AF65-F5344CB8AC3E}">
        <p14:creationId xmlns:p14="http://schemas.microsoft.com/office/powerpoint/2010/main" val="1618338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376958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d,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b, c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d, c, a }</a:t>
            </a:r>
            <a:endParaRPr lang="pt-BR" sz="1600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3748421" y="2894803"/>
            <a:ext cx="772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</a:t>
            </a:r>
          </a:p>
        </p:txBody>
      </p:sp>
      <p:cxnSp>
        <p:nvCxnSpPr>
          <p:cNvPr id="41" name="Conector reto 40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6" name="CaixaDeTexto 65"/>
          <p:cNvSpPr txBox="1"/>
          <p:nvPr/>
        </p:nvSpPr>
        <p:spPr>
          <a:xfrm>
            <a:off x="3933230" y="3216738"/>
            <a:ext cx="5757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</a:t>
            </a:r>
          </a:p>
        </p:txBody>
      </p:sp>
    </p:spTree>
    <p:extLst>
      <p:ext uri="{BB962C8B-B14F-4D97-AF65-F5344CB8AC3E}">
        <p14:creationId xmlns:p14="http://schemas.microsoft.com/office/powerpoint/2010/main" val="1823028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356075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d,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b, c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d, c, a }</a:t>
            </a:r>
            <a:endParaRPr lang="pt-BR" sz="1600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3748421" y="2894803"/>
            <a:ext cx="772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</a:t>
            </a:r>
          </a:p>
        </p:txBody>
      </p:sp>
      <p:cxnSp>
        <p:nvCxnSpPr>
          <p:cNvPr id="41" name="Conector reto 40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6" name="CaixaDeTexto 65"/>
          <p:cNvSpPr txBox="1"/>
          <p:nvPr/>
        </p:nvSpPr>
        <p:spPr>
          <a:xfrm>
            <a:off x="3933230" y="3216738"/>
            <a:ext cx="5757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b</a:t>
            </a:r>
          </a:p>
        </p:txBody>
      </p:sp>
    </p:spTree>
    <p:extLst>
      <p:ext uri="{BB962C8B-B14F-4D97-AF65-F5344CB8AC3E}">
        <p14:creationId xmlns:p14="http://schemas.microsoft.com/office/powerpoint/2010/main" val="3838612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475372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d,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b, c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d, c, a }</a:t>
            </a:r>
            <a:endParaRPr lang="pt-BR" sz="1600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3748421" y="2894803"/>
            <a:ext cx="772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</a:t>
            </a:r>
          </a:p>
        </p:txBody>
      </p:sp>
      <p:cxnSp>
        <p:nvCxnSpPr>
          <p:cNvPr id="41" name="Conector reto 40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6" name="CaixaDeTexto 65"/>
          <p:cNvSpPr txBox="1"/>
          <p:nvPr/>
        </p:nvSpPr>
        <p:spPr>
          <a:xfrm>
            <a:off x="3933230" y="3216738"/>
            <a:ext cx="5757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b</a:t>
            </a:r>
          </a:p>
        </p:txBody>
      </p:sp>
    </p:spTree>
    <p:extLst>
      <p:ext uri="{BB962C8B-B14F-4D97-AF65-F5344CB8AC3E}">
        <p14:creationId xmlns:p14="http://schemas.microsoft.com/office/powerpoint/2010/main" val="1066899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475372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d,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c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d, c, a }</a:t>
            </a:r>
            <a:endParaRPr lang="pt-BR" sz="1600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3748421" y="2894803"/>
            <a:ext cx="772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</a:t>
            </a:r>
          </a:p>
        </p:txBody>
      </p:sp>
      <p:cxnSp>
        <p:nvCxnSpPr>
          <p:cNvPr id="41" name="Conector reto 40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6" name="CaixaDeTexto 65"/>
          <p:cNvSpPr txBox="1"/>
          <p:nvPr/>
        </p:nvSpPr>
        <p:spPr>
          <a:xfrm>
            <a:off x="3933230" y="3216738"/>
            <a:ext cx="5757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b</a:t>
            </a: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781909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475372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d,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c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d, c,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6" name="CaixaDeTexto 65"/>
          <p:cNvSpPr txBox="1"/>
          <p:nvPr/>
        </p:nvSpPr>
        <p:spPr>
          <a:xfrm>
            <a:off x="3933230" y="3216738"/>
            <a:ext cx="5757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b</a:t>
            </a: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1" name="CaixaDeTexto 70"/>
          <p:cNvSpPr txBox="1"/>
          <p:nvPr/>
        </p:nvSpPr>
        <p:spPr>
          <a:xfrm>
            <a:off x="3748421" y="2894803"/>
            <a:ext cx="10198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</a:t>
            </a:r>
          </a:p>
        </p:txBody>
      </p:sp>
      <p:cxnSp>
        <p:nvCxnSpPr>
          <p:cNvPr id="72" name="Conector reto 71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8818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475372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d,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c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d, c,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6" name="CaixaDeTexto 65"/>
          <p:cNvSpPr txBox="1"/>
          <p:nvPr/>
        </p:nvSpPr>
        <p:spPr>
          <a:xfrm>
            <a:off x="3933230" y="3216738"/>
            <a:ext cx="5757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c</a:t>
            </a: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1" name="CaixaDeTexto 70"/>
          <p:cNvSpPr txBox="1"/>
          <p:nvPr/>
        </p:nvSpPr>
        <p:spPr>
          <a:xfrm>
            <a:off x="3748421" y="2894803"/>
            <a:ext cx="10198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</a:t>
            </a:r>
          </a:p>
        </p:txBody>
      </p:sp>
      <p:cxnSp>
        <p:nvCxnSpPr>
          <p:cNvPr id="72" name="Conector reto 71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341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793141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d,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c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d, c,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6" name="CaixaDeTexto 65"/>
          <p:cNvSpPr txBox="1"/>
          <p:nvPr/>
        </p:nvSpPr>
        <p:spPr>
          <a:xfrm>
            <a:off x="3933230" y="3216738"/>
            <a:ext cx="5757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c</a:t>
            </a: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1" name="CaixaDeTexto 70"/>
          <p:cNvSpPr txBox="1"/>
          <p:nvPr/>
        </p:nvSpPr>
        <p:spPr>
          <a:xfrm>
            <a:off x="3748421" y="2894803"/>
            <a:ext cx="10198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</a:t>
            </a:r>
          </a:p>
        </p:txBody>
      </p:sp>
      <p:cxnSp>
        <p:nvCxnSpPr>
          <p:cNvPr id="72" name="Conector reto 71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0128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793141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d,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d, c,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757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c</a:t>
            </a: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1" name="CaixaDeTexto 70"/>
          <p:cNvSpPr txBox="1"/>
          <p:nvPr/>
        </p:nvSpPr>
        <p:spPr>
          <a:xfrm>
            <a:off x="3748421" y="2894803"/>
            <a:ext cx="10198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</a:t>
            </a:r>
          </a:p>
        </p:txBody>
      </p:sp>
      <p:cxnSp>
        <p:nvCxnSpPr>
          <p:cNvPr id="72" name="Conector reto 71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1819634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793141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d,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d, c,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757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c</a:t>
            </a: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6" name="CaixaDeTexto 75"/>
          <p:cNvSpPr txBox="1"/>
          <p:nvPr/>
        </p:nvSpPr>
        <p:spPr>
          <a:xfrm>
            <a:off x="3748421" y="2894803"/>
            <a:ext cx="1245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</a:t>
            </a:r>
          </a:p>
        </p:txBody>
      </p:sp>
      <p:cxnSp>
        <p:nvCxnSpPr>
          <p:cNvPr id="77" name="Conector reto 76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0579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793141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d,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d, c,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757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6" name="CaixaDeTexto 75"/>
          <p:cNvSpPr txBox="1"/>
          <p:nvPr/>
        </p:nvSpPr>
        <p:spPr>
          <a:xfrm>
            <a:off x="3748421" y="2894803"/>
            <a:ext cx="1245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</a:t>
            </a:r>
          </a:p>
        </p:txBody>
      </p:sp>
      <p:cxnSp>
        <p:nvCxnSpPr>
          <p:cNvPr id="77" name="Conector reto 76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64821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793141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d,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d, c,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b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6" name="CaixaDeTexto 75"/>
          <p:cNvSpPr txBox="1"/>
          <p:nvPr/>
        </p:nvSpPr>
        <p:spPr>
          <a:xfrm>
            <a:off x="3748421" y="2894803"/>
            <a:ext cx="1245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</a:t>
            </a:r>
          </a:p>
        </p:txBody>
      </p:sp>
      <p:cxnSp>
        <p:nvCxnSpPr>
          <p:cNvPr id="77" name="Conector reto 76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1086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793141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d,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d, c,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b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d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6" name="CaixaDeTexto 75"/>
          <p:cNvSpPr txBox="1"/>
          <p:nvPr/>
        </p:nvSpPr>
        <p:spPr>
          <a:xfrm>
            <a:off x="3748421" y="2894803"/>
            <a:ext cx="1245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</a:t>
            </a:r>
          </a:p>
        </p:txBody>
      </p:sp>
      <p:cxnSp>
        <p:nvCxnSpPr>
          <p:cNvPr id="77" name="Conector reto 76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6304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852707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d,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d, c,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b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d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6" name="CaixaDeTexto 75"/>
          <p:cNvSpPr txBox="1"/>
          <p:nvPr/>
        </p:nvSpPr>
        <p:spPr>
          <a:xfrm>
            <a:off x="3748421" y="2894803"/>
            <a:ext cx="1245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</a:t>
            </a:r>
          </a:p>
        </p:txBody>
      </p:sp>
      <p:cxnSp>
        <p:nvCxnSpPr>
          <p:cNvPr id="77" name="Conector reto 76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5056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852707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d,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c,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b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d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6" name="CaixaDeTexto 75"/>
          <p:cNvSpPr txBox="1"/>
          <p:nvPr/>
        </p:nvSpPr>
        <p:spPr>
          <a:xfrm>
            <a:off x="3748421" y="2894803"/>
            <a:ext cx="1245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</a:t>
            </a:r>
          </a:p>
        </p:txBody>
      </p:sp>
      <p:cxnSp>
        <p:nvCxnSpPr>
          <p:cNvPr id="77" name="Conector reto 76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5781958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852707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d,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c,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b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d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9" name="CaixaDeTexto 78"/>
          <p:cNvSpPr txBox="1"/>
          <p:nvPr/>
        </p:nvSpPr>
        <p:spPr>
          <a:xfrm>
            <a:off x="3748421" y="2894803"/>
            <a:ext cx="1539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   d</a:t>
            </a:r>
          </a:p>
        </p:txBody>
      </p:sp>
      <p:cxnSp>
        <p:nvCxnSpPr>
          <p:cNvPr id="80" name="Conector reto 79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24685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852707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d,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c,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b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19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c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9" name="CaixaDeTexto 78"/>
          <p:cNvSpPr txBox="1"/>
          <p:nvPr/>
        </p:nvSpPr>
        <p:spPr>
          <a:xfrm>
            <a:off x="3748421" y="2894803"/>
            <a:ext cx="1539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   d</a:t>
            </a:r>
          </a:p>
        </p:txBody>
      </p:sp>
      <p:cxnSp>
        <p:nvCxnSpPr>
          <p:cNvPr id="80" name="Conector reto 79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de cantos arredondados 2"/>
          <p:cNvSpPr/>
          <p:nvPr/>
        </p:nvSpPr>
        <p:spPr>
          <a:xfrm>
            <a:off x="3988248" y="1961231"/>
            <a:ext cx="880144" cy="57898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92230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852707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d,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b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19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c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9" name="CaixaDeTexto 78"/>
          <p:cNvSpPr txBox="1"/>
          <p:nvPr/>
        </p:nvSpPr>
        <p:spPr>
          <a:xfrm>
            <a:off x="3748421" y="2894803"/>
            <a:ext cx="1539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   d</a:t>
            </a:r>
          </a:p>
        </p:txBody>
      </p:sp>
      <p:cxnSp>
        <p:nvCxnSpPr>
          <p:cNvPr id="80" name="Conector reto 79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de cantos arredondados 2"/>
          <p:cNvSpPr/>
          <p:nvPr/>
        </p:nvSpPr>
        <p:spPr>
          <a:xfrm>
            <a:off x="3988248" y="1961231"/>
            <a:ext cx="880144" cy="57898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1" name="Conector de seta reta 70"/>
          <p:cNvCxnSpPr/>
          <p:nvPr/>
        </p:nvCxnSpPr>
        <p:spPr>
          <a:xfrm flipH="1">
            <a:off x="7275411" y="2625362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8225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852707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d,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b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30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a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9" name="CaixaDeTexto 78"/>
          <p:cNvSpPr txBox="1"/>
          <p:nvPr/>
        </p:nvSpPr>
        <p:spPr>
          <a:xfrm>
            <a:off x="3748421" y="2894803"/>
            <a:ext cx="1539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   d</a:t>
            </a:r>
          </a:p>
        </p:txBody>
      </p:sp>
      <p:cxnSp>
        <p:nvCxnSpPr>
          <p:cNvPr id="80" name="Conector reto 79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de seta reta 70"/>
          <p:cNvCxnSpPr/>
          <p:nvPr/>
        </p:nvCxnSpPr>
        <p:spPr>
          <a:xfrm flipH="1">
            <a:off x="7275411" y="2625362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/>
          <p:nvPr/>
        </p:nvCxnSpPr>
        <p:spPr>
          <a:xfrm flipH="1">
            <a:off x="1545579" y="3185178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0872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852707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d,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b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9" name="CaixaDeTexto 78"/>
          <p:cNvSpPr txBox="1"/>
          <p:nvPr/>
        </p:nvSpPr>
        <p:spPr>
          <a:xfrm>
            <a:off x="3748421" y="2894803"/>
            <a:ext cx="1539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   d</a:t>
            </a:r>
          </a:p>
        </p:txBody>
      </p:sp>
      <p:cxnSp>
        <p:nvCxnSpPr>
          <p:cNvPr id="80" name="Conector reto 79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de seta reta 70"/>
          <p:cNvCxnSpPr/>
          <p:nvPr/>
        </p:nvCxnSpPr>
        <p:spPr>
          <a:xfrm flipH="1">
            <a:off x="7275411" y="2625362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/>
          <p:nvPr/>
        </p:nvCxnSpPr>
        <p:spPr>
          <a:xfrm flipH="1">
            <a:off x="1545579" y="3185178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76654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852707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d,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c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9" name="CaixaDeTexto 78"/>
          <p:cNvSpPr txBox="1"/>
          <p:nvPr/>
        </p:nvSpPr>
        <p:spPr>
          <a:xfrm>
            <a:off x="3748421" y="2894803"/>
            <a:ext cx="1539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   d</a:t>
            </a:r>
          </a:p>
        </p:txBody>
      </p:sp>
      <p:cxnSp>
        <p:nvCxnSpPr>
          <p:cNvPr id="80" name="Conector reto 79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de seta reta 70"/>
          <p:cNvCxnSpPr/>
          <p:nvPr/>
        </p:nvCxnSpPr>
        <p:spPr>
          <a:xfrm flipH="1">
            <a:off x="7275411" y="2625362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/>
          <p:nvPr/>
        </p:nvCxnSpPr>
        <p:spPr>
          <a:xfrm flipH="1">
            <a:off x="4769189" y="2908906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/>
          <p:nvPr/>
        </p:nvCxnSpPr>
        <p:spPr>
          <a:xfrm flipH="1">
            <a:off x="1545579" y="3185178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8264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852707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d,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c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a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9" name="CaixaDeTexto 78"/>
          <p:cNvSpPr txBox="1"/>
          <p:nvPr/>
        </p:nvSpPr>
        <p:spPr>
          <a:xfrm>
            <a:off x="3748421" y="2894803"/>
            <a:ext cx="1539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   d</a:t>
            </a:r>
          </a:p>
        </p:txBody>
      </p:sp>
      <p:cxnSp>
        <p:nvCxnSpPr>
          <p:cNvPr id="80" name="Conector reto 79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de seta reta 70"/>
          <p:cNvCxnSpPr/>
          <p:nvPr/>
        </p:nvCxnSpPr>
        <p:spPr>
          <a:xfrm flipH="1">
            <a:off x="7275411" y="2625362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/>
          <p:nvPr/>
        </p:nvCxnSpPr>
        <p:spPr>
          <a:xfrm flipH="1">
            <a:off x="4769189" y="2908906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/>
          <p:nvPr/>
        </p:nvCxnSpPr>
        <p:spPr>
          <a:xfrm flipH="1">
            <a:off x="1545579" y="3185178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/>
          <p:nvPr/>
        </p:nvCxnSpPr>
        <p:spPr>
          <a:xfrm flipH="1">
            <a:off x="2712070" y="2600279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16366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852707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3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d,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c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d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9" name="CaixaDeTexto 78"/>
          <p:cNvSpPr txBox="1"/>
          <p:nvPr/>
        </p:nvSpPr>
        <p:spPr>
          <a:xfrm>
            <a:off x="3748421" y="2894803"/>
            <a:ext cx="1539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   d</a:t>
            </a:r>
          </a:p>
        </p:txBody>
      </p:sp>
      <p:cxnSp>
        <p:nvCxnSpPr>
          <p:cNvPr id="80" name="Conector reto 79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de seta reta 70"/>
          <p:cNvCxnSpPr/>
          <p:nvPr/>
        </p:nvCxnSpPr>
        <p:spPr>
          <a:xfrm flipH="1">
            <a:off x="7275411" y="2625362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/>
          <p:nvPr/>
        </p:nvCxnSpPr>
        <p:spPr>
          <a:xfrm flipH="1">
            <a:off x="4769189" y="2908906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/>
          <p:nvPr/>
        </p:nvCxnSpPr>
        <p:spPr>
          <a:xfrm flipH="1">
            <a:off x="1545579" y="3185178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/>
          <p:nvPr/>
        </p:nvCxnSpPr>
        <p:spPr>
          <a:xfrm flipH="1">
            <a:off x="2712070" y="2600279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tângulo de cantos arredondados 82"/>
          <p:cNvSpPr/>
          <p:nvPr/>
        </p:nvSpPr>
        <p:spPr>
          <a:xfrm>
            <a:off x="4463608" y="1953929"/>
            <a:ext cx="895966" cy="265435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06115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852707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70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</a:t>
            </a:r>
            <a:r>
              <a:rPr lang="pt-BR" sz="1600" b="1" dirty="0">
                <a:solidFill>
                  <a:srgbClr val="00B05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c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d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9" name="CaixaDeTexto 78"/>
          <p:cNvSpPr txBox="1"/>
          <p:nvPr/>
        </p:nvSpPr>
        <p:spPr>
          <a:xfrm>
            <a:off x="3748421" y="2894803"/>
            <a:ext cx="1539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   d</a:t>
            </a:r>
          </a:p>
        </p:txBody>
      </p:sp>
      <p:cxnSp>
        <p:nvCxnSpPr>
          <p:cNvPr id="80" name="Conector reto 79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de seta reta 70"/>
          <p:cNvCxnSpPr/>
          <p:nvPr/>
        </p:nvCxnSpPr>
        <p:spPr>
          <a:xfrm flipH="1">
            <a:off x="7275411" y="2625362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/>
          <p:nvPr/>
        </p:nvCxnSpPr>
        <p:spPr>
          <a:xfrm flipH="1">
            <a:off x="4769189" y="2908906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/>
          <p:nvPr/>
        </p:nvCxnSpPr>
        <p:spPr>
          <a:xfrm flipH="1">
            <a:off x="1545579" y="3185178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/>
          <p:nvPr/>
        </p:nvCxnSpPr>
        <p:spPr>
          <a:xfrm flipH="1">
            <a:off x="2712070" y="2600279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tângulo de cantos arredondados 82"/>
          <p:cNvSpPr/>
          <p:nvPr/>
        </p:nvSpPr>
        <p:spPr>
          <a:xfrm>
            <a:off x="4463608" y="1953929"/>
            <a:ext cx="895966" cy="265435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4" name="Conector de seta reta 83"/>
          <p:cNvCxnSpPr/>
          <p:nvPr/>
        </p:nvCxnSpPr>
        <p:spPr>
          <a:xfrm flipH="1">
            <a:off x="7241714" y="2704899"/>
            <a:ext cx="772339" cy="44829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4642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852707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723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</a:t>
            </a:r>
            <a:r>
              <a:rPr lang="pt-BR" sz="1600" b="1" dirty="0">
                <a:solidFill>
                  <a:srgbClr val="00B05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c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e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9" name="CaixaDeTexto 78"/>
          <p:cNvSpPr txBox="1"/>
          <p:nvPr/>
        </p:nvSpPr>
        <p:spPr>
          <a:xfrm>
            <a:off x="3748421" y="2894803"/>
            <a:ext cx="1539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   d</a:t>
            </a:r>
          </a:p>
        </p:txBody>
      </p:sp>
      <p:cxnSp>
        <p:nvCxnSpPr>
          <p:cNvPr id="80" name="Conector reto 79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de seta reta 70"/>
          <p:cNvCxnSpPr/>
          <p:nvPr/>
        </p:nvCxnSpPr>
        <p:spPr>
          <a:xfrm flipH="1">
            <a:off x="7275411" y="2625362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/>
          <p:nvPr/>
        </p:nvCxnSpPr>
        <p:spPr>
          <a:xfrm flipH="1">
            <a:off x="4769189" y="2908906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/>
          <p:nvPr/>
        </p:nvCxnSpPr>
        <p:spPr>
          <a:xfrm flipH="1">
            <a:off x="1545579" y="3185178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/>
          <p:nvPr/>
        </p:nvCxnSpPr>
        <p:spPr>
          <a:xfrm flipH="1">
            <a:off x="2712070" y="2600279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/>
          <p:cNvCxnSpPr/>
          <p:nvPr/>
        </p:nvCxnSpPr>
        <p:spPr>
          <a:xfrm flipH="1">
            <a:off x="7241714" y="2704899"/>
            <a:ext cx="772339" cy="44829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8794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979409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723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</a:t>
            </a:r>
            <a:r>
              <a:rPr lang="pt-BR" sz="1600" b="1" dirty="0">
                <a:solidFill>
                  <a:srgbClr val="00B05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c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e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9" name="CaixaDeTexto 78"/>
          <p:cNvSpPr txBox="1"/>
          <p:nvPr/>
        </p:nvSpPr>
        <p:spPr>
          <a:xfrm>
            <a:off x="3748421" y="2894803"/>
            <a:ext cx="1539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   d</a:t>
            </a:r>
          </a:p>
        </p:txBody>
      </p:sp>
      <p:cxnSp>
        <p:nvCxnSpPr>
          <p:cNvPr id="80" name="Conector reto 79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de seta reta 70"/>
          <p:cNvCxnSpPr/>
          <p:nvPr/>
        </p:nvCxnSpPr>
        <p:spPr>
          <a:xfrm flipH="1">
            <a:off x="7275411" y="2625362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/>
          <p:nvPr/>
        </p:nvCxnSpPr>
        <p:spPr>
          <a:xfrm flipH="1">
            <a:off x="4769189" y="2908906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/>
          <p:nvPr/>
        </p:nvCxnSpPr>
        <p:spPr>
          <a:xfrm flipH="1">
            <a:off x="1545579" y="3185178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/>
          <p:nvPr/>
        </p:nvCxnSpPr>
        <p:spPr>
          <a:xfrm flipH="1">
            <a:off x="2712070" y="2600279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/>
          <p:cNvCxnSpPr/>
          <p:nvPr/>
        </p:nvCxnSpPr>
        <p:spPr>
          <a:xfrm flipH="1">
            <a:off x="7241714" y="2704899"/>
            <a:ext cx="772339" cy="44829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7793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979409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723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</a:t>
            </a:r>
            <a:r>
              <a:rPr lang="pt-BR" sz="1600" b="1" dirty="0">
                <a:solidFill>
                  <a:srgbClr val="00B05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c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e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9" name="CaixaDeTexto 78"/>
          <p:cNvSpPr txBox="1"/>
          <p:nvPr/>
        </p:nvSpPr>
        <p:spPr>
          <a:xfrm>
            <a:off x="3748421" y="2894803"/>
            <a:ext cx="1539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   d</a:t>
            </a:r>
          </a:p>
        </p:txBody>
      </p:sp>
      <p:cxnSp>
        <p:nvCxnSpPr>
          <p:cNvPr id="80" name="Conector reto 79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de seta reta 70"/>
          <p:cNvCxnSpPr/>
          <p:nvPr/>
        </p:nvCxnSpPr>
        <p:spPr>
          <a:xfrm flipH="1">
            <a:off x="7275411" y="2625362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/>
          <p:nvPr/>
        </p:nvCxnSpPr>
        <p:spPr>
          <a:xfrm flipH="1">
            <a:off x="4769189" y="2908906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/>
          <p:nvPr/>
        </p:nvCxnSpPr>
        <p:spPr>
          <a:xfrm flipH="1">
            <a:off x="1545579" y="3185178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/>
          <p:nvPr/>
        </p:nvCxnSpPr>
        <p:spPr>
          <a:xfrm flipH="1">
            <a:off x="2712070" y="2600279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/>
          <p:cNvCxnSpPr/>
          <p:nvPr/>
        </p:nvCxnSpPr>
        <p:spPr>
          <a:xfrm flipH="1">
            <a:off x="7241714" y="2704899"/>
            <a:ext cx="772339" cy="44829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lipse 82"/>
          <p:cNvSpPr/>
          <p:nvPr/>
        </p:nvSpPr>
        <p:spPr>
          <a:xfrm>
            <a:off x="7986176" y="31181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85" name="Conector de seta reta 84"/>
          <p:cNvCxnSpPr>
            <a:stCxn id="83" idx="0"/>
          </p:cNvCxnSpPr>
          <p:nvPr/>
        </p:nvCxnSpPr>
        <p:spPr>
          <a:xfrm flipH="1" flipV="1">
            <a:off x="8095405" y="2737844"/>
            <a:ext cx="5820" cy="38026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7212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979409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723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</a:t>
            </a:r>
            <a:r>
              <a:rPr lang="pt-BR" sz="1600" b="1" dirty="0">
                <a:solidFill>
                  <a:srgbClr val="00B05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c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e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71" name="Conector de seta reta 70"/>
          <p:cNvCxnSpPr/>
          <p:nvPr/>
        </p:nvCxnSpPr>
        <p:spPr>
          <a:xfrm flipH="1">
            <a:off x="7275411" y="2625362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/>
          <p:nvPr/>
        </p:nvCxnSpPr>
        <p:spPr>
          <a:xfrm flipH="1">
            <a:off x="1545579" y="3185178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/>
          <p:nvPr/>
        </p:nvCxnSpPr>
        <p:spPr>
          <a:xfrm flipH="1">
            <a:off x="2712070" y="2600279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/>
          <p:cNvCxnSpPr/>
          <p:nvPr/>
        </p:nvCxnSpPr>
        <p:spPr>
          <a:xfrm flipH="1">
            <a:off x="7241714" y="2704899"/>
            <a:ext cx="772339" cy="44829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lipse 82"/>
          <p:cNvSpPr/>
          <p:nvPr/>
        </p:nvSpPr>
        <p:spPr>
          <a:xfrm>
            <a:off x="7986176" y="31181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85" name="Conector de seta reta 84"/>
          <p:cNvCxnSpPr>
            <a:stCxn id="83" idx="0"/>
          </p:cNvCxnSpPr>
          <p:nvPr/>
        </p:nvCxnSpPr>
        <p:spPr>
          <a:xfrm flipH="1" flipV="1">
            <a:off x="8095405" y="2737844"/>
            <a:ext cx="5820" cy="38026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3748421" y="2894803"/>
            <a:ext cx="18277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   d   e  </a:t>
            </a:r>
          </a:p>
        </p:txBody>
      </p:sp>
      <p:cxnSp>
        <p:nvCxnSpPr>
          <p:cNvPr id="87" name="Conector reto 86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to 88"/>
          <p:cNvCxnSpPr/>
          <p:nvPr/>
        </p:nvCxnSpPr>
        <p:spPr>
          <a:xfrm flipH="1">
            <a:off x="4769189" y="2908906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37066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979409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723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</a:t>
            </a:r>
            <a:r>
              <a:rPr lang="pt-BR" sz="1600" b="1" dirty="0">
                <a:solidFill>
                  <a:srgbClr val="00B05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c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71" name="Conector de seta reta 70"/>
          <p:cNvCxnSpPr/>
          <p:nvPr/>
        </p:nvCxnSpPr>
        <p:spPr>
          <a:xfrm flipH="1">
            <a:off x="7275411" y="2625362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/>
          <p:nvPr/>
        </p:nvCxnSpPr>
        <p:spPr>
          <a:xfrm flipH="1">
            <a:off x="1545579" y="3185178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/>
          <p:nvPr/>
        </p:nvCxnSpPr>
        <p:spPr>
          <a:xfrm flipH="1">
            <a:off x="2712070" y="2600279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/>
          <p:cNvCxnSpPr/>
          <p:nvPr/>
        </p:nvCxnSpPr>
        <p:spPr>
          <a:xfrm flipH="1">
            <a:off x="7241714" y="2704899"/>
            <a:ext cx="772339" cy="44829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lipse 82"/>
          <p:cNvSpPr/>
          <p:nvPr/>
        </p:nvSpPr>
        <p:spPr>
          <a:xfrm>
            <a:off x="7986176" y="31181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85" name="Conector de seta reta 84"/>
          <p:cNvCxnSpPr>
            <a:stCxn id="83" idx="0"/>
          </p:cNvCxnSpPr>
          <p:nvPr/>
        </p:nvCxnSpPr>
        <p:spPr>
          <a:xfrm flipH="1" flipV="1">
            <a:off x="8095405" y="2737844"/>
            <a:ext cx="5820" cy="38026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3748421" y="2894803"/>
            <a:ext cx="18277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   d   e  </a:t>
            </a:r>
          </a:p>
        </p:txBody>
      </p:sp>
      <p:cxnSp>
        <p:nvCxnSpPr>
          <p:cNvPr id="87" name="Conector reto 86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to 88"/>
          <p:cNvCxnSpPr/>
          <p:nvPr/>
        </p:nvCxnSpPr>
        <p:spPr>
          <a:xfrm flipH="1">
            <a:off x="4769189" y="2908906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/>
          <p:nvPr/>
        </p:nvCxnSpPr>
        <p:spPr>
          <a:xfrm flipH="1">
            <a:off x="3316279" y="259728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1684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979409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6770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</a:t>
            </a:r>
            <a:r>
              <a:rPr lang="pt-BR" sz="1600" b="1" dirty="0">
                <a:solidFill>
                  <a:srgbClr val="00B05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c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71" name="Conector de seta reta 70"/>
          <p:cNvCxnSpPr/>
          <p:nvPr/>
        </p:nvCxnSpPr>
        <p:spPr>
          <a:xfrm flipH="1">
            <a:off x="7275411" y="2625362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/>
          <p:nvPr/>
        </p:nvCxnSpPr>
        <p:spPr>
          <a:xfrm flipH="1">
            <a:off x="1545579" y="3185178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/>
          <p:nvPr/>
        </p:nvCxnSpPr>
        <p:spPr>
          <a:xfrm flipH="1">
            <a:off x="2712070" y="2600279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/>
          <p:cNvCxnSpPr/>
          <p:nvPr/>
        </p:nvCxnSpPr>
        <p:spPr>
          <a:xfrm flipH="1">
            <a:off x="7241714" y="2704899"/>
            <a:ext cx="772339" cy="44829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lipse 82"/>
          <p:cNvSpPr/>
          <p:nvPr/>
        </p:nvSpPr>
        <p:spPr>
          <a:xfrm>
            <a:off x="7986176" y="31181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85" name="Conector de seta reta 84"/>
          <p:cNvCxnSpPr>
            <a:stCxn id="83" idx="0"/>
          </p:cNvCxnSpPr>
          <p:nvPr/>
        </p:nvCxnSpPr>
        <p:spPr>
          <a:xfrm flipH="1" flipV="1">
            <a:off x="8095405" y="2737844"/>
            <a:ext cx="5820" cy="38026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3748421" y="2894803"/>
            <a:ext cx="18277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   d   e  </a:t>
            </a:r>
          </a:p>
        </p:txBody>
      </p:sp>
      <p:cxnSp>
        <p:nvCxnSpPr>
          <p:cNvPr id="87" name="Conector reto 86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to 88"/>
          <p:cNvCxnSpPr/>
          <p:nvPr/>
        </p:nvCxnSpPr>
        <p:spPr>
          <a:xfrm flipH="1">
            <a:off x="4769189" y="2908906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/>
          <p:nvPr/>
        </p:nvCxnSpPr>
        <p:spPr>
          <a:xfrm flipH="1">
            <a:off x="3316279" y="259728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7128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979409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723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</a:t>
            </a:r>
            <a:r>
              <a:rPr lang="pt-BR" sz="1600" b="1" dirty="0">
                <a:solidFill>
                  <a:srgbClr val="00B05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d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71" name="Conector de seta reta 70"/>
          <p:cNvCxnSpPr/>
          <p:nvPr/>
        </p:nvCxnSpPr>
        <p:spPr>
          <a:xfrm flipH="1">
            <a:off x="7275411" y="2625362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/>
          <p:nvPr/>
        </p:nvCxnSpPr>
        <p:spPr>
          <a:xfrm flipH="1">
            <a:off x="1545579" y="3185178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/>
          <p:nvPr/>
        </p:nvCxnSpPr>
        <p:spPr>
          <a:xfrm flipH="1">
            <a:off x="2712070" y="2600279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/>
          <p:cNvCxnSpPr/>
          <p:nvPr/>
        </p:nvCxnSpPr>
        <p:spPr>
          <a:xfrm flipH="1">
            <a:off x="7241714" y="2704899"/>
            <a:ext cx="772339" cy="44829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lipse 82"/>
          <p:cNvSpPr/>
          <p:nvPr/>
        </p:nvSpPr>
        <p:spPr>
          <a:xfrm>
            <a:off x="7986176" y="31181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85" name="Conector de seta reta 84"/>
          <p:cNvCxnSpPr>
            <a:stCxn id="83" idx="0"/>
          </p:cNvCxnSpPr>
          <p:nvPr/>
        </p:nvCxnSpPr>
        <p:spPr>
          <a:xfrm flipH="1" flipV="1">
            <a:off x="8095405" y="2737844"/>
            <a:ext cx="5820" cy="38026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3748421" y="2894803"/>
            <a:ext cx="18277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   d   e  </a:t>
            </a:r>
          </a:p>
        </p:txBody>
      </p:sp>
      <p:cxnSp>
        <p:nvCxnSpPr>
          <p:cNvPr id="87" name="Conector reto 86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to 88"/>
          <p:cNvCxnSpPr/>
          <p:nvPr/>
        </p:nvCxnSpPr>
        <p:spPr>
          <a:xfrm flipH="1">
            <a:off x="4769189" y="2908906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/>
          <p:nvPr/>
        </p:nvCxnSpPr>
        <p:spPr>
          <a:xfrm flipH="1">
            <a:off x="5015970" y="2897854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/>
          <p:nvPr/>
        </p:nvCxnSpPr>
        <p:spPr>
          <a:xfrm flipH="1">
            <a:off x="3316279" y="259728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91153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979409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723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</a:t>
            </a:r>
            <a:r>
              <a:rPr lang="pt-BR" sz="1600" b="1" dirty="0">
                <a:solidFill>
                  <a:srgbClr val="00B05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e,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d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e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71" name="Conector de seta reta 70"/>
          <p:cNvCxnSpPr/>
          <p:nvPr/>
        </p:nvCxnSpPr>
        <p:spPr>
          <a:xfrm flipH="1">
            <a:off x="7275411" y="2625362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/>
          <p:nvPr/>
        </p:nvCxnSpPr>
        <p:spPr>
          <a:xfrm flipH="1">
            <a:off x="1545579" y="3185178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/>
          <p:nvPr/>
        </p:nvCxnSpPr>
        <p:spPr>
          <a:xfrm flipH="1">
            <a:off x="2712070" y="2600279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/>
          <p:cNvCxnSpPr/>
          <p:nvPr/>
        </p:nvCxnSpPr>
        <p:spPr>
          <a:xfrm flipH="1">
            <a:off x="7241714" y="2704899"/>
            <a:ext cx="772339" cy="44829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lipse 82"/>
          <p:cNvSpPr/>
          <p:nvPr/>
        </p:nvSpPr>
        <p:spPr>
          <a:xfrm>
            <a:off x="7986176" y="31181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85" name="Conector de seta reta 84"/>
          <p:cNvCxnSpPr>
            <a:stCxn id="83" idx="0"/>
          </p:cNvCxnSpPr>
          <p:nvPr/>
        </p:nvCxnSpPr>
        <p:spPr>
          <a:xfrm flipH="1" flipV="1">
            <a:off x="8095405" y="2737844"/>
            <a:ext cx="5820" cy="38026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3748421" y="2894803"/>
            <a:ext cx="18277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   d   e  </a:t>
            </a:r>
          </a:p>
        </p:txBody>
      </p:sp>
      <p:cxnSp>
        <p:nvCxnSpPr>
          <p:cNvPr id="87" name="Conector reto 86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to 88"/>
          <p:cNvCxnSpPr/>
          <p:nvPr/>
        </p:nvCxnSpPr>
        <p:spPr>
          <a:xfrm flipH="1">
            <a:off x="4769189" y="2908906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/>
          <p:nvPr/>
        </p:nvCxnSpPr>
        <p:spPr>
          <a:xfrm flipH="1">
            <a:off x="5015970" y="2897854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tângulo de cantos arredondados 78"/>
          <p:cNvSpPr/>
          <p:nvPr/>
        </p:nvSpPr>
        <p:spPr>
          <a:xfrm>
            <a:off x="4945880" y="1954925"/>
            <a:ext cx="893668" cy="557954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C000"/>
              </a:solidFill>
            </a:endParaRPr>
          </a:p>
        </p:txBody>
      </p:sp>
      <p:cxnSp>
        <p:nvCxnSpPr>
          <p:cNvPr id="80" name="Conector reto 79"/>
          <p:cNvCxnSpPr/>
          <p:nvPr/>
        </p:nvCxnSpPr>
        <p:spPr>
          <a:xfrm flipH="1">
            <a:off x="3316279" y="259728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526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979409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723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</a:t>
            </a:r>
            <a:r>
              <a:rPr lang="pt-BR" sz="1600" b="1" dirty="0">
                <a:solidFill>
                  <a:srgbClr val="00B05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C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d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e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71" name="Conector de seta reta 70"/>
          <p:cNvCxnSpPr/>
          <p:nvPr/>
        </p:nvCxnSpPr>
        <p:spPr>
          <a:xfrm flipH="1">
            <a:off x="7275411" y="2625362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/>
          <p:nvPr/>
        </p:nvCxnSpPr>
        <p:spPr>
          <a:xfrm flipH="1">
            <a:off x="1545579" y="3185178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/>
          <p:nvPr/>
        </p:nvCxnSpPr>
        <p:spPr>
          <a:xfrm flipH="1">
            <a:off x="2712070" y="2600279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/>
          <p:cNvCxnSpPr/>
          <p:nvPr/>
        </p:nvCxnSpPr>
        <p:spPr>
          <a:xfrm flipH="1">
            <a:off x="7241714" y="2704899"/>
            <a:ext cx="772339" cy="44829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lipse 82"/>
          <p:cNvSpPr/>
          <p:nvPr/>
        </p:nvSpPr>
        <p:spPr>
          <a:xfrm>
            <a:off x="7986176" y="31181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85" name="Conector de seta reta 84"/>
          <p:cNvCxnSpPr>
            <a:stCxn id="83" idx="0"/>
          </p:cNvCxnSpPr>
          <p:nvPr/>
        </p:nvCxnSpPr>
        <p:spPr>
          <a:xfrm flipH="1" flipV="1">
            <a:off x="8095405" y="2737844"/>
            <a:ext cx="5820" cy="38026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3748421" y="2894803"/>
            <a:ext cx="18277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   d   e  </a:t>
            </a:r>
          </a:p>
        </p:txBody>
      </p:sp>
      <p:cxnSp>
        <p:nvCxnSpPr>
          <p:cNvPr id="87" name="Conector reto 86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to 88"/>
          <p:cNvCxnSpPr/>
          <p:nvPr/>
        </p:nvCxnSpPr>
        <p:spPr>
          <a:xfrm flipH="1">
            <a:off x="4769189" y="2908906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/>
          <p:nvPr/>
        </p:nvCxnSpPr>
        <p:spPr>
          <a:xfrm flipH="1">
            <a:off x="5015970" y="2897854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tângulo de cantos arredondados 78"/>
          <p:cNvSpPr/>
          <p:nvPr/>
        </p:nvSpPr>
        <p:spPr>
          <a:xfrm>
            <a:off x="4945880" y="1954925"/>
            <a:ext cx="893668" cy="557954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C000"/>
              </a:solidFill>
            </a:endParaRPr>
          </a:p>
        </p:txBody>
      </p:sp>
      <p:cxnSp>
        <p:nvCxnSpPr>
          <p:cNvPr id="80" name="Conector de seta reta 79"/>
          <p:cNvCxnSpPr/>
          <p:nvPr/>
        </p:nvCxnSpPr>
        <p:spPr>
          <a:xfrm flipH="1">
            <a:off x="7275411" y="3230589"/>
            <a:ext cx="710765" cy="2142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/>
          <p:nvPr/>
        </p:nvCxnSpPr>
        <p:spPr>
          <a:xfrm flipH="1">
            <a:off x="3316279" y="259728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34555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979409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723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</a:t>
            </a:r>
            <a:r>
              <a:rPr lang="pt-BR" sz="1600" b="1" dirty="0">
                <a:solidFill>
                  <a:srgbClr val="00B05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C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d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b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71" name="Conector de seta reta 70"/>
          <p:cNvCxnSpPr/>
          <p:nvPr/>
        </p:nvCxnSpPr>
        <p:spPr>
          <a:xfrm flipH="1">
            <a:off x="7275411" y="2625362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/>
          <p:nvPr/>
        </p:nvCxnSpPr>
        <p:spPr>
          <a:xfrm flipH="1">
            <a:off x="1545579" y="3185178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/>
          <p:nvPr/>
        </p:nvCxnSpPr>
        <p:spPr>
          <a:xfrm flipH="1">
            <a:off x="2712070" y="2600279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/>
          <p:cNvCxnSpPr/>
          <p:nvPr/>
        </p:nvCxnSpPr>
        <p:spPr>
          <a:xfrm flipH="1">
            <a:off x="7241714" y="2704899"/>
            <a:ext cx="772339" cy="44829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lipse 82"/>
          <p:cNvSpPr/>
          <p:nvPr/>
        </p:nvSpPr>
        <p:spPr>
          <a:xfrm>
            <a:off x="7986176" y="31181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85" name="Conector de seta reta 84"/>
          <p:cNvCxnSpPr>
            <a:stCxn id="83" idx="0"/>
          </p:cNvCxnSpPr>
          <p:nvPr/>
        </p:nvCxnSpPr>
        <p:spPr>
          <a:xfrm flipH="1" flipV="1">
            <a:off x="8095405" y="2737844"/>
            <a:ext cx="5820" cy="38026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3748421" y="2894803"/>
            <a:ext cx="18277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   d   e  </a:t>
            </a:r>
          </a:p>
        </p:txBody>
      </p:sp>
      <p:cxnSp>
        <p:nvCxnSpPr>
          <p:cNvPr id="87" name="Conector reto 86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to 88"/>
          <p:cNvCxnSpPr/>
          <p:nvPr/>
        </p:nvCxnSpPr>
        <p:spPr>
          <a:xfrm flipH="1">
            <a:off x="4769189" y="2908906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/>
          <p:nvPr/>
        </p:nvCxnSpPr>
        <p:spPr>
          <a:xfrm flipH="1">
            <a:off x="5015970" y="2897854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/>
          <p:nvPr/>
        </p:nvCxnSpPr>
        <p:spPr>
          <a:xfrm flipH="1">
            <a:off x="7275411" y="3230589"/>
            <a:ext cx="710765" cy="2142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/>
          <p:nvPr/>
        </p:nvCxnSpPr>
        <p:spPr>
          <a:xfrm flipH="1">
            <a:off x="2902164" y="287893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/>
          <p:cNvCxnSpPr/>
          <p:nvPr/>
        </p:nvCxnSpPr>
        <p:spPr>
          <a:xfrm flipH="1">
            <a:off x="3316279" y="259728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5322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979409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723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</a:t>
            </a:r>
            <a:r>
              <a:rPr lang="pt-BR" sz="1600" b="1" dirty="0">
                <a:solidFill>
                  <a:srgbClr val="00B05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C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d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19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c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71" name="Conector de seta reta 70"/>
          <p:cNvCxnSpPr/>
          <p:nvPr/>
        </p:nvCxnSpPr>
        <p:spPr>
          <a:xfrm flipH="1">
            <a:off x="7275411" y="2625362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/>
          <p:nvPr/>
        </p:nvCxnSpPr>
        <p:spPr>
          <a:xfrm flipH="1">
            <a:off x="1545579" y="3185178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/>
          <p:nvPr/>
        </p:nvCxnSpPr>
        <p:spPr>
          <a:xfrm flipH="1">
            <a:off x="2712070" y="2600279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/>
          <p:cNvCxnSpPr/>
          <p:nvPr/>
        </p:nvCxnSpPr>
        <p:spPr>
          <a:xfrm flipH="1">
            <a:off x="7241714" y="2704899"/>
            <a:ext cx="772339" cy="44829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lipse 82"/>
          <p:cNvSpPr/>
          <p:nvPr/>
        </p:nvSpPr>
        <p:spPr>
          <a:xfrm>
            <a:off x="7986176" y="31181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85" name="Conector de seta reta 84"/>
          <p:cNvCxnSpPr>
            <a:stCxn id="83" idx="0"/>
          </p:cNvCxnSpPr>
          <p:nvPr/>
        </p:nvCxnSpPr>
        <p:spPr>
          <a:xfrm flipH="1" flipV="1">
            <a:off x="8095405" y="2737844"/>
            <a:ext cx="5820" cy="38026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3748421" y="2894803"/>
            <a:ext cx="18277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   d   e  </a:t>
            </a:r>
          </a:p>
        </p:txBody>
      </p:sp>
      <p:cxnSp>
        <p:nvCxnSpPr>
          <p:cNvPr id="87" name="Conector reto 86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to 88"/>
          <p:cNvCxnSpPr/>
          <p:nvPr/>
        </p:nvCxnSpPr>
        <p:spPr>
          <a:xfrm flipH="1">
            <a:off x="4769189" y="2908906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/>
          <p:nvPr/>
        </p:nvCxnSpPr>
        <p:spPr>
          <a:xfrm flipH="1">
            <a:off x="5015970" y="2897854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/>
          <p:nvPr/>
        </p:nvCxnSpPr>
        <p:spPr>
          <a:xfrm flipH="1">
            <a:off x="7275411" y="3230589"/>
            <a:ext cx="710765" cy="2142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/>
          <p:nvPr/>
        </p:nvCxnSpPr>
        <p:spPr>
          <a:xfrm flipH="1">
            <a:off x="2902164" y="287893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/>
          <p:nvPr/>
        </p:nvCxnSpPr>
        <p:spPr>
          <a:xfrm flipH="1">
            <a:off x="3111829" y="2873947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/>
          <p:cNvCxnSpPr/>
          <p:nvPr/>
        </p:nvCxnSpPr>
        <p:spPr>
          <a:xfrm flipH="1">
            <a:off x="3316279" y="259728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7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979409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723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</a:t>
            </a:r>
            <a:r>
              <a:rPr lang="pt-BR" sz="1600" b="1" dirty="0">
                <a:solidFill>
                  <a:srgbClr val="00B05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C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d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71" name="Conector de seta reta 70"/>
          <p:cNvCxnSpPr/>
          <p:nvPr/>
        </p:nvCxnSpPr>
        <p:spPr>
          <a:xfrm flipH="1">
            <a:off x="7275411" y="2625362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/>
          <p:nvPr/>
        </p:nvCxnSpPr>
        <p:spPr>
          <a:xfrm flipH="1">
            <a:off x="1545579" y="3185178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/>
          <p:nvPr/>
        </p:nvCxnSpPr>
        <p:spPr>
          <a:xfrm flipH="1">
            <a:off x="2712070" y="2600279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/>
          <p:cNvCxnSpPr/>
          <p:nvPr/>
        </p:nvCxnSpPr>
        <p:spPr>
          <a:xfrm flipH="1">
            <a:off x="7241714" y="2704899"/>
            <a:ext cx="772339" cy="44829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lipse 82"/>
          <p:cNvSpPr/>
          <p:nvPr/>
        </p:nvSpPr>
        <p:spPr>
          <a:xfrm>
            <a:off x="7986176" y="31181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85" name="Conector de seta reta 84"/>
          <p:cNvCxnSpPr>
            <a:stCxn id="83" idx="0"/>
          </p:cNvCxnSpPr>
          <p:nvPr/>
        </p:nvCxnSpPr>
        <p:spPr>
          <a:xfrm flipH="1" flipV="1">
            <a:off x="8095405" y="2737844"/>
            <a:ext cx="5820" cy="38026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3748421" y="2894803"/>
            <a:ext cx="18277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   d   e  </a:t>
            </a:r>
          </a:p>
        </p:txBody>
      </p:sp>
      <p:cxnSp>
        <p:nvCxnSpPr>
          <p:cNvPr id="87" name="Conector reto 86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to 88"/>
          <p:cNvCxnSpPr/>
          <p:nvPr/>
        </p:nvCxnSpPr>
        <p:spPr>
          <a:xfrm flipH="1">
            <a:off x="4769189" y="2908906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/>
          <p:nvPr/>
        </p:nvCxnSpPr>
        <p:spPr>
          <a:xfrm flipH="1">
            <a:off x="5015970" y="2897854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/>
          <p:nvPr/>
        </p:nvCxnSpPr>
        <p:spPr>
          <a:xfrm flipH="1">
            <a:off x="7275411" y="3230589"/>
            <a:ext cx="710765" cy="2142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/>
          <p:nvPr/>
        </p:nvCxnSpPr>
        <p:spPr>
          <a:xfrm flipH="1">
            <a:off x="2902164" y="287893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/>
          <p:nvPr/>
        </p:nvCxnSpPr>
        <p:spPr>
          <a:xfrm flipH="1">
            <a:off x="3111829" y="2873947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/>
          <p:cNvCxnSpPr/>
          <p:nvPr/>
        </p:nvCxnSpPr>
        <p:spPr>
          <a:xfrm flipH="1">
            <a:off x="3316279" y="259728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13548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979409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723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</a:t>
            </a:r>
            <a:r>
              <a:rPr lang="pt-BR" sz="1600" b="1" dirty="0">
                <a:solidFill>
                  <a:srgbClr val="00B05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C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e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71" name="Conector de seta reta 70"/>
          <p:cNvCxnSpPr/>
          <p:nvPr/>
        </p:nvCxnSpPr>
        <p:spPr>
          <a:xfrm flipH="1">
            <a:off x="7275411" y="2625362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/>
          <p:nvPr/>
        </p:nvCxnSpPr>
        <p:spPr>
          <a:xfrm flipH="1">
            <a:off x="1545579" y="3185178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/>
          <p:nvPr/>
        </p:nvCxnSpPr>
        <p:spPr>
          <a:xfrm flipH="1">
            <a:off x="2712070" y="2600279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/>
          <p:cNvCxnSpPr/>
          <p:nvPr/>
        </p:nvCxnSpPr>
        <p:spPr>
          <a:xfrm flipH="1">
            <a:off x="7241714" y="2704899"/>
            <a:ext cx="772339" cy="44829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lipse 82"/>
          <p:cNvSpPr/>
          <p:nvPr/>
        </p:nvSpPr>
        <p:spPr>
          <a:xfrm>
            <a:off x="7986176" y="31181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85" name="Conector de seta reta 84"/>
          <p:cNvCxnSpPr>
            <a:stCxn id="83" idx="0"/>
          </p:cNvCxnSpPr>
          <p:nvPr/>
        </p:nvCxnSpPr>
        <p:spPr>
          <a:xfrm flipH="1" flipV="1">
            <a:off x="8095405" y="2737844"/>
            <a:ext cx="5820" cy="38026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3748421" y="2894803"/>
            <a:ext cx="18277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   d   e  </a:t>
            </a:r>
          </a:p>
        </p:txBody>
      </p:sp>
      <p:cxnSp>
        <p:nvCxnSpPr>
          <p:cNvPr id="87" name="Conector reto 86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to 88"/>
          <p:cNvCxnSpPr/>
          <p:nvPr/>
        </p:nvCxnSpPr>
        <p:spPr>
          <a:xfrm flipH="1">
            <a:off x="4769189" y="2908906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/>
          <p:nvPr/>
        </p:nvCxnSpPr>
        <p:spPr>
          <a:xfrm flipH="1">
            <a:off x="5015970" y="2897854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/>
          <p:nvPr/>
        </p:nvCxnSpPr>
        <p:spPr>
          <a:xfrm flipH="1">
            <a:off x="7275411" y="3230589"/>
            <a:ext cx="710765" cy="2142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/>
          <p:nvPr/>
        </p:nvCxnSpPr>
        <p:spPr>
          <a:xfrm flipH="1">
            <a:off x="2902164" y="287893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/>
          <p:nvPr/>
        </p:nvCxnSpPr>
        <p:spPr>
          <a:xfrm flipH="1">
            <a:off x="3111829" y="2873947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/>
          <p:cNvCxnSpPr/>
          <p:nvPr/>
        </p:nvCxnSpPr>
        <p:spPr>
          <a:xfrm flipH="1">
            <a:off x="5243968" y="2911994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/>
          <p:cNvCxnSpPr/>
          <p:nvPr/>
        </p:nvCxnSpPr>
        <p:spPr>
          <a:xfrm flipH="1">
            <a:off x="3316279" y="259728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3276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979409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723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</a:t>
            </a:r>
            <a:r>
              <a:rPr lang="pt-BR" sz="1600" b="1" dirty="0">
                <a:solidFill>
                  <a:srgbClr val="00B05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C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e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19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c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71" name="Conector de seta reta 70"/>
          <p:cNvCxnSpPr/>
          <p:nvPr/>
        </p:nvCxnSpPr>
        <p:spPr>
          <a:xfrm flipH="1">
            <a:off x="7275411" y="2625362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/>
          <p:nvPr/>
        </p:nvCxnSpPr>
        <p:spPr>
          <a:xfrm flipH="1">
            <a:off x="1545579" y="3185178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/>
          <p:nvPr/>
        </p:nvCxnSpPr>
        <p:spPr>
          <a:xfrm flipH="1">
            <a:off x="2712070" y="2600279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/>
          <p:cNvCxnSpPr/>
          <p:nvPr/>
        </p:nvCxnSpPr>
        <p:spPr>
          <a:xfrm flipH="1">
            <a:off x="7241714" y="2704899"/>
            <a:ext cx="772339" cy="44829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lipse 82"/>
          <p:cNvSpPr/>
          <p:nvPr/>
        </p:nvSpPr>
        <p:spPr>
          <a:xfrm>
            <a:off x="7986176" y="31181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85" name="Conector de seta reta 84"/>
          <p:cNvCxnSpPr>
            <a:stCxn id="83" idx="0"/>
          </p:cNvCxnSpPr>
          <p:nvPr/>
        </p:nvCxnSpPr>
        <p:spPr>
          <a:xfrm flipH="1" flipV="1">
            <a:off x="8095405" y="2737844"/>
            <a:ext cx="5820" cy="38026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3748421" y="2894803"/>
            <a:ext cx="18277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   d   e  </a:t>
            </a:r>
          </a:p>
        </p:txBody>
      </p:sp>
      <p:cxnSp>
        <p:nvCxnSpPr>
          <p:cNvPr id="87" name="Conector reto 86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to 88"/>
          <p:cNvCxnSpPr/>
          <p:nvPr/>
        </p:nvCxnSpPr>
        <p:spPr>
          <a:xfrm flipH="1">
            <a:off x="4769189" y="2908906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/>
          <p:nvPr/>
        </p:nvCxnSpPr>
        <p:spPr>
          <a:xfrm flipH="1">
            <a:off x="5015970" y="2897854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/>
          <p:nvPr/>
        </p:nvCxnSpPr>
        <p:spPr>
          <a:xfrm flipH="1">
            <a:off x="7275411" y="3230589"/>
            <a:ext cx="710765" cy="2142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/>
          <p:nvPr/>
        </p:nvCxnSpPr>
        <p:spPr>
          <a:xfrm flipH="1">
            <a:off x="2902164" y="287893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/>
          <p:nvPr/>
        </p:nvCxnSpPr>
        <p:spPr>
          <a:xfrm flipH="1">
            <a:off x="3111829" y="2873947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/>
          <p:cNvCxnSpPr/>
          <p:nvPr/>
        </p:nvCxnSpPr>
        <p:spPr>
          <a:xfrm flipH="1">
            <a:off x="5243968" y="2911994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/>
          <p:cNvCxnSpPr/>
          <p:nvPr/>
        </p:nvCxnSpPr>
        <p:spPr>
          <a:xfrm flipH="1">
            <a:off x="2677232" y="3206737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to 92"/>
          <p:cNvCxnSpPr/>
          <p:nvPr/>
        </p:nvCxnSpPr>
        <p:spPr>
          <a:xfrm flipH="1">
            <a:off x="3316279" y="259728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1422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979409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723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</a:t>
            </a:r>
            <a:r>
              <a:rPr lang="pt-BR" sz="1600" b="1" dirty="0">
                <a:solidFill>
                  <a:srgbClr val="00B05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C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e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d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71" name="Conector de seta reta 70"/>
          <p:cNvCxnSpPr/>
          <p:nvPr/>
        </p:nvCxnSpPr>
        <p:spPr>
          <a:xfrm flipH="1">
            <a:off x="7275411" y="2625362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/>
          <p:nvPr/>
        </p:nvCxnSpPr>
        <p:spPr>
          <a:xfrm flipH="1">
            <a:off x="1545579" y="3185178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/>
          <p:nvPr/>
        </p:nvCxnSpPr>
        <p:spPr>
          <a:xfrm flipH="1">
            <a:off x="2712070" y="2600279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/>
          <p:cNvCxnSpPr/>
          <p:nvPr/>
        </p:nvCxnSpPr>
        <p:spPr>
          <a:xfrm flipH="1">
            <a:off x="7241714" y="2704899"/>
            <a:ext cx="772339" cy="44829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lipse 82"/>
          <p:cNvSpPr/>
          <p:nvPr/>
        </p:nvSpPr>
        <p:spPr>
          <a:xfrm>
            <a:off x="7986176" y="31181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85" name="Conector de seta reta 84"/>
          <p:cNvCxnSpPr>
            <a:stCxn id="83" idx="0"/>
          </p:cNvCxnSpPr>
          <p:nvPr/>
        </p:nvCxnSpPr>
        <p:spPr>
          <a:xfrm flipH="1" flipV="1">
            <a:off x="8095405" y="2737844"/>
            <a:ext cx="5820" cy="38026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3748421" y="2894803"/>
            <a:ext cx="18277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   d   e  </a:t>
            </a:r>
          </a:p>
        </p:txBody>
      </p:sp>
      <p:cxnSp>
        <p:nvCxnSpPr>
          <p:cNvPr id="87" name="Conector reto 86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to 88"/>
          <p:cNvCxnSpPr/>
          <p:nvPr/>
        </p:nvCxnSpPr>
        <p:spPr>
          <a:xfrm flipH="1">
            <a:off x="4769189" y="2908906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/>
          <p:nvPr/>
        </p:nvCxnSpPr>
        <p:spPr>
          <a:xfrm flipH="1">
            <a:off x="5015970" y="2897854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/>
          <p:nvPr/>
        </p:nvCxnSpPr>
        <p:spPr>
          <a:xfrm flipH="1">
            <a:off x="7275411" y="3230589"/>
            <a:ext cx="710765" cy="2142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/>
          <p:nvPr/>
        </p:nvCxnSpPr>
        <p:spPr>
          <a:xfrm flipH="1">
            <a:off x="2902164" y="287893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/>
          <p:nvPr/>
        </p:nvCxnSpPr>
        <p:spPr>
          <a:xfrm flipH="1">
            <a:off x="3111829" y="2873947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/>
          <p:cNvCxnSpPr/>
          <p:nvPr/>
        </p:nvCxnSpPr>
        <p:spPr>
          <a:xfrm flipH="1">
            <a:off x="5243968" y="2911994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/>
          <p:cNvCxnSpPr/>
          <p:nvPr/>
        </p:nvCxnSpPr>
        <p:spPr>
          <a:xfrm flipH="1">
            <a:off x="2677232" y="3206737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to 92"/>
          <p:cNvCxnSpPr/>
          <p:nvPr/>
        </p:nvCxnSpPr>
        <p:spPr>
          <a:xfrm flipH="1">
            <a:off x="2867223" y="3206737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to 93"/>
          <p:cNvCxnSpPr/>
          <p:nvPr/>
        </p:nvCxnSpPr>
        <p:spPr>
          <a:xfrm flipH="1">
            <a:off x="3316279" y="259728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2437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979409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723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</a:t>
            </a:r>
            <a:r>
              <a:rPr lang="pt-BR" sz="1600" b="1" dirty="0">
                <a:solidFill>
                  <a:srgbClr val="00B05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C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3933230" y="321673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e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4714846" y="3216738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71" name="Conector de seta reta 70"/>
          <p:cNvCxnSpPr/>
          <p:nvPr/>
        </p:nvCxnSpPr>
        <p:spPr>
          <a:xfrm flipH="1">
            <a:off x="7275411" y="2625362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/>
          <p:nvPr/>
        </p:nvCxnSpPr>
        <p:spPr>
          <a:xfrm flipH="1">
            <a:off x="1545579" y="3185178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/>
          <p:nvPr/>
        </p:nvCxnSpPr>
        <p:spPr>
          <a:xfrm flipH="1">
            <a:off x="2712070" y="2600279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/>
          <p:cNvCxnSpPr/>
          <p:nvPr/>
        </p:nvCxnSpPr>
        <p:spPr>
          <a:xfrm flipH="1">
            <a:off x="7241714" y="2704899"/>
            <a:ext cx="772339" cy="44829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lipse 82"/>
          <p:cNvSpPr/>
          <p:nvPr/>
        </p:nvSpPr>
        <p:spPr>
          <a:xfrm>
            <a:off x="7986176" y="31181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85" name="Conector de seta reta 84"/>
          <p:cNvCxnSpPr>
            <a:stCxn id="83" idx="0"/>
          </p:cNvCxnSpPr>
          <p:nvPr/>
        </p:nvCxnSpPr>
        <p:spPr>
          <a:xfrm flipH="1" flipV="1">
            <a:off x="8095405" y="2737844"/>
            <a:ext cx="5820" cy="38026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3748421" y="2894803"/>
            <a:ext cx="18277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   d   e  </a:t>
            </a:r>
          </a:p>
        </p:txBody>
      </p:sp>
      <p:cxnSp>
        <p:nvCxnSpPr>
          <p:cNvPr id="87" name="Conector reto 86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to 88"/>
          <p:cNvCxnSpPr/>
          <p:nvPr/>
        </p:nvCxnSpPr>
        <p:spPr>
          <a:xfrm flipH="1">
            <a:off x="4769189" y="2908906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/>
          <p:nvPr/>
        </p:nvCxnSpPr>
        <p:spPr>
          <a:xfrm flipH="1">
            <a:off x="5015970" y="2897854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/>
          <p:nvPr/>
        </p:nvCxnSpPr>
        <p:spPr>
          <a:xfrm flipH="1">
            <a:off x="7275411" y="3230589"/>
            <a:ext cx="710765" cy="2142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/>
          <p:nvPr/>
        </p:nvCxnSpPr>
        <p:spPr>
          <a:xfrm flipH="1">
            <a:off x="2902164" y="287893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/>
          <p:nvPr/>
        </p:nvCxnSpPr>
        <p:spPr>
          <a:xfrm flipH="1">
            <a:off x="3111829" y="2873947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/>
          <p:cNvCxnSpPr/>
          <p:nvPr/>
        </p:nvCxnSpPr>
        <p:spPr>
          <a:xfrm flipH="1">
            <a:off x="5243968" y="2911994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/>
          <p:cNvCxnSpPr/>
          <p:nvPr/>
        </p:nvCxnSpPr>
        <p:spPr>
          <a:xfrm flipH="1">
            <a:off x="2677232" y="3206737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to 92"/>
          <p:cNvCxnSpPr/>
          <p:nvPr/>
        </p:nvCxnSpPr>
        <p:spPr>
          <a:xfrm flipH="1">
            <a:off x="2867223" y="3206737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to 93"/>
          <p:cNvCxnSpPr/>
          <p:nvPr/>
        </p:nvCxnSpPr>
        <p:spPr>
          <a:xfrm flipH="1">
            <a:off x="3316279" y="259728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1011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Exemplo</a:t>
            </a:r>
          </a:p>
        </p:txBody>
      </p:sp>
      <p:cxnSp>
        <p:nvCxnSpPr>
          <p:cNvPr id="13" name="Conector de seta reta 12"/>
          <p:cNvCxnSpPr>
            <a:stCxn id="6" idx="4"/>
            <a:endCxn id="5" idx="0"/>
          </p:cNvCxnSpPr>
          <p:nvPr/>
        </p:nvCxnSpPr>
        <p:spPr>
          <a:xfrm flipH="1">
            <a:off x="1265569" y="1678580"/>
            <a:ext cx="3816" cy="51514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6"/>
            <a:endCxn id="7" idx="2"/>
          </p:cNvCxnSpPr>
          <p:nvPr/>
        </p:nvCxnSpPr>
        <p:spPr>
          <a:xfrm flipV="1">
            <a:off x="1384433" y="1561104"/>
            <a:ext cx="695078" cy="4994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90312" y="131635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75" name="Conector de seta reta 74"/>
          <p:cNvCxnSpPr>
            <a:stCxn id="5" idx="6"/>
            <a:endCxn id="8" idx="2"/>
          </p:cNvCxnSpPr>
          <p:nvPr/>
        </p:nvCxnSpPr>
        <p:spPr>
          <a:xfrm flipV="1">
            <a:off x="1380617" y="2303278"/>
            <a:ext cx="704945" cy="2926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>
            <a:stCxn id="7" idx="4"/>
            <a:endCxn id="8" idx="0"/>
          </p:cNvCxnSpPr>
          <p:nvPr/>
        </p:nvCxnSpPr>
        <p:spPr>
          <a:xfrm>
            <a:off x="2194560" y="1673586"/>
            <a:ext cx="6051" cy="517209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>
            <a:stCxn id="5" idx="7"/>
            <a:endCxn id="7" idx="3"/>
          </p:cNvCxnSpPr>
          <p:nvPr/>
        </p:nvCxnSpPr>
        <p:spPr>
          <a:xfrm flipV="1">
            <a:off x="1346920" y="1640641"/>
            <a:ext cx="766288" cy="586025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>
            <a:stCxn id="6" idx="2"/>
            <a:endCxn id="10" idx="7"/>
          </p:cNvCxnSpPr>
          <p:nvPr/>
        </p:nvCxnSpPr>
        <p:spPr>
          <a:xfrm flipH="1">
            <a:off x="767677" y="1566098"/>
            <a:ext cx="386659" cy="286553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de seta reta 95"/>
          <p:cNvCxnSpPr>
            <a:stCxn id="5" idx="2"/>
            <a:endCxn id="10" idx="5"/>
          </p:cNvCxnSpPr>
          <p:nvPr/>
        </p:nvCxnSpPr>
        <p:spPr>
          <a:xfrm flipH="1" flipV="1">
            <a:off x="767677" y="2011726"/>
            <a:ext cx="382843" cy="294478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ela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979409"/>
              </p:ext>
            </p:extLst>
          </p:nvPr>
        </p:nvGraphicFramePr>
        <p:xfrm>
          <a:off x="2807507" y="1327319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Elipse 35"/>
          <p:cNvSpPr/>
          <p:nvPr/>
        </p:nvSpPr>
        <p:spPr>
          <a:xfrm>
            <a:off x="459840" y="3673888"/>
            <a:ext cx="184078" cy="1853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3" name="Conector de seta reta 42"/>
          <p:cNvCxnSpPr/>
          <p:nvPr/>
        </p:nvCxnSpPr>
        <p:spPr>
          <a:xfrm flipH="1">
            <a:off x="420639" y="4050487"/>
            <a:ext cx="262480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>
            <a:spLocks noChangeAspect="1"/>
          </p:cNvSpPr>
          <p:nvPr/>
        </p:nvSpPr>
        <p:spPr>
          <a:xfrm>
            <a:off x="2587201" y="3673887"/>
            <a:ext cx="184078" cy="1853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</a:endParaRPr>
          </a:p>
        </p:txBody>
      </p:sp>
      <p:cxnSp>
        <p:nvCxnSpPr>
          <p:cNvPr id="47" name="Conector de seta reta 46"/>
          <p:cNvCxnSpPr/>
          <p:nvPr/>
        </p:nvCxnSpPr>
        <p:spPr>
          <a:xfrm flipH="1">
            <a:off x="4307022" y="4050487"/>
            <a:ext cx="262480" cy="1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/>
          <p:nvPr/>
        </p:nvCxnSpPr>
        <p:spPr>
          <a:xfrm flipH="1">
            <a:off x="2537936" y="4050487"/>
            <a:ext cx="262480" cy="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>
            <a:spLocks noChangeAspect="1"/>
          </p:cNvSpPr>
          <p:nvPr/>
        </p:nvSpPr>
        <p:spPr>
          <a:xfrm>
            <a:off x="4346223" y="3673887"/>
            <a:ext cx="184078" cy="185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98311" y="3612692"/>
            <a:ext cx="1785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não explorado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98311" y="3896599"/>
            <a:ext cx="173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não explorada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821710" y="3612692"/>
            <a:ext cx="1377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marcado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4589498" y="3612692"/>
            <a:ext cx="1469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explorado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4589498" y="3896599"/>
            <a:ext cx="1120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irmão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2821710" y="3896599"/>
            <a:ext cx="915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pai</a:t>
            </a:r>
          </a:p>
        </p:txBody>
      </p:sp>
      <p:cxnSp>
        <p:nvCxnSpPr>
          <p:cNvPr id="57" name="Conector de seta reta 56"/>
          <p:cNvCxnSpPr/>
          <p:nvPr/>
        </p:nvCxnSpPr>
        <p:spPr>
          <a:xfrm flipH="1">
            <a:off x="4315078" y="4334394"/>
            <a:ext cx="262480" cy="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2545992" y="4334394"/>
            <a:ext cx="262480" cy="1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4597554" y="4180506"/>
            <a:ext cx="1128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primo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2829766" y="4180506"/>
            <a:ext cx="889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tio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1989655" y="2581687"/>
            <a:ext cx="1723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(c)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a, </a:t>
            </a:r>
            <a:r>
              <a:rPr lang="pt-BR" sz="1600" b="1" dirty="0">
                <a:solidFill>
                  <a:srgbClr val="00B05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 }</a:t>
            </a:r>
            <a:endParaRPr lang="pt-BR" sz="16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1991354" y="2863011"/>
            <a:ext cx="1449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(d) = { </a:t>
            </a:r>
            <a:r>
              <a:rPr lang="pt-BR" sz="1600" b="1" dirty="0">
                <a:solidFill>
                  <a:srgbClr val="FFC000"/>
                </a:solidFill>
              </a:rPr>
              <a:t>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b, c }</a:t>
            </a:r>
            <a:endParaRPr lang="pt-BR" sz="1600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1989655" y="3159337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(e) = { c, d }</a:t>
            </a:r>
            <a:endParaRPr lang="pt-BR" sz="1600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426911" y="285984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= { </a:t>
            </a:r>
            <a:r>
              <a:rPr lang="pt-BR" sz="1600" b="1" dirty="0">
                <a:solidFill>
                  <a:srgbClr val="00B0F0"/>
                </a:solidFill>
              </a:rPr>
              <a:t>b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00B0F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</a:t>
            </a:r>
            <a:endParaRPr lang="pt-BR" sz="16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419390" y="315913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(b) 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 { </a:t>
            </a:r>
            <a:r>
              <a:rPr lang="pt-BR" sz="1600" b="1" dirty="0">
                <a:solidFill>
                  <a:srgbClr val="00B0F0"/>
                </a:solidFill>
              </a:rPr>
              <a:t>d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1600" b="1" dirty="0">
                <a:solidFill>
                  <a:srgbClr val="FF0000"/>
                </a:solidFill>
              </a:rPr>
              <a:t>c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}</a:t>
            </a:r>
            <a:endParaRPr lang="pt-BR" sz="16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6665906" y="3766580"/>
            <a:ext cx="1976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Representação da busca</a:t>
            </a:r>
          </a:p>
        </p:txBody>
      </p:sp>
      <p:cxnSp>
        <p:nvCxnSpPr>
          <p:cNvPr id="44" name="Conector reto 43"/>
          <p:cNvCxnSpPr/>
          <p:nvPr/>
        </p:nvCxnSpPr>
        <p:spPr>
          <a:xfrm>
            <a:off x="6349033" y="1369930"/>
            <a:ext cx="0" cy="28105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70" idx="0"/>
          </p:cNvCxnSpPr>
          <p:nvPr/>
        </p:nvCxnSpPr>
        <p:spPr>
          <a:xfrm flipV="1">
            <a:off x="7160363" y="211233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1150520" y="21937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1154336" y="145361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2079511" y="1448621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8" name="Elipse 7"/>
          <p:cNvSpPr/>
          <p:nvPr/>
        </p:nvSpPr>
        <p:spPr>
          <a:xfrm>
            <a:off x="2085562" y="2190795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0" name="Elipse 9"/>
          <p:cNvSpPr/>
          <p:nvPr/>
        </p:nvSpPr>
        <p:spPr>
          <a:xfrm>
            <a:off x="571277" y="1819706"/>
            <a:ext cx="230097" cy="2249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73" name="Conector de seta reta 72"/>
          <p:cNvCxnSpPr>
            <a:stCxn id="74" idx="0"/>
          </p:cNvCxnSpPr>
          <p:nvPr/>
        </p:nvCxnSpPr>
        <p:spPr>
          <a:xfrm flipH="1" flipV="1">
            <a:off x="7709235" y="211233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7512835" y="192031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0" name="Elipse 69"/>
          <p:cNvSpPr/>
          <p:nvPr/>
        </p:nvSpPr>
        <p:spPr>
          <a:xfrm>
            <a:off x="7045314" y="251797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4" name="Elipse 73"/>
          <p:cNvSpPr/>
          <p:nvPr/>
        </p:nvSpPr>
        <p:spPr>
          <a:xfrm>
            <a:off x="7980356" y="25128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Conector de seta reta 71"/>
          <p:cNvCxnSpPr>
            <a:stCxn id="78" idx="0"/>
          </p:cNvCxnSpPr>
          <p:nvPr/>
        </p:nvCxnSpPr>
        <p:spPr>
          <a:xfrm flipV="1">
            <a:off x="7160363" y="274294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045314" y="312024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71" name="Conector de seta reta 70"/>
          <p:cNvCxnSpPr/>
          <p:nvPr/>
        </p:nvCxnSpPr>
        <p:spPr>
          <a:xfrm flipH="1">
            <a:off x="7275411" y="2625362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/>
          <p:nvPr/>
        </p:nvCxnSpPr>
        <p:spPr>
          <a:xfrm flipH="1">
            <a:off x="1545579" y="3185178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/>
          <p:nvPr/>
        </p:nvCxnSpPr>
        <p:spPr>
          <a:xfrm flipH="1">
            <a:off x="2712070" y="2600279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/>
          <p:cNvCxnSpPr/>
          <p:nvPr/>
        </p:nvCxnSpPr>
        <p:spPr>
          <a:xfrm flipH="1">
            <a:off x="7241714" y="2704899"/>
            <a:ext cx="772339" cy="44829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lipse 82"/>
          <p:cNvSpPr/>
          <p:nvPr/>
        </p:nvSpPr>
        <p:spPr>
          <a:xfrm>
            <a:off x="7986176" y="311810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85" name="Conector de seta reta 84"/>
          <p:cNvCxnSpPr>
            <a:stCxn id="83" idx="0"/>
          </p:cNvCxnSpPr>
          <p:nvPr/>
        </p:nvCxnSpPr>
        <p:spPr>
          <a:xfrm flipH="1" flipV="1">
            <a:off x="8095405" y="2737844"/>
            <a:ext cx="5820" cy="38026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3748421" y="2894803"/>
            <a:ext cx="18277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Fila: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a   b   c   d   e  </a:t>
            </a:r>
          </a:p>
        </p:txBody>
      </p:sp>
      <p:cxnSp>
        <p:nvCxnSpPr>
          <p:cNvPr id="87" name="Conector reto 86"/>
          <p:cNvCxnSpPr/>
          <p:nvPr/>
        </p:nvCxnSpPr>
        <p:spPr>
          <a:xfrm flipH="1">
            <a:off x="4288104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/>
          <p:nvPr/>
        </p:nvCxnSpPr>
        <p:spPr>
          <a:xfrm flipH="1">
            <a:off x="4524507" y="292024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to 88"/>
          <p:cNvCxnSpPr/>
          <p:nvPr/>
        </p:nvCxnSpPr>
        <p:spPr>
          <a:xfrm flipH="1">
            <a:off x="4769189" y="2908906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/>
          <p:nvPr/>
        </p:nvCxnSpPr>
        <p:spPr>
          <a:xfrm flipH="1">
            <a:off x="5015970" y="2897854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/>
          <p:nvPr/>
        </p:nvCxnSpPr>
        <p:spPr>
          <a:xfrm flipH="1">
            <a:off x="7275411" y="3230589"/>
            <a:ext cx="710765" cy="2142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/>
          <p:nvPr/>
        </p:nvCxnSpPr>
        <p:spPr>
          <a:xfrm flipH="1">
            <a:off x="2902164" y="287893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/>
          <p:nvPr/>
        </p:nvCxnSpPr>
        <p:spPr>
          <a:xfrm flipH="1">
            <a:off x="3111829" y="2873947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/>
          <p:cNvCxnSpPr/>
          <p:nvPr/>
        </p:nvCxnSpPr>
        <p:spPr>
          <a:xfrm flipH="1">
            <a:off x="5243968" y="2911994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/>
          <p:cNvCxnSpPr/>
          <p:nvPr/>
        </p:nvCxnSpPr>
        <p:spPr>
          <a:xfrm flipH="1">
            <a:off x="2677232" y="3206737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to 92"/>
          <p:cNvCxnSpPr/>
          <p:nvPr/>
        </p:nvCxnSpPr>
        <p:spPr>
          <a:xfrm flipH="1">
            <a:off x="2867223" y="3206737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to 93"/>
          <p:cNvCxnSpPr/>
          <p:nvPr/>
        </p:nvCxnSpPr>
        <p:spPr>
          <a:xfrm flipH="1">
            <a:off x="3316279" y="2597281"/>
            <a:ext cx="176691" cy="310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6066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Busca em Largura – Propriedades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4195383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representação formada por todos os vértices e apenas as arestas de árvore ou pai formam uma árvore de largura.</a:t>
            </a:r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spcAft>
                <a:spcPts val="18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Caso o grafo seja desconexo, a busca irá produzir várias árvores de largura.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4921855" y="3576172"/>
            <a:ext cx="13249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b="1" dirty="0"/>
              <a:t>Representação </a:t>
            </a:r>
          </a:p>
          <a:p>
            <a:pPr algn="ctr"/>
            <a:r>
              <a:rPr lang="pt-BR" sz="1400" b="1" dirty="0"/>
              <a:t>completa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7300799" y="3576172"/>
            <a:ext cx="9568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b="1" dirty="0"/>
              <a:t>Árvore de </a:t>
            </a:r>
          </a:p>
          <a:p>
            <a:pPr algn="ctr"/>
            <a:r>
              <a:rPr lang="pt-BR" sz="1400" b="1" dirty="0"/>
              <a:t>largura</a:t>
            </a:r>
          </a:p>
        </p:txBody>
      </p:sp>
      <p:cxnSp>
        <p:nvCxnSpPr>
          <p:cNvPr id="49" name="Conector de seta reta 48"/>
          <p:cNvCxnSpPr>
            <a:stCxn id="52" idx="0"/>
          </p:cNvCxnSpPr>
          <p:nvPr/>
        </p:nvCxnSpPr>
        <p:spPr>
          <a:xfrm flipV="1">
            <a:off x="5116824" y="2140399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>
            <a:stCxn id="53" idx="0"/>
          </p:cNvCxnSpPr>
          <p:nvPr/>
        </p:nvCxnSpPr>
        <p:spPr>
          <a:xfrm flipH="1" flipV="1">
            <a:off x="5665696" y="2140399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ipse 50"/>
          <p:cNvSpPr/>
          <p:nvPr/>
        </p:nvSpPr>
        <p:spPr>
          <a:xfrm>
            <a:off x="5469296" y="194837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2" name="Elipse 51"/>
          <p:cNvSpPr/>
          <p:nvPr/>
        </p:nvSpPr>
        <p:spPr>
          <a:xfrm>
            <a:off x="5001775" y="254603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3" name="Elipse 52"/>
          <p:cNvSpPr/>
          <p:nvPr/>
        </p:nvSpPr>
        <p:spPr>
          <a:xfrm>
            <a:off x="5936817" y="254094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54" name="Conector de seta reta 53"/>
          <p:cNvCxnSpPr>
            <a:stCxn id="55" idx="0"/>
          </p:cNvCxnSpPr>
          <p:nvPr/>
        </p:nvCxnSpPr>
        <p:spPr>
          <a:xfrm flipV="1">
            <a:off x="5116824" y="2771002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ipse 54"/>
          <p:cNvSpPr/>
          <p:nvPr/>
        </p:nvSpPr>
        <p:spPr>
          <a:xfrm>
            <a:off x="5001775" y="314831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56" name="Conector de seta reta 55"/>
          <p:cNvCxnSpPr/>
          <p:nvPr/>
        </p:nvCxnSpPr>
        <p:spPr>
          <a:xfrm flipH="1">
            <a:off x="5231872" y="2653424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e seta reta 56"/>
          <p:cNvCxnSpPr/>
          <p:nvPr/>
        </p:nvCxnSpPr>
        <p:spPr>
          <a:xfrm flipH="1">
            <a:off x="5198175" y="2732961"/>
            <a:ext cx="772339" cy="44829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Elipse 57"/>
          <p:cNvSpPr/>
          <p:nvPr/>
        </p:nvSpPr>
        <p:spPr>
          <a:xfrm>
            <a:off x="5942637" y="314616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59" name="Conector de seta reta 58"/>
          <p:cNvCxnSpPr>
            <a:stCxn id="58" idx="0"/>
          </p:cNvCxnSpPr>
          <p:nvPr/>
        </p:nvCxnSpPr>
        <p:spPr>
          <a:xfrm flipH="1" flipV="1">
            <a:off x="6051866" y="2765906"/>
            <a:ext cx="5820" cy="38026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/>
          <p:nvPr/>
        </p:nvCxnSpPr>
        <p:spPr>
          <a:xfrm flipH="1">
            <a:off x="5231872" y="3258651"/>
            <a:ext cx="710765" cy="2142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64" idx="0"/>
          </p:cNvCxnSpPr>
          <p:nvPr/>
        </p:nvCxnSpPr>
        <p:spPr>
          <a:xfrm flipV="1">
            <a:off x="7311712" y="2027917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/>
          <p:cNvCxnSpPr>
            <a:stCxn id="65" idx="0"/>
          </p:cNvCxnSpPr>
          <p:nvPr/>
        </p:nvCxnSpPr>
        <p:spPr>
          <a:xfrm flipH="1" flipV="1">
            <a:off x="7860584" y="2027917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7664184" y="1835897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4" name="Elipse 63"/>
          <p:cNvSpPr/>
          <p:nvPr/>
        </p:nvSpPr>
        <p:spPr>
          <a:xfrm>
            <a:off x="7196663" y="2433555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5" name="Elipse 64"/>
          <p:cNvSpPr/>
          <p:nvPr/>
        </p:nvSpPr>
        <p:spPr>
          <a:xfrm>
            <a:off x="8131705" y="242845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66" name="Conector de seta reta 65"/>
          <p:cNvCxnSpPr>
            <a:stCxn id="67" idx="0"/>
          </p:cNvCxnSpPr>
          <p:nvPr/>
        </p:nvCxnSpPr>
        <p:spPr>
          <a:xfrm flipV="1">
            <a:off x="7311712" y="2658520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Elipse 66"/>
          <p:cNvSpPr/>
          <p:nvPr/>
        </p:nvSpPr>
        <p:spPr>
          <a:xfrm>
            <a:off x="7196663" y="303582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70" name="Elipse 69"/>
          <p:cNvSpPr/>
          <p:nvPr/>
        </p:nvSpPr>
        <p:spPr>
          <a:xfrm>
            <a:off x="8137525" y="3033686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71" name="Conector de seta reta 70"/>
          <p:cNvCxnSpPr>
            <a:stCxn id="70" idx="0"/>
          </p:cNvCxnSpPr>
          <p:nvPr/>
        </p:nvCxnSpPr>
        <p:spPr>
          <a:xfrm flipH="1" flipV="1">
            <a:off x="8246754" y="2653424"/>
            <a:ext cx="5820" cy="38026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8987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8" grpId="0"/>
      <p:bldP spid="51" grpId="0" animBg="1"/>
      <p:bldP spid="52" grpId="0" animBg="1"/>
      <p:bldP spid="53" grpId="0" animBg="1"/>
      <p:bldP spid="55" grpId="0" animBg="1"/>
      <p:bldP spid="58" grpId="0" animBg="1"/>
      <p:bldP spid="63" grpId="0" animBg="1"/>
      <p:bldP spid="64" grpId="0" animBg="1"/>
      <p:bldP spid="65" grpId="0" animBg="1"/>
      <p:bldP spid="67" grpId="0" animBg="1"/>
      <p:bldP spid="7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Classificação de Arestas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234398" y="2838969"/>
            <a:ext cx="2310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 {</a:t>
            </a:r>
            <a:r>
              <a:rPr lang="pt-BR" i="1" dirty="0"/>
              <a:t>v</a:t>
            </a:r>
            <a:r>
              <a:rPr lang="pt-BR" dirty="0"/>
              <a:t>, </a:t>
            </a:r>
            <a:r>
              <a:rPr lang="pt-BR" i="1" dirty="0"/>
              <a:t>w</a:t>
            </a:r>
            <a:r>
              <a:rPr lang="pt-BR" dirty="0"/>
              <a:t>} é aresta </a:t>
            </a:r>
            <a:r>
              <a:rPr lang="pt-BR" b="1" dirty="0">
                <a:solidFill>
                  <a:srgbClr val="00B0F0"/>
                </a:solidFill>
              </a:rPr>
              <a:t>pai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879002" y="3666409"/>
            <a:ext cx="3021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nível(</a:t>
            </a:r>
            <a:r>
              <a:rPr lang="pt-BR" i="1" dirty="0"/>
              <a:t>w</a:t>
            </a:r>
            <a:r>
              <a:rPr lang="pt-BR" dirty="0"/>
              <a:t>) = nível(</a:t>
            </a:r>
            <a:r>
              <a:rPr lang="pt-BR" i="1" dirty="0"/>
              <a:t>v</a:t>
            </a:r>
            <a:r>
              <a:rPr lang="pt-BR" dirty="0"/>
              <a:t>) + 1 e </a:t>
            </a:r>
          </a:p>
          <a:p>
            <a:pPr algn="ctr"/>
            <a:r>
              <a:rPr lang="pt-BR" dirty="0"/>
              <a:t>L[</a:t>
            </a:r>
            <a:r>
              <a:rPr lang="pt-BR" i="1" dirty="0"/>
              <a:t>w</a:t>
            </a:r>
            <a:r>
              <a:rPr lang="pt-BR" dirty="0"/>
              <a:t>] = 0 no momento da visita</a:t>
            </a:r>
          </a:p>
        </p:txBody>
      </p:sp>
      <p:sp>
        <p:nvSpPr>
          <p:cNvPr id="7" name="Seta para cima e para baixo 6"/>
          <p:cNvSpPr/>
          <p:nvPr/>
        </p:nvSpPr>
        <p:spPr>
          <a:xfrm>
            <a:off x="4288786" y="3187721"/>
            <a:ext cx="201645" cy="468490"/>
          </a:xfrm>
          <a:prstGeom prst="upDown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4" name="Conector de seta reta 43"/>
          <p:cNvCxnSpPr/>
          <p:nvPr/>
        </p:nvCxnSpPr>
        <p:spPr>
          <a:xfrm>
            <a:off x="5887037" y="4164872"/>
            <a:ext cx="314454" cy="48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/>
          <p:cNvSpPr txBox="1"/>
          <p:nvPr/>
        </p:nvSpPr>
        <p:spPr>
          <a:xfrm>
            <a:off x="6173103" y="4044343"/>
            <a:ext cx="1991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ou ainda, </a:t>
            </a:r>
            <a:r>
              <a:rPr lang="pt-BR" sz="1600" i="1" dirty="0"/>
              <a:t>v</a:t>
            </a:r>
            <a:r>
              <a:rPr lang="pt-BR" sz="1600" dirty="0"/>
              <a:t> é pai de </a:t>
            </a:r>
            <a:r>
              <a:rPr lang="pt-BR" sz="1600" i="1" dirty="0"/>
              <a:t>w</a:t>
            </a:r>
          </a:p>
        </p:txBody>
      </p:sp>
      <p:cxnSp>
        <p:nvCxnSpPr>
          <p:cNvPr id="40" name="Conector de seta reta 39"/>
          <p:cNvCxnSpPr>
            <a:stCxn id="43" idx="0"/>
          </p:cNvCxnSpPr>
          <p:nvPr/>
        </p:nvCxnSpPr>
        <p:spPr>
          <a:xfrm flipV="1">
            <a:off x="6201492" y="2075960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/>
          <p:cNvCxnSpPr>
            <a:stCxn id="45" idx="0"/>
          </p:cNvCxnSpPr>
          <p:nvPr/>
        </p:nvCxnSpPr>
        <p:spPr>
          <a:xfrm flipH="1" flipV="1">
            <a:off x="6750364" y="2075960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Elipse 41"/>
          <p:cNvSpPr/>
          <p:nvPr/>
        </p:nvSpPr>
        <p:spPr>
          <a:xfrm>
            <a:off x="6553964" y="188394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3" name="Elipse 42"/>
          <p:cNvSpPr/>
          <p:nvPr/>
        </p:nvSpPr>
        <p:spPr>
          <a:xfrm>
            <a:off x="6086443" y="24815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45" name="Elipse 44"/>
          <p:cNvSpPr/>
          <p:nvPr/>
        </p:nvSpPr>
        <p:spPr>
          <a:xfrm>
            <a:off x="7021485" y="247650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6" name="Conector de seta reta 45"/>
          <p:cNvCxnSpPr>
            <a:stCxn id="47" idx="0"/>
          </p:cNvCxnSpPr>
          <p:nvPr/>
        </p:nvCxnSpPr>
        <p:spPr>
          <a:xfrm flipV="1">
            <a:off x="6201492" y="2706563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lipse 46"/>
          <p:cNvSpPr/>
          <p:nvPr/>
        </p:nvSpPr>
        <p:spPr>
          <a:xfrm>
            <a:off x="6086443" y="308387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48" name="Conector de seta reta 47"/>
          <p:cNvCxnSpPr/>
          <p:nvPr/>
        </p:nvCxnSpPr>
        <p:spPr>
          <a:xfrm flipH="1">
            <a:off x="6316540" y="2588985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/>
          <p:nvPr/>
        </p:nvCxnSpPr>
        <p:spPr>
          <a:xfrm flipH="1">
            <a:off x="6282843" y="2668522"/>
            <a:ext cx="772339" cy="44829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ipse 49"/>
          <p:cNvSpPr/>
          <p:nvPr/>
        </p:nvSpPr>
        <p:spPr>
          <a:xfrm>
            <a:off x="7027305" y="30817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51" name="Conector de seta reta 50"/>
          <p:cNvCxnSpPr>
            <a:stCxn id="50" idx="0"/>
          </p:cNvCxnSpPr>
          <p:nvPr/>
        </p:nvCxnSpPr>
        <p:spPr>
          <a:xfrm flipH="1" flipV="1">
            <a:off x="7136534" y="2701467"/>
            <a:ext cx="5820" cy="38026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de seta reta 51"/>
          <p:cNvCxnSpPr/>
          <p:nvPr/>
        </p:nvCxnSpPr>
        <p:spPr>
          <a:xfrm flipH="1">
            <a:off x="6316540" y="3194212"/>
            <a:ext cx="710765" cy="2142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952867"/>
              </p:ext>
            </p:extLst>
          </p:nvPr>
        </p:nvGraphicFramePr>
        <p:xfrm>
          <a:off x="625560" y="1386822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9914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 animBg="1"/>
      <p:bldP spid="5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Classificação de Arestas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234398" y="2838969"/>
            <a:ext cx="2310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 {</a:t>
            </a:r>
            <a:r>
              <a:rPr lang="pt-BR" i="1" dirty="0"/>
              <a:t>v</a:t>
            </a:r>
            <a:r>
              <a:rPr lang="pt-BR" dirty="0"/>
              <a:t>, </a:t>
            </a:r>
            <a:r>
              <a:rPr lang="pt-BR" i="1" dirty="0"/>
              <a:t>w</a:t>
            </a:r>
            <a:r>
              <a:rPr lang="pt-BR" dirty="0"/>
              <a:t>} é aresta </a:t>
            </a:r>
            <a:r>
              <a:rPr lang="pt-BR" b="1" dirty="0">
                <a:solidFill>
                  <a:srgbClr val="00B050"/>
                </a:solidFill>
              </a:rPr>
              <a:t>tio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873391" y="3666409"/>
            <a:ext cx="3032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nível(</a:t>
            </a:r>
            <a:r>
              <a:rPr lang="pt-BR" i="1" dirty="0"/>
              <a:t>w</a:t>
            </a:r>
            <a:r>
              <a:rPr lang="pt-BR" dirty="0"/>
              <a:t>) = nível(</a:t>
            </a:r>
            <a:r>
              <a:rPr lang="pt-BR" i="1" dirty="0"/>
              <a:t>v</a:t>
            </a:r>
            <a:r>
              <a:rPr lang="pt-BR" dirty="0"/>
              <a:t>) + 1 e </a:t>
            </a:r>
          </a:p>
          <a:p>
            <a:pPr algn="ctr"/>
            <a:r>
              <a:rPr lang="pt-BR" dirty="0"/>
              <a:t>L[</a:t>
            </a:r>
            <a:r>
              <a:rPr lang="pt-BR" i="1" dirty="0"/>
              <a:t>w</a:t>
            </a:r>
            <a:r>
              <a:rPr lang="pt-BR" dirty="0"/>
              <a:t>] </a:t>
            </a:r>
            <a:r>
              <a:rPr lang="pt-BR" dirty="0">
                <a:sym typeface="Symbol" panose="05050102010706020507" pitchFamily="18" charset="2"/>
              </a:rPr>
              <a:t></a:t>
            </a:r>
            <a:r>
              <a:rPr lang="pt-BR" dirty="0"/>
              <a:t> 0 no momento da visita</a:t>
            </a:r>
          </a:p>
        </p:txBody>
      </p:sp>
      <p:sp>
        <p:nvSpPr>
          <p:cNvPr id="7" name="Seta para cima e para baixo 6"/>
          <p:cNvSpPr/>
          <p:nvPr/>
        </p:nvSpPr>
        <p:spPr>
          <a:xfrm>
            <a:off x="4288786" y="3187721"/>
            <a:ext cx="201645" cy="468490"/>
          </a:xfrm>
          <a:prstGeom prst="upDown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CaixaDeTexto 57"/>
          <p:cNvSpPr txBox="1"/>
          <p:nvPr/>
        </p:nvSpPr>
        <p:spPr>
          <a:xfrm>
            <a:off x="6173103" y="4044343"/>
            <a:ext cx="23519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ou ainda, </a:t>
            </a:r>
            <a:r>
              <a:rPr lang="pt-BR" sz="1600" i="1" dirty="0"/>
              <a:t>v</a:t>
            </a:r>
            <a:r>
              <a:rPr lang="pt-BR" sz="1600" dirty="0"/>
              <a:t> não é pai de </a:t>
            </a:r>
            <a:r>
              <a:rPr lang="pt-BR" sz="1600" i="1" dirty="0"/>
              <a:t>w</a:t>
            </a:r>
          </a:p>
        </p:txBody>
      </p:sp>
      <p:cxnSp>
        <p:nvCxnSpPr>
          <p:cNvPr id="40" name="Conector de seta reta 39"/>
          <p:cNvCxnSpPr>
            <a:stCxn id="43" idx="0"/>
          </p:cNvCxnSpPr>
          <p:nvPr/>
        </p:nvCxnSpPr>
        <p:spPr>
          <a:xfrm flipV="1">
            <a:off x="6201492" y="2075960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/>
          <p:cNvCxnSpPr>
            <a:stCxn id="45" idx="0"/>
          </p:cNvCxnSpPr>
          <p:nvPr/>
        </p:nvCxnSpPr>
        <p:spPr>
          <a:xfrm flipH="1" flipV="1">
            <a:off x="6750364" y="2075960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Elipse 41"/>
          <p:cNvSpPr/>
          <p:nvPr/>
        </p:nvSpPr>
        <p:spPr>
          <a:xfrm>
            <a:off x="6553964" y="188394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3" name="Elipse 42"/>
          <p:cNvSpPr/>
          <p:nvPr/>
        </p:nvSpPr>
        <p:spPr>
          <a:xfrm>
            <a:off x="6086443" y="24815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45" name="Elipse 44"/>
          <p:cNvSpPr/>
          <p:nvPr/>
        </p:nvSpPr>
        <p:spPr>
          <a:xfrm>
            <a:off x="7021485" y="247650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6" name="Conector de seta reta 45"/>
          <p:cNvCxnSpPr>
            <a:stCxn id="47" idx="0"/>
          </p:cNvCxnSpPr>
          <p:nvPr/>
        </p:nvCxnSpPr>
        <p:spPr>
          <a:xfrm flipV="1">
            <a:off x="6201492" y="2706563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lipse 46"/>
          <p:cNvSpPr/>
          <p:nvPr/>
        </p:nvSpPr>
        <p:spPr>
          <a:xfrm>
            <a:off x="6086443" y="308387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48" name="Conector de seta reta 47"/>
          <p:cNvCxnSpPr/>
          <p:nvPr/>
        </p:nvCxnSpPr>
        <p:spPr>
          <a:xfrm flipH="1">
            <a:off x="6316540" y="2588985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/>
          <p:nvPr/>
        </p:nvCxnSpPr>
        <p:spPr>
          <a:xfrm flipH="1">
            <a:off x="6282843" y="2668522"/>
            <a:ext cx="772339" cy="44829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ipse 49"/>
          <p:cNvSpPr/>
          <p:nvPr/>
        </p:nvSpPr>
        <p:spPr>
          <a:xfrm>
            <a:off x="7027305" y="30817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51" name="Conector de seta reta 50"/>
          <p:cNvCxnSpPr>
            <a:stCxn id="50" idx="0"/>
          </p:cNvCxnSpPr>
          <p:nvPr/>
        </p:nvCxnSpPr>
        <p:spPr>
          <a:xfrm flipH="1" flipV="1">
            <a:off x="7136534" y="2701467"/>
            <a:ext cx="5820" cy="38026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de seta reta 51"/>
          <p:cNvCxnSpPr/>
          <p:nvPr/>
        </p:nvCxnSpPr>
        <p:spPr>
          <a:xfrm flipH="1">
            <a:off x="6316540" y="3194212"/>
            <a:ext cx="710765" cy="2142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952867"/>
              </p:ext>
            </p:extLst>
          </p:nvPr>
        </p:nvGraphicFramePr>
        <p:xfrm>
          <a:off x="625560" y="1386822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1" name="Conector de seta reta 20"/>
          <p:cNvCxnSpPr/>
          <p:nvPr/>
        </p:nvCxnSpPr>
        <p:spPr>
          <a:xfrm>
            <a:off x="5887037" y="4164872"/>
            <a:ext cx="314454" cy="48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049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Classificação de Arestas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127191" y="2824880"/>
            <a:ext cx="2479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 {</a:t>
            </a:r>
            <a:r>
              <a:rPr lang="pt-BR" i="1" dirty="0"/>
              <a:t>v</a:t>
            </a:r>
            <a:r>
              <a:rPr lang="pt-BR" dirty="0"/>
              <a:t>, </a:t>
            </a:r>
            <a:r>
              <a:rPr lang="pt-BR" i="1" dirty="0"/>
              <a:t>w</a:t>
            </a:r>
            <a:r>
              <a:rPr lang="pt-BR" dirty="0"/>
              <a:t>} é aresta </a:t>
            </a:r>
            <a:r>
              <a:rPr lang="pt-BR" b="1" dirty="0">
                <a:solidFill>
                  <a:srgbClr val="FF0000"/>
                </a:solidFill>
              </a:rPr>
              <a:t>irmão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301496" y="3652320"/>
            <a:ext cx="2130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nível(</a:t>
            </a:r>
            <a:r>
              <a:rPr lang="pt-BR" i="1" dirty="0"/>
              <a:t>w</a:t>
            </a:r>
            <a:r>
              <a:rPr lang="pt-BR" dirty="0"/>
              <a:t>) = nível(</a:t>
            </a:r>
            <a:r>
              <a:rPr lang="pt-BR" i="1" dirty="0"/>
              <a:t>v</a:t>
            </a:r>
            <a:r>
              <a:rPr lang="pt-BR" dirty="0"/>
              <a:t>)        e  pai[v] </a:t>
            </a:r>
            <a:r>
              <a:rPr lang="pt-BR" dirty="0">
                <a:sym typeface="Symbol" panose="05050102010706020507" pitchFamily="18" charset="2"/>
              </a:rPr>
              <a:t>=</a:t>
            </a:r>
            <a:r>
              <a:rPr lang="pt-BR" dirty="0"/>
              <a:t> pai[w]</a:t>
            </a:r>
          </a:p>
        </p:txBody>
      </p:sp>
      <p:sp>
        <p:nvSpPr>
          <p:cNvPr id="7" name="Seta para cima e para baixo 6"/>
          <p:cNvSpPr/>
          <p:nvPr/>
        </p:nvSpPr>
        <p:spPr>
          <a:xfrm>
            <a:off x="4265881" y="3173632"/>
            <a:ext cx="201645" cy="468490"/>
          </a:xfrm>
          <a:prstGeom prst="upDown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0" name="Conector de seta reta 39"/>
          <p:cNvCxnSpPr>
            <a:stCxn id="43" idx="0"/>
          </p:cNvCxnSpPr>
          <p:nvPr/>
        </p:nvCxnSpPr>
        <p:spPr>
          <a:xfrm flipV="1">
            <a:off x="6201492" y="2075960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/>
          <p:cNvCxnSpPr>
            <a:stCxn id="45" idx="0"/>
          </p:cNvCxnSpPr>
          <p:nvPr/>
        </p:nvCxnSpPr>
        <p:spPr>
          <a:xfrm flipH="1" flipV="1">
            <a:off x="6750364" y="2075960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Elipse 41"/>
          <p:cNvSpPr/>
          <p:nvPr/>
        </p:nvSpPr>
        <p:spPr>
          <a:xfrm>
            <a:off x="6553964" y="188394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3" name="Elipse 42"/>
          <p:cNvSpPr/>
          <p:nvPr/>
        </p:nvSpPr>
        <p:spPr>
          <a:xfrm>
            <a:off x="6086443" y="24815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45" name="Elipse 44"/>
          <p:cNvSpPr/>
          <p:nvPr/>
        </p:nvSpPr>
        <p:spPr>
          <a:xfrm>
            <a:off x="7021485" y="247650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6" name="Conector de seta reta 45"/>
          <p:cNvCxnSpPr>
            <a:stCxn id="47" idx="0"/>
          </p:cNvCxnSpPr>
          <p:nvPr/>
        </p:nvCxnSpPr>
        <p:spPr>
          <a:xfrm flipV="1">
            <a:off x="6201492" y="2706563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lipse 46"/>
          <p:cNvSpPr/>
          <p:nvPr/>
        </p:nvSpPr>
        <p:spPr>
          <a:xfrm>
            <a:off x="6086443" y="308387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48" name="Conector de seta reta 47"/>
          <p:cNvCxnSpPr/>
          <p:nvPr/>
        </p:nvCxnSpPr>
        <p:spPr>
          <a:xfrm flipH="1">
            <a:off x="6316540" y="2588985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/>
          <p:nvPr/>
        </p:nvCxnSpPr>
        <p:spPr>
          <a:xfrm flipH="1">
            <a:off x="6282843" y="2668522"/>
            <a:ext cx="772339" cy="44829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ipse 49"/>
          <p:cNvSpPr/>
          <p:nvPr/>
        </p:nvSpPr>
        <p:spPr>
          <a:xfrm>
            <a:off x="7027305" y="30817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51" name="Conector de seta reta 50"/>
          <p:cNvCxnSpPr>
            <a:stCxn id="50" idx="0"/>
          </p:cNvCxnSpPr>
          <p:nvPr/>
        </p:nvCxnSpPr>
        <p:spPr>
          <a:xfrm flipH="1" flipV="1">
            <a:off x="7136534" y="2701467"/>
            <a:ext cx="5820" cy="38026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de seta reta 51"/>
          <p:cNvCxnSpPr/>
          <p:nvPr/>
        </p:nvCxnSpPr>
        <p:spPr>
          <a:xfrm flipH="1">
            <a:off x="6316540" y="3194212"/>
            <a:ext cx="710765" cy="2142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952867"/>
              </p:ext>
            </p:extLst>
          </p:nvPr>
        </p:nvGraphicFramePr>
        <p:xfrm>
          <a:off x="625560" y="1386822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812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Classificação de Arestas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127191" y="2824880"/>
            <a:ext cx="2479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 {</a:t>
            </a:r>
            <a:r>
              <a:rPr lang="pt-BR" i="1" dirty="0"/>
              <a:t>v</a:t>
            </a:r>
            <a:r>
              <a:rPr lang="pt-BR" dirty="0"/>
              <a:t>, </a:t>
            </a:r>
            <a:r>
              <a:rPr lang="pt-BR" i="1" dirty="0"/>
              <a:t>w</a:t>
            </a:r>
            <a:r>
              <a:rPr lang="pt-BR" dirty="0"/>
              <a:t>} é aresta </a:t>
            </a:r>
            <a:r>
              <a:rPr lang="pt-BR" b="1" dirty="0">
                <a:solidFill>
                  <a:srgbClr val="FFC000"/>
                </a:solidFill>
              </a:rPr>
              <a:t>primo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301496" y="3652320"/>
            <a:ext cx="2130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nível(</a:t>
            </a:r>
            <a:r>
              <a:rPr lang="pt-BR" i="1" dirty="0"/>
              <a:t>w</a:t>
            </a:r>
            <a:r>
              <a:rPr lang="pt-BR" dirty="0"/>
              <a:t>) = nível(</a:t>
            </a:r>
            <a:r>
              <a:rPr lang="pt-BR" i="1" dirty="0"/>
              <a:t>v</a:t>
            </a:r>
            <a:r>
              <a:rPr lang="pt-BR" dirty="0"/>
              <a:t>)        e  pai[v] </a:t>
            </a:r>
            <a:r>
              <a:rPr lang="pt-BR" dirty="0">
                <a:sym typeface="Symbol" panose="05050102010706020507" pitchFamily="18" charset="2"/>
              </a:rPr>
              <a:t></a:t>
            </a:r>
            <a:r>
              <a:rPr lang="pt-BR" dirty="0"/>
              <a:t> pai[w]</a:t>
            </a:r>
          </a:p>
        </p:txBody>
      </p:sp>
      <p:sp>
        <p:nvSpPr>
          <p:cNvPr id="7" name="Seta para cima e para baixo 6"/>
          <p:cNvSpPr/>
          <p:nvPr/>
        </p:nvSpPr>
        <p:spPr>
          <a:xfrm>
            <a:off x="4265881" y="3173632"/>
            <a:ext cx="201645" cy="468490"/>
          </a:xfrm>
          <a:prstGeom prst="upDown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0" name="Conector de seta reta 39"/>
          <p:cNvCxnSpPr>
            <a:stCxn id="43" idx="0"/>
          </p:cNvCxnSpPr>
          <p:nvPr/>
        </p:nvCxnSpPr>
        <p:spPr>
          <a:xfrm flipV="1">
            <a:off x="6201492" y="2075960"/>
            <a:ext cx="386169" cy="40563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/>
          <p:cNvCxnSpPr>
            <a:stCxn id="45" idx="0"/>
          </p:cNvCxnSpPr>
          <p:nvPr/>
        </p:nvCxnSpPr>
        <p:spPr>
          <a:xfrm flipH="1" flipV="1">
            <a:off x="6750364" y="2075960"/>
            <a:ext cx="386170" cy="40054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Elipse 41"/>
          <p:cNvSpPr/>
          <p:nvPr/>
        </p:nvSpPr>
        <p:spPr>
          <a:xfrm>
            <a:off x="6553964" y="1883940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3" name="Elipse 42"/>
          <p:cNvSpPr/>
          <p:nvPr/>
        </p:nvSpPr>
        <p:spPr>
          <a:xfrm>
            <a:off x="6086443" y="2481598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45" name="Elipse 44"/>
          <p:cNvSpPr/>
          <p:nvPr/>
        </p:nvSpPr>
        <p:spPr>
          <a:xfrm>
            <a:off x="7021485" y="2476502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46" name="Conector de seta reta 45"/>
          <p:cNvCxnSpPr>
            <a:stCxn id="47" idx="0"/>
          </p:cNvCxnSpPr>
          <p:nvPr/>
        </p:nvCxnSpPr>
        <p:spPr>
          <a:xfrm flipV="1">
            <a:off x="6201492" y="2706563"/>
            <a:ext cx="0" cy="377308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lipse 46"/>
          <p:cNvSpPr/>
          <p:nvPr/>
        </p:nvSpPr>
        <p:spPr>
          <a:xfrm>
            <a:off x="6086443" y="3083871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48" name="Conector de seta reta 47"/>
          <p:cNvCxnSpPr/>
          <p:nvPr/>
        </p:nvCxnSpPr>
        <p:spPr>
          <a:xfrm flipH="1">
            <a:off x="6316540" y="2588985"/>
            <a:ext cx="704945" cy="509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/>
          <p:nvPr/>
        </p:nvCxnSpPr>
        <p:spPr>
          <a:xfrm flipH="1">
            <a:off x="6282843" y="2668522"/>
            <a:ext cx="772339" cy="44829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ipse 49"/>
          <p:cNvSpPr/>
          <p:nvPr/>
        </p:nvSpPr>
        <p:spPr>
          <a:xfrm>
            <a:off x="7027305" y="3081729"/>
            <a:ext cx="230097" cy="2249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51" name="Conector de seta reta 50"/>
          <p:cNvCxnSpPr>
            <a:stCxn id="50" idx="0"/>
          </p:cNvCxnSpPr>
          <p:nvPr/>
        </p:nvCxnSpPr>
        <p:spPr>
          <a:xfrm flipH="1" flipV="1">
            <a:off x="7136534" y="2701467"/>
            <a:ext cx="5820" cy="38026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de seta reta 51"/>
          <p:cNvCxnSpPr/>
          <p:nvPr/>
        </p:nvCxnSpPr>
        <p:spPr>
          <a:xfrm flipH="1">
            <a:off x="6316540" y="3194212"/>
            <a:ext cx="710765" cy="2142"/>
          </a:xfrm>
          <a:prstGeom prst="straightConnector1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el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952867"/>
              </p:ext>
            </p:extLst>
          </p:nvPr>
        </p:nvGraphicFramePr>
        <p:xfrm>
          <a:off x="625560" y="1386822"/>
          <a:ext cx="3077431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170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7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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a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ym typeface="Symbol" panose="05050102010706020507" pitchFamily="18" charset="2"/>
                        </a:rPr>
                        <a:t>c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577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3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APA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ubtítul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penas texto corrid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ítulo e texto corrid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It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ítulo, texto e imag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xto e imag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Apenas imagens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Tabela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Encerrament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1584</TotalTime>
  <Words>7286</Words>
  <Application>Microsoft Office PowerPoint</Application>
  <PresentationFormat>Apresentação na tela (16:9)</PresentationFormat>
  <Paragraphs>2464</Paragraphs>
  <Slides>62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10</vt:i4>
      </vt:variant>
      <vt:variant>
        <vt:lpstr>Títulos de slides</vt:lpstr>
      </vt:variant>
      <vt:variant>
        <vt:i4>62</vt:i4>
      </vt:variant>
    </vt:vector>
  </HeadingPairs>
  <TitlesOfParts>
    <vt:vector size="75" baseType="lpstr">
      <vt:lpstr>Arial</vt:lpstr>
      <vt:lpstr>Calibri</vt:lpstr>
      <vt:lpstr>Symbol</vt:lpstr>
      <vt:lpstr>CAPA</vt:lpstr>
      <vt:lpstr>Subtítulo</vt:lpstr>
      <vt:lpstr>Apenas texto corrido</vt:lpstr>
      <vt:lpstr>Título e texto corrido</vt:lpstr>
      <vt:lpstr>Item</vt:lpstr>
      <vt:lpstr>Título, texto e imagem</vt:lpstr>
      <vt:lpstr>Texto e imagem</vt:lpstr>
      <vt:lpstr>Apenas imagens</vt:lpstr>
      <vt:lpstr>Tabela</vt:lpstr>
      <vt:lpstr>Encerramento</vt:lpstr>
      <vt:lpstr>Busca em Largura</vt:lpstr>
      <vt:lpstr>Busca em Largura – Introdução</vt:lpstr>
      <vt:lpstr>Busca em Largura</vt:lpstr>
      <vt:lpstr>Busca em Largura</vt:lpstr>
      <vt:lpstr>Busca em Largura</vt:lpstr>
      <vt:lpstr>Busca em Largura em Grafo Não Direcionado</vt:lpstr>
      <vt:lpstr>Busca em Largura – Grafo Não Direcionado</vt:lpstr>
      <vt:lpstr>Busca em Largura – Algoritmo</vt:lpstr>
      <vt:lpstr>Busca em Largura – Algoritmo</vt:lpstr>
      <vt:lpstr>Busca em Largura – Algoritmo</vt:lpstr>
      <vt:lpstr>Busca em Largura – Algoritmo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Exemplo</vt:lpstr>
      <vt:lpstr>Busca em Largura – Propriedades</vt:lpstr>
      <vt:lpstr>Classificação de Arestas</vt:lpstr>
      <vt:lpstr>Classificação de Arestas</vt:lpstr>
      <vt:lpstr>Classificação de Arestas</vt:lpstr>
      <vt:lpstr>Classificação de Arestas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Kelen da Silva Miranda</dc:creator>
  <cp:lastModifiedBy>Leonardo</cp:lastModifiedBy>
  <cp:revision>161</cp:revision>
  <dcterms:created xsi:type="dcterms:W3CDTF">2018-04-05T14:34:00Z</dcterms:created>
  <dcterms:modified xsi:type="dcterms:W3CDTF">2022-07-30T22:51:09Z</dcterms:modified>
</cp:coreProperties>
</file>