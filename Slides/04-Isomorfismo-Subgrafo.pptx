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slideLayouts/slideLayout8.xml" ContentType="application/vnd.openxmlformats-officedocument.presentationml.slideLayout+xml"/>
  <Override PartName="/ppt/theme/theme6.xml" ContentType="application/vnd.openxmlformats-officedocument.theme+xml"/>
  <Override PartName="/ppt/slideLayouts/slideLayout9.xml" ContentType="application/vnd.openxmlformats-officedocument.presentationml.slideLayout+xml"/>
  <Override PartName="/ppt/theme/theme7.xml" ContentType="application/vnd.openxmlformats-officedocument.theme+xml"/>
  <Override PartName="/ppt/slideLayouts/slideLayout10.xml" ContentType="application/vnd.openxmlformats-officedocument.presentationml.slideLayout+xml"/>
  <Override PartName="/ppt/theme/theme8.xml" ContentType="application/vnd.openxmlformats-officedocument.theme+xml"/>
  <Override PartName="/ppt/slideLayouts/slideLayout11.xml" ContentType="application/vnd.openxmlformats-officedocument.presentationml.slideLayout+xml"/>
  <Override PartName="/ppt/theme/theme9.xml" ContentType="application/vnd.openxmlformats-officedocument.theme+xml"/>
  <Override PartName="/ppt/slideLayouts/slideLayout12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  <p:sldMasterId id="2147483655" r:id="rId3"/>
    <p:sldMasterId id="2147483657" r:id="rId4"/>
    <p:sldMasterId id="2147483670" r:id="rId5"/>
    <p:sldMasterId id="2147483659" r:id="rId6"/>
    <p:sldMasterId id="2147483661" r:id="rId7"/>
    <p:sldMasterId id="2147483663" r:id="rId8"/>
    <p:sldMasterId id="2147483665" r:id="rId9"/>
    <p:sldMasterId id="2147483667" r:id="rId10"/>
  </p:sldMasterIdLst>
  <p:notesMasterIdLst>
    <p:notesMasterId r:id="rId31"/>
  </p:notesMasterIdLst>
  <p:handoutMasterIdLst>
    <p:handoutMasterId r:id="rId32"/>
  </p:handoutMasterIdLst>
  <p:sldIdLst>
    <p:sldId id="256" r:id="rId11"/>
    <p:sldId id="337" r:id="rId12"/>
    <p:sldId id="272" r:id="rId13"/>
    <p:sldId id="319" r:id="rId14"/>
    <p:sldId id="326" r:id="rId15"/>
    <p:sldId id="327" r:id="rId16"/>
    <p:sldId id="338" r:id="rId17"/>
    <p:sldId id="320" r:id="rId18"/>
    <p:sldId id="328" r:id="rId19"/>
    <p:sldId id="329" r:id="rId20"/>
    <p:sldId id="331" r:id="rId21"/>
    <p:sldId id="330" r:id="rId22"/>
    <p:sldId id="332" r:id="rId23"/>
    <p:sldId id="333" r:id="rId24"/>
    <p:sldId id="322" r:id="rId25"/>
    <p:sldId id="334" r:id="rId26"/>
    <p:sldId id="335" r:id="rId27"/>
    <p:sldId id="324" r:id="rId28"/>
    <p:sldId id="336" r:id="rId29"/>
    <p:sldId id="270" r:id="rId30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789A"/>
    <a:srgbClr val="FF0000"/>
    <a:srgbClr val="CC9900"/>
    <a:srgbClr val="0066FF"/>
    <a:srgbClr val="008000"/>
    <a:srgbClr val="474748"/>
    <a:srgbClr val="996600"/>
    <a:srgbClr val="17B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946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5" d="100"/>
          <a:sy n="85" d="100"/>
        </p:scale>
        <p:origin x="-378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1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6A30C-50D2-4409-8C57-B758E4448AF7}" type="datetimeFigureOut">
              <a:rPr lang="pt-BR" smtClean="0"/>
              <a:t>30/07/2022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4CFC7-C996-4863-90E8-DB58BF8229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23489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CBAFB-72C8-4421-82CF-2C64DCD5A75B}" type="datetimeFigureOut">
              <a:rPr lang="pt-BR" smtClean="0"/>
              <a:t>30/07/2022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F4808-22E8-406A-932F-9218A9615E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127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6F4808-22E8-406A-932F-9218A9615E7A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4713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87624" y="1589798"/>
            <a:ext cx="7056784" cy="1261963"/>
          </a:xfrm>
          <a:prstGeom prst="rect">
            <a:avLst/>
          </a:prstGeom>
        </p:spPr>
        <p:txBody>
          <a:bodyPr anchor="ctr"/>
          <a:lstStyle>
            <a:lvl1pPr algn="l">
              <a:defRPr sz="5600" b="1" baseline="0">
                <a:solidFill>
                  <a:srgbClr val="474748"/>
                </a:solidFill>
              </a:defRPr>
            </a:lvl1pPr>
          </a:lstStyle>
          <a:p>
            <a:r>
              <a:rPr lang="pt-BR" dirty="0"/>
              <a:t>Título da Aula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187624" y="2908593"/>
            <a:ext cx="7056784" cy="56630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0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Professor</a:t>
            </a:r>
          </a:p>
        </p:txBody>
      </p:sp>
    </p:spTree>
    <p:extLst>
      <p:ext uri="{BB962C8B-B14F-4D97-AF65-F5344CB8AC3E}">
        <p14:creationId xmlns:p14="http://schemas.microsoft.com/office/powerpoint/2010/main" val="6891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716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3707319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0" y="2131862"/>
            <a:ext cx="9144000" cy="857250"/>
          </a:xfrm>
          <a:prstGeom prst="rect">
            <a:avLst/>
          </a:prstGeom>
        </p:spPr>
        <p:txBody>
          <a:bodyPr anchor="ctr"/>
          <a:lstStyle>
            <a:lvl1pPr algn="ctr">
              <a:defRPr sz="4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Subtítulo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3028343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nas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897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132371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4015330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3946" y="93385"/>
            <a:ext cx="8506526" cy="750173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3385020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82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nas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195487"/>
            <a:ext cx="9180512" cy="432048"/>
          </a:xfrm>
          <a:prstGeom prst="rect">
            <a:avLst/>
          </a:prstGeom>
        </p:spPr>
        <p:txBody>
          <a:bodyPr anchor="ctr"/>
          <a:lstStyle>
            <a:lvl1pPr>
              <a:defRPr sz="2500" b="1" strike="noStrike" baseline="0">
                <a:solidFill>
                  <a:srgbClr val="17BEBB"/>
                </a:solidFill>
              </a:defRPr>
            </a:lvl1pPr>
          </a:lstStyle>
          <a:p>
            <a:r>
              <a:rPr lang="pt-BR" dirty="0"/>
              <a:t>Exemplo – Slide Com Imagem (Foto)</a:t>
            </a:r>
          </a:p>
        </p:txBody>
      </p:sp>
    </p:spTree>
    <p:extLst>
      <p:ext uri="{BB962C8B-B14F-4D97-AF65-F5344CB8AC3E}">
        <p14:creationId xmlns:p14="http://schemas.microsoft.com/office/powerpoint/2010/main" val="3916719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195487"/>
            <a:ext cx="9144000" cy="432048"/>
          </a:xfrm>
          <a:prstGeom prst="rect">
            <a:avLst/>
          </a:prstGeom>
        </p:spPr>
        <p:txBody>
          <a:bodyPr anchor="ctr"/>
          <a:lstStyle>
            <a:lvl1pPr>
              <a:defRPr sz="2500" b="1" strike="noStrike" baseline="0">
                <a:solidFill>
                  <a:srgbClr val="17BEBB"/>
                </a:solidFill>
              </a:defRPr>
            </a:lvl1pPr>
          </a:lstStyle>
          <a:p>
            <a:r>
              <a:rPr lang="pt-BR" dirty="0"/>
              <a:t>Exemplo – Tabela</a:t>
            </a:r>
          </a:p>
        </p:txBody>
      </p:sp>
    </p:spTree>
    <p:extLst>
      <p:ext uri="{BB962C8B-B14F-4D97-AF65-F5344CB8AC3E}">
        <p14:creationId xmlns:p14="http://schemas.microsoft.com/office/powerpoint/2010/main" val="137580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213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0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1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8552" y="0"/>
            <a:ext cx="4585447" cy="5143500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5738" y="1586205"/>
            <a:ext cx="7464491" cy="1309396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 userDrawn="1"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753" y="2796988"/>
            <a:ext cx="7467600" cy="80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81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72" r:id="rId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8552" y="0"/>
            <a:ext cx="4585447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772653"/>
            <a:ext cx="9144000" cy="161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974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6463" y="176462"/>
            <a:ext cx="8799096" cy="440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7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9144000" cy="3529263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71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9144000" cy="3529263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80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4812632" cy="360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1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764505" cy="474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710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9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44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061411" cy="5143500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088469" y="-4496"/>
            <a:ext cx="206141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28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5400" dirty="0"/>
              <a:t>Isomorfismo / Subgrafo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C618FB19-4558-4F05-BC73-7130A3C6650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0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Leonardo Vilela Cardoso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974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Isomorfismo</a:t>
            </a:r>
          </a:p>
        </p:txBody>
      </p:sp>
    </p:spTree>
    <p:extLst>
      <p:ext uri="{BB962C8B-B14F-4D97-AF65-F5344CB8AC3E}">
        <p14:creationId xmlns:p14="http://schemas.microsoft.com/office/powerpoint/2010/main" val="3362712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upo 52"/>
          <p:cNvGrpSpPr/>
          <p:nvPr/>
        </p:nvGrpSpPr>
        <p:grpSpPr>
          <a:xfrm>
            <a:off x="4434845" y="3750642"/>
            <a:ext cx="279244" cy="307777"/>
            <a:chOff x="4695833" y="3960650"/>
            <a:chExt cx="279244" cy="307777"/>
          </a:xfrm>
        </p:grpSpPr>
        <p:sp>
          <p:nvSpPr>
            <p:cNvPr id="32" name="Elipse 31"/>
            <p:cNvSpPr>
              <a:spLocks noChangeAspect="1"/>
            </p:cNvSpPr>
            <p:nvPr/>
          </p:nvSpPr>
          <p:spPr>
            <a:xfrm>
              <a:off x="4717798" y="3994761"/>
              <a:ext cx="252000" cy="23184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pt-BR" sz="1400" dirty="0"/>
            </a:p>
          </p:txBody>
        </p:sp>
        <p:sp>
          <p:nvSpPr>
            <p:cNvPr id="33" name="CaixaDeTexto 32"/>
            <p:cNvSpPr txBox="1"/>
            <p:nvPr/>
          </p:nvSpPr>
          <p:spPr>
            <a:xfrm>
              <a:off x="4695833" y="3960650"/>
              <a:ext cx="2792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>
                  <a:solidFill>
                    <a:schemeClr val="bg1"/>
                  </a:solidFill>
                </a:rPr>
                <a:t>d</a:t>
              </a:r>
            </a:p>
          </p:txBody>
        </p:sp>
      </p:grpSp>
      <p:grpSp>
        <p:nvGrpSpPr>
          <p:cNvPr id="55" name="Grupo 54"/>
          <p:cNvGrpSpPr/>
          <p:nvPr/>
        </p:nvGrpSpPr>
        <p:grpSpPr>
          <a:xfrm>
            <a:off x="2858578" y="3716270"/>
            <a:ext cx="271228" cy="307777"/>
            <a:chOff x="2720032" y="3910274"/>
            <a:chExt cx="271228" cy="307777"/>
          </a:xfrm>
        </p:grpSpPr>
        <p:sp>
          <p:nvSpPr>
            <p:cNvPr id="22" name="Elipse 21"/>
            <p:cNvSpPr>
              <a:spLocks noChangeAspect="1"/>
            </p:cNvSpPr>
            <p:nvPr/>
          </p:nvSpPr>
          <p:spPr>
            <a:xfrm>
              <a:off x="2728143" y="3965166"/>
              <a:ext cx="252000" cy="23184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pt-BR" sz="1400" dirty="0"/>
            </a:p>
          </p:txBody>
        </p:sp>
        <p:sp>
          <p:nvSpPr>
            <p:cNvPr id="23" name="CaixaDeTexto 22"/>
            <p:cNvSpPr txBox="1"/>
            <p:nvPr/>
          </p:nvSpPr>
          <p:spPr>
            <a:xfrm>
              <a:off x="2720032" y="3910274"/>
              <a:ext cx="2712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>
                  <a:solidFill>
                    <a:schemeClr val="bg1"/>
                  </a:solidFill>
                </a:rPr>
                <a:t>a</a:t>
              </a:r>
            </a:p>
          </p:txBody>
        </p:sp>
      </p:grpSp>
      <p:grpSp>
        <p:nvGrpSpPr>
          <p:cNvPr id="56" name="Grupo 55"/>
          <p:cNvGrpSpPr/>
          <p:nvPr/>
        </p:nvGrpSpPr>
        <p:grpSpPr>
          <a:xfrm>
            <a:off x="3308859" y="2852354"/>
            <a:ext cx="279244" cy="307777"/>
            <a:chOff x="3281142" y="2568336"/>
            <a:chExt cx="279244" cy="307777"/>
          </a:xfrm>
        </p:grpSpPr>
        <p:sp>
          <p:nvSpPr>
            <p:cNvPr id="26" name="Elipse 25"/>
            <p:cNvSpPr>
              <a:spLocks noChangeAspect="1"/>
            </p:cNvSpPr>
            <p:nvPr/>
          </p:nvSpPr>
          <p:spPr>
            <a:xfrm>
              <a:off x="3289253" y="2602447"/>
              <a:ext cx="252000" cy="23184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pt-BR" sz="1400" dirty="0"/>
            </a:p>
          </p:txBody>
        </p:sp>
        <p:sp>
          <p:nvSpPr>
            <p:cNvPr id="27" name="CaixaDeTexto 26"/>
            <p:cNvSpPr txBox="1"/>
            <p:nvPr/>
          </p:nvSpPr>
          <p:spPr>
            <a:xfrm>
              <a:off x="3281142" y="2568336"/>
              <a:ext cx="2792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>
                  <a:solidFill>
                    <a:schemeClr val="bg1"/>
                  </a:solidFill>
                </a:rPr>
                <a:t>b</a:t>
              </a:r>
            </a:p>
          </p:txBody>
        </p:sp>
      </p:grpSp>
      <p:grpSp>
        <p:nvGrpSpPr>
          <p:cNvPr id="54" name="Grupo 53"/>
          <p:cNvGrpSpPr/>
          <p:nvPr/>
        </p:nvGrpSpPr>
        <p:grpSpPr>
          <a:xfrm>
            <a:off x="3731439" y="3722934"/>
            <a:ext cx="260111" cy="307777"/>
            <a:chOff x="3836619" y="3922946"/>
            <a:chExt cx="260111" cy="307777"/>
          </a:xfrm>
        </p:grpSpPr>
        <p:sp>
          <p:nvSpPr>
            <p:cNvPr id="29" name="Elipse 28"/>
            <p:cNvSpPr>
              <a:spLocks noChangeAspect="1"/>
            </p:cNvSpPr>
            <p:nvPr/>
          </p:nvSpPr>
          <p:spPr>
            <a:xfrm>
              <a:off x="3844730" y="3977838"/>
              <a:ext cx="252000" cy="23184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pt-BR" sz="1400" dirty="0"/>
            </a:p>
          </p:txBody>
        </p:sp>
        <p:sp>
          <p:nvSpPr>
            <p:cNvPr id="30" name="CaixaDeTexto 29"/>
            <p:cNvSpPr txBox="1"/>
            <p:nvPr/>
          </p:nvSpPr>
          <p:spPr>
            <a:xfrm>
              <a:off x="3836619" y="3922946"/>
              <a:ext cx="2600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>
                  <a:solidFill>
                    <a:schemeClr val="bg1"/>
                  </a:solidFill>
                </a:rPr>
                <a:t>c</a:t>
              </a:r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Isomorfismo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Dois grafos G e H são ditos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isomorfos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se existir uma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correspondência um-para-um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entre seus vértices e entre suas arestas, de maneira que as relações de incidência são preservadas.</a:t>
            </a:r>
          </a:p>
        </p:txBody>
      </p:sp>
      <p:sp>
        <p:nvSpPr>
          <p:cNvPr id="6" name="Elipse 5"/>
          <p:cNvSpPr>
            <a:spLocks noChangeAspect="1"/>
          </p:cNvSpPr>
          <p:nvPr/>
        </p:nvSpPr>
        <p:spPr>
          <a:xfrm>
            <a:off x="780791" y="3288806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1</a:t>
            </a:r>
            <a:endParaRPr lang="pt-BR" sz="1400" dirty="0"/>
          </a:p>
        </p:txBody>
      </p:sp>
      <p:sp>
        <p:nvSpPr>
          <p:cNvPr id="7" name="Elipse 6"/>
          <p:cNvSpPr>
            <a:spLocks noChangeAspect="1"/>
          </p:cNvSpPr>
          <p:nvPr/>
        </p:nvSpPr>
        <p:spPr>
          <a:xfrm>
            <a:off x="1434573" y="2623491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2</a:t>
            </a:r>
            <a:endParaRPr lang="pt-BR" sz="1400" dirty="0"/>
          </a:p>
        </p:txBody>
      </p:sp>
      <p:sp>
        <p:nvSpPr>
          <p:cNvPr id="8" name="Elipse 7"/>
          <p:cNvSpPr>
            <a:spLocks noChangeAspect="1"/>
          </p:cNvSpPr>
          <p:nvPr/>
        </p:nvSpPr>
        <p:spPr>
          <a:xfrm>
            <a:off x="2112763" y="3288805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4</a:t>
            </a:r>
            <a:endParaRPr lang="pt-BR" sz="1400" dirty="0"/>
          </a:p>
        </p:txBody>
      </p:sp>
      <p:sp>
        <p:nvSpPr>
          <p:cNvPr id="9" name="Elipse 8"/>
          <p:cNvSpPr>
            <a:spLocks noChangeAspect="1"/>
          </p:cNvSpPr>
          <p:nvPr/>
        </p:nvSpPr>
        <p:spPr>
          <a:xfrm>
            <a:off x="1434573" y="3948243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3</a:t>
            </a:r>
            <a:endParaRPr lang="pt-BR" sz="1400" dirty="0"/>
          </a:p>
        </p:txBody>
      </p:sp>
      <p:cxnSp>
        <p:nvCxnSpPr>
          <p:cNvPr id="10" name="Conector reto 9"/>
          <p:cNvCxnSpPr>
            <a:stCxn id="6" idx="7"/>
            <a:endCxn id="7" idx="3"/>
          </p:cNvCxnSpPr>
          <p:nvPr/>
        </p:nvCxnSpPr>
        <p:spPr>
          <a:xfrm flipV="1">
            <a:off x="995886" y="2821380"/>
            <a:ext cx="475592" cy="50137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9" idx="0"/>
            <a:endCxn id="7" idx="4"/>
          </p:cNvCxnSpPr>
          <p:nvPr/>
        </p:nvCxnSpPr>
        <p:spPr>
          <a:xfrm flipV="1">
            <a:off x="1560573" y="2855332"/>
            <a:ext cx="0" cy="109291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1"/>
            <a:endCxn id="7" idx="5"/>
          </p:cNvCxnSpPr>
          <p:nvPr/>
        </p:nvCxnSpPr>
        <p:spPr>
          <a:xfrm flipH="1" flipV="1">
            <a:off x="1649668" y="2821380"/>
            <a:ext cx="500000" cy="501377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>
            <a:stCxn id="9" idx="7"/>
            <a:endCxn id="8" idx="3"/>
          </p:cNvCxnSpPr>
          <p:nvPr/>
        </p:nvCxnSpPr>
        <p:spPr>
          <a:xfrm flipV="1">
            <a:off x="1649668" y="3486694"/>
            <a:ext cx="500000" cy="49550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29" idx="2"/>
            <a:endCxn id="22" idx="6"/>
          </p:cNvCxnSpPr>
          <p:nvPr/>
        </p:nvCxnSpPr>
        <p:spPr>
          <a:xfrm flipH="1" flipV="1">
            <a:off x="3118689" y="3887083"/>
            <a:ext cx="620861" cy="666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6" idx="5"/>
            <a:endCxn id="29" idx="0"/>
          </p:cNvCxnSpPr>
          <p:nvPr/>
        </p:nvCxnSpPr>
        <p:spPr>
          <a:xfrm>
            <a:off x="3532065" y="3084354"/>
            <a:ext cx="333485" cy="69347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/>
          <p:cNvCxnSpPr>
            <a:stCxn id="26" idx="3"/>
            <a:endCxn id="22" idx="0"/>
          </p:cNvCxnSpPr>
          <p:nvPr/>
        </p:nvCxnSpPr>
        <p:spPr>
          <a:xfrm flipH="1">
            <a:off x="2992689" y="3084354"/>
            <a:ext cx="361186" cy="68680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/>
          <p:cNvCxnSpPr>
            <a:stCxn id="32" idx="2"/>
            <a:endCxn id="29" idx="6"/>
          </p:cNvCxnSpPr>
          <p:nvPr/>
        </p:nvCxnSpPr>
        <p:spPr>
          <a:xfrm flipH="1" flipV="1">
            <a:off x="3991550" y="3893747"/>
            <a:ext cx="465260" cy="6927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tângulo 56"/>
          <p:cNvSpPr/>
          <p:nvPr/>
        </p:nvSpPr>
        <p:spPr>
          <a:xfrm>
            <a:off x="797500" y="2598614"/>
            <a:ext cx="33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endParaRPr lang="pt-BR" dirty="0"/>
          </a:p>
        </p:txBody>
      </p:sp>
      <p:sp>
        <p:nvSpPr>
          <p:cNvPr id="58" name="Retângulo 57"/>
          <p:cNvSpPr/>
          <p:nvPr/>
        </p:nvSpPr>
        <p:spPr>
          <a:xfrm>
            <a:off x="4126425" y="2594723"/>
            <a:ext cx="33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</a:t>
            </a:r>
            <a:endParaRPr lang="pt-BR" dirty="0"/>
          </a:p>
        </p:txBody>
      </p:sp>
      <p:sp>
        <p:nvSpPr>
          <p:cNvPr id="59" name="CaixaDeTexto 58"/>
          <p:cNvSpPr txBox="1"/>
          <p:nvPr/>
        </p:nvSpPr>
        <p:spPr>
          <a:xfrm>
            <a:off x="5573550" y="2515941"/>
            <a:ext cx="7697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 d</a:t>
            </a: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2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 c</a:t>
            </a: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 a</a:t>
            </a: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4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 b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6896817" y="2515940"/>
            <a:ext cx="15327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{1, 2}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 {d, c}</a:t>
            </a: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{2, 3}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 {c, a}</a:t>
            </a: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{2, 4}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 {c, b} </a:t>
            </a: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{3, 4}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 {a, b}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5805054" y="2042700"/>
            <a:ext cx="1868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Correspondências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aixaDeTexto 67"/>
              <p:cNvSpPr txBox="1"/>
              <p:nvPr/>
            </p:nvSpPr>
            <p:spPr>
              <a:xfrm>
                <a:off x="5899553" y="3876821"/>
                <a:ext cx="16702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b="1" dirty="0">
                    <a:solidFill>
                      <a:srgbClr val="FF0000"/>
                    </a:solidFill>
                  </a:rPr>
                  <a:t>Notação: 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G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≃</m:t>
                    </m:r>
                  </m:oMath>
                </a14:m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H</a:t>
                </a:r>
              </a:p>
            </p:txBody>
          </p:sp>
        </mc:Choice>
        <mc:Fallback xmlns="">
          <p:sp>
            <p:nvSpPr>
              <p:cNvPr id="68" name="CaixaDeTexto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553" y="3876821"/>
                <a:ext cx="1670265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3285" t="-9836" r="-2190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Elipse 33"/>
          <p:cNvSpPr>
            <a:spLocks noChangeAspect="1"/>
          </p:cNvSpPr>
          <p:nvPr/>
        </p:nvSpPr>
        <p:spPr>
          <a:xfrm>
            <a:off x="781860" y="3288805"/>
            <a:ext cx="252000" cy="231841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1</a:t>
            </a:r>
            <a:endParaRPr lang="pt-BR" sz="1400" dirty="0"/>
          </a:p>
        </p:txBody>
      </p:sp>
      <p:grpSp>
        <p:nvGrpSpPr>
          <p:cNvPr id="3" name="Grupo 2"/>
          <p:cNvGrpSpPr/>
          <p:nvPr/>
        </p:nvGrpSpPr>
        <p:grpSpPr>
          <a:xfrm>
            <a:off x="4450642" y="3746784"/>
            <a:ext cx="279244" cy="307777"/>
            <a:chOff x="4450048" y="3739696"/>
            <a:chExt cx="279244" cy="307777"/>
          </a:xfrm>
        </p:grpSpPr>
        <p:sp>
          <p:nvSpPr>
            <p:cNvPr id="38" name="Elipse 37"/>
            <p:cNvSpPr>
              <a:spLocks noChangeAspect="1"/>
            </p:cNvSpPr>
            <p:nvPr/>
          </p:nvSpPr>
          <p:spPr>
            <a:xfrm>
              <a:off x="4457837" y="3780895"/>
              <a:ext cx="252000" cy="231841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pt-BR" sz="1400" dirty="0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4450048" y="3739696"/>
              <a:ext cx="2792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>
                  <a:solidFill>
                    <a:schemeClr val="bg1"/>
                  </a:solidFill>
                </a:rPr>
                <a:t>d</a:t>
              </a:r>
            </a:p>
          </p:txBody>
        </p:sp>
      </p:grpSp>
      <p:sp>
        <p:nvSpPr>
          <p:cNvPr id="40" name="Elipse 39"/>
          <p:cNvSpPr>
            <a:spLocks noChangeAspect="1"/>
          </p:cNvSpPr>
          <p:nvPr/>
        </p:nvSpPr>
        <p:spPr>
          <a:xfrm>
            <a:off x="1431762" y="2620054"/>
            <a:ext cx="252000" cy="2318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2</a:t>
            </a:r>
            <a:endParaRPr lang="pt-BR" sz="1400" dirty="0"/>
          </a:p>
        </p:txBody>
      </p:sp>
      <p:grpSp>
        <p:nvGrpSpPr>
          <p:cNvPr id="4" name="Grupo 3"/>
          <p:cNvGrpSpPr/>
          <p:nvPr/>
        </p:nvGrpSpPr>
        <p:grpSpPr>
          <a:xfrm>
            <a:off x="3735546" y="3722933"/>
            <a:ext cx="260111" cy="307777"/>
            <a:chOff x="3964069" y="4330402"/>
            <a:chExt cx="260111" cy="307777"/>
          </a:xfrm>
        </p:grpSpPr>
        <p:sp>
          <p:nvSpPr>
            <p:cNvPr id="43" name="Elipse 42"/>
            <p:cNvSpPr>
              <a:spLocks noChangeAspect="1"/>
            </p:cNvSpPr>
            <p:nvPr/>
          </p:nvSpPr>
          <p:spPr>
            <a:xfrm>
              <a:off x="3972180" y="4385294"/>
              <a:ext cx="252000" cy="231841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pt-BR" sz="1400" dirty="0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3964069" y="4330402"/>
              <a:ext cx="2600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>
                  <a:solidFill>
                    <a:schemeClr val="bg1"/>
                  </a:solidFill>
                </a:rPr>
                <a:t>c</a:t>
              </a:r>
            </a:p>
          </p:txBody>
        </p:sp>
      </p:grpSp>
      <p:sp>
        <p:nvSpPr>
          <p:cNvPr id="45" name="Elipse 44"/>
          <p:cNvSpPr>
            <a:spLocks noChangeAspect="1"/>
          </p:cNvSpPr>
          <p:nvPr/>
        </p:nvSpPr>
        <p:spPr>
          <a:xfrm>
            <a:off x="1439606" y="3944806"/>
            <a:ext cx="252000" cy="231841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3</a:t>
            </a:r>
            <a:endParaRPr lang="pt-BR" sz="1400" dirty="0"/>
          </a:p>
        </p:txBody>
      </p:sp>
      <p:grpSp>
        <p:nvGrpSpPr>
          <p:cNvPr id="11" name="Grupo 10"/>
          <p:cNvGrpSpPr/>
          <p:nvPr/>
        </p:nvGrpSpPr>
        <p:grpSpPr>
          <a:xfrm>
            <a:off x="2849177" y="3716065"/>
            <a:ext cx="271228" cy="307777"/>
            <a:chOff x="2983075" y="4344225"/>
            <a:chExt cx="271228" cy="307777"/>
          </a:xfrm>
        </p:grpSpPr>
        <p:sp>
          <p:nvSpPr>
            <p:cNvPr id="48" name="Elipse 47"/>
            <p:cNvSpPr>
              <a:spLocks noChangeAspect="1"/>
            </p:cNvSpPr>
            <p:nvPr/>
          </p:nvSpPr>
          <p:spPr>
            <a:xfrm>
              <a:off x="2991186" y="4399117"/>
              <a:ext cx="252000" cy="231841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pt-BR" sz="1400" dirty="0"/>
            </a:p>
          </p:txBody>
        </p:sp>
        <p:sp>
          <p:nvSpPr>
            <p:cNvPr id="49" name="CaixaDeTexto 48"/>
            <p:cNvSpPr txBox="1"/>
            <p:nvPr/>
          </p:nvSpPr>
          <p:spPr>
            <a:xfrm>
              <a:off x="2983075" y="4344225"/>
              <a:ext cx="2712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>
                  <a:solidFill>
                    <a:schemeClr val="bg1"/>
                  </a:solidFill>
                </a:rPr>
                <a:t>a</a:t>
              </a:r>
            </a:p>
          </p:txBody>
        </p:sp>
      </p:grpSp>
      <p:sp>
        <p:nvSpPr>
          <p:cNvPr id="60" name="Elipse 59"/>
          <p:cNvSpPr>
            <a:spLocks noChangeAspect="1"/>
          </p:cNvSpPr>
          <p:nvPr/>
        </p:nvSpPr>
        <p:spPr>
          <a:xfrm>
            <a:off x="2110734" y="3288805"/>
            <a:ext cx="252000" cy="231841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4</a:t>
            </a:r>
            <a:endParaRPr lang="pt-BR" sz="1400" dirty="0"/>
          </a:p>
        </p:txBody>
      </p:sp>
      <p:grpSp>
        <p:nvGrpSpPr>
          <p:cNvPr id="13" name="Grupo 12"/>
          <p:cNvGrpSpPr/>
          <p:nvPr/>
        </p:nvGrpSpPr>
        <p:grpSpPr>
          <a:xfrm>
            <a:off x="3309130" y="2852354"/>
            <a:ext cx="279244" cy="307777"/>
            <a:chOff x="3316970" y="4466810"/>
            <a:chExt cx="279244" cy="307777"/>
          </a:xfrm>
        </p:grpSpPr>
        <p:sp>
          <p:nvSpPr>
            <p:cNvPr id="51" name="Elipse 50"/>
            <p:cNvSpPr>
              <a:spLocks noChangeAspect="1"/>
            </p:cNvSpPr>
            <p:nvPr/>
          </p:nvSpPr>
          <p:spPr>
            <a:xfrm>
              <a:off x="3325081" y="4500921"/>
              <a:ext cx="252000" cy="231841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3316970" y="4466810"/>
              <a:ext cx="2792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>
                  <a:solidFill>
                    <a:schemeClr val="bg1"/>
                  </a:solidFill>
                </a:rPr>
                <a:t>b</a:t>
              </a:r>
            </a:p>
          </p:txBody>
        </p:sp>
      </p:grpSp>
      <p:sp>
        <p:nvSpPr>
          <p:cNvPr id="14" name="Retângulo 13"/>
          <p:cNvSpPr/>
          <p:nvPr/>
        </p:nvSpPr>
        <p:spPr>
          <a:xfrm>
            <a:off x="5574052" y="2515299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92D050"/>
                </a:solidFill>
              </a:rPr>
              <a:t>1 </a:t>
            </a:r>
            <a:r>
              <a:rPr lang="pt-BR" dirty="0">
                <a:solidFill>
                  <a:srgbClr val="92D050"/>
                </a:solidFill>
                <a:sym typeface="Symbol" panose="05050102010706020507" pitchFamily="18" charset="2"/>
              </a:rPr>
              <a:t> d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5572960" y="2792495"/>
            <a:ext cx="7457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FF0000"/>
                </a:solidFill>
                <a:sym typeface="Symbol" panose="05050102010706020507" pitchFamily="18" charset="2"/>
              </a:rPr>
              <a:t>2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  <a:sym typeface="Symbol" panose="05050102010706020507" pitchFamily="18" charset="2"/>
              </a:rPr>
              <a:t> c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5572854" y="3067451"/>
            <a:ext cx="75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002060"/>
                </a:solidFill>
              </a:rPr>
              <a:t>3 </a:t>
            </a:r>
            <a:r>
              <a:rPr lang="pt-BR" dirty="0">
                <a:solidFill>
                  <a:srgbClr val="002060"/>
                </a:solidFill>
                <a:sym typeface="Symbol" panose="05050102010706020507" pitchFamily="18" charset="2"/>
              </a:rPr>
              <a:t> a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5574051" y="3338968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FFC000"/>
                </a:solidFill>
                <a:sym typeface="Symbol" panose="05050102010706020507" pitchFamily="18" charset="2"/>
              </a:rPr>
              <a:t>4</a:t>
            </a:r>
            <a:r>
              <a:rPr lang="pt-BR" dirty="0">
                <a:solidFill>
                  <a:srgbClr val="FFC000"/>
                </a:solidFill>
              </a:rPr>
              <a:t> </a:t>
            </a:r>
            <a:r>
              <a:rPr lang="pt-BR" dirty="0">
                <a:solidFill>
                  <a:srgbClr val="FFC000"/>
                </a:solidFill>
                <a:sym typeface="Symbol" panose="05050102010706020507" pitchFamily="18" charset="2"/>
              </a:rPr>
              <a:t> b</a:t>
            </a:r>
            <a:endParaRPr lang="pt-BR" dirty="0">
              <a:solidFill>
                <a:srgbClr val="FFC000"/>
              </a:solidFill>
            </a:endParaRPr>
          </a:p>
        </p:txBody>
      </p:sp>
      <p:cxnSp>
        <p:nvCxnSpPr>
          <p:cNvPr id="61" name="Conector reto 60"/>
          <p:cNvCxnSpPr/>
          <p:nvPr/>
        </p:nvCxnSpPr>
        <p:spPr>
          <a:xfrm flipV="1">
            <a:off x="993381" y="2817999"/>
            <a:ext cx="475592" cy="501378"/>
          </a:xfrm>
          <a:prstGeom prst="line">
            <a:avLst/>
          </a:prstGeom>
          <a:ln w="57150">
            <a:solidFill>
              <a:srgbClr val="008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ângulo 19"/>
          <p:cNvSpPr/>
          <p:nvPr/>
        </p:nvSpPr>
        <p:spPr>
          <a:xfrm>
            <a:off x="6892761" y="2516595"/>
            <a:ext cx="1494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008000"/>
                </a:solidFill>
              </a:rPr>
              <a:t>{1, 2} </a:t>
            </a:r>
            <a:r>
              <a:rPr lang="pt-BR" dirty="0">
                <a:solidFill>
                  <a:srgbClr val="008000"/>
                </a:solidFill>
                <a:sym typeface="Symbol" panose="05050102010706020507" pitchFamily="18" charset="2"/>
              </a:rPr>
              <a:t> {d, c}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6903165" y="2792420"/>
            <a:ext cx="1483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accent4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{2, 3}</a:t>
            </a:r>
            <a:r>
              <a:rPr lang="pt-BR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pt-BR" dirty="0">
                <a:solidFill>
                  <a:schemeClr val="accent4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 {c, a}</a:t>
            </a:r>
            <a:endParaRPr lang="pt-BR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62" name="Conector reto 61"/>
          <p:cNvCxnSpPr/>
          <p:nvPr/>
        </p:nvCxnSpPr>
        <p:spPr>
          <a:xfrm flipV="1">
            <a:off x="1558518" y="2855331"/>
            <a:ext cx="0" cy="1092911"/>
          </a:xfrm>
          <a:prstGeom prst="line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/>
          <p:cNvCxnSpPr/>
          <p:nvPr/>
        </p:nvCxnSpPr>
        <p:spPr>
          <a:xfrm flipH="1" flipV="1">
            <a:off x="3994043" y="3890281"/>
            <a:ext cx="465260" cy="6927"/>
          </a:xfrm>
          <a:prstGeom prst="line">
            <a:avLst/>
          </a:prstGeom>
          <a:ln w="57150">
            <a:solidFill>
              <a:srgbClr val="008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/>
          <p:nvPr/>
        </p:nvCxnSpPr>
        <p:spPr>
          <a:xfrm flipH="1" flipV="1">
            <a:off x="3127792" y="3883617"/>
            <a:ext cx="620861" cy="6664"/>
          </a:xfrm>
          <a:prstGeom prst="line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ângulo 24"/>
          <p:cNvSpPr/>
          <p:nvPr/>
        </p:nvSpPr>
        <p:spPr>
          <a:xfrm>
            <a:off x="6899457" y="3067748"/>
            <a:ext cx="15472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CC9900"/>
                </a:solidFill>
              </a:rPr>
              <a:t>{2, 4} </a:t>
            </a:r>
            <a:r>
              <a:rPr lang="pt-BR" dirty="0">
                <a:solidFill>
                  <a:srgbClr val="CC9900"/>
                </a:solidFill>
                <a:sym typeface="Symbol" panose="05050102010706020507" pitchFamily="18" charset="2"/>
              </a:rPr>
              <a:t> {c, b} </a:t>
            </a:r>
          </a:p>
        </p:txBody>
      </p:sp>
      <p:cxnSp>
        <p:nvCxnSpPr>
          <p:cNvPr id="65" name="Conector reto 64"/>
          <p:cNvCxnSpPr/>
          <p:nvPr/>
        </p:nvCxnSpPr>
        <p:spPr>
          <a:xfrm flipH="1" flipV="1">
            <a:off x="1645202" y="2817943"/>
            <a:ext cx="500000" cy="501377"/>
          </a:xfrm>
          <a:prstGeom prst="line">
            <a:avLst/>
          </a:prstGeom>
          <a:ln w="57150">
            <a:solidFill>
              <a:srgbClr val="CC99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/>
          <p:nvPr/>
        </p:nvCxnSpPr>
        <p:spPr>
          <a:xfrm>
            <a:off x="3536018" y="3095257"/>
            <a:ext cx="333485" cy="693472"/>
          </a:xfrm>
          <a:prstGeom prst="line">
            <a:avLst/>
          </a:prstGeom>
          <a:ln w="57150">
            <a:solidFill>
              <a:srgbClr val="CC99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tângulo 27"/>
          <p:cNvSpPr/>
          <p:nvPr/>
        </p:nvSpPr>
        <p:spPr>
          <a:xfrm>
            <a:off x="6897933" y="3337140"/>
            <a:ext cx="1507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0066FF"/>
                </a:solidFill>
                <a:sym typeface="Symbol" panose="05050102010706020507" pitchFamily="18" charset="2"/>
              </a:rPr>
              <a:t>{3, 4}</a:t>
            </a:r>
            <a:r>
              <a:rPr lang="pt-BR" dirty="0">
                <a:solidFill>
                  <a:srgbClr val="0066FF"/>
                </a:solidFill>
              </a:rPr>
              <a:t> </a:t>
            </a:r>
            <a:r>
              <a:rPr lang="pt-BR" dirty="0">
                <a:solidFill>
                  <a:srgbClr val="0066FF"/>
                </a:solidFill>
                <a:sym typeface="Symbol" panose="05050102010706020507" pitchFamily="18" charset="2"/>
              </a:rPr>
              <a:t> {a, b}</a:t>
            </a:r>
            <a:endParaRPr lang="pt-BR" dirty="0">
              <a:solidFill>
                <a:srgbClr val="0066FF"/>
              </a:solidFill>
            </a:endParaRPr>
          </a:p>
        </p:txBody>
      </p:sp>
      <p:cxnSp>
        <p:nvCxnSpPr>
          <p:cNvPr id="70" name="Conector reto 69"/>
          <p:cNvCxnSpPr/>
          <p:nvPr/>
        </p:nvCxnSpPr>
        <p:spPr>
          <a:xfrm flipV="1">
            <a:off x="1659245" y="3490131"/>
            <a:ext cx="500000" cy="495501"/>
          </a:xfrm>
          <a:prstGeom prst="line">
            <a:avLst/>
          </a:prstGeom>
          <a:ln w="57150">
            <a:solidFill>
              <a:srgbClr val="0066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/>
          <p:nvPr/>
        </p:nvCxnSpPr>
        <p:spPr>
          <a:xfrm flipH="1">
            <a:off x="2989573" y="3082237"/>
            <a:ext cx="361186" cy="686808"/>
          </a:xfrm>
          <a:prstGeom prst="line">
            <a:avLst/>
          </a:prstGeom>
          <a:ln w="57150">
            <a:solidFill>
              <a:srgbClr val="0066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70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57" grpId="0"/>
      <p:bldP spid="58" grpId="0"/>
      <p:bldP spid="67" grpId="0"/>
      <p:bldP spid="34" grpId="0" animBg="1"/>
      <p:bldP spid="40" grpId="0" animBg="1"/>
      <p:bldP spid="45" grpId="0" animBg="1"/>
      <p:bldP spid="60" grpId="0" animBg="1"/>
      <p:bldP spid="14" grpId="0"/>
      <p:bldP spid="16" grpId="0"/>
      <p:bldP spid="17" grpId="0"/>
      <p:bldP spid="19" grpId="0"/>
      <p:bldP spid="20" grpId="0"/>
      <p:bldP spid="24" grpId="0"/>
      <p:bldP spid="25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Verificação de Isomorfismo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Condições necessárias (mas não suficientes) para dois grafos serem isomorfos: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Ter o mesmo número de vértices;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Ter o mesmo número de arestas;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Ter o mesmo número de componentes; 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Ter o mesmo número de vértices com o mesmo grau.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>
            <a:spLocks noChangeAspect="1"/>
          </p:cNvSpPr>
          <p:nvPr/>
        </p:nvSpPr>
        <p:spPr>
          <a:xfrm>
            <a:off x="1098082" y="3432467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2</a:t>
            </a:r>
            <a:endParaRPr lang="pt-BR" sz="1400" dirty="0"/>
          </a:p>
        </p:txBody>
      </p:sp>
      <p:sp>
        <p:nvSpPr>
          <p:cNvPr id="7" name="Elipse 6"/>
          <p:cNvSpPr>
            <a:spLocks noChangeAspect="1"/>
          </p:cNvSpPr>
          <p:nvPr/>
        </p:nvSpPr>
        <p:spPr>
          <a:xfrm>
            <a:off x="1635247" y="3432478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3</a:t>
            </a:r>
            <a:endParaRPr lang="pt-BR" sz="1400" dirty="0"/>
          </a:p>
        </p:txBody>
      </p:sp>
      <p:sp>
        <p:nvSpPr>
          <p:cNvPr id="8" name="Elipse 7"/>
          <p:cNvSpPr>
            <a:spLocks noChangeAspect="1"/>
          </p:cNvSpPr>
          <p:nvPr/>
        </p:nvSpPr>
        <p:spPr>
          <a:xfrm>
            <a:off x="2172412" y="3432468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4</a:t>
            </a:r>
            <a:endParaRPr lang="pt-BR" sz="1400" dirty="0"/>
          </a:p>
        </p:txBody>
      </p:sp>
      <p:sp>
        <p:nvSpPr>
          <p:cNvPr id="9" name="Elipse 8"/>
          <p:cNvSpPr>
            <a:spLocks noChangeAspect="1"/>
          </p:cNvSpPr>
          <p:nvPr/>
        </p:nvSpPr>
        <p:spPr>
          <a:xfrm>
            <a:off x="2626231" y="3055142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5</a:t>
            </a:r>
            <a:endParaRPr lang="pt-BR" sz="1400" dirty="0"/>
          </a:p>
        </p:txBody>
      </p:sp>
      <p:sp>
        <p:nvSpPr>
          <p:cNvPr id="10" name="Elipse 9"/>
          <p:cNvSpPr>
            <a:spLocks noChangeAspect="1"/>
          </p:cNvSpPr>
          <p:nvPr/>
        </p:nvSpPr>
        <p:spPr>
          <a:xfrm>
            <a:off x="2626231" y="3829678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6</a:t>
            </a:r>
            <a:endParaRPr lang="pt-BR" sz="1400" dirty="0"/>
          </a:p>
        </p:txBody>
      </p:sp>
      <p:cxnSp>
        <p:nvCxnSpPr>
          <p:cNvPr id="11" name="Conector reto 10"/>
          <p:cNvCxnSpPr>
            <a:stCxn id="4" idx="6"/>
            <a:endCxn id="7" idx="2"/>
          </p:cNvCxnSpPr>
          <p:nvPr/>
        </p:nvCxnSpPr>
        <p:spPr>
          <a:xfrm>
            <a:off x="1350082" y="3548388"/>
            <a:ext cx="285165" cy="1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6"/>
            <a:endCxn id="8" idx="2"/>
          </p:cNvCxnSpPr>
          <p:nvPr/>
        </p:nvCxnSpPr>
        <p:spPr>
          <a:xfrm flipV="1">
            <a:off x="1887247" y="3548389"/>
            <a:ext cx="285165" cy="1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8" idx="7"/>
            <a:endCxn id="9" idx="3"/>
          </p:cNvCxnSpPr>
          <p:nvPr/>
        </p:nvCxnSpPr>
        <p:spPr>
          <a:xfrm flipV="1">
            <a:off x="2387507" y="3253031"/>
            <a:ext cx="275629" cy="2133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8" idx="5"/>
            <a:endCxn id="10" idx="1"/>
          </p:cNvCxnSpPr>
          <p:nvPr/>
        </p:nvCxnSpPr>
        <p:spPr>
          <a:xfrm>
            <a:off x="2387507" y="3630357"/>
            <a:ext cx="275629" cy="23327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/>
          <p:cNvSpPr>
            <a:spLocks noChangeAspect="1"/>
          </p:cNvSpPr>
          <p:nvPr/>
        </p:nvSpPr>
        <p:spPr>
          <a:xfrm>
            <a:off x="3572835" y="3432466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a</a:t>
            </a:r>
            <a:endParaRPr lang="pt-BR" sz="1400" dirty="0"/>
          </a:p>
        </p:txBody>
      </p:sp>
      <p:sp>
        <p:nvSpPr>
          <p:cNvPr id="25" name="Elipse 24"/>
          <p:cNvSpPr>
            <a:spLocks noChangeAspect="1"/>
          </p:cNvSpPr>
          <p:nvPr/>
        </p:nvSpPr>
        <p:spPr>
          <a:xfrm>
            <a:off x="4110000" y="3432477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b</a:t>
            </a:r>
            <a:endParaRPr lang="pt-BR" sz="1400" dirty="0"/>
          </a:p>
        </p:txBody>
      </p:sp>
      <p:sp>
        <p:nvSpPr>
          <p:cNvPr id="26" name="Elipse 25"/>
          <p:cNvSpPr>
            <a:spLocks noChangeAspect="1"/>
          </p:cNvSpPr>
          <p:nvPr/>
        </p:nvSpPr>
        <p:spPr>
          <a:xfrm>
            <a:off x="4647165" y="3432467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c</a:t>
            </a:r>
            <a:endParaRPr lang="pt-BR" sz="1400" dirty="0"/>
          </a:p>
        </p:txBody>
      </p:sp>
      <p:sp>
        <p:nvSpPr>
          <p:cNvPr id="27" name="Elipse 26"/>
          <p:cNvSpPr>
            <a:spLocks noChangeAspect="1"/>
          </p:cNvSpPr>
          <p:nvPr/>
        </p:nvSpPr>
        <p:spPr>
          <a:xfrm>
            <a:off x="5185573" y="3432546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d</a:t>
            </a:r>
            <a:endParaRPr lang="pt-BR" sz="1400" dirty="0"/>
          </a:p>
        </p:txBody>
      </p:sp>
      <p:sp>
        <p:nvSpPr>
          <p:cNvPr id="28" name="Elipse 27"/>
          <p:cNvSpPr>
            <a:spLocks noChangeAspect="1"/>
          </p:cNvSpPr>
          <p:nvPr/>
        </p:nvSpPr>
        <p:spPr>
          <a:xfrm>
            <a:off x="4643142" y="4049894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f</a:t>
            </a:r>
            <a:endParaRPr lang="pt-BR" sz="1400" dirty="0"/>
          </a:p>
        </p:txBody>
      </p:sp>
      <p:cxnSp>
        <p:nvCxnSpPr>
          <p:cNvPr id="29" name="Conector reto 28"/>
          <p:cNvCxnSpPr>
            <a:stCxn id="24" idx="6"/>
            <a:endCxn id="25" idx="2"/>
          </p:cNvCxnSpPr>
          <p:nvPr/>
        </p:nvCxnSpPr>
        <p:spPr>
          <a:xfrm>
            <a:off x="3824835" y="3548387"/>
            <a:ext cx="285165" cy="1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25" idx="6"/>
            <a:endCxn id="26" idx="2"/>
          </p:cNvCxnSpPr>
          <p:nvPr/>
        </p:nvCxnSpPr>
        <p:spPr>
          <a:xfrm flipV="1">
            <a:off x="4362000" y="3548388"/>
            <a:ext cx="285165" cy="1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/>
          <p:cNvCxnSpPr>
            <a:stCxn id="26" idx="6"/>
            <a:endCxn id="27" idx="2"/>
          </p:cNvCxnSpPr>
          <p:nvPr/>
        </p:nvCxnSpPr>
        <p:spPr>
          <a:xfrm>
            <a:off x="4899165" y="3548388"/>
            <a:ext cx="286408" cy="7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26" idx="4"/>
            <a:endCxn id="28" idx="0"/>
          </p:cNvCxnSpPr>
          <p:nvPr/>
        </p:nvCxnSpPr>
        <p:spPr>
          <a:xfrm flipH="1">
            <a:off x="4769142" y="3664308"/>
            <a:ext cx="4023" cy="38558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ipse 32"/>
          <p:cNvSpPr>
            <a:spLocks noChangeAspect="1"/>
          </p:cNvSpPr>
          <p:nvPr/>
        </p:nvSpPr>
        <p:spPr>
          <a:xfrm>
            <a:off x="6602175" y="3514458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q</a:t>
            </a:r>
            <a:endParaRPr lang="pt-BR" sz="1400" dirty="0"/>
          </a:p>
        </p:txBody>
      </p:sp>
      <p:sp>
        <p:nvSpPr>
          <p:cNvPr id="34" name="Elipse 33"/>
          <p:cNvSpPr>
            <a:spLocks noChangeAspect="1"/>
          </p:cNvSpPr>
          <p:nvPr/>
        </p:nvSpPr>
        <p:spPr>
          <a:xfrm>
            <a:off x="7139340" y="3514469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s</a:t>
            </a:r>
            <a:endParaRPr lang="pt-BR" sz="1400" dirty="0"/>
          </a:p>
        </p:txBody>
      </p:sp>
      <p:sp>
        <p:nvSpPr>
          <p:cNvPr id="35" name="Elipse 34"/>
          <p:cNvSpPr>
            <a:spLocks noChangeAspect="1"/>
          </p:cNvSpPr>
          <p:nvPr/>
        </p:nvSpPr>
        <p:spPr>
          <a:xfrm>
            <a:off x="7676505" y="3514459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t</a:t>
            </a:r>
            <a:endParaRPr lang="pt-BR" sz="1400" dirty="0"/>
          </a:p>
        </p:txBody>
      </p:sp>
      <p:sp>
        <p:nvSpPr>
          <p:cNvPr id="36" name="Elipse 35"/>
          <p:cNvSpPr>
            <a:spLocks noChangeAspect="1"/>
          </p:cNvSpPr>
          <p:nvPr/>
        </p:nvSpPr>
        <p:spPr>
          <a:xfrm>
            <a:off x="6601898" y="2993091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p</a:t>
            </a:r>
            <a:endParaRPr lang="pt-BR" sz="1400" dirty="0"/>
          </a:p>
        </p:txBody>
      </p:sp>
      <p:sp>
        <p:nvSpPr>
          <p:cNvPr id="37" name="Elipse 36"/>
          <p:cNvSpPr>
            <a:spLocks noChangeAspect="1"/>
          </p:cNvSpPr>
          <p:nvPr/>
        </p:nvSpPr>
        <p:spPr>
          <a:xfrm>
            <a:off x="6601898" y="4049907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r</a:t>
            </a:r>
            <a:endParaRPr lang="pt-BR" sz="1400" dirty="0"/>
          </a:p>
        </p:txBody>
      </p:sp>
      <p:cxnSp>
        <p:nvCxnSpPr>
          <p:cNvPr id="38" name="Conector reto 37"/>
          <p:cNvCxnSpPr>
            <a:stCxn id="33" idx="6"/>
            <a:endCxn id="34" idx="2"/>
          </p:cNvCxnSpPr>
          <p:nvPr/>
        </p:nvCxnSpPr>
        <p:spPr>
          <a:xfrm>
            <a:off x="6854175" y="3630379"/>
            <a:ext cx="285165" cy="1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34" idx="6"/>
            <a:endCxn id="35" idx="2"/>
          </p:cNvCxnSpPr>
          <p:nvPr/>
        </p:nvCxnSpPr>
        <p:spPr>
          <a:xfrm flipV="1">
            <a:off x="7391340" y="3630380"/>
            <a:ext cx="285165" cy="1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/>
          <p:cNvCxnSpPr>
            <a:stCxn id="33" idx="0"/>
            <a:endCxn id="36" idx="4"/>
          </p:cNvCxnSpPr>
          <p:nvPr/>
        </p:nvCxnSpPr>
        <p:spPr>
          <a:xfrm flipH="1" flipV="1">
            <a:off x="6727898" y="3224932"/>
            <a:ext cx="277" cy="289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33" idx="4"/>
            <a:endCxn id="37" idx="0"/>
          </p:cNvCxnSpPr>
          <p:nvPr/>
        </p:nvCxnSpPr>
        <p:spPr>
          <a:xfrm flipH="1">
            <a:off x="6727898" y="3746299"/>
            <a:ext cx="277" cy="30360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/>
          <p:cNvSpPr>
            <a:spLocks noChangeAspect="1"/>
          </p:cNvSpPr>
          <p:nvPr/>
        </p:nvSpPr>
        <p:spPr>
          <a:xfrm>
            <a:off x="559674" y="3432467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1</a:t>
            </a:r>
            <a:endParaRPr lang="pt-BR" sz="1400" dirty="0"/>
          </a:p>
        </p:txBody>
      </p:sp>
      <p:cxnSp>
        <p:nvCxnSpPr>
          <p:cNvPr id="61" name="Conector reto 60"/>
          <p:cNvCxnSpPr>
            <a:stCxn id="60" idx="6"/>
            <a:endCxn id="4" idx="2"/>
          </p:cNvCxnSpPr>
          <p:nvPr/>
        </p:nvCxnSpPr>
        <p:spPr>
          <a:xfrm>
            <a:off x="811674" y="3548388"/>
            <a:ext cx="28640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Elipse 63"/>
          <p:cNvSpPr>
            <a:spLocks noChangeAspect="1"/>
          </p:cNvSpPr>
          <p:nvPr/>
        </p:nvSpPr>
        <p:spPr>
          <a:xfrm>
            <a:off x="5728231" y="3432455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e</a:t>
            </a:r>
            <a:endParaRPr lang="pt-BR" sz="1400" dirty="0"/>
          </a:p>
        </p:txBody>
      </p:sp>
      <p:cxnSp>
        <p:nvCxnSpPr>
          <p:cNvPr id="65" name="Conector reto 64"/>
          <p:cNvCxnSpPr>
            <a:stCxn id="27" idx="6"/>
          </p:cNvCxnSpPr>
          <p:nvPr/>
        </p:nvCxnSpPr>
        <p:spPr>
          <a:xfrm flipV="1">
            <a:off x="5437573" y="3548374"/>
            <a:ext cx="295280" cy="9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Elipse 72"/>
          <p:cNvSpPr>
            <a:spLocks noChangeAspect="1"/>
          </p:cNvSpPr>
          <p:nvPr/>
        </p:nvSpPr>
        <p:spPr>
          <a:xfrm>
            <a:off x="8213670" y="3514458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u</a:t>
            </a:r>
            <a:endParaRPr lang="pt-BR" sz="1400" dirty="0"/>
          </a:p>
        </p:txBody>
      </p:sp>
      <p:cxnSp>
        <p:nvCxnSpPr>
          <p:cNvPr id="74" name="Conector reto 73"/>
          <p:cNvCxnSpPr>
            <a:stCxn id="35" idx="6"/>
            <a:endCxn id="73" idx="2"/>
          </p:cNvCxnSpPr>
          <p:nvPr/>
        </p:nvCxnSpPr>
        <p:spPr>
          <a:xfrm flipV="1">
            <a:off x="7928505" y="3630379"/>
            <a:ext cx="285165" cy="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tângulo 78"/>
          <p:cNvSpPr/>
          <p:nvPr/>
        </p:nvSpPr>
        <p:spPr>
          <a:xfrm>
            <a:off x="4598521" y="2892840"/>
            <a:ext cx="409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pt-BR" baseline="-25000" dirty="0"/>
          </a:p>
        </p:txBody>
      </p:sp>
      <p:sp>
        <p:nvSpPr>
          <p:cNvPr id="80" name="Retângulo 79"/>
          <p:cNvSpPr/>
          <p:nvPr/>
        </p:nvSpPr>
        <p:spPr>
          <a:xfrm>
            <a:off x="1554171" y="2894365"/>
            <a:ext cx="409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pt-BR" baseline="-25000" dirty="0"/>
          </a:p>
        </p:txBody>
      </p:sp>
      <p:sp>
        <p:nvSpPr>
          <p:cNvPr id="81" name="Retângulo 80"/>
          <p:cNvSpPr/>
          <p:nvPr/>
        </p:nvSpPr>
        <p:spPr>
          <a:xfrm>
            <a:off x="7329379" y="2895464"/>
            <a:ext cx="409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pt-BR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tângulo de cantos arredondados 82"/>
              <p:cNvSpPr/>
              <p:nvPr/>
            </p:nvSpPr>
            <p:spPr>
              <a:xfrm>
                <a:off x="6601898" y="1617455"/>
                <a:ext cx="1778390" cy="1046168"/>
              </a:xfrm>
              <a:prstGeom prst="roundRect">
                <a:avLst/>
              </a:prstGeom>
              <a:ln>
                <a:noFill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pt-BR" b="1" dirty="0"/>
                  <a:t>G</a:t>
                </a:r>
                <a:r>
                  <a:rPr lang="pt-BR" b="1" baseline="-25000" dirty="0"/>
                  <a:t>1</a:t>
                </a:r>
                <a:r>
                  <a:rPr lang="pt-BR" b="1" dirty="0"/>
                  <a:t> </a:t>
                </a:r>
                <a14:m>
                  <m:oMath xmlns:m="http://schemas.openxmlformats.org/officeDocument/2006/math">
                    <m:r>
                      <a:rPr lang="pt-BR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≄</m:t>
                    </m:r>
                  </m:oMath>
                </a14:m>
                <a:r>
                  <a:rPr lang="pt-BR" sz="1050" b="1" dirty="0">
                    <a:solidFill>
                      <a:schemeClr val="bg1"/>
                    </a:solidFill>
                  </a:rPr>
                  <a:t>  </a:t>
                </a:r>
                <a:r>
                  <a:rPr lang="pt-BR" b="1" dirty="0"/>
                  <a:t>G</a:t>
                </a:r>
                <a:r>
                  <a:rPr lang="pt-BR" b="1" baseline="-25000" dirty="0"/>
                  <a:t>2 </a:t>
                </a:r>
              </a:p>
              <a:p>
                <a:pPr algn="ctr"/>
                <a:r>
                  <a:rPr lang="pt-BR" b="1" dirty="0"/>
                  <a:t>G</a:t>
                </a:r>
                <a:r>
                  <a:rPr lang="pt-BR" b="1" baseline="-25000" dirty="0"/>
                  <a:t>1</a:t>
                </a:r>
                <a:r>
                  <a:rPr lang="pt-BR" b="1" dirty="0"/>
                  <a:t> </a:t>
                </a:r>
                <a14:m>
                  <m:oMath xmlns:m="http://schemas.openxmlformats.org/officeDocument/2006/math">
                    <m:r>
                      <a:rPr lang="pt-BR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≃</m:t>
                    </m:r>
                  </m:oMath>
                </a14:m>
                <a:r>
                  <a:rPr lang="pt-BR" b="1" dirty="0">
                    <a:solidFill>
                      <a:schemeClr val="bg1"/>
                    </a:solidFill>
                  </a:rPr>
                  <a:t> </a:t>
                </a:r>
                <a:r>
                  <a:rPr lang="pt-BR" b="1" dirty="0"/>
                  <a:t>G</a:t>
                </a:r>
                <a:r>
                  <a:rPr lang="pt-BR" b="1" baseline="-25000" dirty="0"/>
                  <a:t>3</a:t>
                </a:r>
              </a:p>
            </p:txBody>
          </p:sp>
        </mc:Choice>
        <mc:Fallback xmlns="">
          <p:sp>
            <p:nvSpPr>
              <p:cNvPr id="83" name="Retângulo de cantos arredondados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1898" y="1617455"/>
                <a:ext cx="1778390" cy="1046168"/>
              </a:xfrm>
              <a:prstGeom prst="round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3944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60" grpId="0" animBg="1"/>
      <p:bldP spid="64" grpId="0" animBg="1"/>
      <p:bldP spid="73" grpId="0" animBg="1"/>
      <p:bldP spid="79" grpId="0"/>
      <p:bldP spid="80" grpId="0"/>
      <p:bldP spid="81" grpId="0"/>
      <p:bldP spid="8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Verificação de Isomorfismo</a:t>
            </a:r>
          </a:p>
        </p:txBody>
      </p:sp>
      <p:sp>
        <p:nvSpPr>
          <p:cNvPr id="4" name="Elipse 3"/>
          <p:cNvSpPr>
            <a:spLocks noChangeAspect="1"/>
          </p:cNvSpPr>
          <p:nvPr/>
        </p:nvSpPr>
        <p:spPr>
          <a:xfrm>
            <a:off x="1190231" y="1837583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2</a:t>
            </a:r>
            <a:endParaRPr lang="pt-BR" sz="1400" dirty="0"/>
          </a:p>
        </p:txBody>
      </p:sp>
      <p:sp>
        <p:nvSpPr>
          <p:cNvPr id="7" name="Elipse 6"/>
          <p:cNvSpPr>
            <a:spLocks noChangeAspect="1"/>
          </p:cNvSpPr>
          <p:nvPr/>
        </p:nvSpPr>
        <p:spPr>
          <a:xfrm>
            <a:off x="1727396" y="1837594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3</a:t>
            </a:r>
            <a:endParaRPr lang="pt-BR" sz="1400" dirty="0"/>
          </a:p>
        </p:txBody>
      </p:sp>
      <p:sp>
        <p:nvSpPr>
          <p:cNvPr id="8" name="Elipse 7"/>
          <p:cNvSpPr>
            <a:spLocks noChangeAspect="1"/>
          </p:cNvSpPr>
          <p:nvPr/>
        </p:nvSpPr>
        <p:spPr>
          <a:xfrm>
            <a:off x="2264561" y="1837584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4</a:t>
            </a:r>
            <a:endParaRPr lang="pt-BR" sz="1400" dirty="0"/>
          </a:p>
        </p:txBody>
      </p:sp>
      <p:sp>
        <p:nvSpPr>
          <p:cNvPr id="9" name="Elipse 8"/>
          <p:cNvSpPr>
            <a:spLocks noChangeAspect="1"/>
          </p:cNvSpPr>
          <p:nvPr/>
        </p:nvSpPr>
        <p:spPr>
          <a:xfrm>
            <a:off x="2718380" y="1460258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5</a:t>
            </a:r>
            <a:endParaRPr lang="pt-BR" sz="1400" dirty="0"/>
          </a:p>
        </p:txBody>
      </p:sp>
      <p:sp>
        <p:nvSpPr>
          <p:cNvPr id="10" name="Elipse 9"/>
          <p:cNvSpPr>
            <a:spLocks noChangeAspect="1"/>
          </p:cNvSpPr>
          <p:nvPr/>
        </p:nvSpPr>
        <p:spPr>
          <a:xfrm>
            <a:off x="2718380" y="2234794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6</a:t>
            </a:r>
            <a:endParaRPr lang="pt-BR" sz="1400" dirty="0"/>
          </a:p>
        </p:txBody>
      </p:sp>
      <p:cxnSp>
        <p:nvCxnSpPr>
          <p:cNvPr id="11" name="Conector reto 10"/>
          <p:cNvCxnSpPr>
            <a:stCxn id="4" idx="6"/>
            <a:endCxn id="7" idx="2"/>
          </p:cNvCxnSpPr>
          <p:nvPr/>
        </p:nvCxnSpPr>
        <p:spPr>
          <a:xfrm>
            <a:off x="1442231" y="1953504"/>
            <a:ext cx="285165" cy="1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6"/>
            <a:endCxn id="8" idx="2"/>
          </p:cNvCxnSpPr>
          <p:nvPr/>
        </p:nvCxnSpPr>
        <p:spPr>
          <a:xfrm flipV="1">
            <a:off x="1979396" y="1953505"/>
            <a:ext cx="285165" cy="1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8" idx="7"/>
            <a:endCxn id="9" idx="3"/>
          </p:cNvCxnSpPr>
          <p:nvPr/>
        </p:nvCxnSpPr>
        <p:spPr>
          <a:xfrm flipV="1">
            <a:off x="2479656" y="1658147"/>
            <a:ext cx="275629" cy="2133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8" idx="5"/>
            <a:endCxn id="10" idx="1"/>
          </p:cNvCxnSpPr>
          <p:nvPr/>
        </p:nvCxnSpPr>
        <p:spPr>
          <a:xfrm>
            <a:off x="2479656" y="2035473"/>
            <a:ext cx="275629" cy="23327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/>
          <p:cNvSpPr>
            <a:spLocks noChangeAspect="1"/>
          </p:cNvSpPr>
          <p:nvPr/>
        </p:nvSpPr>
        <p:spPr>
          <a:xfrm>
            <a:off x="651823" y="1837583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1</a:t>
            </a:r>
            <a:endParaRPr lang="pt-BR" sz="1400" dirty="0"/>
          </a:p>
        </p:txBody>
      </p:sp>
      <p:cxnSp>
        <p:nvCxnSpPr>
          <p:cNvPr id="61" name="Conector reto 60"/>
          <p:cNvCxnSpPr>
            <a:stCxn id="60" idx="6"/>
            <a:endCxn id="4" idx="2"/>
          </p:cNvCxnSpPr>
          <p:nvPr/>
        </p:nvCxnSpPr>
        <p:spPr>
          <a:xfrm>
            <a:off x="903823" y="1953504"/>
            <a:ext cx="28640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tângulo 79"/>
          <p:cNvSpPr/>
          <p:nvPr/>
        </p:nvSpPr>
        <p:spPr>
          <a:xfrm>
            <a:off x="1646320" y="1299481"/>
            <a:ext cx="409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pt-BR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tângulo de cantos arredondados 82"/>
              <p:cNvSpPr/>
              <p:nvPr/>
            </p:nvSpPr>
            <p:spPr>
              <a:xfrm>
                <a:off x="6849795" y="1574689"/>
                <a:ext cx="1304228" cy="750825"/>
              </a:xfrm>
              <a:prstGeom prst="roundRect">
                <a:avLst/>
              </a:prstGeom>
              <a:ln>
                <a:noFill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pt-BR" b="1" dirty="0"/>
                  <a:t>G</a:t>
                </a:r>
                <a:r>
                  <a:rPr lang="pt-BR" b="1" baseline="-25000" dirty="0"/>
                  <a:t>1 </a:t>
                </a:r>
                <a14:m>
                  <m:oMath xmlns:m="http://schemas.openxmlformats.org/officeDocument/2006/math">
                    <m:r>
                      <a:rPr lang="pt-BR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≃</m:t>
                    </m:r>
                  </m:oMath>
                </a14:m>
                <a:r>
                  <a:rPr lang="pt-BR" b="1" dirty="0"/>
                  <a:t> G</a:t>
                </a:r>
                <a:r>
                  <a:rPr lang="pt-BR" b="1" baseline="-25000" dirty="0"/>
                  <a:t>3 </a:t>
                </a:r>
              </a:p>
            </p:txBody>
          </p:sp>
        </mc:Choice>
        <mc:Fallback xmlns="">
          <p:sp>
            <p:nvSpPr>
              <p:cNvPr id="83" name="Retângulo de cantos arredondados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795" y="1574689"/>
                <a:ext cx="1304228" cy="750825"/>
              </a:xfrm>
              <a:prstGeom prst="round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/>
          <p:cNvSpPr txBox="1"/>
          <p:nvPr/>
        </p:nvSpPr>
        <p:spPr>
          <a:xfrm>
            <a:off x="651823" y="2865561"/>
            <a:ext cx="1835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Número de vértices: 6 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664984" y="2865549"/>
            <a:ext cx="1835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Número de vértices: 6 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651823" y="3240597"/>
            <a:ext cx="1826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Número de arestas: 5 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3664984" y="3240597"/>
            <a:ext cx="1826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Número de arestas: 5 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651823" y="3616264"/>
            <a:ext cx="2302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Número de componentes: 1 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3662575" y="3618491"/>
            <a:ext cx="2302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Número de componentes: 1 </a:t>
            </a:r>
          </a:p>
        </p:txBody>
      </p:sp>
      <p:sp>
        <p:nvSpPr>
          <p:cNvPr id="47" name="CaixaDeTexto 46"/>
          <p:cNvSpPr txBox="1"/>
          <p:nvPr/>
        </p:nvSpPr>
        <p:spPr>
          <a:xfrm>
            <a:off x="651579" y="3993211"/>
            <a:ext cx="2470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Sequência de graus: 1 1 1 2 2 3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3662575" y="3993211"/>
            <a:ext cx="2470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Sequência de graus: 1 1 1 2 2 3</a:t>
            </a:r>
          </a:p>
        </p:txBody>
      </p:sp>
      <p:sp>
        <p:nvSpPr>
          <p:cNvPr id="55" name="Elipse 54"/>
          <p:cNvSpPr>
            <a:spLocks noChangeAspect="1"/>
          </p:cNvSpPr>
          <p:nvPr/>
        </p:nvSpPr>
        <p:spPr>
          <a:xfrm>
            <a:off x="3645723" y="1922187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q</a:t>
            </a:r>
            <a:endParaRPr lang="pt-BR" sz="1400" dirty="0"/>
          </a:p>
        </p:txBody>
      </p:sp>
      <p:sp>
        <p:nvSpPr>
          <p:cNvPr id="56" name="Elipse 55"/>
          <p:cNvSpPr>
            <a:spLocks noChangeAspect="1"/>
          </p:cNvSpPr>
          <p:nvPr/>
        </p:nvSpPr>
        <p:spPr>
          <a:xfrm>
            <a:off x="4182888" y="1922198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s</a:t>
            </a:r>
          </a:p>
        </p:txBody>
      </p:sp>
      <p:sp>
        <p:nvSpPr>
          <p:cNvPr id="57" name="Elipse 56"/>
          <p:cNvSpPr>
            <a:spLocks noChangeAspect="1"/>
          </p:cNvSpPr>
          <p:nvPr/>
        </p:nvSpPr>
        <p:spPr>
          <a:xfrm>
            <a:off x="4720053" y="1922188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t</a:t>
            </a:r>
            <a:endParaRPr lang="pt-BR" sz="1400" dirty="0"/>
          </a:p>
        </p:txBody>
      </p:sp>
      <p:sp>
        <p:nvSpPr>
          <p:cNvPr id="58" name="Elipse 57"/>
          <p:cNvSpPr>
            <a:spLocks noChangeAspect="1"/>
          </p:cNvSpPr>
          <p:nvPr/>
        </p:nvSpPr>
        <p:spPr>
          <a:xfrm>
            <a:off x="3645446" y="1400820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p</a:t>
            </a:r>
            <a:endParaRPr lang="pt-BR" sz="1400" dirty="0"/>
          </a:p>
        </p:txBody>
      </p:sp>
      <p:sp>
        <p:nvSpPr>
          <p:cNvPr id="59" name="Elipse 58"/>
          <p:cNvSpPr>
            <a:spLocks noChangeAspect="1"/>
          </p:cNvSpPr>
          <p:nvPr/>
        </p:nvSpPr>
        <p:spPr>
          <a:xfrm>
            <a:off x="3645446" y="2457636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r</a:t>
            </a:r>
            <a:endParaRPr lang="pt-BR" sz="1400" dirty="0"/>
          </a:p>
        </p:txBody>
      </p:sp>
      <p:cxnSp>
        <p:nvCxnSpPr>
          <p:cNvPr id="62" name="Conector reto 61"/>
          <p:cNvCxnSpPr>
            <a:stCxn id="55" idx="6"/>
            <a:endCxn id="56" idx="2"/>
          </p:cNvCxnSpPr>
          <p:nvPr/>
        </p:nvCxnSpPr>
        <p:spPr>
          <a:xfrm>
            <a:off x="3897723" y="2038108"/>
            <a:ext cx="285165" cy="1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/>
          <p:cNvCxnSpPr>
            <a:stCxn id="56" idx="6"/>
            <a:endCxn id="57" idx="2"/>
          </p:cNvCxnSpPr>
          <p:nvPr/>
        </p:nvCxnSpPr>
        <p:spPr>
          <a:xfrm flipV="1">
            <a:off x="4434888" y="2038109"/>
            <a:ext cx="285165" cy="1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55" idx="0"/>
            <a:endCxn id="58" idx="4"/>
          </p:cNvCxnSpPr>
          <p:nvPr/>
        </p:nvCxnSpPr>
        <p:spPr>
          <a:xfrm flipH="1" flipV="1">
            <a:off x="3771446" y="1632661"/>
            <a:ext cx="277" cy="28952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/>
          <p:cNvCxnSpPr>
            <a:stCxn id="55" idx="4"/>
            <a:endCxn id="59" idx="0"/>
          </p:cNvCxnSpPr>
          <p:nvPr/>
        </p:nvCxnSpPr>
        <p:spPr>
          <a:xfrm flipH="1">
            <a:off x="3771446" y="2154028"/>
            <a:ext cx="277" cy="30360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/>
          <p:cNvSpPr>
            <a:spLocks noChangeAspect="1"/>
          </p:cNvSpPr>
          <p:nvPr/>
        </p:nvSpPr>
        <p:spPr>
          <a:xfrm>
            <a:off x="5257218" y="1922187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u</a:t>
            </a:r>
            <a:endParaRPr lang="pt-BR" sz="1400" dirty="0"/>
          </a:p>
        </p:txBody>
      </p:sp>
      <p:cxnSp>
        <p:nvCxnSpPr>
          <p:cNvPr id="69" name="Conector reto 68"/>
          <p:cNvCxnSpPr>
            <a:stCxn id="57" idx="6"/>
            <a:endCxn id="68" idx="2"/>
          </p:cNvCxnSpPr>
          <p:nvPr/>
        </p:nvCxnSpPr>
        <p:spPr>
          <a:xfrm flipV="1">
            <a:off x="4972053" y="2038108"/>
            <a:ext cx="285165" cy="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tângulo 69"/>
          <p:cNvSpPr/>
          <p:nvPr/>
        </p:nvSpPr>
        <p:spPr>
          <a:xfrm>
            <a:off x="4372927" y="1303193"/>
            <a:ext cx="409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pt-BR" baseline="-25000" dirty="0"/>
          </a:p>
        </p:txBody>
      </p:sp>
      <p:sp>
        <p:nvSpPr>
          <p:cNvPr id="71" name="CaixaDeTexto 70"/>
          <p:cNvSpPr txBox="1"/>
          <p:nvPr/>
        </p:nvSpPr>
        <p:spPr>
          <a:xfrm>
            <a:off x="7135945" y="2515941"/>
            <a:ext cx="76976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 u</a:t>
            </a: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5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 p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6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 r</a:t>
            </a: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4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 q</a:t>
            </a: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2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 t</a:t>
            </a: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 s</a:t>
            </a:r>
          </a:p>
        </p:txBody>
      </p:sp>
      <p:sp>
        <p:nvSpPr>
          <p:cNvPr id="72" name="Elipse 71"/>
          <p:cNvSpPr>
            <a:spLocks noChangeAspect="1"/>
          </p:cNvSpPr>
          <p:nvPr/>
        </p:nvSpPr>
        <p:spPr>
          <a:xfrm>
            <a:off x="653031" y="1834180"/>
            <a:ext cx="252000" cy="231841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1</a:t>
            </a:r>
            <a:endParaRPr lang="pt-BR" sz="1400" dirty="0"/>
          </a:p>
        </p:txBody>
      </p:sp>
      <p:sp>
        <p:nvSpPr>
          <p:cNvPr id="73" name="Elipse 72"/>
          <p:cNvSpPr>
            <a:spLocks noChangeAspect="1"/>
          </p:cNvSpPr>
          <p:nvPr/>
        </p:nvSpPr>
        <p:spPr>
          <a:xfrm>
            <a:off x="5261935" y="1919552"/>
            <a:ext cx="252000" cy="231841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u</a:t>
            </a:r>
            <a:endParaRPr lang="pt-BR" sz="1400" dirty="0"/>
          </a:p>
        </p:txBody>
      </p:sp>
      <p:sp>
        <p:nvSpPr>
          <p:cNvPr id="75" name="Elipse 74"/>
          <p:cNvSpPr>
            <a:spLocks noChangeAspect="1"/>
          </p:cNvSpPr>
          <p:nvPr/>
        </p:nvSpPr>
        <p:spPr>
          <a:xfrm>
            <a:off x="2715625" y="1464076"/>
            <a:ext cx="252000" cy="231841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5</a:t>
            </a:r>
            <a:endParaRPr lang="pt-BR" sz="1400" dirty="0"/>
          </a:p>
        </p:txBody>
      </p:sp>
      <p:sp>
        <p:nvSpPr>
          <p:cNvPr id="76" name="Elipse 75"/>
          <p:cNvSpPr>
            <a:spLocks noChangeAspect="1"/>
          </p:cNvSpPr>
          <p:nvPr/>
        </p:nvSpPr>
        <p:spPr>
          <a:xfrm>
            <a:off x="3649702" y="1403242"/>
            <a:ext cx="252000" cy="231841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p</a:t>
            </a:r>
            <a:endParaRPr lang="pt-BR" sz="1400" dirty="0"/>
          </a:p>
        </p:txBody>
      </p:sp>
      <p:sp>
        <p:nvSpPr>
          <p:cNvPr id="77" name="Elipse 76"/>
          <p:cNvSpPr>
            <a:spLocks noChangeAspect="1"/>
          </p:cNvSpPr>
          <p:nvPr/>
        </p:nvSpPr>
        <p:spPr>
          <a:xfrm>
            <a:off x="2714818" y="2231524"/>
            <a:ext cx="252000" cy="231841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6</a:t>
            </a:r>
            <a:endParaRPr lang="pt-BR" sz="1400" dirty="0"/>
          </a:p>
        </p:txBody>
      </p:sp>
      <p:sp>
        <p:nvSpPr>
          <p:cNvPr id="78" name="Elipse 77"/>
          <p:cNvSpPr>
            <a:spLocks noChangeAspect="1"/>
          </p:cNvSpPr>
          <p:nvPr/>
        </p:nvSpPr>
        <p:spPr>
          <a:xfrm>
            <a:off x="3645446" y="2461577"/>
            <a:ext cx="252000" cy="231841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r</a:t>
            </a:r>
            <a:endParaRPr lang="pt-BR" sz="1400" dirty="0"/>
          </a:p>
        </p:txBody>
      </p:sp>
      <p:sp>
        <p:nvSpPr>
          <p:cNvPr id="81" name="Elipse 80"/>
          <p:cNvSpPr>
            <a:spLocks noChangeAspect="1"/>
          </p:cNvSpPr>
          <p:nvPr/>
        </p:nvSpPr>
        <p:spPr>
          <a:xfrm>
            <a:off x="2262190" y="1841242"/>
            <a:ext cx="252000" cy="2318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4</a:t>
            </a:r>
            <a:endParaRPr lang="pt-BR" sz="1400" dirty="0"/>
          </a:p>
        </p:txBody>
      </p:sp>
      <p:sp>
        <p:nvSpPr>
          <p:cNvPr id="82" name="Elipse 81"/>
          <p:cNvSpPr>
            <a:spLocks noChangeAspect="1"/>
          </p:cNvSpPr>
          <p:nvPr/>
        </p:nvSpPr>
        <p:spPr>
          <a:xfrm>
            <a:off x="3642824" y="1918246"/>
            <a:ext cx="252000" cy="2318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q</a:t>
            </a:r>
            <a:endParaRPr lang="pt-BR" sz="1400" dirty="0"/>
          </a:p>
        </p:txBody>
      </p:sp>
      <p:sp>
        <p:nvSpPr>
          <p:cNvPr id="84" name="Elipse 83"/>
          <p:cNvSpPr>
            <a:spLocks noChangeAspect="1"/>
          </p:cNvSpPr>
          <p:nvPr/>
        </p:nvSpPr>
        <p:spPr>
          <a:xfrm>
            <a:off x="1192709" y="1836294"/>
            <a:ext cx="252000" cy="231841"/>
          </a:xfrm>
          <a:prstGeom prst="ellipse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2</a:t>
            </a:r>
            <a:endParaRPr lang="pt-BR" sz="1400" dirty="0"/>
          </a:p>
        </p:txBody>
      </p:sp>
      <p:sp>
        <p:nvSpPr>
          <p:cNvPr id="85" name="Elipse 84"/>
          <p:cNvSpPr>
            <a:spLocks noChangeAspect="1"/>
          </p:cNvSpPr>
          <p:nvPr/>
        </p:nvSpPr>
        <p:spPr>
          <a:xfrm>
            <a:off x="4721235" y="1919452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t</a:t>
            </a:r>
            <a:endParaRPr lang="pt-BR" sz="1400" dirty="0"/>
          </a:p>
        </p:txBody>
      </p:sp>
      <p:sp>
        <p:nvSpPr>
          <p:cNvPr id="86" name="Elipse 85"/>
          <p:cNvSpPr>
            <a:spLocks noChangeAspect="1"/>
          </p:cNvSpPr>
          <p:nvPr/>
        </p:nvSpPr>
        <p:spPr>
          <a:xfrm>
            <a:off x="1723545" y="1841267"/>
            <a:ext cx="252000" cy="231841"/>
          </a:xfrm>
          <a:prstGeom prst="ellipse">
            <a:avLst/>
          </a:prstGeom>
          <a:solidFill>
            <a:srgbClr val="CC99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3</a:t>
            </a:r>
            <a:endParaRPr lang="pt-BR" sz="1400" dirty="0"/>
          </a:p>
        </p:txBody>
      </p:sp>
      <p:sp>
        <p:nvSpPr>
          <p:cNvPr id="87" name="Elipse 86"/>
          <p:cNvSpPr>
            <a:spLocks noChangeAspect="1"/>
          </p:cNvSpPr>
          <p:nvPr/>
        </p:nvSpPr>
        <p:spPr>
          <a:xfrm>
            <a:off x="4722952" y="1923858"/>
            <a:ext cx="252000" cy="231841"/>
          </a:xfrm>
          <a:prstGeom prst="ellipse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t</a:t>
            </a:r>
          </a:p>
        </p:txBody>
      </p:sp>
      <p:sp>
        <p:nvSpPr>
          <p:cNvPr id="88" name="Elipse 87"/>
          <p:cNvSpPr>
            <a:spLocks noChangeAspect="1"/>
          </p:cNvSpPr>
          <p:nvPr/>
        </p:nvSpPr>
        <p:spPr>
          <a:xfrm>
            <a:off x="4187077" y="1919447"/>
            <a:ext cx="252000" cy="231841"/>
          </a:xfrm>
          <a:prstGeom prst="ellipse">
            <a:avLst/>
          </a:prstGeom>
          <a:solidFill>
            <a:srgbClr val="CC99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011946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3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72" grpId="0" animBg="1"/>
      <p:bldP spid="73" grpId="0" animBg="1"/>
      <p:bldP spid="75" grpId="0" animBg="1"/>
      <p:bldP spid="76" grpId="0" animBg="1"/>
      <p:bldP spid="77" grpId="0" animBg="1"/>
      <p:bldP spid="78" grpId="0" animBg="1"/>
      <p:bldP spid="81" grpId="0" animBg="1"/>
      <p:bldP spid="82" grpId="0" animBg="1"/>
      <p:bldP spid="84" grpId="0" animBg="1"/>
      <p:bldP spid="86" grpId="0" animBg="1"/>
      <p:bldP spid="87" grpId="0" animBg="1"/>
      <p:bldP spid="8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Verificação de Isomorfismo</a:t>
            </a:r>
          </a:p>
        </p:txBody>
      </p:sp>
      <p:sp>
        <p:nvSpPr>
          <p:cNvPr id="4" name="Elipse 3"/>
          <p:cNvSpPr>
            <a:spLocks noChangeAspect="1"/>
          </p:cNvSpPr>
          <p:nvPr/>
        </p:nvSpPr>
        <p:spPr>
          <a:xfrm>
            <a:off x="1190231" y="1837583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2</a:t>
            </a:r>
            <a:endParaRPr lang="pt-BR" sz="1400" dirty="0"/>
          </a:p>
        </p:txBody>
      </p:sp>
      <p:sp>
        <p:nvSpPr>
          <p:cNvPr id="7" name="Elipse 6"/>
          <p:cNvSpPr>
            <a:spLocks noChangeAspect="1"/>
          </p:cNvSpPr>
          <p:nvPr/>
        </p:nvSpPr>
        <p:spPr>
          <a:xfrm>
            <a:off x="1727396" y="1837594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3</a:t>
            </a:r>
            <a:endParaRPr lang="pt-BR" sz="1400" dirty="0"/>
          </a:p>
        </p:txBody>
      </p:sp>
      <p:sp>
        <p:nvSpPr>
          <p:cNvPr id="8" name="Elipse 7"/>
          <p:cNvSpPr>
            <a:spLocks noChangeAspect="1"/>
          </p:cNvSpPr>
          <p:nvPr/>
        </p:nvSpPr>
        <p:spPr>
          <a:xfrm>
            <a:off x="2264561" y="1837584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4</a:t>
            </a:r>
            <a:endParaRPr lang="pt-BR" sz="1400" dirty="0"/>
          </a:p>
        </p:txBody>
      </p:sp>
      <p:sp>
        <p:nvSpPr>
          <p:cNvPr id="9" name="Elipse 8"/>
          <p:cNvSpPr>
            <a:spLocks noChangeAspect="1"/>
          </p:cNvSpPr>
          <p:nvPr/>
        </p:nvSpPr>
        <p:spPr>
          <a:xfrm>
            <a:off x="2718380" y="1460258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5</a:t>
            </a:r>
            <a:endParaRPr lang="pt-BR" sz="1400" dirty="0"/>
          </a:p>
        </p:txBody>
      </p:sp>
      <p:sp>
        <p:nvSpPr>
          <p:cNvPr id="10" name="Elipse 9"/>
          <p:cNvSpPr>
            <a:spLocks noChangeAspect="1"/>
          </p:cNvSpPr>
          <p:nvPr/>
        </p:nvSpPr>
        <p:spPr>
          <a:xfrm>
            <a:off x="2718380" y="2234794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6</a:t>
            </a:r>
            <a:endParaRPr lang="pt-BR" sz="1400" dirty="0"/>
          </a:p>
        </p:txBody>
      </p:sp>
      <p:cxnSp>
        <p:nvCxnSpPr>
          <p:cNvPr id="11" name="Conector reto 10"/>
          <p:cNvCxnSpPr>
            <a:stCxn id="4" idx="6"/>
            <a:endCxn id="7" idx="2"/>
          </p:cNvCxnSpPr>
          <p:nvPr/>
        </p:nvCxnSpPr>
        <p:spPr>
          <a:xfrm>
            <a:off x="1442231" y="1953504"/>
            <a:ext cx="285165" cy="1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6"/>
            <a:endCxn id="8" idx="2"/>
          </p:cNvCxnSpPr>
          <p:nvPr/>
        </p:nvCxnSpPr>
        <p:spPr>
          <a:xfrm flipV="1">
            <a:off x="1979396" y="1953505"/>
            <a:ext cx="285165" cy="1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8" idx="7"/>
            <a:endCxn id="9" idx="3"/>
          </p:cNvCxnSpPr>
          <p:nvPr/>
        </p:nvCxnSpPr>
        <p:spPr>
          <a:xfrm flipV="1">
            <a:off x="2479656" y="1658147"/>
            <a:ext cx="275629" cy="2133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8" idx="5"/>
            <a:endCxn id="10" idx="1"/>
          </p:cNvCxnSpPr>
          <p:nvPr/>
        </p:nvCxnSpPr>
        <p:spPr>
          <a:xfrm>
            <a:off x="2479656" y="2035473"/>
            <a:ext cx="275629" cy="23327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/>
          <p:cNvSpPr>
            <a:spLocks noChangeAspect="1"/>
          </p:cNvSpPr>
          <p:nvPr/>
        </p:nvSpPr>
        <p:spPr>
          <a:xfrm>
            <a:off x="3664984" y="1837582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a</a:t>
            </a:r>
            <a:endParaRPr lang="pt-BR" sz="1400" dirty="0"/>
          </a:p>
        </p:txBody>
      </p:sp>
      <p:sp>
        <p:nvSpPr>
          <p:cNvPr id="25" name="Elipse 24"/>
          <p:cNvSpPr>
            <a:spLocks noChangeAspect="1"/>
          </p:cNvSpPr>
          <p:nvPr/>
        </p:nvSpPr>
        <p:spPr>
          <a:xfrm>
            <a:off x="4202149" y="1837593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b</a:t>
            </a:r>
            <a:endParaRPr lang="pt-BR" sz="1400" dirty="0"/>
          </a:p>
        </p:txBody>
      </p:sp>
      <p:sp>
        <p:nvSpPr>
          <p:cNvPr id="26" name="Elipse 25"/>
          <p:cNvSpPr>
            <a:spLocks noChangeAspect="1"/>
          </p:cNvSpPr>
          <p:nvPr/>
        </p:nvSpPr>
        <p:spPr>
          <a:xfrm>
            <a:off x="4739314" y="1837583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c</a:t>
            </a:r>
            <a:endParaRPr lang="pt-BR" sz="1400" dirty="0"/>
          </a:p>
        </p:txBody>
      </p:sp>
      <p:sp>
        <p:nvSpPr>
          <p:cNvPr id="27" name="Elipse 26"/>
          <p:cNvSpPr>
            <a:spLocks noChangeAspect="1"/>
          </p:cNvSpPr>
          <p:nvPr/>
        </p:nvSpPr>
        <p:spPr>
          <a:xfrm>
            <a:off x="5277722" y="1837662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d</a:t>
            </a:r>
            <a:endParaRPr lang="pt-BR" sz="1400" dirty="0"/>
          </a:p>
        </p:txBody>
      </p:sp>
      <p:sp>
        <p:nvSpPr>
          <p:cNvPr id="28" name="Elipse 27"/>
          <p:cNvSpPr>
            <a:spLocks noChangeAspect="1"/>
          </p:cNvSpPr>
          <p:nvPr/>
        </p:nvSpPr>
        <p:spPr>
          <a:xfrm>
            <a:off x="4735291" y="2455010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f</a:t>
            </a:r>
            <a:endParaRPr lang="pt-BR" sz="1400" dirty="0"/>
          </a:p>
        </p:txBody>
      </p:sp>
      <p:cxnSp>
        <p:nvCxnSpPr>
          <p:cNvPr id="29" name="Conector reto 28"/>
          <p:cNvCxnSpPr>
            <a:stCxn id="24" idx="6"/>
            <a:endCxn id="25" idx="2"/>
          </p:cNvCxnSpPr>
          <p:nvPr/>
        </p:nvCxnSpPr>
        <p:spPr>
          <a:xfrm>
            <a:off x="3916984" y="1953503"/>
            <a:ext cx="285165" cy="1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25" idx="6"/>
            <a:endCxn id="26" idx="2"/>
          </p:cNvCxnSpPr>
          <p:nvPr/>
        </p:nvCxnSpPr>
        <p:spPr>
          <a:xfrm flipV="1">
            <a:off x="4454149" y="1953504"/>
            <a:ext cx="285165" cy="1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/>
          <p:cNvCxnSpPr>
            <a:stCxn id="26" idx="6"/>
            <a:endCxn id="27" idx="2"/>
          </p:cNvCxnSpPr>
          <p:nvPr/>
        </p:nvCxnSpPr>
        <p:spPr>
          <a:xfrm>
            <a:off x="4991314" y="1953504"/>
            <a:ext cx="286408" cy="7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26" idx="4"/>
            <a:endCxn id="28" idx="0"/>
          </p:cNvCxnSpPr>
          <p:nvPr/>
        </p:nvCxnSpPr>
        <p:spPr>
          <a:xfrm flipH="1">
            <a:off x="4861291" y="2069424"/>
            <a:ext cx="4023" cy="38558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/>
          <p:cNvSpPr>
            <a:spLocks noChangeAspect="1"/>
          </p:cNvSpPr>
          <p:nvPr/>
        </p:nvSpPr>
        <p:spPr>
          <a:xfrm>
            <a:off x="651823" y="1837583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1</a:t>
            </a:r>
            <a:endParaRPr lang="pt-BR" sz="1400" dirty="0"/>
          </a:p>
        </p:txBody>
      </p:sp>
      <p:cxnSp>
        <p:nvCxnSpPr>
          <p:cNvPr id="61" name="Conector reto 60"/>
          <p:cNvCxnSpPr>
            <a:stCxn id="60" idx="6"/>
            <a:endCxn id="4" idx="2"/>
          </p:cNvCxnSpPr>
          <p:nvPr/>
        </p:nvCxnSpPr>
        <p:spPr>
          <a:xfrm>
            <a:off x="903823" y="1953504"/>
            <a:ext cx="28640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Elipse 63"/>
          <p:cNvSpPr>
            <a:spLocks noChangeAspect="1"/>
          </p:cNvSpPr>
          <p:nvPr/>
        </p:nvSpPr>
        <p:spPr>
          <a:xfrm>
            <a:off x="5820380" y="1837571"/>
            <a:ext cx="252000" cy="231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200" dirty="0"/>
              <a:t>e</a:t>
            </a:r>
            <a:endParaRPr lang="pt-BR" sz="1400" dirty="0"/>
          </a:p>
        </p:txBody>
      </p:sp>
      <p:cxnSp>
        <p:nvCxnSpPr>
          <p:cNvPr id="65" name="Conector reto 64"/>
          <p:cNvCxnSpPr>
            <a:stCxn id="27" idx="6"/>
          </p:cNvCxnSpPr>
          <p:nvPr/>
        </p:nvCxnSpPr>
        <p:spPr>
          <a:xfrm flipV="1">
            <a:off x="5529722" y="1953490"/>
            <a:ext cx="295280" cy="9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tângulo 78"/>
          <p:cNvSpPr/>
          <p:nvPr/>
        </p:nvSpPr>
        <p:spPr>
          <a:xfrm>
            <a:off x="4690670" y="1297956"/>
            <a:ext cx="409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pt-BR" baseline="-25000" dirty="0"/>
          </a:p>
        </p:txBody>
      </p:sp>
      <p:sp>
        <p:nvSpPr>
          <p:cNvPr id="80" name="Retângulo 79"/>
          <p:cNvSpPr/>
          <p:nvPr/>
        </p:nvSpPr>
        <p:spPr>
          <a:xfrm>
            <a:off x="1646320" y="1299481"/>
            <a:ext cx="409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pt-BR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tângulo de cantos arredondados 82"/>
              <p:cNvSpPr/>
              <p:nvPr/>
            </p:nvSpPr>
            <p:spPr>
              <a:xfrm>
                <a:off x="6837413" y="1578077"/>
                <a:ext cx="1304228" cy="750825"/>
              </a:xfrm>
              <a:prstGeom prst="roundRect">
                <a:avLst/>
              </a:prstGeom>
              <a:ln>
                <a:noFill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pt-BR" b="1" dirty="0"/>
                  <a:t>G</a:t>
                </a:r>
                <a:r>
                  <a:rPr lang="pt-BR" b="1" baseline="-25000" dirty="0"/>
                  <a:t>1</a:t>
                </a:r>
                <a:r>
                  <a:rPr lang="pt-BR" b="1" dirty="0"/>
                  <a:t> </a:t>
                </a:r>
                <a14:m>
                  <m:oMath xmlns:m="http://schemas.openxmlformats.org/officeDocument/2006/math">
                    <m:r>
                      <a:rPr lang="pt-BR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≄</m:t>
                    </m:r>
                  </m:oMath>
                </a14:m>
                <a:r>
                  <a:rPr lang="pt-BR" sz="1050" b="1" dirty="0">
                    <a:solidFill>
                      <a:schemeClr val="bg1"/>
                    </a:solidFill>
                  </a:rPr>
                  <a:t>  </a:t>
                </a:r>
                <a:r>
                  <a:rPr lang="pt-BR" b="1" dirty="0"/>
                  <a:t>G</a:t>
                </a:r>
                <a:r>
                  <a:rPr lang="pt-BR" b="1" baseline="-25000" dirty="0"/>
                  <a:t>2 </a:t>
                </a:r>
              </a:p>
            </p:txBody>
          </p:sp>
        </mc:Choice>
        <mc:Fallback xmlns="">
          <p:sp>
            <p:nvSpPr>
              <p:cNvPr id="83" name="Retângulo de cantos arredondados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413" y="1578077"/>
                <a:ext cx="1304228" cy="750825"/>
              </a:xfrm>
              <a:prstGeom prst="round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/>
          <p:cNvSpPr txBox="1"/>
          <p:nvPr/>
        </p:nvSpPr>
        <p:spPr>
          <a:xfrm>
            <a:off x="651823" y="2865561"/>
            <a:ext cx="1835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Número de vértices: 6 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664984" y="2865549"/>
            <a:ext cx="1835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Número de vértices: 6 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651823" y="3240597"/>
            <a:ext cx="1826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Número de arestas: 5 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3664984" y="3240597"/>
            <a:ext cx="1826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Número de arestas: 5 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651823" y="3616264"/>
            <a:ext cx="2302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Número de componentes: 1 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3662575" y="3618491"/>
            <a:ext cx="2302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Número de componentes: 1 </a:t>
            </a:r>
          </a:p>
        </p:txBody>
      </p:sp>
      <p:sp>
        <p:nvSpPr>
          <p:cNvPr id="47" name="CaixaDeTexto 46"/>
          <p:cNvSpPr txBox="1"/>
          <p:nvPr/>
        </p:nvSpPr>
        <p:spPr>
          <a:xfrm>
            <a:off x="651579" y="3993211"/>
            <a:ext cx="2470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Sequência de graus: 1 1 1 2 2 3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3662575" y="3993211"/>
            <a:ext cx="2470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Sequência de graus: 1 1 1 2 2 3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7135945" y="2515941"/>
            <a:ext cx="93006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 a</a:t>
            </a: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5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 f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6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 e</a:t>
            </a: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4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 c</a:t>
            </a: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2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 b ?</a:t>
            </a: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 ?</a:t>
            </a:r>
          </a:p>
        </p:txBody>
      </p:sp>
      <p:sp>
        <p:nvSpPr>
          <p:cNvPr id="5" name="Multiplicar 4"/>
          <p:cNvSpPr/>
          <p:nvPr/>
        </p:nvSpPr>
        <p:spPr>
          <a:xfrm>
            <a:off x="6709806" y="3019437"/>
            <a:ext cx="1559442" cy="1424762"/>
          </a:xfrm>
          <a:prstGeom prst="mathMultiply">
            <a:avLst>
              <a:gd name="adj1" fmla="val 8097"/>
            </a:avLst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xplosão 1 5"/>
          <p:cNvSpPr/>
          <p:nvPr/>
        </p:nvSpPr>
        <p:spPr>
          <a:xfrm>
            <a:off x="777823" y="1297956"/>
            <a:ext cx="5576985" cy="3116981"/>
          </a:xfrm>
          <a:prstGeom prst="irregularSeal1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Não existe algoritmo eficiente para determinar se dois grafos são isomorfos ou não !</a:t>
            </a:r>
          </a:p>
        </p:txBody>
      </p:sp>
    </p:spTree>
    <p:extLst>
      <p:ext uri="{BB962C8B-B14F-4D97-AF65-F5344CB8AC3E}">
        <p14:creationId xmlns:p14="http://schemas.microsoft.com/office/powerpoint/2010/main" val="83622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3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Subgrafo</a:t>
            </a:r>
          </a:p>
        </p:txBody>
      </p:sp>
    </p:spTree>
    <p:extLst>
      <p:ext uri="{BB962C8B-B14F-4D97-AF65-F5344CB8AC3E}">
        <p14:creationId xmlns:p14="http://schemas.microsoft.com/office/powerpoint/2010/main" val="1578445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Subgrafo</a:t>
            </a:r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grafo H = (V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é dito </a:t>
            </a:r>
            <a:r>
              <a:rPr lang="pt-BR" sz="20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subgrafo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G = (V, E) e representado como H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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G, quando 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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e E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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206840" y="24911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206840" y="359314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529377" y="248916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529377" y="359314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522150" y="2634211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364495" y="2781243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2687032" y="2779254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475974" y="2736772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863217" y="299532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522150" y="3738189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851914" y="248916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/>
          <p:cNvCxnSpPr>
            <a:stCxn id="7" idx="6"/>
            <a:endCxn id="15" idx="2"/>
          </p:cNvCxnSpPr>
          <p:nvPr/>
        </p:nvCxnSpPr>
        <p:spPr>
          <a:xfrm>
            <a:off x="2844687" y="2634211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8" idx="7"/>
            <a:endCxn id="15" idx="3"/>
          </p:cNvCxnSpPr>
          <p:nvPr/>
        </p:nvCxnSpPr>
        <p:spPr>
          <a:xfrm flipV="1">
            <a:off x="2798511" y="2736772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/>
          <p:cNvSpPr/>
          <p:nvPr/>
        </p:nvSpPr>
        <p:spPr>
          <a:xfrm>
            <a:off x="5086209" y="35911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25" name="Elipse 24"/>
          <p:cNvSpPr/>
          <p:nvPr/>
        </p:nvSpPr>
        <p:spPr>
          <a:xfrm>
            <a:off x="6408746" y="248717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26" name="Elipse 25"/>
          <p:cNvSpPr/>
          <p:nvPr/>
        </p:nvSpPr>
        <p:spPr>
          <a:xfrm>
            <a:off x="6408746" y="35911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30" name="Conector reto 29"/>
          <p:cNvCxnSpPr>
            <a:stCxn id="24" idx="7"/>
            <a:endCxn id="25" idx="3"/>
          </p:cNvCxnSpPr>
          <p:nvPr/>
        </p:nvCxnSpPr>
        <p:spPr>
          <a:xfrm flipV="1">
            <a:off x="5355343" y="2734783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4742586" y="2993334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</a:t>
            </a:r>
          </a:p>
        </p:txBody>
      </p:sp>
      <p:cxnSp>
        <p:nvCxnSpPr>
          <p:cNvPr id="32" name="Conector reto 31"/>
          <p:cNvCxnSpPr>
            <a:stCxn id="24" idx="6"/>
            <a:endCxn id="26" idx="2"/>
          </p:cNvCxnSpPr>
          <p:nvPr/>
        </p:nvCxnSpPr>
        <p:spPr>
          <a:xfrm>
            <a:off x="5401519" y="3736200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ipse 32"/>
          <p:cNvSpPr/>
          <p:nvPr/>
        </p:nvSpPr>
        <p:spPr>
          <a:xfrm>
            <a:off x="7731283" y="248717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34" name="Conector reto 33"/>
          <p:cNvCxnSpPr>
            <a:stCxn id="25" idx="6"/>
            <a:endCxn id="33" idx="2"/>
          </p:cNvCxnSpPr>
          <p:nvPr/>
        </p:nvCxnSpPr>
        <p:spPr>
          <a:xfrm>
            <a:off x="6724056" y="2632222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/>
          <p:cNvCxnSpPr>
            <a:stCxn id="26" idx="7"/>
            <a:endCxn id="33" idx="3"/>
          </p:cNvCxnSpPr>
          <p:nvPr/>
        </p:nvCxnSpPr>
        <p:spPr>
          <a:xfrm flipV="1">
            <a:off x="6677880" y="2734783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/>
          <p:cNvSpPr txBox="1"/>
          <p:nvPr/>
        </p:nvSpPr>
        <p:spPr>
          <a:xfrm>
            <a:off x="5306479" y="4009379"/>
            <a:ext cx="2555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G (ou H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 G)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76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3" grpId="0"/>
      <p:bldP spid="15" grpId="0" animBg="1"/>
      <p:bldP spid="24" grpId="0" animBg="1"/>
      <p:bldP spid="25" grpId="0" animBg="1"/>
      <p:bldP spid="26" grpId="0" animBg="1"/>
      <p:bldP spid="31" grpId="0"/>
      <p:bldP spid="33" grpId="0" animBg="1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Subgrafo</a:t>
            </a:r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grafo H = (V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é dito </a:t>
            </a:r>
            <a:r>
              <a:rPr lang="pt-BR" sz="20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subgrafo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G = (V, E) e representado como H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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G, quando 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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e E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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206840" y="24911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206840" y="359314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529377" y="248916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529377" y="359314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522150" y="2634211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364495" y="2781243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2687032" y="2779254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475974" y="2736772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863217" y="299532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522150" y="3738189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851914" y="248916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/>
          <p:cNvCxnSpPr>
            <a:stCxn id="7" idx="6"/>
            <a:endCxn id="15" idx="2"/>
          </p:cNvCxnSpPr>
          <p:nvPr/>
        </p:nvCxnSpPr>
        <p:spPr>
          <a:xfrm>
            <a:off x="2844687" y="2634211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8" idx="7"/>
            <a:endCxn id="15" idx="3"/>
          </p:cNvCxnSpPr>
          <p:nvPr/>
        </p:nvCxnSpPr>
        <p:spPr>
          <a:xfrm flipV="1">
            <a:off x="2798511" y="2736772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/>
          <p:cNvSpPr/>
          <p:nvPr/>
        </p:nvSpPr>
        <p:spPr>
          <a:xfrm>
            <a:off x="5086209" y="35911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25" name="Elipse 24"/>
          <p:cNvSpPr/>
          <p:nvPr/>
        </p:nvSpPr>
        <p:spPr>
          <a:xfrm>
            <a:off x="6408746" y="248717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26" name="Elipse 25"/>
          <p:cNvSpPr/>
          <p:nvPr/>
        </p:nvSpPr>
        <p:spPr>
          <a:xfrm>
            <a:off x="6408746" y="35911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742586" y="2993334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</a:t>
            </a:r>
          </a:p>
        </p:txBody>
      </p:sp>
      <p:cxnSp>
        <p:nvCxnSpPr>
          <p:cNvPr id="32" name="Conector reto 31"/>
          <p:cNvCxnSpPr>
            <a:stCxn id="24" idx="6"/>
            <a:endCxn id="26" idx="2"/>
          </p:cNvCxnSpPr>
          <p:nvPr/>
        </p:nvCxnSpPr>
        <p:spPr>
          <a:xfrm>
            <a:off x="5401519" y="3736200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ipse 32"/>
          <p:cNvSpPr/>
          <p:nvPr/>
        </p:nvSpPr>
        <p:spPr>
          <a:xfrm>
            <a:off x="7731283" y="248717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34" name="Conector reto 33"/>
          <p:cNvCxnSpPr>
            <a:stCxn id="25" idx="6"/>
            <a:endCxn id="33" idx="2"/>
          </p:cNvCxnSpPr>
          <p:nvPr/>
        </p:nvCxnSpPr>
        <p:spPr>
          <a:xfrm>
            <a:off x="6724056" y="2632222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/>
          <p:cNvCxnSpPr>
            <a:stCxn id="26" idx="0"/>
            <a:endCxn id="25" idx="4"/>
          </p:cNvCxnSpPr>
          <p:nvPr/>
        </p:nvCxnSpPr>
        <p:spPr>
          <a:xfrm flipV="1">
            <a:off x="6566401" y="2777265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/>
          <p:cNvSpPr txBox="1"/>
          <p:nvPr/>
        </p:nvSpPr>
        <p:spPr>
          <a:xfrm>
            <a:off x="4987154" y="3995536"/>
            <a:ext cx="3158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Não é </a:t>
            </a:r>
            <a:r>
              <a:rPr lang="pt-BR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G (ou H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 G)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7" name="Conector reto 26"/>
          <p:cNvCxnSpPr>
            <a:stCxn id="37" idx="5"/>
            <a:endCxn id="26" idx="1"/>
          </p:cNvCxnSpPr>
          <p:nvPr/>
        </p:nvCxnSpPr>
        <p:spPr>
          <a:xfrm>
            <a:off x="5355343" y="2734783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5086209" y="248717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cxnSp>
        <p:nvCxnSpPr>
          <p:cNvPr id="38" name="Conector reto 37"/>
          <p:cNvCxnSpPr>
            <a:stCxn id="37" idx="5"/>
            <a:endCxn id="26" idx="1"/>
          </p:cNvCxnSpPr>
          <p:nvPr/>
        </p:nvCxnSpPr>
        <p:spPr>
          <a:xfrm>
            <a:off x="5355343" y="2734783"/>
            <a:ext cx="1099579" cy="898856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401519" y="1866172"/>
            <a:ext cx="1591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{1, 4} 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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E(G)</a:t>
            </a:r>
          </a:p>
        </p:txBody>
      </p:sp>
      <p:cxnSp>
        <p:nvCxnSpPr>
          <p:cNvPr id="19" name="Conector de seta reta 18"/>
          <p:cNvCxnSpPr/>
          <p:nvPr/>
        </p:nvCxnSpPr>
        <p:spPr>
          <a:xfrm flipH="1">
            <a:off x="5827836" y="2206871"/>
            <a:ext cx="285728" cy="76050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540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Conector reto 42"/>
          <p:cNvCxnSpPr>
            <a:stCxn id="26" idx="7"/>
            <a:endCxn id="33" idx="3"/>
          </p:cNvCxnSpPr>
          <p:nvPr/>
        </p:nvCxnSpPr>
        <p:spPr>
          <a:xfrm flipV="1">
            <a:off x="6677880" y="2734783"/>
            <a:ext cx="1099579" cy="898856"/>
          </a:xfrm>
          <a:prstGeom prst="line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Remoção de Aresta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 e uma aresta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E(G), então G –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 representa grafo obtido pela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remoção da aresta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206840" y="24911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206840" y="359314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529377" y="248916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529377" y="359314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522150" y="2634211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364495" y="2781243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2687032" y="2779254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475974" y="2736772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863217" y="299532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522150" y="3738189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851914" y="248916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/>
          <p:cNvCxnSpPr>
            <a:stCxn id="7" idx="6"/>
            <a:endCxn id="15" idx="2"/>
          </p:cNvCxnSpPr>
          <p:nvPr/>
        </p:nvCxnSpPr>
        <p:spPr>
          <a:xfrm>
            <a:off x="2844687" y="2634211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8" idx="7"/>
            <a:endCxn id="15" idx="3"/>
          </p:cNvCxnSpPr>
          <p:nvPr/>
        </p:nvCxnSpPr>
        <p:spPr>
          <a:xfrm flipV="1">
            <a:off x="2798511" y="2736772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/>
          <p:cNvSpPr/>
          <p:nvPr/>
        </p:nvSpPr>
        <p:spPr>
          <a:xfrm>
            <a:off x="5086209" y="35911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25" name="Elipse 24"/>
          <p:cNvSpPr/>
          <p:nvPr/>
        </p:nvSpPr>
        <p:spPr>
          <a:xfrm>
            <a:off x="6408746" y="248717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26" name="Elipse 25"/>
          <p:cNvSpPr/>
          <p:nvPr/>
        </p:nvSpPr>
        <p:spPr>
          <a:xfrm>
            <a:off x="6408746" y="35911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30" name="Conector reto 29"/>
          <p:cNvCxnSpPr>
            <a:stCxn id="24" idx="7"/>
            <a:endCxn id="25" idx="3"/>
          </p:cNvCxnSpPr>
          <p:nvPr/>
        </p:nvCxnSpPr>
        <p:spPr>
          <a:xfrm flipV="1">
            <a:off x="5355343" y="2734783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24" idx="6"/>
            <a:endCxn id="26" idx="2"/>
          </p:cNvCxnSpPr>
          <p:nvPr/>
        </p:nvCxnSpPr>
        <p:spPr>
          <a:xfrm>
            <a:off x="5401519" y="3736200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ipse 32"/>
          <p:cNvSpPr/>
          <p:nvPr/>
        </p:nvSpPr>
        <p:spPr>
          <a:xfrm>
            <a:off x="7731283" y="248717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34" name="Conector reto 33"/>
          <p:cNvCxnSpPr>
            <a:stCxn id="25" idx="6"/>
            <a:endCxn id="33" idx="2"/>
          </p:cNvCxnSpPr>
          <p:nvPr/>
        </p:nvCxnSpPr>
        <p:spPr>
          <a:xfrm>
            <a:off x="6724056" y="2632222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/>
          <p:cNvSpPr txBox="1"/>
          <p:nvPr/>
        </p:nvSpPr>
        <p:spPr>
          <a:xfrm>
            <a:off x="5329023" y="4009379"/>
            <a:ext cx="2510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Remoção da aresta {4, 5}</a:t>
            </a:r>
          </a:p>
        </p:txBody>
      </p:sp>
      <p:sp>
        <p:nvSpPr>
          <p:cNvPr id="27" name="Elipse 26"/>
          <p:cNvSpPr/>
          <p:nvPr/>
        </p:nvSpPr>
        <p:spPr>
          <a:xfrm>
            <a:off x="5086209" y="248717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cxnSp>
        <p:nvCxnSpPr>
          <p:cNvPr id="28" name="Conector reto 27"/>
          <p:cNvCxnSpPr>
            <a:stCxn id="27" idx="6"/>
            <a:endCxn id="25" idx="2"/>
          </p:cNvCxnSpPr>
          <p:nvPr/>
        </p:nvCxnSpPr>
        <p:spPr>
          <a:xfrm>
            <a:off x="5401519" y="2632222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/>
          <p:cNvCxnSpPr>
            <a:stCxn id="27" idx="4"/>
            <a:endCxn id="24" idx="0"/>
          </p:cNvCxnSpPr>
          <p:nvPr/>
        </p:nvCxnSpPr>
        <p:spPr>
          <a:xfrm>
            <a:off x="5243864" y="2777265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/>
          <p:cNvCxnSpPr>
            <a:stCxn id="25" idx="4"/>
            <a:endCxn id="26" idx="0"/>
          </p:cNvCxnSpPr>
          <p:nvPr/>
        </p:nvCxnSpPr>
        <p:spPr>
          <a:xfrm>
            <a:off x="6566401" y="2777265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5480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3" grpId="0"/>
      <p:bldP spid="15" grpId="0" animBg="1"/>
      <p:bldP spid="24" grpId="0" animBg="1"/>
      <p:bldP spid="25" grpId="0" animBg="1"/>
      <p:bldP spid="26" grpId="0" animBg="1"/>
      <p:bldP spid="33" grpId="0" animBg="1"/>
      <p:bldP spid="36" grpId="0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Remoção de Aresta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 e uma aresta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E(G), então G –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 representa grafo obtido pela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remoção da aresta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206840" y="24911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206840" y="359314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529377" y="248916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529377" y="359314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522150" y="2634211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364495" y="2781243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2687032" y="2779254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475974" y="2736772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863217" y="299532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522150" y="3738189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851914" y="248916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/>
          <p:cNvCxnSpPr>
            <a:stCxn id="7" idx="6"/>
            <a:endCxn id="15" idx="2"/>
          </p:cNvCxnSpPr>
          <p:nvPr/>
        </p:nvCxnSpPr>
        <p:spPr>
          <a:xfrm>
            <a:off x="2844687" y="2634211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8" idx="7"/>
            <a:endCxn id="15" idx="3"/>
          </p:cNvCxnSpPr>
          <p:nvPr/>
        </p:nvCxnSpPr>
        <p:spPr>
          <a:xfrm flipV="1">
            <a:off x="2798511" y="2736772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/>
          <p:cNvSpPr/>
          <p:nvPr/>
        </p:nvSpPr>
        <p:spPr>
          <a:xfrm>
            <a:off x="5086209" y="35911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25" name="Elipse 24"/>
          <p:cNvSpPr/>
          <p:nvPr/>
        </p:nvSpPr>
        <p:spPr>
          <a:xfrm>
            <a:off x="6408746" y="248717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26" name="Elipse 25"/>
          <p:cNvSpPr/>
          <p:nvPr/>
        </p:nvSpPr>
        <p:spPr>
          <a:xfrm>
            <a:off x="6408746" y="35911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30" name="Conector reto 29"/>
          <p:cNvCxnSpPr>
            <a:stCxn id="24" idx="7"/>
            <a:endCxn id="25" idx="3"/>
          </p:cNvCxnSpPr>
          <p:nvPr/>
        </p:nvCxnSpPr>
        <p:spPr>
          <a:xfrm flipV="1">
            <a:off x="5355343" y="2734783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7317456" y="3333877"/>
            <a:ext cx="9444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 – {4, 5}</a:t>
            </a:r>
          </a:p>
        </p:txBody>
      </p:sp>
      <p:cxnSp>
        <p:nvCxnSpPr>
          <p:cNvPr id="32" name="Conector reto 31"/>
          <p:cNvCxnSpPr>
            <a:stCxn id="24" idx="6"/>
            <a:endCxn id="26" idx="2"/>
          </p:cNvCxnSpPr>
          <p:nvPr/>
        </p:nvCxnSpPr>
        <p:spPr>
          <a:xfrm>
            <a:off x="5401519" y="3736200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ipse 32"/>
          <p:cNvSpPr/>
          <p:nvPr/>
        </p:nvSpPr>
        <p:spPr>
          <a:xfrm>
            <a:off x="7731283" y="248717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34" name="Conector reto 33"/>
          <p:cNvCxnSpPr>
            <a:stCxn id="25" idx="6"/>
            <a:endCxn id="33" idx="2"/>
          </p:cNvCxnSpPr>
          <p:nvPr/>
        </p:nvCxnSpPr>
        <p:spPr>
          <a:xfrm>
            <a:off x="6724056" y="2632222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/>
          <p:cNvSpPr txBox="1"/>
          <p:nvPr/>
        </p:nvSpPr>
        <p:spPr>
          <a:xfrm>
            <a:off x="5329023" y="4009379"/>
            <a:ext cx="2510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Remoção da aresta {4, 5}</a:t>
            </a:r>
          </a:p>
        </p:txBody>
      </p:sp>
      <p:sp>
        <p:nvSpPr>
          <p:cNvPr id="27" name="Elipse 26"/>
          <p:cNvSpPr/>
          <p:nvPr/>
        </p:nvSpPr>
        <p:spPr>
          <a:xfrm>
            <a:off x="5086209" y="248717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cxnSp>
        <p:nvCxnSpPr>
          <p:cNvPr id="28" name="Conector reto 27"/>
          <p:cNvCxnSpPr>
            <a:stCxn id="27" idx="6"/>
            <a:endCxn id="25" idx="2"/>
          </p:cNvCxnSpPr>
          <p:nvPr/>
        </p:nvCxnSpPr>
        <p:spPr>
          <a:xfrm>
            <a:off x="5401519" y="2632222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/>
          <p:cNvCxnSpPr>
            <a:stCxn id="27" idx="4"/>
            <a:endCxn id="24" idx="0"/>
          </p:cNvCxnSpPr>
          <p:nvPr/>
        </p:nvCxnSpPr>
        <p:spPr>
          <a:xfrm>
            <a:off x="5243864" y="2777265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/>
          <p:cNvCxnSpPr>
            <a:stCxn id="25" idx="4"/>
            <a:endCxn id="26" idx="0"/>
          </p:cNvCxnSpPr>
          <p:nvPr/>
        </p:nvCxnSpPr>
        <p:spPr>
          <a:xfrm>
            <a:off x="6566401" y="2777265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42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Remoção de Vértice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 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V(G), então G –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representa grafo obtido pela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remoção do vértice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juntamente com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todas as arestas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incidente em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206840" y="24911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206840" y="359314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529377" y="248916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529377" y="359314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522150" y="2634211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364495" y="2781243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2687032" y="2779254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475974" y="2736772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863217" y="299532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522150" y="3738189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851914" y="248916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/>
          <p:cNvCxnSpPr>
            <a:stCxn id="7" idx="6"/>
            <a:endCxn id="15" idx="2"/>
          </p:cNvCxnSpPr>
          <p:nvPr/>
        </p:nvCxnSpPr>
        <p:spPr>
          <a:xfrm>
            <a:off x="2844687" y="2634211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8" idx="7"/>
            <a:endCxn id="15" idx="3"/>
          </p:cNvCxnSpPr>
          <p:nvPr/>
        </p:nvCxnSpPr>
        <p:spPr>
          <a:xfrm flipV="1">
            <a:off x="2798511" y="2736772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/>
          <p:nvPr/>
        </p:nvSpPr>
        <p:spPr>
          <a:xfrm>
            <a:off x="6408746" y="248717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26" name="Elipse 25"/>
          <p:cNvSpPr/>
          <p:nvPr/>
        </p:nvSpPr>
        <p:spPr>
          <a:xfrm>
            <a:off x="6408746" y="35911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33" name="Elipse 32"/>
          <p:cNvSpPr/>
          <p:nvPr/>
        </p:nvSpPr>
        <p:spPr>
          <a:xfrm>
            <a:off x="7731283" y="248717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34" name="Conector reto 33"/>
          <p:cNvCxnSpPr>
            <a:stCxn id="25" idx="6"/>
            <a:endCxn id="33" idx="2"/>
          </p:cNvCxnSpPr>
          <p:nvPr/>
        </p:nvCxnSpPr>
        <p:spPr>
          <a:xfrm>
            <a:off x="6724056" y="2632222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/>
          <p:cNvSpPr txBox="1"/>
          <p:nvPr/>
        </p:nvSpPr>
        <p:spPr>
          <a:xfrm>
            <a:off x="5458661" y="4029731"/>
            <a:ext cx="221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Remoção do vértice 2</a:t>
            </a:r>
          </a:p>
        </p:txBody>
      </p:sp>
      <p:sp>
        <p:nvSpPr>
          <p:cNvPr id="27" name="Elipse 26"/>
          <p:cNvSpPr/>
          <p:nvPr/>
        </p:nvSpPr>
        <p:spPr>
          <a:xfrm>
            <a:off x="5086209" y="248717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cxnSp>
        <p:nvCxnSpPr>
          <p:cNvPr id="28" name="Conector reto 27"/>
          <p:cNvCxnSpPr>
            <a:stCxn id="27" idx="6"/>
            <a:endCxn id="25" idx="2"/>
          </p:cNvCxnSpPr>
          <p:nvPr/>
        </p:nvCxnSpPr>
        <p:spPr>
          <a:xfrm>
            <a:off x="5401519" y="2632222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/>
          <p:cNvCxnSpPr>
            <a:stCxn id="25" idx="4"/>
            <a:endCxn id="26" idx="0"/>
          </p:cNvCxnSpPr>
          <p:nvPr/>
        </p:nvCxnSpPr>
        <p:spPr>
          <a:xfrm>
            <a:off x="6566401" y="2777265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/>
          <p:cNvCxnSpPr>
            <a:stCxn id="26" idx="7"/>
            <a:endCxn id="33" idx="3"/>
          </p:cNvCxnSpPr>
          <p:nvPr/>
        </p:nvCxnSpPr>
        <p:spPr>
          <a:xfrm flipV="1">
            <a:off x="6677880" y="2734783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lipse 42"/>
          <p:cNvSpPr/>
          <p:nvPr/>
        </p:nvSpPr>
        <p:spPr>
          <a:xfrm>
            <a:off x="5086209" y="3591157"/>
            <a:ext cx="315310" cy="290086"/>
          </a:xfrm>
          <a:prstGeom prst="ellipse">
            <a:avLst/>
          </a:prstGeom>
          <a:solidFill>
            <a:srgbClr val="FF0000">
              <a:alpha val="12941"/>
            </a:srgbClr>
          </a:solidFill>
          <a:ln w="5715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cxnSp>
        <p:nvCxnSpPr>
          <p:cNvPr id="44" name="Conector reto 43"/>
          <p:cNvCxnSpPr>
            <a:stCxn id="43" idx="6"/>
            <a:endCxn id="26" idx="2"/>
          </p:cNvCxnSpPr>
          <p:nvPr/>
        </p:nvCxnSpPr>
        <p:spPr>
          <a:xfrm>
            <a:off x="5401519" y="3736200"/>
            <a:ext cx="1007227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>
            <a:stCxn id="27" idx="4"/>
            <a:endCxn id="43" idx="0"/>
          </p:cNvCxnSpPr>
          <p:nvPr/>
        </p:nvCxnSpPr>
        <p:spPr>
          <a:xfrm>
            <a:off x="5243864" y="2777265"/>
            <a:ext cx="0" cy="813892"/>
          </a:xfrm>
          <a:prstGeom prst="line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/>
          <p:cNvCxnSpPr>
            <a:stCxn id="43" idx="7"/>
            <a:endCxn id="25" idx="3"/>
          </p:cNvCxnSpPr>
          <p:nvPr/>
        </p:nvCxnSpPr>
        <p:spPr>
          <a:xfrm flipV="1">
            <a:off x="5355343" y="2734783"/>
            <a:ext cx="1099579" cy="898856"/>
          </a:xfrm>
          <a:prstGeom prst="line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542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3" grpId="0"/>
      <p:bldP spid="15" grpId="0" animBg="1"/>
      <p:bldP spid="25" grpId="0" animBg="1"/>
      <p:bldP spid="26" grpId="0" animBg="1"/>
      <p:bldP spid="33" grpId="0" animBg="1"/>
      <p:bldP spid="36" grpId="0"/>
      <p:bldP spid="27" grpId="0" animBg="1"/>
      <p:bldP spid="4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Remoção de Vértice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 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V(G), então G –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representa grafo obtido pela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remoção do vértice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juntamente com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todas as arestas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incidente em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206840" y="24911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206840" y="359314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529377" y="248916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529377" y="359314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522150" y="2634211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364495" y="2781243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2687032" y="2779254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475974" y="2736772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863217" y="299532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522150" y="3738189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851914" y="248916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/>
          <p:cNvCxnSpPr>
            <a:stCxn id="7" idx="6"/>
            <a:endCxn id="15" idx="2"/>
          </p:cNvCxnSpPr>
          <p:nvPr/>
        </p:nvCxnSpPr>
        <p:spPr>
          <a:xfrm>
            <a:off x="2844687" y="2634211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8" idx="7"/>
            <a:endCxn id="15" idx="3"/>
          </p:cNvCxnSpPr>
          <p:nvPr/>
        </p:nvCxnSpPr>
        <p:spPr>
          <a:xfrm flipV="1">
            <a:off x="2798511" y="2736772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/>
          <p:nvPr/>
        </p:nvSpPr>
        <p:spPr>
          <a:xfrm>
            <a:off x="6408746" y="248717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26" name="Elipse 25"/>
          <p:cNvSpPr/>
          <p:nvPr/>
        </p:nvSpPr>
        <p:spPr>
          <a:xfrm>
            <a:off x="6408746" y="35911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7643041" y="3397646"/>
            <a:ext cx="6142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 – 2</a:t>
            </a:r>
          </a:p>
        </p:txBody>
      </p:sp>
      <p:sp>
        <p:nvSpPr>
          <p:cNvPr id="33" name="Elipse 32"/>
          <p:cNvSpPr/>
          <p:nvPr/>
        </p:nvSpPr>
        <p:spPr>
          <a:xfrm>
            <a:off x="7731283" y="248717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34" name="Conector reto 33"/>
          <p:cNvCxnSpPr>
            <a:stCxn id="25" idx="6"/>
            <a:endCxn id="33" idx="2"/>
          </p:cNvCxnSpPr>
          <p:nvPr/>
        </p:nvCxnSpPr>
        <p:spPr>
          <a:xfrm>
            <a:off x="6724056" y="2632222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/>
          <p:cNvSpPr txBox="1"/>
          <p:nvPr/>
        </p:nvSpPr>
        <p:spPr>
          <a:xfrm>
            <a:off x="5458661" y="4029731"/>
            <a:ext cx="221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Remoção do vértice 2</a:t>
            </a:r>
          </a:p>
        </p:txBody>
      </p:sp>
      <p:sp>
        <p:nvSpPr>
          <p:cNvPr id="27" name="Elipse 26"/>
          <p:cNvSpPr/>
          <p:nvPr/>
        </p:nvSpPr>
        <p:spPr>
          <a:xfrm>
            <a:off x="5086209" y="248717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cxnSp>
        <p:nvCxnSpPr>
          <p:cNvPr id="28" name="Conector reto 27"/>
          <p:cNvCxnSpPr>
            <a:stCxn id="27" idx="6"/>
            <a:endCxn id="25" idx="2"/>
          </p:cNvCxnSpPr>
          <p:nvPr/>
        </p:nvCxnSpPr>
        <p:spPr>
          <a:xfrm>
            <a:off x="5401519" y="2632222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/>
          <p:cNvCxnSpPr>
            <a:stCxn id="25" idx="4"/>
            <a:endCxn id="26" idx="0"/>
          </p:cNvCxnSpPr>
          <p:nvPr/>
        </p:nvCxnSpPr>
        <p:spPr>
          <a:xfrm>
            <a:off x="6566401" y="2777265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/>
          <p:cNvCxnSpPr>
            <a:stCxn id="26" idx="7"/>
            <a:endCxn id="33" idx="3"/>
          </p:cNvCxnSpPr>
          <p:nvPr/>
        </p:nvCxnSpPr>
        <p:spPr>
          <a:xfrm flipV="1">
            <a:off x="6677880" y="2734783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595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Obtenção de </a:t>
            </a:r>
            <a:r>
              <a:rPr lang="pt-BR" dirty="0" err="1"/>
              <a:t>Subgrafo</a:t>
            </a:r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H de um grafo G = (V, E) pode ser obtido pela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remoção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um ou mais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G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e/ou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pela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remoção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uma ou mais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G.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767973" y="2562593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767738" y="3362831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1650546" y="2560604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1650311" y="3362831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967619" y="2660171"/>
            <a:ext cx="6829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 flipH="1">
            <a:off x="867561" y="2761726"/>
            <a:ext cx="235" cy="601105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 flipH="1">
            <a:off x="1750134" y="2759737"/>
            <a:ext cx="235" cy="60309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938147" y="2730575"/>
            <a:ext cx="741636" cy="66141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95536" y="2892006"/>
            <a:ext cx="1991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967384" y="3462398"/>
            <a:ext cx="6829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2533540" y="2560603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/>
          <p:cNvCxnSpPr>
            <a:stCxn id="7" idx="6"/>
            <a:endCxn id="15" idx="2"/>
          </p:cNvCxnSpPr>
          <p:nvPr/>
        </p:nvCxnSpPr>
        <p:spPr>
          <a:xfrm flipV="1">
            <a:off x="1850192" y="2660170"/>
            <a:ext cx="683348" cy="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8" idx="7"/>
            <a:endCxn id="15" idx="3"/>
          </p:cNvCxnSpPr>
          <p:nvPr/>
        </p:nvCxnSpPr>
        <p:spPr>
          <a:xfrm flipV="1">
            <a:off x="1820720" y="2730574"/>
            <a:ext cx="742057" cy="66141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/>
          <p:cNvSpPr txBox="1"/>
          <p:nvPr/>
        </p:nvSpPr>
        <p:spPr>
          <a:xfrm>
            <a:off x="6443649" y="3654917"/>
            <a:ext cx="18279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obtido pela remoção das arestas {1, 2}, {1 , 3} e {2, 4}</a:t>
            </a:r>
          </a:p>
        </p:txBody>
      </p:sp>
      <p:sp>
        <p:nvSpPr>
          <p:cNvPr id="42" name="Elipse 41"/>
          <p:cNvSpPr/>
          <p:nvPr/>
        </p:nvSpPr>
        <p:spPr>
          <a:xfrm>
            <a:off x="3558586" y="2562593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45" name="Elipse 44"/>
          <p:cNvSpPr/>
          <p:nvPr/>
        </p:nvSpPr>
        <p:spPr>
          <a:xfrm>
            <a:off x="4440924" y="3362831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50" name="CaixaDeTexto 49"/>
          <p:cNvSpPr txBox="1"/>
          <p:nvPr/>
        </p:nvSpPr>
        <p:spPr>
          <a:xfrm>
            <a:off x="3159425" y="2891046"/>
            <a:ext cx="3984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52" name="Elipse 51"/>
          <p:cNvSpPr/>
          <p:nvPr/>
        </p:nvSpPr>
        <p:spPr>
          <a:xfrm>
            <a:off x="5324153" y="2560603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4" name="Conector reto 53"/>
          <p:cNvCxnSpPr>
            <a:stCxn id="45" idx="7"/>
            <a:endCxn id="52" idx="3"/>
          </p:cNvCxnSpPr>
          <p:nvPr/>
        </p:nvCxnSpPr>
        <p:spPr>
          <a:xfrm flipV="1">
            <a:off x="4611333" y="2730574"/>
            <a:ext cx="742057" cy="66141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ipse 54"/>
          <p:cNvSpPr/>
          <p:nvPr/>
        </p:nvSpPr>
        <p:spPr>
          <a:xfrm>
            <a:off x="6375459" y="2562593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56" name="Elipse 55"/>
          <p:cNvSpPr/>
          <p:nvPr/>
        </p:nvSpPr>
        <p:spPr>
          <a:xfrm>
            <a:off x="6375224" y="3362831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57" name="Elipse 56"/>
          <p:cNvSpPr/>
          <p:nvPr/>
        </p:nvSpPr>
        <p:spPr>
          <a:xfrm>
            <a:off x="7258032" y="2560604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58" name="Elipse 57"/>
          <p:cNvSpPr/>
          <p:nvPr/>
        </p:nvSpPr>
        <p:spPr>
          <a:xfrm>
            <a:off x="7257797" y="3362831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61" name="Conector reto 60"/>
          <p:cNvCxnSpPr>
            <a:stCxn id="57" idx="4"/>
            <a:endCxn id="58" idx="0"/>
          </p:cNvCxnSpPr>
          <p:nvPr/>
        </p:nvCxnSpPr>
        <p:spPr>
          <a:xfrm flipH="1">
            <a:off x="7357620" y="2759737"/>
            <a:ext cx="235" cy="60309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/>
          <p:cNvCxnSpPr>
            <a:stCxn id="56" idx="7"/>
            <a:endCxn id="57" idx="3"/>
          </p:cNvCxnSpPr>
          <p:nvPr/>
        </p:nvCxnSpPr>
        <p:spPr>
          <a:xfrm flipV="1">
            <a:off x="6545633" y="2730575"/>
            <a:ext cx="741636" cy="66141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aixaDeTexto 62"/>
          <p:cNvSpPr txBox="1"/>
          <p:nvPr/>
        </p:nvSpPr>
        <p:spPr>
          <a:xfrm>
            <a:off x="5938572" y="2882948"/>
            <a:ext cx="395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sp>
        <p:nvSpPr>
          <p:cNvPr id="65" name="Elipse 64"/>
          <p:cNvSpPr/>
          <p:nvPr/>
        </p:nvSpPr>
        <p:spPr>
          <a:xfrm>
            <a:off x="8141026" y="2560603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66" name="Conector reto 65"/>
          <p:cNvCxnSpPr>
            <a:stCxn id="57" idx="6"/>
            <a:endCxn id="65" idx="2"/>
          </p:cNvCxnSpPr>
          <p:nvPr/>
        </p:nvCxnSpPr>
        <p:spPr>
          <a:xfrm flipV="1">
            <a:off x="7457678" y="2660170"/>
            <a:ext cx="683348" cy="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/>
          <p:cNvCxnSpPr>
            <a:stCxn id="58" idx="7"/>
            <a:endCxn id="65" idx="3"/>
          </p:cNvCxnSpPr>
          <p:nvPr/>
        </p:nvCxnSpPr>
        <p:spPr>
          <a:xfrm flipV="1">
            <a:off x="7428206" y="2730574"/>
            <a:ext cx="742057" cy="66141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67"/>
          <p:cNvSpPr txBox="1"/>
          <p:nvPr/>
        </p:nvSpPr>
        <p:spPr>
          <a:xfrm>
            <a:off x="3626776" y="3654917"/>
            <a:ext cx="18279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obtido pela remoção dos vértices 2 e 3</a:t>
            </a:r>
          </a:p>
        </p:txBody>
      </p:sp>
    </p:spTree>
    <p:extLst>
      <p:ext uri="{BB962C8B-B14F-4D97-AF65-F5344CB8AC3E}">
        <p14:creationId xmlns:p14="http://schemas.microsoft.com/office/powerpoint/2010/main" val="1891986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3" grpId="0"/>
      <p:bldP spid="15" grpId="0" animBg="1"/>
      <p:bldP spid="36" grpId="0"/>
      <p:bldP spid="42" grpId="0" animBg="1"/>
      <p:bldP spid="45" grpId="0" animBg="1"/>
      <p:bldP spid="50" grpId="0"/>
      <p:bldP spid="52" grpId="0" animBg="1"/>
      <p:bldP spid="55" grpId="0" animBg="1"/>
      <p:bldP spid="56" grpId="0" animBg="1"/>
      <p:bldP spid="57" grpId="0" animBg="1"/>
      <p:bldP spid="58" grpId="0" animBg="1"/>
      <p:bldP spid="63" grpId="0"/>
      <p:bldP spid="65" grpId="0" animBg="1"/>
      <p:bldP spid="6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Subgrafo</a:t>
            </a:r>
            <a:r>
              <a:rPr lang="pt-BR" dirty="0"/>
              <a:t> Induzido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grafo H = (V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é dito </a:t>
            </a:r>
            <a:r>
              <a:rPr lang="pt-BR" sz="20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subgrafo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induzido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G = (V, E) quando atender a seguinte condição: para v, w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se {v, w}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E, então {v, w}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pt-BR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É comum dizer que H é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induzido pelo (sub)conjunto de vértices 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4" name="Elipse 3"/>
          <p:cNvSpPr/>
          <p:nvPr/>
        </p:nvSpPr>
        <p:spPr>
          <a:xfrm>
            <a:off x="1199751" y="268254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199751" y="378453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522288" y="268056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522288" y="378453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515061" y="2825603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357406" y="2972635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2679943" y="2970646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468885" y="2928164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856128" y="3186715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515061" y="3929581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844825" y="268056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/>
          <p:cNvCxnSpPr>
            <a:stCxn id="7" idx="6"/>
            <a:endCxn id="15" idx="2"/>
          </p:cNvCxnSpPr>
          <p:nvPr/>
        </p:nvCxnSpPr>
        <p:spPr>
          <a:xfrm>
            <a:off x="2837598" y="2825603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8" idx="7"/>
            <a:endCxn id="15" idx="3"/>
          </p:cNvCxnSpPr>
          <p:nvPr/>
        </p:nvCxnSpPr>
        <p:spPr>
          <a:xfrm flipV="1">
            <a:off x="2791422" y="2928164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ipse 18"/>
          <p:cNvSpPr/>
          <p:nvPr/>
        </p:nvSpPr>
        <p:spPr>
          <a:xfrm>
            <a:off x="4967221" y="378334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20" name="Elipse 19"/>
          <p:cNvSpPr/>
          <p:nvPr/>
        </p:nvSpPr>
        <p:spPr>
          <a:xfrm>
            <a:off x="6289758" y="2679365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21" name="Elipse 20"/>
          <p:cNvSpPr/>
          <p:nvPr/>
        </p:nvSpPr>
        <p:spPr>
          <a:xfrm>
            <a:off x="6289758" y="378334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24" name="Conector reto 23"/>
          <p:cNvCxnSpPr>
            <a:stCxn id="20" idx="4"/>
            <a:endCxn id="21" idx="0"/>
          </p:cNvCxnSpPr>
          <p:nvPr/>
        </p:nvCxnSpPr>
        <p:spPr>
          <a:xfrm>
            <a:off x="6447413" y="2969451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19" idx="7"/>
            <a:endCxn id="20" idx="3"/>
          </p:cNvCxnSpPr>
          <p:nvPr/>
        </p:nvCxnSpPr>
        <p:spPr>
          <a:xfrm flipV="1">
            <a:off x="5236355" y="2926969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4624400" y="3185520"/>
            <a:ext cx="312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</a:t>
            </a:r>
          </a:p>
        </p:txBody>
      </p:sp>
      <p:cxnSp>
        <p:nvCxnSpPr>
          <p:cNvPr id="27" name="Conector reto 26"/>
          <p:cNvCxnSpPr>
            <a:stCxn id="19" idx="6"/>
            <a:endCxn id="21" idx="2"/>
          </p:cNvCxnSpPr>
          <p:nvPr/>
        </p:nvCxnSpPr>
        <p:spPr>
          <a:xfrm>
            <a:off x="5282531" y="3928386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lipse 27"/>
          <p:cNvSpPr/>
          <p:nvPr/>
        </p:nvSpPr>
        <p:spPr>
          <a:xfrm>
            <a:off x="7612295" y="2679365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29" name="Conector reto 28"/>
          <p:cNvCxnSpPr>
            <a:stCxn id="20" idx="6"/>
            <a:endCxn id="28" idx="2"/>
          </p:cNvCxnSpPr>
          <p:nvPr/>
        </p:nvCxnSpPr>
        <p:spPr>
          <a:xfrm>
            <a:off x="6605068" y="2824408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21" idx="7"/>
            <a:endCxn id="28" idx="3"/>
          </p:cNvCxnSpPr>
          <p:nvPr/>
        </p:nvCxnSpPr>
        <p:spPr>
          <a:xfrm flipV="1">
            <a:off x="6558892" y="2926969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4602215" y="4120639"/>
            <a:ext cx="3737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G induzido por {2, 3, 4, 5}</a:t>
            </a:r>
          </a:p>
        </p:txBody>
      </p:sp>
    </p:spTree>
    <p:extLst>
      <p:ext uri="{BB962C8B-B14F-4D97-AF65-F5344CB8AC3E}">
        <p14:creationId xmlns:p14="http://schemas.microsoft.com/office/powerpoint/2010/main" val="1745800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3" grpId="0"/>
      <p:bldP spid="15" grpId="0" animBg="1"/>
      <p:bldP spid="19" grpId="0" animBg="1"/>
      <p:bldP spid="20" grpId="0" animBg="1"/>
      <p:bldP spid="21" grpId="0" animBg="1"/>
      <p:bldP spid="26" grpId="0"/>
      <p:bldP spid="28" grpId="0" animBg="1"/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Obtenção de </a:t>
            </a:r>
            <a:r>
              <a:rPr lang="pt-BR" dirty="0" err="1"/>
              <a:t>Subgrafo</a:t>
            </a:r>
            <a:r>
              <a:rPr lang="pt-BR" dirty="0"/>
              <a:t> Induzido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E), um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H induzido pelo subconjunto de vértices 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 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pode ser obtido pela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remoção dos vértices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G que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não estão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em 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Elipse 33"/>
          <p:cNvSpPr/>
          <p:nvPr/>
        </p:nvSpPr>
        <p:spPr>
          <a:xfrm>
            <a:off x="1206839" y="249116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5" name="Elipse 34"/>
          <p:cNvSpPr/>
          <p:nvPr/>
        </p:nvSpPr>
        <p:spPr>
          <a:xfrm>
            <a:off x="1206839" y="359315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7" name="Elipse 36"/>
          <p:cNvSpPr/>
          <p:nvPr/>
        </p:nvSpPr>
        <p:spPr>
          <a:xfrm>
            <a:off x="2529376" y="248917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38" name="Elipse 37"/>
          <p:cNvSpPr/>
          <p:nvPr/>
        </p:nvSpPr>
        <p:spPr>
          <a:xfrm>
            <a:off x="2529376" y="359315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39" name="Conector reto 38"/>
          <p:cNvCxnSpPr>
            <a:stCxn id="34" idx="6"/>
            <a:endCxn id="37" idx="2"/>
          </p:cNvCxnSpPr>
          <p:nvPr/>
        </p:nvCxnSpPr>
        <p:spPr>
          <a:xfrm flipV="1">
            <a:off x="1522149" y="2634217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/>
          <p:cNvCxnSpPr>
            <a:stCxn id="34" idx="4"/>
            <a:endCxn id="35" idx="0"/>
          </p:cNvCxnSpPr>
          <p:nvPr/>
        </p:nvCxnSpPr>
        <p:spPr>
          <a:xfrm>
            <a:off x="1364494" y="2781249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37" idx="4"/>
            <a:endCxn id="38" idx="0"/>
          </p:cNvCxnSpPr>
          <p:nvPr/>
        </p:nvCxnSpPr>
        <p:spPr>
          <a:xfrm>
            <a:off x="2687031" y="2779260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35" idx="7"/>
            <a:endCxn id="37" idx="3"/>
          </p:cNvCxnSpPr>
          <p:nvPr/>
        </p:nvCxnSpPr>
        <p:spPr>
          <a:xfrm flipV="1">
            <a:off x="1475973" y="2736778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ixaDeTexto 43"/>
          <p:cNvSpPr txBox="1"/>
          <p:nvPr/>
        </p:nvSpPr>
        <p:spPr>
          <a:xfrm>
            <a:off x="863216" y="29953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46" name="Conector reto 45"/>
          <p:cNvCxnSpPr>
            <a:stCxn id="35" idx="6"/>
            <a:endCxn id="38" idx="2"/>
          </p:cNvCxnSpPr>
          <p:nvPr/>
        </p:nvCxnSpPr>
        <p:spPr>
          <a:xfrm>
            <a:off x="1522149" y="3738195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lipse 46"/>
          <p:cNvSpPr/>
          <p:nvPr/>
        </p:nvSpPr>
        <p:spPr>
          <a:xfrm>
            <a:off x="3851913" y="248917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48" name="Conector reto 47"/>
          <p:cNvCxnSpPr>
            <a:stCxn id="37" idx="6"/>
            <a:endCxn id="47" idx="2"/>
          </p:cNvCxnSpPr>
          <p:nvPr/>
        </p:nvCxnSpPr>
        <p:spPr>
          <a:xfrm>
            <a:off x="2844686" y="2634217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>
            <a:stCxn id="38" idx="7"/>
            <a:endCxn id="47" idx="3"/>
          </p:cNvCxnSpPr>
          <p:nvPr/>
        </p:nvCxnSpPr>
        <p:spPr>
          <a:xfrm flipV="1">
            <a:off x="2798510" y="2736778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/>
          <p:cNvSpPr/>
          <p:nvPr/>
        </p:nvSpPr>
        <p:spPr>
          <a:xfrm>
            <a:off x="4974309" y="35919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53" name="Elipse 52"/>
          <p:cNvSpPr/>
          <p:nvPr/>
        </p:nvSpPr>
        <p:spPr>
          <a:xfrm>
            <a:off x="6296846" y="248797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59" name="Elipse 58"/>
          <p:cNvSpPr/>
          <p:nvPr/>
        </p:nvSpPr>
        <p:spPr>
          <a:xfrm>
            <a:off x="6296846" y="3591957"/>
            <a:ext cx="315310" cy="290086"/>
          </a:xfrm>
          <a:prstGeom prst="ellipse">
            <a:avLst/>
          </a:prstGeom>
          <a:solidFill>
            <a:srgbClr val="FF0000">
              <a:alpha val="12941"/>
            </a:srgbClr>
          </a:solidFill>
          <a:ln w="5715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 anchorCtr="1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60" name="Conector reto 59"/>
          <p:cNvCxnSpPr>
            <a:stCxn id="53" idx="4"/>
            <a:endCxn id="59" idx="0"/>
          </p:cNvCxnSpPr>
          <p:nvPr/>
        </p:nvCxnSpPr>
        <p:spPr>
          <a:xfrm>
            <a:off x="6454501" y="2778065"/>
            <a:ext cx="0" cy="813892"/>
          </a:xfrm>
          <a:prstGeom prst="line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>
            <a:stCxn id="51" idx="7"/>
            <a:endCxn id="53" idx="3"/>
          </p:cNvCxnSpPr>
          <p:nvPr/>
        </p:nvCxnSpPr>
        <p:spPr>
          <a:xfrm flipV="1">
            <a:off x="5243443" y="2735583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/>
          <p:cNvSpPr txBox="1"/>
          <p:nvPr/>
        </p:nvSpPr>
        <p:spPr>
          <a:xfrm>
            <a:off x="4631488" y="2994134"/>
            <a:ext cx="312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</a:t>
            </a:r>
          </a:p>
        </p:txBody>
      </p:sp>
      <p:cxnSp>
        <p:nvCxnSpPr>
          <p:cNvPr id="70" name="Conector reto 69"/>
          <p:cNvCxnSpPr>
            <a:stCxn id="51" idx="6"/>
            <a:endCxn id="59" idx="2"/>
          </p:cNvCxnSpPr>
          <p:nvPr/>
        </p:nvCxnSpPr>
        <p:spPr>
          <a:xfrm>
            <a:off x="5289619" y="3737000"/>
            <a:ext cx="1007227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Elipse 70"/>
          <p:cNvSpPr/>
          <p:nvPr/>
        </p:nvSpPr>
        <p:spPr>
          <a:xfrm>
            <a:off x="7619383" y="248797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72" name="Conector reto 71"/>
          <p:cNvCxnSpPr>
            <a:stCxn id="53" idx="6"/>
            <a:endCxn id="71" idx="2"/>
          </p:cNvCxnSpPr>
          <p:nvPr/>
        </p:nvCxnSpPr>
        <p:spPr>
          <a:xfrm>
            <a:off x="6612156" y="2633022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/>
          <p:cNvCxnSpPr>
            <a:stCxn id="59" idx="7"/>
            <a:endCxn id="71" idx="3"/>
          </p:cNvCxnSpPr>
          <p:nvPr/>
        </p:nvCxnSpPr>
        <p:spPr>
          <a:xfrm flipV="1">
            <a:off x="6565980" y="2735583"/>
            <a:ext cx="1099579" cy="898856"/>
          </a:xfrm>
          <a:prstGeom prst="line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CaixaDeTexto 73"/>
          <p:cNvSpPr txBox="1"/>
          <p:nvPr/>
        </p:nvSpPr>
        <p:spPr>
          <a:xfrm>
            <a:off x="4699726" y="3961914"/>
            <a:ext cx="3509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G induzido por {2, 3, 5}</a:t>
            </a:r>
          </a:p>
        </p:txBody>
      </p:sp>
      <p:sp>
        <p:nvSpPr>
          <p:cNvPr id="75" name="Elipse 74"/>
          <p:cNvSpPr/>
          <p:nvPr/>
        </p:nvSpPr>
        <p:spPr>
          <a:xfrm>
            <a:off x="4974309" y="2487979"/>
            <a:ext cx="315310" cy="290086"/>
          </a:xfrm>
          <a:prstGeom prst="ellipse">
            <a:avLst/>
          </a:prstGeom>
          <a:solidFill>
            <a:srgbClr val="FF0000">
              <a:alpha val="12941"/>
            </a:srgbClr>
          </a:solidFill>
          <a:ln w="5715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 anchorCtr="1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76" name="Conector reto 75"/>
          <p:cNvCxnSpPr>
            <a:stCxn id="75" idx="6"/>
            <a:endCxn id="53" idx="2"/>
          </p:cNvCxnSpPr>
          <p:nvPr/>
        </p:nvCxnSpPr>
        <p:spPr>
          <a:xfrm>
            <a:off x="5289619" y="2633022"/>
            <a:ext cx="1007227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>
            <a:stCxn id="75" idx="4"/>
            <a:endCxn id="51" idx="0"/>
          </p:cNvCxnSpPr>
          <p:nvPr/>
        </p:nvCxnSpPr>
        <p:spPr>
          <a:xfrm>
            <a:off x="5131964" y="2778065"/>
            <a:ext cx="0" cy="813892"/>
          </a:xfrm>
          <a:prstGeom prst="line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4603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7" grpId="0" animBg="1"/>
      <p:bldP spid="38" grpId="0" animBg="1"/>
      <p:bldP spid="44" grpId="0"/>
      <p:bldP spid="47" grpId="0" animBg="1"/>
      <p:bldP spid="51" grpId="0" animBg="1"/>
      <p:bldP spid="53" grpId="0" animBg="1"/>
      <p:bldP spid="59" grpId="0" animBg="1"/>
      <p:bldP spid="69" grpId="0"/>
      <p:bldP spid="71" grpId="0" animBg="1"/>
      <p:bldP spid="74" grpId="0"/>
      <p:bldP spid="7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Obtenção de </a:t>
            </a:r>
            <a:r>
              <a:rPr lang="pt-BR" dirty="0" err="1"/>
              <a:t>Subgrafo</a:t>
            </a:r>
            <a:r>
              <a:rPr lang="pt-BR" dirty="0"/>
              <a:t> Induzido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E), um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H induzido pelo subconjunto de vértices 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 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pode ser obtido pela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remoção dos vértices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G que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não estão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em 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Elipse 33"/>
          <p:cNvSpPr/>
          <p:nvPr/>
        </p:nvSpPr>
        <p:spPr>
          <a:xfrm>
            <a:off x="1206839" y="249116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5" name="Elipse 34"/>
          <p:cNvSpPr/>
          <p:nvPr/>
        </p:nvSpPr>
        <p:spPr>
          <a:xfrm>
            <a:off x="1206839" y="359315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7" name="Elipse 36"/>
          <p:cNvSpPr/>
          <p:nvPr/>
        </p:nvSpPr>
        <p:spPr>
          <a:xfrm>
            <a:off x="2529376" y="248917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38" name="Elipse 37"/>
          <p:cNvSpPr/>
          <p:nvPr/>
        </p:nvSpPr>
        <p:spPr>
          <a:xfrm>
            <a:off x="2529376" y="359315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39" name="Conector reto 38"/>
          <p:cNvCxnSpPr>
            <a:stCxn id="34" idx="6"/>
            <a:endCxn id="37" idx="2"/>
          </p:cNvCxnSpPr>
          <p:nvPr/>
        </p:nvCxnSpPr>
        <p:spPr>
          <a:xfrm flipV="1">
            <a:off x="1522149" y="2634217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/>
          <p:cNvCxnSpPr>
            <a:stCxn id="34" idx="4"/>
            <a:endCxn id="35" idx="0"/>
          </p:cNvCxnSpPr>
          <p:nvPr/>
        </p:nvCxnSpPr>
        <p:spPr>
          <a:xfrm>
            <a:off x="1364494" y="2781249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37" idx="4"/>
            <a:endCxn id="38" idx="0"/>
          </p:cNvCxnSpPr>
          <p:nvPr/>
        </p:nvCxnSpPr>
        <p:spPr>
          <a:xfrm>
            <a:off x="2687031" y="2779260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35" idx="7"/>
            <a:endCxn id="37" idx="3"/>
          </p:cNvCxnSpPr>
          <p:nvPr/>
        </p:nvCxnSpPr>
        <p:spPr>
          <a:xfrm flipV="1">
            <a:off x="1475973" y="2736778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ixaDeTexto 43"/>
          <p:cNvSpPr txBox="1"/>
          <p:nvPr/>
        </p:nvSpPr>
        <p:spPr>
          <a:xfrm>
            <a:off x="863216" y="29953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46" name="Conector reto 45"/>
          <p:cNvCxnSpPr>
            <a:stCxn id="35" idx="6"/>
            <a:endCxn id="38" idx="2"/>
          </p:cNvCxnSpPr>
          <p:nvPr/>
        </p:nvCxnSpPr>
        <p:spPr>
          <a:xfrm>
            <a:off x="1522149" y="3738195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lipse 46"/>
          <p:cNvSpPr/>
          <p:nvPr/>
        </p:nvSpPr>
        <p:spPr>
          <a:xfrm>
            <a:off x="3851913" y="248917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48" name="Conector reto 47"/>
          <p:cNvCxnSpPr>
            <a:stCxn id="37" idx="6"/>
            <a:endCxn id="47" idx="2"/>
          </p:cNvCxnSpPr>
          <p:nvPr/>
        </p:nvCxnSpPr>
        <p:spPr>
          <a:xfrm>
            <a:off x="2844686" y="2634217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>
            <a:stCxn id="38" idx="7"/>
            <a:endCxn id="47" idx="3"/>
          </p:cNvCxnSpPr>
          <p:nvPr/>
        </p:nvCxnSpPr>
        <p:spPr>
          <a:xfrm flipV="1">
            <a:off x="2798510" y="2736778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/>
          <p:cNvSpPr/>
          <p:nvPr/>
        </p:nvSpPr>
        <p:spPr>
          <a:xfrm>
            <a:off x="4974309" y="35919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53" name="Elipse 52"/>
          <p:cNvSpPr/>
          <p:nvPr/>
        </p:nvSpPr>
        <p:spPr>
          <a:xfrm>
            <a:off x="6296846" y="248797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64" name="Conector reto 63"/>
          <p:cNvCxnSpPr>
            <a:stCxn id="51" idx="7"/>
            <a:endCxn id="53" idx="3"/>
          </p:cNvCxnSpPr>
          <p:nvPr/>
        </p:nvCxnSpPr>
        <p:spPr>
          <a:xfrm flipV="1">
            <a:off x="5243443" y="2735583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/>
          <p:cNvSpPr txBox="1"/>
          <p:nvPr/>
        </p:nvSpPr>
        <p:spPr>
          <a:xfrm>
            <a:off x="4631488" y="2994134"/>
            <a:ext cx="312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</a:t>
            </a:r>
          </a:p>
        </p:txBody>
      </p:sp>
      <p:sp>
        <p:nvSpPr>
          <p:cNvPr id="71" name="Elipse 70"/>
          <p:cNvSpPr/>
          <p:nvPr/>
        </p:nvSpPr>
        <p:spPr>
          <a:xfrm>
            <a:off x="7619383" y="248797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72" name="Conector reto 71"/>
          <p:cNvCxnSpPr>
            <a:stCxn id="53" idx="6"/>
            <a:endCxn id="71" idx="2"/>
          </p:cNvCxnSpPr>
          <p:nvPr/>
        </p:nvCxnSpPr>
        <p:spPr>
          <a:xfrm>
            <a:off x="6612156" y="2633022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CaixaDeTexto 73"/>
          <p:cNvSpPr txBox="1"/>
          <p:nvPr/>
        </p:nvSpPr>
        <p:spPr>
          <a:xfrm>
            <a:off x="4917734" y="3924525"/>
            <a:ext cx="3073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induzido por {2, 3, 5}</a:t>
            </a:r>
          </a:p>
        </p:txBody>
      </p:sp>
    </p:spTree>
    <p:extLst>
      <p:ext uri="{BB962C8B-B14F-4D97-AF65-F5344CB8AC3E}">
        <p14:creationId xmlns:p14="http://schemas.microsoft.com/office/powerpoint/2010/main" val="3565407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Subgrafo</a:t>
            </a:r>
            <a:r>
              <a:rPr lang="pt-BR" dirty="0"/>
              <a:t> Gerador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grafo H = (V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é dito </a:t>
            </a:r>
            <a:r>
              <a:rPr lang="pt-BR" sz="20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subgrafo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gerador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G = (V, E) quando ele contém todos os vértices de G, isto é, 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 V.</a:t>
            </a: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199751" y="241319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199751" y="351518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522288" y="241120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522288" y="351518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515061" y="2556245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357406" y="2703277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2679943" y="2701288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468885" y="2658806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856128" y="291735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515061" y="3660223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844825" y="241120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/>
          <p:cNvCxnSpPr>
            <a:stCxn id="7" idx="6"/>
            <a:endCxn id="15" idx="2"/>
          </p:cNvCxnSpPr>
          <p:nvPr/>
        </p:nvCxnSpPr>
        <p:spPr>
          <a:xfrm>
            <a:off x="2837598" y="2556245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8" idx="7"/>
            <a:endCxn id="15" idx="3"/>
          </p:cNvCxnSpPr>
          <p:nvPr/>
        </p:nvCxnSpPr>
        <p:spPr>
          <a:xfrm flipV="1">
            <a:off x="2791422" y="2658806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/>
          <p:cNvSpPr/>
          <p:nvPr/>
        </p:nvSpPr>
        <p:spPr>
          <a:xfrm>
            <a:off x="5038839" y="241319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19" name="Elipse 18"/>
          <p:cNvSpPr/>
          <p:nvPr/>
        </p:nvSpPr>
        <p:spPr>
          <a:xfrm>
            <a:off x="5038839" y="351518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20" name="Elipse 19"/>
          <p:cNvSpPr/>
          <p:nvPr/>
        </p:nvSpPr>
        <p:spPr>
          <a:xfrm>
            <a:off x="6361376" y="241120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21" name="Elipse 20"/>
          <p:cNvSpPr/>
          <p:nvPr/>
        </p:nvSpPr>
        <p:spPr>
          <a:xfrm>
            <a:off x="6361376" y="351518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22" name="Conector reto 21"/>
          <p:cNvCxnSpPr>
            <a:stCxn id="18" idx="6"/>
            <a:endCxn id="20" idx="2"/>
          </p:cNvCxnSpPr>
          <p:nvPr/>
        </p:nvCxnSpPr>
        <p:spPr>
          <a:xfrm flipV="1">
            <a:off x="5354149" y="2556245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8" idx="4"/>
            <a:endCxn id="19" idx="0"/>
          </p:cNvCxnSpPr>
          <p:nvPr/>
        </p:nvCxnSpPr>
        <p:spPr>
          <a:xfrm>
            <a:off x="5196494" y="2703277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4696018" y="2917357"/>
            <a:ext cx="312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</a:t>
            </a:r>
          </a:p>
        </p:txBody>
      </p:sp>
      <p:sp>
        <p:nvSpPr>
          <p:cNvPr id="28" name="Elipse 27"/>
          <p:cNvSpPr/>
          <p:nvPr/>
        </p:nvSpPr>
        <p:spPr>
          <a:xfrm>
            <a:off x="7683913" y="241120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29" name="Conector reto 28"/>
          <p:cNvCxnSpPr>
            <a:stCxn id="20" idx="6"/>
            <a:endCxn id="28" idx="2"/>
          </p:cNvCxnSpPr>
          <p:nvPr/>
        </p:nvCxnSpPr>
        <p:spPr>
          <a:xfrm>
            <a:off x="6676686" y="2556245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5618784" y="395974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gerador</a:t>
            </a:r>
          </a:p>
        </p:txBody>
      </p:sp>
    </p:spTree>
    <p:extLst>
      <p:ext uri="{BB962C8B-B14F-4D97-AF65-F5344CB8AC3E}">
        <p14:creationId xmlns:p14="http://schemas.microsoft.com/office/powerpoint/2010/main" val="34437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3" grpId="0"/>
      <p:bldP spid="15" grpId="0" animBg="1"/>
      <p:bldP spid="18" grpId="0" animBg="1"/>
      <p:bldP spid="19" grpId="0" animBg="1"/>
      <p:bldP spid="20" grpId="0" animBg="1"/>
      <p:bldP spid="21" grpId="0" animBg="1"/>
      <p:bldP spid="26" grpId="0"/>
      <p:bldP spid="28" grpId="0" animBg="1"/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aixaDeTexto 62"/>
          <p:cNvSpPr txBox="1"/>
          <p:nvPr/>
        </p:nvSpPr>
        <p:spPr>
          <a:xfrm>
            <a:off x="3159425" y="2882948"/>
            <a:ext cx="395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Obtenção de </a:t>
            </a:r>
            <a:r>
              <a:rPr lang="pt-BR" dirty="0" err="1"/>
              <a:t>Subgrafo</a:t>
            </a:r>
            <a:r>
              <a:rPr lang="pt-BR" dirty="0"/>
              <a:t> Gerador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subgrafo gerador H de um grafo G = (V, E) pode ser obtido pela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remoção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uma ou mais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G (mantendo-se todos os vértices de G).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767973" y="2562593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767738" y="3362831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1650546" y="2560604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1650311" y="3362831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967619" y="2660171"/>
            <a:ext cx="6829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 flipH="1">
            <a:off x="867561" y="2761726"/>
            <a:ext cx="235" cy="601105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 flipH="1">
            <a:off x="1750134" y="2759737"/>
            <a:ext cx="235" cy="60309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938147" y="2730575"/>
            <a:ext cx="741636" cy="66141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95536" y="2892006"/>
            <a:ext cx="1991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967384" y="3462398"/>
            <a:ext cx="6829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2533540" y="2560603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/>
          <p:cNvCxnSpPr>
            <a:stCxn id="7" idx="6"/>
            <a:endCxn id="15" idx="2"/>
          </p:cNvCxnSpPr>
          <p:nvPr/>
        </p:nvCxnSpPr>
        <p:spPr>
          <a:xfrm flipV="1">
            <a:off x="1850192" y="2660170"/>
            <a:ext cx="683348" cy="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8" idx="7"/>
            <a:endCxn id="15" idx="3"/>
          </p:cNvCxnSpPr>
          <p:nvPr/>
        </p:nvCxnSpPr>
        <p:spPr>
          <a:xfrm flipV="1">
            <a:off x="1820720" y="2730574"/>
            <a:ext cx="742057" cy="66141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/>
          <p:cNvSpPr txBox="1"/>
          <p:nvPr/>
        </p:nvSpPr>
        <p:spPr>
          <a:xfrm>
            <a:off x="3502937" y="3666411"/>
            <a:ext cx="21985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Subgrafo gerador de G obtido pela remoção das arestas {1, 2}, {2 , 4} e {4, 5}</a:t>
            </a:r>
          </a:p>
        </p:txBody>
      </p:sp>
      <p:sp>
        <p:nvSpPr>
          <p:cNvPr id="55" name="Elipse 54"/>
          <p:cNvSpPr/>
          <p:nvPr/>
        </p:nvSpPr>
        <p:spPr>
          <a:xfrm>
            <a:off x="3596312" y="2562593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56" name="Elipse 55"/>
          <p:cNvSpPr/>
          <p:nvPr/>
        </p:nvSpPr>
        <p:spPr>
          <a:xfrm>
            <a:off x="3596077" y="3362831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57" name="Elipse 56"/>
          <p:cNvSpPr/>
          <p:nvPr/>
        </p:nvSpPr>
        <p:spPr>
          <a:xfrm>
            <a:off x="4478885" y="2560604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58" name="Elipse 57"/>
          <p:cNvSpPr/>
          <p:nvPr/>
        </p:nvSpPr>
        <p:spPr>
          <a:xfrm>
            <a:off x="4478650" y="3362831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61" name="Conector reto 60"/>
          <p:cNvCxnSpPr>
            <a:stCxn id="57" idx="4"/>
            <a:endCxn id="58" idx="0"/>
          </p:cNvCxnSpPr>
          <p:nvPr/>
        </p:nvCxnSpPr>
        <p:spPr>
          <a:xfrm flipH="1">
            <a:off x="4578473" y="2759737"/>
            <a:ext cx="235" cy="60309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/>
          <p:cNvCxnSpPr>
            <a:stCxn id="56" idx="7"/>
            <a:endCxn id="57" idx="3"/>
          </p:cNvCxnSpPr>
          <p:nvPr/>
        </p:nvCxnSpPr>
        <p:spPr>
          <a:xfrm flipV="1">
            <a:off x="3766486" y="2730575"/>
            <a:ext cx="741636" cy="66141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lipse 64"/>
          <p:cNvSpPr/>
          <p:nvPr/>
        </p:nvSpPr>
        <p:spPr>
          <a:xfrm>
            <a:off x="5361879" y="2560603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66" name="Conector reto 65"/>
          <p:cNvCxnSpPr>
            <a:stCxn id="57" idx="6"/>
            <a:endCxn id="65" idx="2"/>
          </p:cNvCxnSpPr>
          <p:nvPr/>
        </p:nvCxnSpPr>
        <p:spPr>
          <a:xfrm flipV="1">
            <a:off x="4678531" y="2660170"/>
            <a:ext cx="683348" cy="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/>
          <p:cNvSpPr txBox="1"/>
          <p:nvPr/>
        </p:nvSpPr>
        <p:spPr>
          <a:xfrm>
            <a:off x="6020666" y="2882948"/>
            <a:ext cx="395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sp>
        <p:nvSpPr>
          <p:cNvPr id="37" name="Elipse 36"/>
          <p:cNvSpPr/>
          <p:nvPr/>
        </p:nvSpPr>
        <p:spPr>
          <a:xfrm>
            <a:off x="6457553" y="2562593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/>
          <p:cNvSpPr/>
          <p:nvPr/>
        </p:nvSpPr>
        <p:spPr>
          <a:xfrm>
            <a:off x="6457318" y="3362831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/>
          <p:cNvSpPr/>
          <p:nvPr/>
        </p:nvSpPr>
        <p:spPr>
          <a:xfrm>
            <a:off x="7340126" y="2560604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0" name="Elipse 39"/>
          <p:cNvSpPr/>
          <p:nvPr/>
        </p:nvSpPr>
        <p:spPr>
          <a:xfrm>
            <a:off x="7339891" y="3362831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4" name="Elipse 43"/>
          <p:cNvSpPr/>
          <p:nvPr/>
        </p:nvSpPr>
        <p:spPr>
          <a:xfrm>
            <a:off x="8223120" y="2560603"/>
            <a:ext cx="199646" cy="19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6457318" y="3666411"/>
            <a:ext cx="20345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Subgrafo gerador de G  obtido pela remoção de todas as arestas</a:t>
            </a:r>
          </a:p>
        </p:txBody>
      </p:sp>
      <p:cxnSp>
        <p:nvCxnSpPr>
          <p:cNvPr id="49" name="Conector reto 48"/>
          <p:cNvCxnSpPr>
            <a:stCxn id="55" idx="6"/>
            <a:endCxn id="57" idx="2"/>
          </p:cNvCxnSpPr>
          <p:nvPr/>
        </p:nvCxnSpPr>
        <p:spPr>
          <a:xfrm flipV="1">
            <a:off x="3795958" y="2660171"/>
            <a:ext cx="6829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4553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4" grpId="0" animBg="1"/>
      <p:bldP spid="6" grpId="0" animBg="1"/>
      <p:bldP spid="7" grpId="0" animBg="1"/>
      <p:bldP spid="8" grpId="0" animBg="1"/>
      <p:bldP spid="13" grpId="0"/>
      <p:bldP spid="15" grpId="0" animBg="1"/>
      <p:bldP spid="36" grpId="0"/>
      <p:bldP spid="55" grpId="0" animBg="1"/>
      <p:bldP spid="56" grpId="0" animBg="1"/>
      <p:bldP spid="57" grpId="0" animBg="1"/>
      <p:bldP spid="58" grpId="0" animBg="1"/>
      <p:bldP spid="65" grpId="0" animBg="1"/>
      <p:bldP spid="34" grpId="0"/>
      <p:bldP spid="37" grpId="0" animBg="1"/>
      <p:bldP spid="38" grpId="0" animBg="1"/>
      <p:bldP spid="39" grpId="0" animBg="1"/>
      <p:bldP spid="40" grpId="0" animBg="1"/>
      <p:bldP spid="44" grpId="0" animBg="1"/>
      <p:bldP spid="4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3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AP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ubtítul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penas texto corrid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ítulo e texto corrid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It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ítulo, texto e im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xto e im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Apenas imagens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Tabel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Encerrament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1442</TotalTime>
  <Words>1295</Words>
  <Application>Microsoft Office PowerPoint</Application>
  <PresentationFormat>Apresentação na tela (16:9)</PresentationFormat>
  <Paragraphs>335</Paragraphs>
  <Slides>20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10</vt:i4>
      </vt:variant>
      <vt:variant>
        <vt:lpstr>Títulos de slides</vt:lpstr>
      </vt:variant>
      <vt:variant>
        <vt:i4>20</vt:i4>
      </vt:variant>
    </vt:vector>
  </HeadingPairs>
  <TitlesOfParts>
    <vt:vector size="33" baseType="lpstr">
      <vt:lpstr>Arial</vt:lpstr>
      <vt:lpstr>Calibri</vt:lpstr>
      <vt:lpstr>Cambria Math</vt:lpstr>
      <vt:lpstr>CAPA</vt:lpstr>
      <vt:lpstr>Subtítulo</vt:lpstr>
      <vt:lpstr>Apenas texto corrido</vt:lpstr>
      <vt:lpstr>Título e texto corrido</vt:lpstr>
      <vt:lpstr>Item</vt:lpstr>
      <vt:lpstr>Título, texto e imagem</vt:lpstr>
      <vt:lpstr>Texto e imagem</vt:lpstr>
      <vt:lpstr>Apenas imagens</vt:lpstr>
      <vt:lpstr>Tabela</vt:lpstr>
      <vt:lpstr>Encerramento</vt:lpstr>
      <vt:lpstr>Isomorfismo / Subgrafo</vt:lpstr>
      <vt:lpstr>Isomorfismo</vt:lpstr>
      <vt:lpstr>Isomorfismo</vt:lpstr>
      <vt:lpstr>Verificação de Isomorfismo</vt:lpstr>
      <vt:lpstr>Verificação de Isomorfismo</vt:lpstr>
      <vt:lpstr>Verificação de Isomorfismo</vt:lpstr>
      <vt:lpstr>Subgrafo</vt:lpstr>
      <vt:lpstr>Subgrafo</vt:lpstr>
      <vt:lpstr>Subgrafo</vt:lpstr>
      <vt:lpstr>Remoção de Aresta</vt:lpstr>
      <vt:lpstr>Remoção de Aresta</vt:lpstr>
      <vt:lpstr>Remoção de Vértice</vt:lpstr>
      <vt:lpstr>Remoção de Vértice</vt:lpstr>
      <vt:lpstr>Obtenção de Subgrafo</vt:lpstr>
      <vt:lpstr>Subgrafo Induzido</vt:lpstr>
      <vt:lpstr>Obtenção de Subgrafo Induzido</vt:lpstr>
      <vt:lpstr>Obtenção de Subgrafo Induzido</vt:lpstr>
      <vt:lpstr>Subgrafo Gerador</vt:lpstr>
      <vt:lpstr>Obtenção de Subgrafo Gerador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Kelen da Silva Miranda</dc:creator>
  <cp:lastModifiedBy>Leonardo</cp:lastModifiedBy>
  <cp:revision>126</cp:revision>
  <dcterms:created xsi:type="dcterms:W3CDTF">2018-04-05T14:34:00Z</dcterms:created>
  <dcterms:modified xsi:type="dcterms:W3CDTF">2022-07-30T22:54:45Z</dcterms:modified>
</cp:coreProperties>
</file>