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  <p:sldMasterId id="2147483655" r:id="rId3"/>
    <p:sldMasterId id="2147483657" r:id="rId4"/>
    <p:sldMasterId id="2147483670" r:id="rId5"/>
    <p:sldMasterId id="2147483659" r:id="rId6"/>
    <p:sldMasterId id="2147483661" r:id="rId7"/>
    <p:sldMasterId id="2147483663" r:id="rId8"/>
    <p:sldMasterId id="2147483665" r:id="rId9"/>
    <p:sldMasterId id="2147483667" r:id="rId10"/>
  </p:sldMasterIdLst>
  <p:notesMasterIdLst>
    <p:notesMasterId r:id="rId110"/>
  </p:notesMasterIdLst>
  <p:handoutMasterIdLst>
    <p:handoutMasterId r:id="rId111"/>
  </p:handoutMasterIdLst>
  <p:sldIdLst>
    <p:sldId id="256" r:id="rId11"/>
    <p:sldId id="389" r:id="rId12"/>
    <p:sldId id="342" r:id="rId13"/>
    <p:sldId id="344" r:id="rId14"/>
    <p:sldId id="345" r:id="rId15"/>
    <p:sldId id="343" r:id="rId16"/>
    <p:sldId id="353" r:id="rId17"/>
    <p:sldId id="352" r:id="rId18"/>
    <p:sldId id="351" r:id="rId19"/>
    <p:sldId id="350" r:id="rId20"/>
    <p:sldId id="349" r:id="rId21"/>
    <p:sldId id="348" r:id="rId22"/>
    <p:sldId id="347" r:id="rId23"/>
    <p:sldId id="356" r:id="rId24"/>
    <p:sldId id="354" r:id="rId25"/>
    <p:sldId id="359" r:id="rId26"/>
    <p:sldId id="360" r:id="rId27"/>
    <p:sldId id="361" r:id="rId28"/>
    <p:sldId id="362" r:id="rId29"/>
    <p:sldId id="363" r:id="rId30"/>
    <p:sldId id="364" r:id="rId31"/>
    <p:sldId id="365" r:id="rId32"/>
    <p:sldId id="355" r:id="rId33"/>
    <p:sldId id="358" r:id="rId34"/>
    <p:sldId id="366" r:id="rId35"/>
    <p:sldId id="367" r:id="rId36"/>
    <p:sldId id="368" r:id="rId37"/>
    <p:sldId id="369" r:id="rId38"/>
    <p:sldId id="370" r:id="rId39"/>
    <p:sldId id="371" r:id="rId40"/>
    <p:sldId id="372" r:id="rId41"/>
    <p:sldId id="357" r:id="rId42"/>
    <p:sldId id="422" r:id="rId43"/>
    <p:sldId id="425" r:id="rId44"/>
    <p:sldId id="424" r:id="rId45"/>
    <p:sldId id="394" r:id="rId46"/>
    <p:sldId id="426" r:id="rId47"/>
    <p:sldId id="427" r:id="rId48"/>
    <p:sldId id="430" r:id="rId49"/>
    <p:sldId id="431" r:id="rId50"/>
    <p:sldId id="432" r:id="rId51"/>
    <p:sldId id="433" r:id="rId52"/>
    <p:sldId id="388" r:id="rId53"/>
    <p:sldId id="373" r:id="rId54"/>
    <p:sldId id="374" r:id="rId55"/>
    <p:sldId id="375" r:id="rId56"/>
    <p:sldId id="376" r:id="rId57"/>
    <p:sldId id="377" r:id="rId58"/>
    <p:sldId id="378" r:id="rId59"/>
    <p:sldId id="379" r:id="rId60"/>
    <p:sldId id="380" r:id="rId61"/>
    <p:sldId id="381" r:id="rId62"/>
    <p:sldId id="382" r:id="rId63"/>
    <p:sldId id="383" r:id="rId64"/>
    <p:sldId id="384" r:id="rId65"/>
    <p:sldId id="385" r:id="rId66"/>
    <p:sldId id="386" r:id="rId67"/>
    <p:sldId id="387" r:id="rId68"/>
    <p:sldId id="396" r:id="rId69"/>
    <p:sldId id="409" r:id="rId70"/>
    <p:sldId id="467" r:id="rId71"/>
    <p:sldId id="400" r:id="rId72"/>
    <p:sldId id="401" r:id="rId73"/>
    <p:sldId id="402" r:id="rId74"/>
    <p:sldId id="403" r:id="rId75"/>
    <p:sldId id="404" r:id="rId76"/>
    <p:sldId id="410" r:id="rId77"/>
    <p:sldId id="405" r:id="rId78"/>
    <p:sldId id="406" r:id="rId79"/>
    <p:sldId id="407" r:id="rId80"/>
    <p:sldId id="408" r:id="rId81"/>
    <p:sldId id="391" r:id="rId82"/>
    <p:sldId id="442" r:id="rId83"/>
    <p:sldId id="444" r:id="rId84"/>
    <p:sldId id="463" r:id="rId85"/>
    <p:sldId id="443" r:id="rId86"/>
    <p:sldId id="445" r:id="rId87"/>
    <p:sldId id="446" r:id="rId88"/>
    <p:sldId id="464" r:id="rId89"/>
    <p:sldId id="447" r:id="rId90"/>
    <p:sldId id="411" r:id="rId91"/>
    <p:sldId id="451" r:id="rId92"/>
    <p:sldId id="450" r:id="rId93"/>
    <p:sldId id="449" r:id="rId94"/>
    <p:sldId id="448" r:id="rId95"/>
    <p:sldId id="452" r:id="rId96"/>
    <p:sldId id="392" r:id="rId97"/>
    <p:sldId id="453" r:id="rId98"/>
    <p:sldId id="456" r:id="rId99"/>
    <p:sldId id="455" r:id="rId100"/>
    <p:sldId id="419" r:id="rId101"/>
    <p:sldId id="458" r:id="rId102"/>
    <p:sldId id="465" r:id="rId103"/>
    <p:sldId id="459" r:id="rId104"/>
    <p:sldId id="418" r:id="rId105"/>
    <p:sldId id="462" r:id="rId106"/>
    <p:sldId id="466" r:id="rId107"/>
    <p:sldId id="461" r:id="rId108"/>
    <p:sldId id="270" r:id="rId109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6B9B8"/>
    <a:srgbClr val="FFFF00"/>
    <a:srgbClr val="61789A"/>
    <a:srgbClr val="FF66FF"/>
    <a:srgbClr val="CC00FF"/>
    <a:srgbClr val="9900CC"/>
    <a:srgbClr val="474748"/>
    <a:srgbClr val="996600"/>
    <a:srgbClr val="17B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408"/>
    </p:cViewPr>
  </p:sorterViewPr>
  <p:notesViewPr>
    <p:cSldViewPr snapToGrid="0" showGuides="1">
      <p:cViewPr varScale="1">
        <p:scale>
          <a:sx n="85" d="100"/>
          <a:sy n="85" d="100"/>
        </p:scale>
        <p:origin x="-378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63" Type="http://schemas.openxmlformats.org/officeDocument/2006/relationships/slide" Target="slides/slide53.xml"/><Relationship Id="rId68" Type="http://schemas.openxmlformats.org/officeDocument/2006/relationships/slide" Target="slides/slide58.xml"/><Relationship Id="rId84" Type="http://schemas.openxmlformats.org/officeDocument/2006/relationships/slide" Target="slides/slide74.xml"/><Relationship Id="rId89" Type="http://schemas.openxmlformats.org/officeDocument/2006/relationships/slide" Target="slides/slide79.xml"/><Relationship Id="rId112" Type="http://schemas.openxmlformats.org/officeDocument/2006/relationships/presProps" Target="presProps.xml"/><Relationship Id="rId16" Type="http://schemas.openxmlformats.org/officeDocument/2006/relationships/slide" Target="slides/slide6.xml"/><Relationship Id="rId107" Type="http://schemas.openxmlformats.org/officeDocument/2006/relationships/slide" Target="slides/slide97.xml"/><Relationship Id="rId11" Type="http://schemas.openxmlformats.org/officeDocument/2006/relationships/slide" Target="slides/slide1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74" Type="http://schemas.openxmlformats.org/officeDocument/2006/relationships/slide" Target="slides/slide64.xml"/><Relationship Id="rId79" Type="http://schemas.openxmlformats.org/officeDocument/2006/relationships/slide" Target="slides/slide69.xml"/><Relationship Id="rId102" Type="http://schemas.openxmlformats.org/officeDocument/2006/relationships/slide" Target="slides/slide92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0.xml"/><Relationship Id="rId95" Type="http://schemas.openxmlformats.org/officeDocument/2006/relationships/slide" Target="slides/slide85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64" Type="http://schemas.openxmlformats.org/officeDocument/2006/relationships/slide" Target="slides/slide54.xml"/><Relationship Id="rId69" Type="http://schemas.openxmlformats.org/officeDocument/2006/relationships/slide" Target="slides/slide59.xml"/><Relationship Id="rId113" Type="http://schemas.openxmlformats.org/officeDocument/2006/relationships/viewProps" Target="viewProps.xml"/><Relationship Id="rId80" Type="http://schemas.openxmlformats.org/officeDocument/2006/relationships/slide" Target="slides/slide70.xml"/><Relationship Id="rId85" Type="http://schemas.openxmlformats.org/officeDocument/2006/relationships/slide" Target="slides/slide75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59" Type="http://schemas.openxmlformats.org/officeDocument/2006/relationships/slide" Target="slides/slide49.xml"/><Relationship Id="rId103" Type="http://schemas.openxmlformats.org/officeDocument/2006/relationships/slide" Target="slides/slide93.xml"/><Relationship Id="rId108" Type="http://schemas.openxmlformats.org/officeDocument/2006/relationships/slide" Target="slides/slide98.xml"/><Relationship Id="rId54" Type="http://schemas.openxmlformats.org/officeDocument/2006/relationships/slide" Target="slides/slide44.xml"/><Relationship Id="rId70" Type="http://schemas.openxmlformats.org/officeDocument/2006/relationships/slide" Target="slides/slide60.xml"/><Relationship Id="rId75" Type="http://schemas.openxmlformats.org/officeDocument/2006/relationships/slide" Target="slides/slide65.xml"/><Relationship Id="rId91" Type="http://schemas.openxmlformats.org/officeDocument/2006/relationships/slide" Target="slides/slide81.xml"/><Relationship Id="rId96" Type="http://schemas.openxmlformats.org/officeDocument/2006/relationships/slide" Target="slides/slide8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slide" Target="slides/slide47.xml"/><Relationship Id="rId106" Type="http://schemas.openxmlformats.org/officeDocument/2006/relationships/slide" Target="slides/slide96.xml"/><Relationship Id="rId114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slide" Target="slides/slide50.xml"/><Relationship Id="rId65" Type="http://schemas.openxmlformats.org/officeDocument/2006/relationships/slide" Target="slides/slide55.xml"/><Relationship Id="rId73" Type="http://schemas.openxmlformats.org/officeDocument/2006/relationships/slide" Target="slides/slide63.xml"/><Relationship Id="rId78" Type="http://schemas.openxmlformats.org/officeDocument/2006/relationships/slide" Target="slides/slide68.xml"/><Relationship Id="rId81" Type="http://schemas.openxmlformats.org/officeDocument/2006/relationships/slide" Target="slides/slide71.xml"/><Relationship Id="rId86" Type="http://schemas.openxmlformats.org/officeDocument/2006/relationships/slide" Target="slides/slide76.xml"/><Relationship Id="rId94" Type="http://schemas.openxmlformats.org/officeDocument/2006/relationships/slide" Target="slides/slide84.xml"/><Relationship Id="rId99" Type="http://schemas.openxmlformats.org/officeDocument/2006/relationships/slide" Target="slides/slide89.xml"/><Relationship Id="rId101" Type="http://schemas.openxmlformats.org/officeDocument/2006/relationships/slide" Target="slides/slide9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9" Type="http://schemas.openxmlformats.org/officeDocument/2006/relationships/slide" Target="slides/slide29.xml"/><Relationship Id="rId109" Type="http://schemas.openxmlformats.org/officeDocument/2006/relationships/slide" Target="slides/slide99.xml"/><Relationship Id="rId34" Type="http://schemas.openxmlformats.org/officeDocument/2006/relationships/slide" Target="slides/slide24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6" Type="http://schemas.openxmlformats.org/officeDocument/2006/relationships/slide" Target="slides/slide66.xml"/><Relationship Id="rId97" Type="http://schemas.openxmlformats.org/officeDocument/2006/relationships/slide" Target="slides/slide87.xml"/><Relationship Id="rId104" Type="http://schemas.openxmlformats.org/officeDocument/2006/relationships/slide" Target="slides/slide94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1.xml"/><Relationship Id="rId92" Type="http://schemas.openxmlformats.org/officeDocument/2006/relationships/slide" Target="slides/slide82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24" Type="http://schemas.openxmlformats.org/officeDocument/2006/relationships/slide" Target="slides/slide14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66" Type="http://schemas.openxmlformats.org/officeDocument/2006/relationships/slide" Target="slides/slide56.xml"/><Relationship Id="rId87" Type="http://schemas.openxmlformats.org/officeDocument/2006/relationships/slide" Target="slides/slide77.xml"/><Relationship Id="rId110" Type="http://schemas.openxmlformats.org/officeDocument/2006/relationships/notesMaster" Target="notesMasters/notesMaster1.xml"/><Relationship Id="rId115" Type="http://schemas.openxmlformats.org/officeDocument/2006/relationships/tableStyles" Target="tableStyles.xml"/><Relationship Id="rId61" Type="http://schemas.openxmlformats.org/officeDocument/2006/relationships/slide" Target="slides/slide51.xml"/><Relationship Id="rId82" Type="http://schemas.openxmlformats.org/officeDocument/2006/relationships/slide" Target="slides/slide72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56" Type="http://schemas.openxmlformats.org/officeDocument/2006/relationships/slide" Target="slides/slide46.xml"/><Relationship Id="rId77" Type="http://schemas.openxmlformats.org/officeDocument/2006/relationships/slide" Target="slides/slide67.xml"/><Relationship Id="rId100" Type="http://schemas.openxmlformats.org/officeDocument/2006/relationships/slide" Target="slides/slide90.xml"/><Relationship Id="rId105" Type="http://schemas.openxmlformats.org/officeDocument/2006/relationships/slide" Target="slides/slide95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1.xml"/><Relationship Id="rId72" Type="http://schemas.openxmlformats.org/officeDocument/2006/relationships/slide" Target="slides/slide62.xml"/><Relationship Id="rId93" Type="http://schemas.openxmlformats.org/officeDocument/2006/relationships/slide" Target="slides/slide83.xml"/><Relationship Id="rId98" Type="http://schemas.openxmlformats.org/officeDocument/2006/relationships/slide" Target="slides/slide88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5.xml"/><Relationship Id="rId46" Type="http://schemas.openxmlformats.org/officeDocument/2006/relationships/slide" Target="slides/slide36.xml"/><Relationship Id="rId67" Type="http://schemas.openxmlformats.org/officeDocument/2006/relationships/slide" Target="slides/slide57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62" Type="http://schemas.openxmlformats.org/officeDocument/2006/relationships/slide" Target="slides/slide52.xml"/><Relationship Id="rId83" Type="http://schemas.openxmlformats.org/officeDocument/2006/relationships/slide" Target="slides/slide73.xml"/><Relationship Id="rId88" Type="http://schemas.openxmlformats.org/officeDocument/2006/relationships/slide" Target="slides/slide78.xml"/><Relationship Id="rId111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3D903F-5E89-40AE-B011-9559E3D6D14A}" type="doc">
      <dgm:prSet loTypeId="urn:microsoft.com/office/officeart/2005/8/layout/venn2" loCatId="relationship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pt-BR"/>
        </a:p>
      </dgm:t>
    </dgm:pt>
    <dgm:pt modelId="{6FF7BB80-734C-42EC-B2B1-8A21A386546B}">
      <dgm:prSet phldrT="[Texto]"/>
      <dgm:spPr/>
      <dgm:t>
        <a:bodyPr/>
        <a:lstStyle/>
        <a:p>
          <a:r>
            <a:rPr lang="pt-BR" dirty="0"/>
            <a:t>F-Conexo</a:t>
          </a:r>
        </a:p>
      </dgm:t>
    </dgm:pt>
    <dgm:pt modelId="{F90AA6F1-5113-42FE-BDA4-7A282548FAD8}" type="parTrans" cxnId="{895E9524-DA16-420B-B22A-B2A2EBB08254}">
      <dgm:prSet/>
      <dgm:spPr/>
      <dgm:t>
        <a:bodyPr/>
        <a:lstStyle/>
        <a:p>
          <a:endParaRPr lang="pt-BR"/>
        </a:p>
      </dgm:t>
    </dgm:pt>
    <dgm:pt modelId="{1F5E99A2-847D-4AA7-A81D-E3480C8C3EF1}" type="sibTrans" cxnId="{895E9524-DA16-420B-B22A-B2A2EBB08254}">
      <dgm:prSet/>
      <dgm:spPr/>
      <dgm:t>
        <a:bodyPr/>
        <a:lstStyle/>
        <a:p>
          <a:endParaRPr lang="pt-BR"/>
        </a:p>
      </dgm:t>
    </dgm:pt>
    <dgm:pt modelId="{C223C961-2A0B-428F-AEAB-FA2BA9EB2A2C}">
      <dgm:prSet phldrT="[Texto]"/>
      <dgm:spPr/>
      <dgm:t>
        <a:bodyPr/>
        <a:lstStyle/>
        <a:p>
          <a:r>
            <a:rPr lang="pt-BR" dirty="0"/>
            <a:t>SF-Conexo</a:t>
          </a:r>
        </a:p>
      </dgm:t>
    </dgm:pt>
    <dgm:pt modelId="{E4E40224-279F-4D34-8FC2-77D9716A2496}" type="parTrans" cxnId="{D9AD805D-4468-45A3-8527-63DE9A261473}">
      <dgm:prSet/>
      <dgm:spPr/>
      <dgm:t>
        <a:bodyPr/>
        <a:lstStyle/>
        <a:p>
          <a:endParaRPr lang="pt-BR"/>
        </a:p>
      </dgm:t>
    </dgm:pt>
    <dgm:pt modelId="{6A205AC0-0BD0-4C9D-BFDD-E9311D2B463B}" type="sibTrans" cxnId="{D9AD805D-4468-45A3-8527-63DE9A261473}">
      <dgm:prSet/>
      <dgm:spPr/>
      <dgm:t>
        <a:bodyPr/>
        <a:lstStyle/>
        <a:p>
          <a:endParaRPr lang="pt-BR"/>
        </a:p>
      </dgm:t>
    </dgm:pt>
    <dgm:pt modelId="{7AC55ECF-122E-42A6-B1C5-BE58A2EC0DD7}">
      <dgm:prSet phldrT="[Texto]"/>
      <dgm:spPr/>
      <dgm:t>
        <a:bodyPr/>
        <a:lstStyle/>
        <a:p>
          <a:r>
            <a:rPr lang="pt-BR" dirty="0"/>
            <a:t>S-Conexo</a:t>
          </a:r>
        </a:p>
      </dgm:t>
    </dgm:pt>
    <dgm:pt modelId="{AF7E85C0-5997-4E67-89F3-AFAB6DECABB6}" type="parTrans" cxnId="{2E7306E4-86AE-4CA0-97B8-A9D15AA22371}">
      <dgm:prSet/>
      <dgm:spPr/>
      <dgm:t>
        <a:bodyPr/>
        <a:lstStyle/>
        <a:p>
          <a:endParaRPr lang="pt-BR"/>
        </a:p>
      </dgm:t>
    </dgm:pt>
    <dgm:pt modelId="{814456E0-B4AA-4FB9-ADB8-C95799CE909B}" type="sibTrans" cxnId="{2E7306E4-86AE-4CA0-97B8-A9D15AA22371}">
      <dgm:prSet/>
      <dgm:spPr/>
      <dgm:t>
        <a:bodyPr/>
        <a:lstStyle/>
        <a:p>
          <a:endParaRPr lang="pt-BR"/>
        </a:p>
      </dgm:t>
    </dgm:pt>
    <dgm:pt modelId="{36A3A94A-B4B6-468C-9681-726A7C415FCC}" type="pres">
      <dgm:prSet presAssocID="{683D903F-5E89-40AE-B011-9559E3D6D14A}" presName="Name0" presStyleCnt="0">
        <dgm:presLayoutVars>
          <dgm:chMax val="7"/>
          <dgm:resizeHandles val="exact"/>
        </dgm:presLayoutVars>
      </dgm:prSet>
      <dgm:spPr/>
    </dgm:pt>
    <dgm:pt modelId="{C3BB64C7-FB39-428F-AAFC-131EA8E52369}" type="pres">
      <dgm:prSet presAssocID="{683D903F-5E89-40AE-B011-9559E3D6D14A}" presName="comp1" presStyleCnt="0"/>
      <dgm:spPr/>
    </dgm:pt>
    <dgm:pt modelId="{C34F7CAC-F0E1-4BC7-9493-31C2EA75AC01}" type="pres">
      <dgm:prSet presAssocID="{683D903F-5E89-40AE-B011-9559E3D6D14A}" presName="circle1" presStyleLbl="node1" presStyleIdx="0" presStyleCnt="3"/>
      <dgm:spPr/>
    </dgm:pt>
    <dgm:pt modelId="{FD8032C7-5D58-486E-B74D-4B7EC804FB21}" type="pres">
      <dgm:prSet presAssocID="{683D903F-5E89-40AE-B011-9559E3D6D14A}" presName="c1text" presStyleLbl="node1" presStyleIdx="0" presStyleCnt="3">
        <dgm:presLayoutVars>
          <dgm:bulletEnabled val="1"/>
        </dgm:presLayoutVars>
      </dgm:prSet>
      <dgm:spPr/>
    </dgm:pt>
    <dgm:pt modelId="{AE5FEF87-ADD0-46C2-BE9D-900CD69C371F}" type="pres">
      <dgm:prSet presAssocID="{683D903F-5E89-40AE-B011-9559E3D6D14A}" presName="comp2" presStyleCnt="0"/>
      <dgm:spPr/>
    </dgm:pt>
    <dgm:pt modelId="{EC34E9B3-129D-44D3-ABE4-FD06F5135CFC}" type="pres">
      <dgm:prSet presAssocID="{683D903F-5E89-40AE-B011-9559E3D6D14A}" presName="circle2" presStyleLbl="node1" presStyleIdx="1" presStyleCnt="3"/>
      <dgm:spPr/>
    </dgm:pt>
    <dgm:pt modelId="{0E9B329E-E717-460C-B855-DD103FB78B52}" type="pres">
      <dgm:prSet presAssocID="{683D903F-5E89-40AE-B011-9559E3D6D14A}" presName="c2text" presStyleLbl="node1" presStyleIdx="1" presStyleCnt="3">
        <dgm:presLayoutVars>
          <dgm:bulletEnabled val="1"/>
        </dgm:presLayoutVars>
      </dgm:prSet>
      <dgm:spPr/>
    </dgm:pt>
    <dgm:pt modelId="{3E10E4FF-E3F2-4606-9B23-0B1C2DD0DD5D}" type="pres">
      <dgm:prSet presAssocID="{683D903F-5E89-40AE-B011-9559E3D6D14A}" presName="comp3" presStyleCnt="0"/>
      <dgm:spPr/>
    </dgm:pt>
    <dgm:pt modelId="{64DC797A-CB77-4A35-9447-97A15BBD9E6F}" type="pres">
      <dgm:prSet presAssocID="{683D903F-5E89-40AE-B011-9559E3D6D14A}" presName="circle3" presStyleLbl="node1" presStyleIdx="2" presStyleCnt="3"/>
      <dgm:spPr/>
    </dgm:pt>
    <dgm:pt modelId="{B8924B5B-B885-4A85-92F7-547A733CE8E0}" type="pres">
      <dgm:prSet presAssocID="{683D903F-5E89-40AE-B011-9559E3D6D14A}" presName="c3text" presStyleLbl="node1" presStyleIdx="2" presStyleCnt="3">
        <dgm:presLayoutVars>
          <dgm:bulletEnabled val="1"/>
        </dgm:presLayoutVars>
      </dgm:prSet>
      <dgm:spPr/>
    </dgm:pt>
  </dgm:ptLst>
  <dgm:cxnLst>
    <dgm:cxn modelId="{8796261F-1A83-4B02-99C8-24EDE5BE7A6F}" type="presOf" srcId="{7AC55ECF-122E-42A6-B1C5-BE58A2EC0DD7}" destId="{64DC797A-CB77-4A35-9447-97A15BBD9E6F}" srcOrd="0" destOrd="0" presId="urn:microsoft.com/office/officeart/2005/8/layout/venn2"/>
    <dgm:cxn modelId="{895E9524-DA16-420B-B22A-B2A2EBB08254}" srcId="{683D903F-5E89-40AE-B011-9559E3D6D14A}" destId="{6FF7BB80-734C-42EC-B2B1-8A21A386546B}" srcOrd="0" destOrd="0" parTransId="{F90AA6F1-5113-42FE-BDA4-7A282548FAD8}" sibTransId="{1F5E99A2-847D-4AA7-A81D-E3480C8C3EF1}"/>
    <dgm:cxn modelId="{1AC43230-87C6-431A-81F6-4B1B8E703308}" type="presOf" srcId="{C223C961-2A0B-428F-AEAB-FA2BA9EB2A2C}" destId="{EC34E9B3-129D-44D3-ABE4-FD06F5135CFC}" srcOrd="0" destOrd="0" presId="urn:microsoft.com/office/officeart/2005/8/layout/venn2"/>
    <dgm:cxn modelId="{3057C236-7A20-4E75-9831-A4CB117632AB}" type="presOf" srcId="{6FF7BB80-734C-42EC-B2B1-8A21A386546B}" destId="{C34F7CAC-F0E1-4BC7-9493-31C2EA75AC01}" srcOrd="0" destOrd="0" presId="urn:microsoft.com/office/officeart/2005/8/layout/venn2"/>
    <dgm:cxn modelId="{D9AD805D-4468-45A3-8527-63DE9A261473}" srcId="{683D903F-5E89-40AE-B011-9559E3D6D14A}" destId="{C223C961-2A0B-428F-AEAB-FA2BA9EB2A2C}" srcOrd="1" destOrd="0" parTransId="{E4E40224-279F-4D34-8FC2-77D9716A2496}" sibTransId="{6A205AC0-0BD0-4C9D-BFDD-E9311D2B463B}"/>
    <dgm:cxn modelId="{1758EE65-E83E-48BB-8BDC-6A1E3C8A41FD}" type="presOf" srcId="{C223C961-2A0B-428F-AEAB-FA2BA9EB2A2C}" destId="{0E9B329E-E717-460C-B855-DD103FB78B52}" srcOrd="1" destOrd="0" presId="urn:microsoft.com/office/officeart/2005/8/layout/venn2"/>
    <dgm:cxn modelId="{D0740B7D-493D-41F7-9E1E-50FA0DC56481}" type="presOf" srcId="{6FF7BB80-734C-42EC-B2B1-8A21A386546B}" destId="{FD8032C7-5D58-486E-B74D-4B7EC804FB21}" srcOrd="1" destOrd="0" presId="urn:microsoft.com/office/officeart/2005/8/layout/venn2"/>
    <dgm:cxn modelId="{6CA3928F-5619-4CC0-9F57-0C352E6C42DD}" type="presOf" srcId="{683D903F-5E89-40AE-B011-9559E3D6D14A}" destId="{36A3A94A-B4B6-468C-9681-726A7C415FCC}" srcOrd="0" destOrd="0" presId="urn:microsoft.com/office/officeart/2005/8/layout/venn2"/>
    <dgm:cxn modelId="{F78F6594-2B6D-424F-B9AF-0698E6A0FEBF}" type="presOf" srcId="{7AC55ECF-122E-42A6-B1C5-BE58A2EC0DD7}" destId="{B8924B5B-B885-4A85-92F7-547A733CE8E0}" srcOrd="1" destOrd="0" presId="urn:microsoft.com/office/officeart/2005/8/layout/venn2"/>
    <dgm:cxn modelId="{2E7306E4-86AE-4CA0-97B8-A9D15AA22371}" srcId="{683D903F-5E89-40AE-B011-9559E3D6D14A}" destId="{7AC55ECF-122E-42A6-B1C5-BE58A2EC0DD7}" srcOrd="2" destOrd="0" parTransId="{AF7E85C0-5997-4E67-89F3-AFAB6DECABB6}" sibTransId="{814456E0-B4AA-4FB9-ADB8-C95799CE909B}"/>
    <dgm:cxn modelId="{00DD5F34-64EF-4957-B18F-B85E453F86E1}" type="presParOf" srcId="{36A3A94A-B4B6-468C-9681-726A7C415FCC}" destId="{C3BB64C7-FB39-428F-AAFC-131EA8E52369}" srcOrd="0" destOrd="0" presId="urn:microsoft.com/office/officeart/2005/8/layout/venn2"/>
    <dgm:cxn modelId="{B91774BB-14D6-4495-B9FC-696A7B2F76D1}" type="presParOf" srcId="{C3BB64C7-FB39-428F-AAFC-131EA8E52369}" destId="{C34F7CAC-F0E1-4BC7-9493-31C2EA75AC01}" srcOrd="0" destOrd="0" presId="urn:microsoft.com/office/officeart/2005/8/layout/venn2"/>
    <dgm:cxn modelId="{167DA1C2-8C40-459D-A70B-1928627E5276}" type="presParOf" srcId="{C3BB64C7-FB39-428F-AAFC-131EA8E52369}" destId="{FD8032C7-5D58-486E-B74D-4B7EC804FB21}" srcOrd="1" destOrd="0" presId="urn:microsoft.com/office/officeart/2005/8/layout/venn2"/>
    <dgm:cxn modelId="{664F60E5-1C9B-466D-93ED-56C0FDF6D01E}" type="presParOf" srcId="{36A3A94A-B4B6-468C-9681-726A7C415FCC}" destId="{AE5FEF87-ADD0-46C2-BE9D-900CD69C371F}" srcOrd="1" destOrd="0" presId="urn:microsoft.com/office/officeart/2005/8/layout/venn2"/>
    <dgm:cxn modelId="{9D7A3EFC-EBC9-4EDF-BB48-352250BDF42E}" type="presParOf" srcId="{AE5FEF87-ADD0-46C2-BE9D-900CD69C371F}" destId="{EC34E9B3-129D-44D3-ABE4-FD06F5135CFC}" srcOrd="0" destOrd="0" presId="urn:microsoft.com/office/officeart/2005/8/layout/venn2"/>
    <dgm:cxn modelId="{154BE20E-24BC-41FA-9CBA-2A8C91821D36}" type="presParOf" srcId="{AE5FEF87-ADD0-46C2-BE9D-900CD69C371F}" destId="{0E9B329E-E717-460C-B855-DD103FB78B52}" srcOrd="1" destOrd="0" presId="urn:microsoft.com/office/officeart/2005/8/layout/venn2"/>
    <dgm:cxn modelId="{8B5BD02F-56C2-4E36-932C-5A492F6284DE}" type="presParOf" srcId="{36A3A94A-B4B6-468C-9681-726A7C415FCC}" destId="{3E10E4FF-E3F2-4606-9B23-0B1C2DD0DD5D}" srcOrd="2" destOrd="0" presId="urn:microsoft.com/office/officeart/2005/8/layout/venn2"/>
    <dgm:cxn modelId="{12B292F3-1D07-4176-B448-F1F79E669401}" type="presParOf" srcId="{3E10E4FF-E3F2-4606-9B23-0B1C2DD0DD5D}" destId="{64DC797A-CB77-4A35-9447-97A15BBD9E6F}" srcOrd="0" destOrd="0" presId="urn:microsoft.com/office/officeart/2005/8/layout/venn2"/>
    <dgm:cxn modelId="{F9DB34C8-0EDC-4B35-A6AD-E2C27978D0D8}" type="presParOf" srcId="{3E10E4FF-E3F2-4606-9B23-0B1C2DD0DD5D}" destId="{B8924B5B-B885-4A85-92F7-547A733CE8E0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4F7CAC-F0E1-4BC7-9493-31C2EA75AC01}">
      <dsp:nvSpPr>
        <dsp:cNvPr id="0" name=""/>
        <dsp:cNvSpPr/>
      </dsp:nvSpPr>
      <dsp:spPr>
        <a:xfrm>
          <a:off x="283512" y="0"/>
          <a:ext cx="2381738" cy="2381738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F-Conexo</a:t>
          </a:r>
        </a:p>
      </dsp:txBody>
      <dsp:txXfrm>
        <a:off x="1058172" y="119086"/>
        <a:ext cx="832417" cy="357260"/>
      </dsp:txXfrm>
    </dsp:sp>
    <dsp:sp modelId="{EC34E9B3-129D-44D3-ABE4-FD06F5135CFC}">
      <dsp:nvSpPr>
        <dsp:cNvPr id="0" name=""/>
        <dsp:cNvSpPr/>
      </dsp:nvSpPr>
      <dsp:spPr>
        <a:xfrm>
          <a:off x="581229" y="595434"/>
          <a:ext cx="1786303" cy="1786303"/>
        </a:xfrm>
        <a:prstGeom prst="ellipse">
          <a:avLst/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SF-Conexo</a:t>
          </a:r>
        </a:p>
      </dsp:txBody>
      <dsp:txXfrm>
        <a:off x="1058172" y="707078"/>
        <a:ext cx="832417" cy="334931"/>
      </dsp:txXfrm>
    </dsp:sp>
    <dsp:sp modelId="{64DC797A-CB77-4A35-9447-97A15BBD9E6F}">
      <dsp:nvSpPr>
        <dsp:cNvPr id="0" name=""/>
        <dsp:cNvSpPr/>
      </dsp:nvSpPr>
      <dsp:spPr>
        <a:xfrm>
          <a:off x="878946" y="1190869"/>
          <a:ext cx="1190869" cy="1190869"/>
        </a:xfrm>
        <a:prstGeom prst="ellipse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S-Conexo</a:t>
          </a:r>
        </a:p>
      </dsp:txBody>
      <dsp:txXfrm>
        <a:off x="1053345" y="1488586"/>
        <a:ext cx="842071" cy="5954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6A30C-50D2-4409-8C57-B758E4448AF7}" type="datetimeFigureOut">
              <a:rPr lang="pt-BR" smtClean="0"/>
              <a:t>30/07/2022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4CFC7-C996-4863-90E8-DB58BF8229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3489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CBAFB-72C8-4421-82CF-2C64DCD5A75B}" type="datetimeFigureOut">
              <a:rPr lang="pt-BR" smtClean="0"/>
              <a:t>30/07/2022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F4808-22E8-406A-932F-9218A9615E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127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6F4808-22E8-406A-932F-9218A9615E7A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7678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6F4808-22E8-406A-932F-9218A9615E7A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1917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6F4808-22E8-406A-932F-9218A9615E7A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7658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6F4808-22E8-406A-932F-9218A9615E7A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24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6F4808-22E8-406A-932F-9218A9615E7A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79199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6F4808-22E8-406A-932F-9218A9615E7A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8593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6F4808-22E8-406A-932F-9218A9615E7A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7196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87624" y="1589798"/>
            <a:ext cx="7056784" cy="1261963"/>
          </a:xfrm>
          <a:prstGeom prst="rect">
            <a:avLst/>
          </a:prstGeom>
        </p:spPr>
        <p:txBody>
          <a:bodyPr anchor="ctr"/>
          <a:lstStyle>
            <a:lvl1pPr algn="l">
              <a:defRPr sz="5600" b="1" baseline="0">
                <a:solidFill>
                  <a:srgbClr val="474748"/>
                </a:solidFill>
              </a:defRPr>
            </a:lvl1pPr>
          </a:lstStyle>
          <a:p>
            <a:r>
              <a:rPr lang="pt-BR" dirty="0"/>
              <a:t>Título da Aula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187624" y="2908593"/>
            <a:ext cx="7056784" cy="56630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0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Professor</a:t>
            </a:r>
          </a:p>
        </p:txBody>
      </p:sp>
    </p:spTree>
    <p:extLst>
      <p:ext uri="{BB962C8B-B14F-4D97-AF65-F5344CB8AC3E}">
        <p14:creationId xmlns:p14="http://schemas.microsoft.com/office/powerpoint/2010/main" val="6891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3707319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0" y="2131862"/>
            <a:ext cx="9144000" cy="857250"/>
          </a:xfrm>
          <a:prstGeom prst="rect">
            <a:avLst/>
          </a:prstGeom>
        </p:spPr>
        <p:txBody>
          <a:bodyPr anchor="ctr"/>
          <a:lstStyle>
            <a:lvl1pPr algn="ctr">
              <a:defRPr sz="4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Subtítulo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3028343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nas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89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132371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401533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3946" y="93385"/>
            <a:ext cx="8506526" cy="750173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3385020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82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nas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195487"/>
            <a:ext cx="9180512" cy="432048"/>
          </a:xfrm>
          <a:prstGeom prst="rect">
            <a:avLst/>
          </a:prstGeom>
        </p:spPr>
        <p:txBody>
          <a:bodyPr anchor="ctr"/>
          <a:lstStyle>
            <a:lvl1pPr>
              <a:defRPr sz="2500" b="1" strike="noStrike" baseline="0">
                <a:solidFill>
                  <a:srgbClr val="17BEBB"/>
                </a:solidFill>
              </a:defRPr>
            </a:lvl1pPr>
          </a:lstStyle>
          <a:p>
            <a:r>
              <a:rPr lang="pt-BR" dirty="0"/>
              <a:t>Exemplo – Slide Com Imagem (Foto)</a:t>
            </a:r>
          </a:p>
        </p:txBody>
      </p:sp>
    </p:spTree>
    <p:extLst>
      <p:ext uri="{BB962C8B-B14F-4D97-AF65-F5344CB8AC3E}">
        <p14:creationId xmlns:p14="http://schemas.microsoft.com/office/powerpoint/2010/main" val="391671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195487"/>
            <a:ext cx="9144000" cy="432048"/>
          </a:xfrm>
          <a:prstGeom prst="rect">
            <a:avLst/>
          </a:prstGeom>
        </p:spPr>
        <p:txBody>
          <a:bodyPr anchor="ctr"/>
          <a:lstStyle>
            <a:lvl1pPr>
              <a:defRPr sz="2500" b="1" strike="noStrike" baseline="0">
                <a:solidFill>
                  <a:srgbClr val="17BEBB"/>
                </a:solidFill>
              </a:defRPr>
            </a:lvl1pPr>
          </a:lstStyle>
          <a:p>
            <a:r>
              <a:rPr lang="pt-BR" dirty="0"/>
              <a:t>Exemplo – Tabela</a:t>
            </a:r>
          </a:p>
        </p:txBody>
      </p:sp>
    </p:spTree>
    <p:extLst>
      <p:ext uri="{BB962C8B-B14F-4D97-AF65-F5344CB8AC3E}">
        <p14:creationId xmlns:p14="http://schemas.microsoft.com/office/powerpoint/2010/main" val="137580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213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8552" y="0"/>
            <a:ext cx="4585447" cy="5143500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738" y="1586205"/>
            <a:ext cx="7464491" cy="1309396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753" y="2796988"/>
            <a:ext cx="7467600" cy="80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81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8552" y="0"/>
            <a:ext cx="4585447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772653"/>
            <a:ext cx="9144000" cy="161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974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6463" y="176462"/>
            <a:ext cx="8799096" cy="440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7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9144000" cy="352926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71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9144000" cy="352926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80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4812632" cy="360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1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764505" cy="474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71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9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44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061411" cy="5143500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088469" y="-4496"/>
            <a:ext cx="206141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28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6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6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6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4.png"/><Relationship Id="rId9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4.png"/><Relationship Id="rId9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83138" y="1589798"/>
            <a:ext cx="7471507" cy="1261963"/>
          </a:xfrm>
        </p:spPr>
        <p:txBody>
          <a:bodyPr/>
          <a:lstStyle/>
          <a:p>
            <a:r>
              <a:rPr lang="pt-BR" sz="4400" dirty="0"/>
              <a:t>Conectividade - </a:t>
            </a:r>
            <a:r>
              <a:rPr lang="pt-BR" sz="4400" dirty="0" err="1"/>
              <a:t>Separabilidade</a:t>
            </a:r>
            <a:endParaRPr lang="pt-BR" sz="4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/>
              <a:t>Leonardo Vilela Cardoso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974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Fecho Transitivo</a:t>
            </a:r>
          </a:p>
        </p:txBody>
      </p:sp>
    </p:spTree>
    <p:extLst>
      <p:ext uri="{BB962C8B-B14F-4D97-AF65-F5344CB8AC3E}">
        <p14:creationId xmlns:p14="http://schemas.microsoft.com/office/powerpoint/2010/main" val="1614606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Conector de seta reta 31"/>
          <p:cNvCxnSpPr>
            <a:stCxn id="24" idx="7"/>
            <a:endCxn id="27" idx="3"/>
          </p:cNvCxnSpPr>
          <p:nvPr/>
        </p:nvCxnSpPr>
        <p:spPr>
          <a:xfrm flipV="1">
            <a:off x="3586941" y="3211563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63"/>
          <p:cNvCxnSpPr>
            <a:stCxn id="24" idx="7"/>
            <a:endCxn id="27" idx="3"/>
          </p:cNvCxnSpPr>
          <p:nvPr/>
        </p:nvCxnSpPr>
        <p:spPr>
          <a:xfrm flipV="1">
            <a:off x="3586941" y="3211563"/>
            <a:ext cx="406999" cy="28008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Alcançabilidade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 existe caminho 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para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em um grafo G, então se diz que </a:t>
            </a:r>
            <a:r>
              <a:rPr lang="pt-BR" sz="2000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alcança </a:t>
            </a:r>
            <a:r>
              <a:rPr lang="pt-BR" sz="2000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ou ainda, que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está ao alcance de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(ou então que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acessível a partir de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).</a:t>
            </a:r>
          </a:p>
        </p:txBody>
      </p:sp>
      <p:sp>
        <p:nvSpPr>
          <p:cNvPr id="22" name="Elipse 21"/>
          <p:cNvSpPr/>
          <p:nvPr/>
        </p:nvSpPr>
        <p:spPr>
          <a:xfrm>
            <a:off x="3390542" y="255103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23" name="Elipse 22"/>
          <p:cNvSpPr/>
          <p:nvPr/>
        </p:nvSpPr>
        <p:spPr>
          <a:xfrm>
            <a:off x="2816976" y="300857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24" name="Elipse 23"/>
          <p:cNvSpPr/>
          <p:nvPr/>
        </p:nvSpPr>
        <p:spPr>
          <a:xfrm>
            <a:off x="3390541" y="345870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25" name="Elipse 24"/>
          <p:cNvSpPr/>
          <p:nvPr/>
        </p:nvSpPr>
        <p:spPr>
          <a:xfrm>
            <a:off x="4108989" y="388364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26" name="Elipse 25"/>
          <p:cNvSpPr/>
          <p:nvPr/>
        </p:nvSpPr>
        <p:spPr>
          <a:xfrm>
            <a:off x="4835797" y="388364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27" name="Elipse 26"/>
          <p:cNvSpPr/>
          <p:nvPr/>
        </p:nvSpPr>
        <p:spPr>
          <a:xfrm>
            <a:off x="3960243" y="301954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8" name="Elipse 27"/>
          <p:cNvSpPr/>
          <p:nvPr/>
        </p:nvSpPr>
        <p:spPr>
          <a:xfrm>
            <a:off x="5065894" y="298168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29" name="Elipse 28"/>
          <p:cNvSpPr/>
          <p:nvPr/>
        </p:nvSpPr>
        <p:spPr>
          <a:xfrm>
            <a:off x="5608608" y="36507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30" name="Conector de seta reta 29"/>
          <p:cNvCxnSpPr>
            <a:stCxn id="23" idx="7"/>
            <a:endCxn id="22" idx="3"/>
          </p:cNvCxnSpPr>
          <p:nvPr/>
        </p:nvCxnSpPr>
        <p:spPr>
          <a:xfrm flipV="1">
            <a:off x="3013376" y="2743057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>
            <a:stCxn id="25" idx="6"/>
            <a:endCxn id="26" idx="2"/>
          </p:cNvCxnSpPr>
          <p:nvPr/>
        </p:nvCxnSpPr>
        <p:spPr>
          <a:xfrm flipV="1">
            <a:off x="4339086" y="3996123"/>
            <a:ext cx="496711" cy="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/>
          <p:cNvCxnSpPr>
            <a:stCxn id="22" idx="5"/>
            <a:endCxn id="27" idx="1"/>
          </p:cNvCxnSpPr>
          <p:nvPr/>
        </p:nvCxnSpPr>
        <p:spPr>
          <a:xfrm>
            <a:off x="3586942" y="2743057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29" idx="1"/>
            <a:endCxn id="28" idx="5"/>
          </p:cNvCxnSpPr>
          <p:nvPr/>
        </p:nvCxnSpPr>
        <p:spPr>
          <a:xfrm flipH="1" flipV="1">
            <a:off x="5262294" y="3173702"/>
            <a:ext cx="380011" cy="50996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2408658" y="243207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1628698" y="3369941"/>
            <a:ext cx="10089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Vértice 1 alcança vértice 3</a:t>
            </a:r>
          </a:p>
        </p:txBody>
      </p:sp>
      <p:cxnSp>
        <p:nvCxnSpPr>
          <p:cNvPr id="44" name="Conector de seta reta 43"/>
          <p:cNvCxnSpPr/>
          <p:nvPr/>
        </p:nvCxnSpPr>
        <p:spPr>
          <a:xfrm flipV="1">
            <a:off x="2477371" y="3211563"/>
            <a:ext cx="293626" cy="21712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/>
          <p:cNvCxnSpPr/>
          <p:nvPr/>
        </p:nvCxnSpPr>
        <p:spPr>
          <a:xfrm flipV="1">
            <a:off x="2523350" y="3571182"/>
            <a:ext cx="787515" cy="192021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aixaDeTexto 48"/>
          <p:cNvSpPr txBox="1"/>
          <p:nvPr/>
        </p:nvSpPr>
        <p:spPr>
          <a:xfrm>
            <a:off x="5482986" y="2233299"/>
            <a:ext cx="11029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Vértice 2 não alcança vértice 8</a:t>
            </a:r>
          </a:p>
        </p:txBody>
      </p:sp>
      <p:cxnSp>
        <p:nvCxnSpPr>
          <p:cNvPr id="50" name="Conector de seta reta 49"/>
          <p:cNvCxnSpPr/>
          <p:nvPr/>
        </p:nvCxnSpPr>
        <p:spPr>
          <a:xfrm flipH="1">
            <a:off x="3790441" y="2425856"/>
            <a:ext cx="1818167" cy="237663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de seta reta 50"/>
          <p:cNvCxnSpPr/>
          <p:nvPr/>
        </p:nvCxnSpPr>
        <p:spPr>
          <a:xfrm flipH="1">
            <a:off x="5357364" y="2822607"/>
            <a:ext cx="251244" cy="159075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>
            <a:stCxn id="23" idx="7"/>
            <a:endCxn id="22" idx="3"/>
          </p:cNvCxnSpPr>
          <p:nvPr/>
        </p:nvCxnSpPr>
        <p:spPr>
          <a:xfrm flipV="1">
            <a:off x="3013376" y="2743057"/>
            <a:ext cx="410863" cy="29846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22" idx="5"/>
            <a:endCxn id="27" idx="1"/>
          </p:cNvCxnSpPr>
          <p:nvPr/>
        </p:nvCxnSpPr>
        <p:spPr>
          <a:xfrm>
            <a:off x="3586942" y="2743057"/>
            <a:ext cx="406998" cy="30943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74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6" grpId="0"/>
      <p:bldP spid="42" grpId="0"/>
      <p:bldP spid="4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Conector de seta reta 31"/>
          <p:cNvCxnSpPr>
            <a:stCxn id="24" idx="7"/>
            <a:endCxn id="27" idx="3"/>
          </p:cNvCxnSpPr>
          <p:nvPr/>
        </p:nvCxnSpPr>
        <p:spPr>
          <a:xfrm flipV="1">
            <a:off x="3856299" y="3239917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Alcançabilidade – Transitividade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relação de alcançabilidade é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transitiva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isto é, se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alcança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alcança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então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alcança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24" name="Elipse 23"/>
          <p:cNvSpPr/>
          <p:nvPr/>
        </p:nvSpPr>
        <p:spPr>
          <a:xfrm>
            <a:off x="3659899" y="34870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cxnSp>
        <p:nvCxnSpPr>
          <p:cNvPr id="30" name="Conector de seta reta 29"/>
          <p:cNvCxnSpPr>
            <a:stCxn id="23" idx="7"/>
            <a:endCxn id="22" idx="3"/>
          </p:cNvCxnSpPr>
          <p:nvPr/>
        </p:nvCxnSpPr>
        <p:spPr>
          <a:xfrm flipV="1">
            <a:off x="3282734" y="2771411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>
            <a:stCxn id="25" idx="6"/>
            <a:endCxn id="26" idx="2"/>
          </p:cNvCxnSpPr>
          <p:nvPr/>
        </p:nvCxnSpPr>
        <p:spPr>
          <a:xfrm flipV="1">
            <a:off x="4608444" y="4024477"/>
            <a:ext cx="496711" cy="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/>
          <p:cNvCxnSpPr>
            <a:stCxn id="22" idx="5"/>
            <a:endCxn id="27" idx="1"/>
          </p:cNvCxnSpPr>
          <p:nvPr/>
        </p:nvCxnSpPr>
        <p:spPr>
          <a:xfrm>
            <a:off x="3856300" y="2771411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25" idx="0"/>
            <a:endCxn id="27" idx="4"/>
          </p:cNvCxnSpPr>
          <p:nvPr/>
        </p:nvCxnSpPr>
        <p:spPr>
          <a:xfrm flipH="1" flipV="1">
            <a:off x="4344650" y="3272862"/>
            <a:ext cx="148746" cy="63913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2678016" y="246043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1666006" y="3239917"/>
            <a:ext cx="10089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Vértice 1 alcança vértice 5</a:t>
            </a:r>
          </a:p>
        </p:txBody>
      </p:sp>
      <p:cxnSp>
        <p:nvCxnSpPr>
          <p:cNvPr id="44" name="Conector de seta reta 43"/>
          <p:cNvCxnSpPr/>
          <p:nvPr/>
        </p:nvCxnSpPr>
        <p:spPr>
          <a:xfrm flipV="1">
            <a:off x="2709168" y="3239918"/>
            <a:ext cx="331187" cy="14004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/>
          <p:cNvCxnSpPr/>
          <p:nvPr/>
        </p:nvCxnSpPr>
        <p:spPr>
          <a:xfrm flipV="1">
            <a:off x="2708725" y="3197937"/>
            <a:ext cx="1422564" cy="336609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aixaDeTexto 48"/>
          <p:cNvSpPr txBox="1"/>
          <p:nvPr/>
        </p:nvSpPr>
        <p:spPr>
          <a:xfrm>
            <a:off x="5697388" y="3285812"/>
            <a:ext cx="11029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Vértice 5 alcança vértice 6</a:t>
            </a:r>
          </a:p>
        </p:txBody>
      </p:sp>
      <p:cxnSp>
        <p:nvCxnSpPr>
          <p:cNvPr id="50" name="Conector de seta reta 49"/>
          <p:cNvCxnSpPr/>
          <p:nvPr/>
        </p:nvCxnSpPr>
        <p:spPr>
          <a:xfrm flipH="1" flipV="1">
            <a:off x="4537187" y="3173330"/>
            <a:ext cx="1289455" cy="255013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de seta reta 50"/>
          <p:cNvCxnSpPr/>
          <p:nvPr/>
        </p:nvCxnSpPr>
        <p:spPr>
          <a:xfrm flipH="1">
            <a:off x="5406983" y="3778103"/>
            <a:ext cx="419659" cy="189508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>
            <a:stCxn id="23" idx="7"/>
            <a:endCxn id="22" idx="3"/>
          </p:cNvCxnSpPr>
          <p:nvPr/>
        </p:nvCxnSpPr>
        <p:spPr>
          <a:xfrm flipV="1">
            <a:off x="3282734" y="2771411"/>
            <a:ext cx="410863" cy="29846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22" idx="5"/>
            <a:endCxn id="27" idx="1"/>
          </p:cNvCxnSpPr>
          <p:nvPr/>
        </p:nvCxnSpPr>
        <p:spPr>
          <a:xfrm>
            <a:off x="3856300" y="2771411"/>
            <a:ext cx="406998" cy="30943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25" idx="0"/>
            <a:endCxn id="27" idx="4"/>
          </p:cNvCxnSpPr>
          <p:nvPr/>
        </p:nvCxnSpPr>
        <p:spPr>
          <a:xfrm flipH="1" flipV="1">
            <a:off x="4344650" y="3272862"/>
            <a:ext cx="148746" cy="639133"/>
          </a:xfrm>
          <a:prstGeom prst="straightConnector1">
            <a:avLst/>
          </a:prstGeom>
          <a:ln w="38100">
            <a:solidFill>
              <a:srgbClr val="FF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>
            <a:stCxn id="25" idx="6"/>
            <a:endCxn id="26" idx="2"/>
          </p:cNvCxnSpPr>
          <p:nvPr/>
        </p:nvCxnSpPr>
        <p:spPr>
          <a:xfrm flipV="1">
            <a:off x="4608444" y="4024477"/>
            <a:ext cx="496711" cy="1"/>
          </a:xfrm>
          <a:prstGeom prst="straightConnector1">
            <a:avLst/>
          </a:prstGeom>
          <a:ln w="38100">
            <a:solidFill>
              <a:srgbClr val="FF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3659900" y="257939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23" name="Elipse 22"/>
          <p:cNvSpPr/>
          <p:nvPr/>
        </p:nvSpPr>
        <p:spPr>
          <a:xfrm>
            <a:off x="3086334" y="30369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25" name="Elipse 24"/>
          <p:cNvSpPr/>
          <p:nvPr/>
        </p:nvSpPr>
        <p:spPr>
          <a:xfrm>
            <a:off x="4378347" y="391199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26" name="Elipse 25"/>
          <p:cNvSpPr/>
          <p:nvPr/>
        </p:nvSpPr>
        <p:spPr>
          <a:xfrm>
            <a:off x="5105155" y="39119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27" name="Elipse 26"/>
          <p:cNvSpPr/>
          <p:nvPr/>
        </p:nvSpPr>
        <p:spPr>
          <a:xfrm>
            <a:off x="4229601" y="304789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1260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6" grpId="0"/>
      <p:bldP spid="42" grpId="0"/>
      <p:bldP spid="49" grpId="0"/>
      <p:bldP spid="22" grpId="0" animBg="1"/>
      <p:bldP spid="23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Conector de seta reta 31"/>
          <p:cNvCxnSpPr>
            <a:stCxn id="24" idx="7"/>
            <a:endCxn id="27" idx="3"/>
          </p:cNvCxnSpPr>
          <p:nvPr/>
        </p:nvCxnSpPr>
        <p:spPr>
          <a:xfrm flipV="1">
            <a:off x="3856299" y="3239917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Alcançabilidade – Transitividade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relação de alcançabilidade é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transitiva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isto é, se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alcança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alcança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então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alcança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24" name="Elipse 23"/>
          <p:cNvSpPr/>
          <p:nvPr/>
        </p:nvSpPr>
        <p:spPr>
          <a:xfrm>
            <a:off x="3659899" y="34870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cxnSp>
        <p:nvCxnSpPr>
          <p:cNvPr id="30" name="Conector de seta reta 29"/>
          <p:cNvCxnSpPr>
            <a:stCxn id="23" idx="7"/>
            <a:endCxn id="22" idx="3"/>
          </p:cNvCxnSpPr>
          <p:nvPr/>
        </p:nvCxnSpPr>
        <p:spPr>
          <a:xfrm flipV="1">
            <a:off x="3282734" y="2771411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>
            <a:stCxn id="25" idx="6"/>
            <a:endCxn id="26" idx="2"/>
          </p:cNvCxnSpPr>
          <p:nvPr/>
        </p:nvCxnSpPr>
        <p:spPr>
          <a:xfrm flipV="1">
            <a:off x="4608444" y="4024477"/>
            <a:ext cx="496711" cy="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/>
          <p:cNvCxnSpPr>
            <a:stCxn id="22" idx="5"/>
            <a:endCxn id="27" idx="1"/>
          </p:cNvCxnSpPr>
          <p:nvPr/>
        </p:nvCxnSpPr>
        <p:spPr>
          <a:xfrm>
            <a:off x="3856300" y="2771411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25" idx="0"/>
            <a:endCxn id="27" idx="4"/>
          </p:cNvCxnSpPr>
          <p:nvPr/>
        </p:nvCxnSpPr>
        <p:spPr>
          <a:xfrm flipH="1" flipV="1">
            <a:off x="4344650" y="3272862"/>
            <a:ext cx="148746" cy="63913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2678016" y="246043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58" name="Conector de seta reta 57"/>
          <p:cNvCxnSpPr>
            <a:stCxn id="23" idx="7"/>
            <a:endCxn id="22" idx="3"/>
          </p:cNvCxnSpPr>
          <p:nvPr/>
        </p:nvCxnSpPr>
        <p:spPr>
          <a:xfrm flipV="1">
            <a:off x="3282734" y="2771411"/>
            <a:ext cx="410863" cy="298461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22" idx="5"/>
            <a:endCxn id="27" idx="1"/>
          </p:cNvCxnSpPr>
          <p:nvPr/>
        </p:nvCxnSpPr>
        <p:spPr>
          <a:xfrm>
            <a:off x="3856300" y="2771411"/>
            <a:ext cx="406998" cy="309431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25" idx="0"/>
            <a:endCxn id="27" idx="4"/>
          </p:cNvCxnSpPr>
          <p:nvPr/>
        </p:nvCxnSpPr>
        <p:spPr>
          <a:xfrm flipH="1" flipV="1">
            <a:off x="4344650" y="3272862"/>
            <a:ext cx="148746" cy="639133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>
            <a:stCxn id="25" idx="6"/>
            <a:endCxn id="26" idx="2"/>
          </p:cNvCxnSpPr>
          <p:nvPr/>
        </p:nvCxnSpPr>
        <p:spPr>
          <a:xfrm flipV="1">
            <a:off x="4608444" y="4024477"/>
            <a:ext cx="496711" cy="1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/>
          <p:cNvSpPr txBox="1"/>
          <p:nvPr/>
        </p:nvSpPr>
        <p:spPr>
          <a:xfrm>
            <a:off x="3856299" y="1680166"/>
            <a:ext cx="1393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Vértice 1 alcança vértice 6</a:t>
            </a: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3239068" y="2177362"/>
            <a:ext cx="650928" cy="778566"/>
          </a:xfrm>
          <a:prstGeom prst="straightConnector1">
            <a:avLst/>
          </a:prstGeom>
          <a:ln w="19050">
            <a:solidFill>
              <a:schemeClr val="tx1"/>
            </a:solidFill>
            <a:prstDash val="dash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/>
          <p:nvPr/>
        </p:nvCxnSpPr>
        <p:spPr>
          <a:xfrm>
            <a:off x="4803166" y="2209546"/>
            <a:ext cx="378748" cy="1614117"/>
          </a:xfrm>
          <a:prstGeom prst="straightConnector1">
            <a:avLst/>
          </a:prstGeom>
          <a:ln w="19050">
            <a:solidFill>
              <a:schemeClr val="tx1"/>
            </a:solidFill>
            <a:prstDash val="dash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3659900" y="257939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23" name="Elipse 22"/>
          <p:cNvSpPr/>
          <p:nvPr/>
        </p:nvSpPr>
        <p:spPr>
          <a:xfrm>
            <a:off x="3086334" y="30369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25" name="Elipse 24"/>
          <p:cNvSpPr/>
          <p:nvPr/>
        </p:nvSpPr>
        <p:spPr>
          <a:xfrm>
            <a:off x="4378347" y="391199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26" name="Elipse 25"/>
          <p:cNvSpPr/>
          <p:nvPr/>
        </p:nvSpPr>
        <p:spPr>
          <a:xfrm>
            <a:off x="5105155" y="39119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27" name="Elipse 26"/>
          <p:cNvSpPr/>
          <p:nvPr/>
        </p:nvSpPr>
        <p:spPr>
          <a:xfrm>
            <a:off x="4229601" y="304789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51238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– 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um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alcançáveis a partir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pois v alcança v.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2"/>
                <a:stretch>
                  <a:fillRect l="-796" t="-504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3"/>
          </p:cNvCxnSpPr>
          <p:nvPr/>
        </p:nvCxnSpPr>
        <p:spPr>
          <a:xfrm flipV="1">
            <a:off x="1748559" y="3142747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601257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– Grafo Não Direcionado</a:t>
            </a:r>
          </a:p>
        </p:txBody>
      </p:sp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3"/>
          </p:cNvCxnSpPr>
          <p:nvPr/>
        </p:nvCxnSpPr>
        <p:spPr>
          <a:xfrm flipV="1">
            <a:off x="1748559" y="3142747"/>
            <a:ext cx="406999" cy="280082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780359" cy="34573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um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alcançáveis a partir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pois v alcança v.</a:t>
                </a:r>
              </a:p>
            </p:txBody>
          </p:sp>
        </mc:Choice>
        <mc:Fallback xmlns="">
          <p:sp>
            <p:nvSpPr>
              <p:cNvPr id="26" name="CaixaDe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3"/>
                <a:stretch>
                  <a:fillRect l="-796" t="-504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9497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– Grafo Não Direcionado</a:t>
            </a:r>
          </a:p>
        </p:txBody>
      </p:sp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3"/>
          </p:cNvCxnSpPr>
          <p:nvPr/>
        </p:nvCxnSpPr>
        <p:spPr>
          <a:xfrm flipV="1">
            <a:off x="1748559" y="3142747"/>
            <a:ext cx="406999" cy="280082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6261843" y="2182955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182955"/>
                <a:ext cx="1780359" cy="34573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780359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um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alcançáveis a partir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pois v alcança v.</a:t>
                </a:r>
              </a:p>
            </p:txBody>
          </p:sp>
        </mc:Choice>
        <mc:Fallback xmlns="">
          <p:sp>
            <p:nvSpPr>
              <p:cNvPr id="26" name="CaixaDe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4"/>
                <a:stretch>
                  <a:fillRect l="-796" t="-504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0941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– Grafo Não Direcionado</a:t>
            </a:r>
          </a:p>
        </p:txBody>
      </p:sp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3"/>
          </p:cNvCxnSpPr>
          <p:nvPr/>
        </p:nvCxnSpPr>
        <p:spPr>
          <a:xfrm flipV="1">
            <a:off x="1748559" y="3142747"/>
            <a:ext cx="406999" cy="280082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6261843" y="2182955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182955"/>
                <a:ext cx="1780359" cy="34573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780359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 20"/>
              <p:cNvSpPr/>
              <p:nvPr/>
            </p:nvSpPr>
            <p:spPr>
              <a:xfrm>
                <a:off x="4135331" y="2674632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1" name="Retâ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2674632"/>
                <a:ext cx="1780359" cy="3457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um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alcançáveis a partir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pois v alcança v.</a:t>
                </a:r>
              </a:p>
            </p:txBody>
          </p:sp>
        </mc:Choice>
        <mc:Fallback xmlns="">
          <p:sp>
            <p:nvSpPr>
              <p:cNvPr id="26" name="CaixaDe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5"/>
                <a:stretch>
                  <a:fillRect l="-796" t="-504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3810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– Grafo Não Direcionado</a:t>
            </a:r>
          </a:p>
        </p:txBody>
      </p:sp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3"/>
          </p:cNvCxnSpPr>
          <p:nvPr/>
        </p:nvCxnSpPr>
        <p:spPr>
          <a:xfrm flipV="1">
            <a:off x="1748559" y="3142747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6261843" y="2182955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182955"/>
                <a:ext cx="1780359" cy="34573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780359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 20"/>
              <p:cNvSpPr/>
              <p:nvPr/>
            </p:nvSpPr>
            <p:spPr>
              <a:xfrm>
                <a:off x="4135331" y="2674632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1" name="Retâ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2674632"/>
                <a:ext cx="1780359" cy="3457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tângulo 21"/>
              <p:cNvSpPr/>
              <p:nvPr/>
            </p:nvSpPr>
            <p:spPr>
              <a:xfrm>
                <a:off x="6261843" y="2674680"/>
                <a:ext cx="144590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4, 6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2" name="Retângulo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674680"/>
                <a:ext cx="1445909" cy="3457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um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alcançáveis a partir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pois v alcança v.</a:t>
                </a:r>
              </a:p>
            </p:txBody>
          </p:sp>
        </mc:Choice>
        <mc:Fallback xmlns="">
          <p:sp>
            <p:nvSpPr>
              <p:cNvPr id="26" name="CaixaDe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6"/>
                <a:stretch>
                  <a:fillRect l="-796" t="-504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2888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– Grafo Não Direcionado</a:t>
            </a:r>
          </a:p>
        </p:txBody>
      </p:sp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3"/>
          </p:cNvCxnSpPr>
          <p:nvPr/>
        </p:nvCxnSpPr>
        <p:spPr>
          <a:xfrm flipV="1">
            <a:off x="1748559" y="3142747"/>
            <a:ext cx="406999" cy="280082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6261843" y="2182955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182955"/>
                <a:ext cx="1780359" cy="34573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780359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 20"/>
              <p:cNvSpPr/>
              <p:nvPr/>
            </p:nvSpPr>
            <p:spPr>
              <a:xfrm>
                <a:off x="4135331" y="2674632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1" name="Retâ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2674632"/>
                <a:ext cx="1780359" cy="3457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tângulo 21"/>
              <p:cNvSpPr/>
              <p:nvPr/>
            </p:nvSpPr>
            <p:spPr>
              <a:xfrm>
                <a:off x="6261843" y="2674680"/>
                <a:ext cx="144590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4, 6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2" name="Retângulo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674680"/>
                <a:ext cx="1445909" cy="3457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tângulo 22"/>
              <p:cNvSpPr/>
              <p:nvPr/>
            </p:nvSpPr>
            <p:spPr>
              <a:xfrm>
                <a:off x="4135331" y="3235122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3" name="Retângulo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3235122"/>
                <a:ext cx="1780359" cy="34573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um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alcançáveis a partir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pois v alcança v.</a:t>
                </a:r>
              </a:p>
            </p:txBody>
          </p:sp>
        </mc:Choice>
        <mc:Fallback xmlns="">
          <p:sp>
            <p:nvSpPr>
              <p:cNvPr id="26" name="CaixaDe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7"/>
                <a:stretch>
                  <a:fillRect l="-796" t="-504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506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– Grafo Não Direcionado</a:t>
            </a:r>
          </a:p>
        </p:txBody>
      </p:sp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3"/>
          </p:cNvCxnSpPr>
          <p:nvPr/>
        </p:nvCxnSpPr>
        <p:spPr>
          <a:xfrm flipV="1">
            <a:off x="1748559" y="3142747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6261843" y="2182955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182955"/>
                <a:ext cx="1780359" cy="34573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780359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 20"/>
              <p:cNvSpPr/>
              <p:nvPr/>
            </p:nvSpPr>
            <p:spPr>
              <a:xfrm>
                <a:off x="4135331" y="2674632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1" name="Retâ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2674632"/>
                <a:ext cx="1780359" cy="3457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tângulo 21"/>
              <p:cNvSpPr/>
              <p:nvPr/>
            </p:nvSpPr>
            <p:spPr>
              <a:xfrm>
                <a:off x="6261843" y="2674680"/>
                <a:ext cx="144590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4, 6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2" name="Retângulo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674680"/>
                <a:ext cx="1445909" cy="3457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tângulo 22"/>
              <p:cNvSpPr/>
              <p:nvPr/>
            </p:nvSpPr>
            <p:spPr>
              <a:xfrm>
                <a:off x="4135331" y="3235122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3" name="Retângulo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3235122"/>
                <a:ext cx="1780359" cy="34573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 23"/>
              <p:cNvSpPr/>
              <p:nvPr/>
            </p:nvSpPr>
            <p:spPr>
              <a:xfrm>
                <a:off x="6261843" y="3235122"/>
                <a:ext cx="1401025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4, 6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4" name="Retâ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3235122"/>
                <a:ext cx="1401025" cy="34573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um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alcançáveis a partir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pois v alcança v.</a:t>
                </a:r>
              </a:p>
            </p:txBody>
          </p:sp>
        </mc:Choice>
        <mc:Fallback xmlns="">
          <p:sp>
            <p:nvSpPr>
              <p:cNvPr id="26" name="CaixaDe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8"/>
                <a:stretch>
                  <a:fillRect l="-796" t="-504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110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– Grafo Não Direcionado</a:t>
            </a:r>
          </a:p>
        </p:txBody>
      </p:sp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3"/>
          </p:cNvCxnSpPr>
          <p:nvPr/>
        </p:nvCxnSpPr>
        <p:spPr>
          <a:xfrm flipV="1">
            <a:off x="1748559" y="3142747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6261843" y="2182955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182955"/>
                <a:ext cx="1780359" cy="34573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780359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 20"/>
              <p:cNvSpPr/>
              <p:nvPr/>
            </p:nvSpPr>
            <p:spPr>
              <a:xfrm>
                <a:off x="4135331" y="2674632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1" name="Retâ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2674632"/>
                <a:ext cx="1780359" cy="3457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tângulo 21"/>
              <p:cNvSpPr/>
              <p:nvPr/>
            </p:nvSpPr>
            <p:spPr>
              <a:xfrm>
                <a:off x="6261843" y="2674680"/>
                <a:ext cx="144590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4, 6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2" name="Retângulo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674680"/>
                <a:ext cx="1445909" cy="3457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tângulo 22"/>
              <p:cNvSpPr/>
              <p:nvPr/>
            </p:nvSpPr>
            <p:spPr>
              <a:xfrm>
                <a:off x="4135331" y="3235122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3" name="Retângulo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3235122"/>
                <a:ext cx="1780359" cy="34573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 23"/>
              <p:cNvSpPr/>
              <p:nvPr/>
            </p:nvSpPr>
            <p:spPr>
              <a:xfrm>
                <a:off x="6261843" y="3235122"/>
                <a:ext cx="1401025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4, 6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4" name="Retâ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3235122"/>
                <a:ext cx="1401025" cy="34573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tângulo 24"/>
              <p:cNvSpPr/>
              <p:nvPr/>
            </p:nvSpPr>
            <p:spPr>
              <a:xfrm>
                <a:off x="4135330" y="3765200"/>
                <a:ext cx="1166473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16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</m:acc>
                      <m:d>
                        <m:dPr>
                          <m:ctrlP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5" name="Retâ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3765200"/>
                <a:ext cx="1166473" cy="34573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um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alcançáveis a partir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pois v alcança v.</a:t>
                </a:r>
              </a:p>
            </p:txBody>
          </p:sp>
        </mc:Choice>
        <mc:Fallback xmlns="">
          <p:sp>
            <p:nvSpPr>
              <p:cNvPr id="26" name="CaixaDe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9"/>
                <a:stretch>
                  <a:fillRect l="-796" t="-504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8354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– Grafo Não Direcionado</a:t>
            </a:r>
          </a:p>
        </p:txBody>
      </p:sp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3"/>
          </p:cNvCxnSpPr>
          <p:nvPr/>
        </p:nvCxnSpPr>
        <p:spPr>
          <a:xfrm flipV="1">
            <a:off x="1748559" y="3142747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6261843" y="2182955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182955"/>
                <a:ext cx="1780359" cy="34573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780359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 20"/>
              <p:cNvSpPr/>
              <p:nvPr/>
            </p:nvSpPr>
            <p:spPr>
              <a:xfrm>
                <a:off x="4135331" y="2674632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1" name="Retâ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2674632"/>
                <a:ext cx="1780359" cy="3457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tângulo 21"/>
              <p:cNvSpPr/>
              <p:nvPr/>
            </p:nvSpPr>
            <p:spPr>
              <a:xfrm>
                <a:off x="6261843" y="2674680"/>
                <a:ext cx="144590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4, 6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2" name="Retângulo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674680"/>
                <a:ext cx="1445909" cy="3457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tângulo 22"/>
              <p:cNvSpPr/>
              <p:nvPr/>
            </p:nvSpPr>
            <p:spPr>
              <a:xfrm>
                <a:off x="4135331" y="3235122"/>
                <a:ext cx="178035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3" name="Retângulo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3235122"/>
                <a:ext cx="1780359" cy="34573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 23"/>
              <p:cNvSpPr/>
              <p:nvPr/>
            </p:nvSpPr>
            <p:spPr>
              <a:xfrm>
                <a:off x="6261843" y="3235122"/>
                <a:ext cx="1401025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4, 6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4" name="Retâ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3235122"/>
                <a:ext cx="1401025" cy="34573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tângulo 24"/>
              <p:cNvSpPr/>
              <p:nvPr/>
            </p:nvSpPr>
            <p:spPr>
              <a:xfrm>
                <a:off x="4135330" y="3765200"/>
                <a:ext cx="1166473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16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</m:acc>
                      <m:d>
                        <m:dPr>
                          <m:ctrlP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5" name="Retâ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3765200"/>
                <a:ext cx="1166473" cy="34573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um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alcançáveis a partir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pois v alcança v.</a:t>
                </a:r>
              </a:p>
            </p:txBody>
          </p:sp>
        </mc:Choice>
        <mc:Fallback xmlns="">
          <p:sp>
            <p:nvSpPr>
              <p:cNvPr id="26" name="CaixaDe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9"/>
                <a:stretch>
                  <a:fillRect l="-796" t="-504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1357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Direto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direto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alcançáveis a partir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2"/>
                <a:stretch>
                  <a:fillRect l="-796" t="-504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2"/>
          </p:cNvCxnSpPr>
          <p:nvPr/>
        </p:nvCxnSpPr>
        <p:spPr>
          <a:xfrm rot="5400000" flipH="1" flipV="1">
            <a:off x="1755401" y="3056369"/>
            <a:ext cx="359619" cy="373302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de seta reta 15"/>
          <p:cNvCxnSpPr>
            <a:stCxn id="4" idx="4"/>
            <a:endCxn id="7" idx="0"/>
          </p:cNvCxnSpPr>
          <p:nvPr/>
        </p:nvCxnSpPr>
        <p:spPr>
          <a:xfrm flipH="1">
            <a:off x="1667208" y="2707186"/>
            <a:ext cx="1" cy="6826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14"/>
          <p:cNvCxnSpPr>
            <a:stCxn id="7" idx="6"/>
            <a:endCxn id="10" idx="3"/>
          </p:cNvCxnSpPr>
          <p:nvPr/>
        </p:nvCxnSpPr>
        <p:spPr>
          <a:xfrm flipV="1">
            <a:off x="1782256" y="3142747"/>
            <a:ext cx="373302" cy="359620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76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Direto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direto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alcançáveis a partir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2"/>
                <a:stretch>
                  <a:fillRect l="-796" t="-504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2"/>
          </p:cNvCxnSpPr>
          <p:nvPr/>
        </p:nvCxnSpPr>
        <p:spPr>
          <a:xfrm rot="5400000" flipH="1" flipV="1">
            <a:off x="1755401" y="3056369"/>
            <a:ext cx="359619" cy="373302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de seta reta 15"/>
          <p:cNvCxnSpPr>
            <a:stCxn id="4" idx="4"/>
            <a:endCxn id="7" idx="0"/>
          </p:cNvCxnSpPr>
          <p:nvPr/>
        </p:nvCxnSpPr>
        <p:spPr>
          <a:xfrm flipH="1">
            <a:off x="1667208" y="2707186"/>
            <a:ext cx="1" cy="682698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14"/>
          <p:cNvCxnSpPr>
            <a:stCxn id="7" idx="6"/>
            <a:endCxn id="10" idx="3"/>
          </p:cNvCxnSpPr>
          <p:nvPr/>
        </p:nvCxnSpPr>
        <p:spPr>
          <a:xfrm flipV="1">
            <a:off x="1782256" y="3142747"/>
            <a:ext cx="373302" cy="359620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915011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915011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02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Direto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direto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alcançáveis a partir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2"/>
                <a:stretch>
                  <a:fillRect l="-796" t="-504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2"/>
          </p:cNvCxnSpPr>
          <p:nvPr/>
        </p:nvCxnSpPr>
        <p:spPr>
          <a:xfrm rot="5400000" flipH="1" flipV="1">
            <a:off x="1755401" y="3056369"/>
            <a:ext cx="359619" cy="373302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de seta reta 15"/>
          <p:cNvCxnSpPr>
            <a:stCxn id="4" idx="4"/>
            <a:endCxn id="7" idx="0"/>
          </p:cNvCxnSpPr>
          <p:nvPr/>
        </p:nvCxnSpPr>
        <p:spPr>
          <a:xfrm flipH="1">
            <a:off x="1667208" y="2707186"/>
            <a:ext cx="1" cy="682698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14"/>
          <p:cNvCxnSpPr>
            <a:stCxn id="7" idx="6"/>
            <a:endCxn id="10" idx="3"/>
          </p:cNvCxnSpPr>
          <p:nvPr/>
        </p:nvCxnSpPr>
        <p:spPr>
          <a:xfrm flipV="1">
            <a:off x="1782256" y="3142747"/>
            <a:ext cx="373302" cy="359620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ângulo 17"/>
              <p:cNvSpPr/>
              <p:nvPr/>
            </p:nvSpPr>
            <p:spPr>
              <a:xfrm>
                <a:off x="6261843" y="2182955"/>
                <a:ext cx="1710918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18" name="Retâ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182955"/>
                <a:ext cx="1710918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915011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915011" cy="3457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3086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Direto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direto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alcançáveis a partir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2"/>
                <a:stretch>
                  <a:fillRect l="-796" t="-504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2"/>
          </p:cNvCxnSpPr>
          <p:nvPr/>
        </p:nvCxnSpPr>
        <p:spPr>
          <a:xfrm rot="5400000" flipH="1" flipV="1">
            <a:off x="1755401" y="3056369"/>
            <a:ext cx="359619" cy="373302"/>
          </a:xfrm>
          <a:prstGeom prst="curvedConnector2">
            <a:avLst/>
          </a:prstGeom>
          <a:ln w="254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de seta reta 15"/>
          <p:cNvCxnSpPr>
            <a:stCxn id="4" idx="4"/>
            <a:endCxn id="7" idx="0"/>
          </p:cNvCxnSpPr>
          <p:nvPr/>
        </p:nvCxnSpPr>
        <p:spPr>
          <a:xfrm flipH="1">
            <a:off x="1667208" y="2707186"/>
            <a:ext cx="1" cy="6826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14"/>
          <p:cNvCxnSpPr>
            <a:stCxn id="7" idx="6"/>
            <a:endCxn id="10" idx="3"/>
          </p:cNvCxnSpPr>
          <p:nvPr/>
        </p:nvCxnSpPr>
        <p:spPr>
          <a:xfrm flipV="1">
            <a:off x="1782256" y="3142747"/>
            <a:ext cx="373302" cy="359620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ângulo 17"/>
              <p:cNvSpPr/>
              <p:nvPr/>
            </p:nvSpPr>
            <p:spPr>
              <a:xfrm>
                <a:off x="6261843" y="2182955"/>
                <a:ext cx="1710918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18" name="Retâ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182955"/>
                <a:ext cx="1710918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915011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915011" cy="3457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 20"/>
              <p:cNvSpPr/>
              <p:nvPr/>
            </p:nvSpPr>
            <p:spPr>
              <a:xfrm>
                <a:off x="4135331" y="2674632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1" name="Retâ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2674632"/>
                <a:ext cx="1521250" cy="3457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7805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Direto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direto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alcançáveis a partir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2"/>
                <a:stretch>
                  <a:fillRect l="-796" t="-504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2"/>
          </p:cNvCxnSpPr>
          <p:nvPr/>
        </p:nvCxnSpPr>
        <p:spPr>
          <a:xfrm rot="5400000" flipH="1" flipV="1">
            <a:off x="1755401" y="3056369"/>
            <a:ext cx="359619" cy="373302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de seta reta 15"/>
          <p:cNvCxnSpPr>
            <a:stCxn id="4" idx="4"/>
            <a:endCxn id="7" idx="0"/>
          </p:cNvCxnSpPr>
          <p:nvPr/>
        </p:nvCxnSpPr>
        <p:spPr>
          <a:xfrm flipH="1">
            <a:off x="1667208" y="2707186"/>
            <a:ext cx="1" cy="6826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14"/>
          <p:cNvCxnSpPr>
            <a:stCxn id="7" idx="6"/>
            <a:endCxn id="10" idx="3"/>
          </p:cNvCxnSpPr>
          <p:nvPr/>
        </p:nvCxnSpPr>
        <p:spPr>
          <a:xfrm flipV="1">
            <a:off x="1782256" y="3142747"/>
            <a:ext cx="373302" cy="359620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ângulo 17"/>
              <p:cNvSpPr/>
              <p:nvPr/>
            </p:nvSpPr>
            <p:spPr>
              <a:xfrm>
                <a:off x="6261843" y="2182955"/>
                <a:ext cx="1710918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18" name="Retâ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182955"/>
                <a:ext cx="1710918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915011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915011" cy="3457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 20"/>
              <p:cNvSpPr/>
              <p:nvPr/>
            </p:nvSpPr>
            <p:spPr>
              <a:xfrm>
                <a:off x="4135331" y="2674632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1" name="Retâ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2674632"/>
                <a:ext cx="1521250" cy="3457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tângulo 22"/>
              <p:cNvSpPr/>
              <p:nvPr/>
            </p:nvSpPr>
            <p:spPr>
              <a:xfrm>
                <a:off x="6261843" y="2674680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4, 6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3" name="Retângulo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674680"/>
                <a:ext cx="1521250" cy="34573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272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Direto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direto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alcançáveis a partir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2"/>
                <a:stretch>
                  <a:fillRect l="-796" t="-504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2"/>
          </p:cNvCxnSpPr>
          <p:nvPr/>
        </p:nvCxnSpPr>
        <p:spPr>
          <a:xfrm rot="5400000" flipH="1" flipV="1">
            <a:off x="1755401" y="3056369"/>
            <a:ext cx="359619" cy="373302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de seta reta 15"/>
          <p:cNvCxnSpPr>
            <a:stCxn id="4" idx="4"/>
            <a:endCxn id="7" idx="0"/>
          </p:cNvCxnSpPr>
          <p:nvPr/>
        </p:nvCxnSpPr>
        <p:spPr>
          <a:xfrm flipH="1">
            <a:off x="1667208" y="2707186"/>
            <a:ext cx="1" cy="6826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14"/>
          <p:cNvCxnSpPr>
            <a:stCxn id="7" idx="6"/>
            <a:endCxn id="10" idx="3"/>
          </p:cNvCxnSpPr>
          <p:nvPr/>
        </p:nvCxnSpPr>
        <p:spPr>
          <a:xfrm flipV="1">
            <a:off x="1782256" y="3142747"/>
            <a:ext cx="373302" cy="359620"/>
          </a:xfrm>
          <a:prstGeom prst="curvedConnector2">
            <a:avLst/>
          </a:prstGeom>
          <a:ln w="254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ângulo 17"/>
              <p:cNvSpPr/>
              <p:nvPr/>
            </p:nvSpPr>
            <p:spPr>
              <a:xfrm>
                <a:off x="6261843" y="2182955"/>
                <a:ext cx="1710918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18" name="Retâ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182955"/>
                <a:ext cx="1710918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915011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915011" cy="3457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 20"/>
              <p:cNvSpPr/>
              <p:nvPr/>
            </p:nvSpPr>
            <p:spPr>
              <a:xfrm>
                <a:off x="4135331" y="2674632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1" name="Retâ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2674632"/>
                <a:ext cx="1521250" cy="3457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tângulo 22"/>
              <p:cNvSpPr/>
              <p:nvPr/>
            </p:nvSpPr>
            <p:spPr>
              <a:xfrm>
                <a:off x="6261843" y="2674680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4, 6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3" name="Retângulo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674680"/>
                <a:ext cx="1521250" cy="34573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 23"/>
              <p:cNvSpPr/>
              <p:nvPr/>
            </p:nvSpPr>
            <p:spPr>
              <a:xfrm>
                <a:off x="4135331" y="3235122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4" name="Retâ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3235122"/>
                <a:ext cx="1521250" cy="34573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307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Direto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direto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alcançáveis a partir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2"/>
                <a:stretch>
                  <a:fillRect l="-796" t="-504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2"/>
          </p:cNvCxnSpPr>
          <p:nvPr/>
        </p:nvCxnSpPr>
        <p:spPr>
          <a:xfrm rot="5400000" flipH="1" flipV="1">
            <a:off x="1755401" y="3056369"/>
            <a:ext cx="359619" cy="373302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de seta reta 15"/>
          <p:cNvCxnSpPr>
            <a:stCxn id="4" idx="4"/>
            <a:endCxn id="7" idx="0"/>
          </p:cNvCxnSpPr>
          <p:nvPr/>
        </p:nvCxnSpPr>
        <p:spPr>
          <a:xfrm flipH="1">
            <a:off x="1667208" y="2707186"/>
            <a:ext cx="1" cy="6826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14"/>
          <p:cNvCxnSpPr>
            <a:stCxn id="7" idx="6"/>
            <a:endCxn id="10" idx="3"/>
          </p:cNvCxnSpPr>
          <p:nvPr/>
        </p:nvCxnSpPr>
        <p:spPr>
          <a:xfrm flipV="1">
            <a:off x="1782256" y="3142747"/>
            <a:ext cx="373302" cy="359620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ângulo 17"/>
              <p:cNvSpPr/>
              <p:nvPr/>
            </p:nvSpPr>
            <p:spPr>
              <a:xfrm>
                <a:off x="6261843" y="2182955"/>
                <a:ext cx="1710918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18" name="Retâ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182955"/>
                <a:ext cx="1710918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915011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915011" cy="3457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 20"/>
              <p:cNvSpPr/>
              <p:nvPr/>
            </p:nvSpPr>
            <p:spPr>
              <a:xfrm>
                <a:off x="4135331" y="2674632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1" name="Retâ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2674632"/>
                <a:ext cx="1521250" cy="3457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tângulo 22"/>
              <p:cNvSpPr/>
              <p:nvPr/>
            </p:nvSpPr>
            <p:spPr>
              <a:xfrm>
                <a:off x="6261843" y="2674680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4, 6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3" name="Retângulo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674680"/>
                <a:ext cx="1521250" cy="34573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 23"/>
              <p:cNvSpPr/>
              <p:nvPr/>
            </p:nvSpPr>
            <p:spPr>
              <a:xfrm>
                <a:off x="4135331" y="3235122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4" name="Retâ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3235122"/>
                <a:ext cx="1521250" cy="34573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tângulo 24"/>
              <p:cNvSpPr/>
              <p:nvPr/>
            </p:nvSpPr>
            <p:spPr>
              <a:xfrm>
                <a:off x="6261843" y="3235122"/>
                <a:ext cx="1331583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5" name="Retâ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3235122"/>
                <a:ext cx="1331583" cy="34573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655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Direto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direto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alcançáveis a partir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2"/>
                <a:stretch>
                  <a:fillRect l="-796" t="-504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2"/>
          </p:cNvCxnSpPr>
          <p:nvPr/>
        </p:nvCxnSpPr>
        <p:spPr>
          <a:xfrm rot="5400000" flipH="1" flipV="1">
            <a:off x="1755401" y="3056369"/>
            <a:ext cx="359619" cy="373302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de seta reta 15"/>
          <p:cNvCxnSpPr>
            <a:stCxn id="4" idx="4"/>
            <a:endCxn id="7" idx="0"/>
          </p:cNvCxnSpPr>
          <p:nvPr/>
        </p:nvCxnSpPr>
        <p:spPr>
          <a:xfrm flipH="1">
            <a:off x="1667208" y="2707186"/>
            <a:ext cx="1" cy="6826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14"/>
          <p:cNvCxnSpPr>
            <a:stCxn id="7" idx="6"/>
            <a:endCxn id="10" idx="3"/>
          </p:cNvCxnSpPr>
          <p:nvPr/>
        </p:nvCxnSpPr>
        <p:spPr>
          <a:xfrm flipV="1">
            <a:off x="1782256" y="3142747"/>
            <a:ext cx="373302" cy="359620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ângulo 17"/>
              <p:cNvSpPr/>
              <p:nvPr/>
            </p:nvSpPr>
            <p:spPr>
              <a:xfrm>
                <a:off x="6261843" y="2182955"/>
                <a:ext cx="1710918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18" name="Retâ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182955"/>
                <a:ext cx="1710918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915011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915011" cy="3457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 20"/>
              <p:cNvSpPr/>
              <p:nvPr/>
            </p:nvSpPr>
            <p:spPr>
              <a:xfrm>
                <a:off x="4135331" y="2674632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1" name="Retâ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2674632"/>
                <a:ext cx="1521250" cy="3457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tângulo 22"/>
              <p:cNvSpPr/>
              <p:nvPr/>
            </p:nvSpPr>
            <p:spPr>
              <a:xfrm>
                <a:off x="6261843" y="2674680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4, 6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3" name="Retângulo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674680"/>
                <a:ext cx="1521250" cy="34573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 23"/>
              <p:cNvSpPr/>
              <p:nvPr/>
            </p:nvSpPr>
            <p:spPr>
              <a:xfrm>
                <a:off x="4135331" y="3235122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4" name="Retâ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3235122"/>
                <a:ext cx="1521250" cy="34573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tângulo 24"/>
              <p:cNvSpPr/>
              <p:nvPr/>
            </p:nvSpPr>
            <p:spPr>
              <a:xfrm>
                <a:off x="6261843" y="3235122"/>
                <a:ext cx="1331583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5" name="Retâ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3235122"/>
                <a:ext cx="1331583" cy="34573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tângulo 25"/>
              <p:cNvSpPr/>
              <p:nvPr/>
            </p:nvSpPr>
            <p:spPr>
              <a:xfrm>
                <a:off x="4135330" y="3765200"/>
                <a:ext cx="128669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16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</m:acc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l-GR" sz="1600" i="1" baseline="50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</m:t>
                      </m:r>
                      <m:d>
                        <m:dPr>
                          <m:ctrlP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6" name="Retângulo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3765200"/>
                <a:ext cx="1286699" cy="34573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1928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Direto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direto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alcançáveis a partir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2"/>
                <a:stretch>
                  <a:fillRect l="-796" t="-504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2"/>
          </p:cNvCxnSpPr>
          <p:nvPr/>
        </p:nvCxnSpPr>
        <p:spPr>
          <a:xfrm rot="5400000" flipH="1" flipV="1">
            <a:off x="1755401" y="3056369"/>
            <a:ext cx="359619" cy="373302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de seta reta 15"/>
          <p:cNvCxnSpPr>
            <a:stCxn id="4" idx="4"/>
            <a:endCxn id="7" idx="0"/>
          </p:cNvCxnSpPr>
          <p:nvPr/>
        </p:nvCxnSpPr>
        <p:spPr>
          <a:xfrm flipH="1">
            <a:off x="1667208" y="2707186"/>
            <a:ext cx="1" cy="6826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14"/>
          <p:cNvCxnSpPr>
            <a:stCxn id="7" idx="6"/>
            <a:endCxn id="10" idx="3"/>
          </p:cNvCxnSpPr>
          <p:nvPr/>
        </p:nvCxnSpPr>
        <p:spPr>
          <a:xfrm flipV="1">
            <a:off x="1782256" y="3142747"/>
            <a:ext cx="373302" cy="359620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ângulo 17"/>
              <p:cNvSpPr/>
              <p:nvPr/>
            </p:nvSpPr>
            <p:spPr>
              <a:xfrm>
                <a:off x="6261843" y="2182955"/>
                <a:ext cx="1710918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18" name="Retâ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182955"/>
                <a:ext cx="1710918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915011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915011" cy="3457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 20"/>
              <p:cNvSpPr/>
              <p:nvPr/>
            </p:nvSpPr>
            <p:spPr>
              <a:xfrm>
                <a:off x="4135331" y="2674632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1" name="Retâ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2674632"/>
                <a:ext cx="1521250" cy="3457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tângulo 22"/>
              <p:cNvSpPr/>
              <p:nvPr/>
            </p:nvSpPr>
            <p:spPr>
              <a:xfrm>
                <a:off x="6261843" y="2674680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4, 6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3" name="Retângulo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674680"/>
                <a:ext cx="1521250" cy="34573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 23"/>
              <p:cNvSpPr/>
              <p:nvPr/>
            </p:nvSpPr>
            <p:spPr>
              <a:xfrm>
                <a:off x="4135331" y="3235122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4" name="Retâ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3235122"/>
                <a:ext cx="1521250" cy="34573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tângulo 24"/>
              <p:cNvSpPr/>
              <p:nvPr/>
            </p:nvSpPr>
            <p:spPr>
              <a:xfrm>
                <a:off x="6261843" y="3235122"/>
                <a:ext cx="1331583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5" name="Retâ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3235122"/>
                <a:ext cx="1331583" cy="34573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tângulo 25"/>
              <p:cNvSpPr/>
              <p:nvPr/>
            </p:nvSpPr>
            <p:spPr>
              <a:xfrm>
                <a:off x="4135330" y="3765200"/>
                <a:ext cx="128669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16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</m:acc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l-GR" sz="1600" i="1" baseline="50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</m:t>
                      </m:r>
                      <m:d>
                        <m:dPr>
                          <m:ctrlP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6" name="Retângulo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3765200"/>
                <a:ext cx="1286699" cy="34573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542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Inverso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inverso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que alcançam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2"/>
                <a:stretch>
                  <a:fillRect l="-796" t="-5042" r="-130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2"/>
          </p:cNvCxnSpPr>
          <p:nvPr/>
        </p:nvCxnSpPr>
        <p:spPr>
          <a:xfrm rot="5400000" flipH="1" flipV="1">
            <a:off x="1755401" y="3056369"/>
            <a:ext cx="359619" cy="373302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de seta reta 15"/>
          <p:cNvCxnSpPr>
            <a:stCxn id="4" idx="4"/>
            <a:endCxn id="7" idx="0"/>
          </p:cNvCxnSpPr>
          <p:nvPr/>
        </p:nvCxnSpPr>
        <p:spPr>
          <a:xfrm flipH="1">
            <a:off x="1667208" y="2707186"/>
            <a:ext cx="1" cy="6826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14"/>
          <p:cNvCxnSpPr>
            <a:stCxn id="7" idx="6"/>
            <a:endCxn id="10" idx="3"/>
          </p:cNvCxnSpPr>
          <p:nvPr/>
        </p:nvCxnSpPr>
        <p:spPr>
          <a:xfrm flipV="1">
            <a:off x="1782256" y="3142747"/>
            <a:ext cx="373302" cy="359620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79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Inverso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inverso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que alcançam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2"/>
                <a:stretch>
                  <a:fillRect l="-796" t="-5042" r="-130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2"/>
          </p:cNvCxnSpPr>
          <p:nvPr/>
        </p:nvCxnSpPr>
        <p:spPr>
          <a:xfrm rot="5400000" flipH="1" flipV="1">
            <a:off x="1755401" y="3056369"/>
            <a:ext cx="359619" cy="373302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de seta reta 15"/>
          <p:cNvCxnSpPr>
            <a:stCxn id="4" idx="4"/>
            <a:endCxn id="7" idx="0"/>
          </p:cNvCxnSpPr>
          <p:nvPr/>
        </p:nvCxnSpPr>
        <p:spPr>
          <a:xfrm flipH="1">
            <a:off x="1667208" y="2707186"/>
            <a:ext cx="1" cy="6826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14"/>
          <p:cNvCxnSpPr>
            <a:stCxn id="7" idx="6"/>
            <a:endCxn id="10" idx="3"/>
          </p:cNvCxnSpPr>
          <p:nvPr/>
        </p:nvCxnSpPr>
        <p:spPr>
          <a:xfrm flipV="1">
            <a:off x="1782256" y="3142747"/>
            <a:ext cx="373302" cy="359620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331583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331583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7549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Inverso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inverso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que alcançam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2"/>
                <a:stretch>
                  <a:fillRect l="-796" t="-5042" r="-130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2"/>
          </p:cNvCxnSpPr>
          <p:nvPr/>
        </p:nvCxnSpPr>
        <p:spPr>
          <a:xfrm rot="5400000" flipH="1" flipV="1">
            <a:off x="1755401" y="3056369"/>
            <a:ext cx="359619" cy="373302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de seta reta 15"/>
          <p:cNvCxnSpPr>
            <a:stCxn id="4" idx="4"/>
            <a:endCxn id="7" idx="0"/>
          </p:cNvCxnSpPr>
          <p:nvPr/>
        </p:nvCxnSpPr>
        <p:spPr>
          <a:xfrm flipH="1">
            <a:off x="1667208" y="2707186"/>
            <a:ext cx="1" cy="6826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14"/>
          <p:cNvCxnSpPr>
            <a:stCxn id="7" idx="6"/>
            <a:endCxn id="10" idx="3"/>
          </p:cNvCxnSpPr>
          <p:nvPr/>
        </p:nvCxnSpPr>
        <p:spPr>
          <a:xfrm flipV="1">
            <a:off x="1782256" y="3142747"/>
            <a:ext cx="373302" cy="359620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ângulo 17"/>
              <p:cNvSpPr/>
              <p:nvPr/>
            </p:nvSpPr>
            <p:spPr>
              <a:xfrm>
                <a:off x="6261843" y="2182955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18" name="Retâ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182955"/>
                <a:ext cx="1521250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331583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331583" cy="3457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478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Inverso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inverso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que alcançam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2"/>
                <a:stretch>
                  <a:fillRect l="-796" t="-5042" r="-130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2"/>
          </p:cNvCxnSpPr>
          <p:nvPr/>
        </p:nvCxnSpPr>
        <p:spPr>
          <a:xfrm rot="5400000" flipH="1" flipV="1">
            <a:off x="1755401" y="3056369"/>
            <a:ext cx="359619" cy="373302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de seta reta 15"/>
          <p:cNvCxnSpPr>
            <a:stCxn id="4" idx="4"/>
            <a:endCxn id="7" idx="0"/>
          </p:cNvCxnSpPr>
          <p:nvPr/>
        </p:nvCxnSpPr>
        <p:spPr>
          <a:xfrm flipH="1">
            <a:off x="1667208" y="2707186"/>
            <a:ext cx="1" cy="682698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14"/>
          <p:cNvCxnSpPr>
            <a:stCxn id="7" idx="6"/>
            <a:endCxn id="10" idx="3"/>
          </p:cNvCxnSpPr>
          <p:nvPr/>
        </p:nvCxnSpPr>
        <p:spPr>
          <a:xfrm flipV="1">
            <a:off x="1782256" y="3142747"/>
            <a:ext cx="373302" cy="359620"/>
          </a:xfrm>
          <a:prstGeom prst="curvedConnector2">
            <a:avLst/>
          </a:prstGeom>
          <a:ln w="254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ângulo 17"/>
              <p:cNvSpPr/>
              <p:nvPr/>
            </p:nvSpPr>
            <p:spPr>
              <a:xfrm>
                <a:off x="6261843" y="2182955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18" name="Retâ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182955"/>
                <a:ext cx="1521250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331583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331583" cy="3457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 20"/>
              <p:cNvSpPr/>
              <p:nvPr/>
            </p:nvSpPr>
            <p:spPr>
              <a:xfrm>
                <a:off x="4135331" y="2674632"/>
                <a:ext cx="1900585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1" name="Retâ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2674632"/>
                <a:ext cx="1900585" cy="3457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6950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Inverso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inverso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que alcançam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2"/>
                <a:stretch>
                  <a:fillRect l="-796" t="-5042" r="-130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2"/>
          </p:cNvCxnSpPr>
          <p:nvPr/>
        </p:nvCxnSpPr>
        <p:spPr>
          <a:xfrm rot="5400000" flipH="1" flipV="1">
            <a:off x="1755401" y="3056369"/>
            <a:ext cx="359619" cy="373302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de seta reta 15"/>
          <p:cNvCxnSpPr>
            <a:stCxn id="4" idx="4"/>
            <a:endCxn id="7" idx="0"/>
          </p:cNvCxnSpPr>
          <p:nvPr/>
        </p:nvCxnSpPr>
        <p:spPr>
          <a:xfrm flipH="1">
            <a:off x="1667208" y="2707186"/>
            <a:ext cx="1" cy="6826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14"/>
          <p:cNvCxnSpPr>
            <a:stCxn id="7" idx="6"/>
            <a:endCxn id="10" idx="3"/>
          </p:cNvCxnSpPr>
          <p:nvPr/>
        </p:nvCxnSpPr>
        <p:spPr>
          <a:xfrm flipV="1">
            <a:off x="1782256" y="3142747"/>
            <a:ext cx="373302" cy="359620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ângulo 17"/>
              <p:cNvSpPr/>
              <p:nvPr/>
            </p:nvSpPr>
            <p:spPr>
              <a:xfrm>
                <a:off x="6261843" y="2182955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18" name="Retâ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182955"/>
                <a:ext cx="1521250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331583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331583" cy="3457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 20"/>
              <p:cNvSpPr/>
              <p:nvPr/>
            </p:nvSpPr>
            <p:spPr>
              <a:xfrm>
                <a:off x="4135331" y="2674632"/>
                <a:ext cx="1900585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1" name="Retâ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2674632"/>
                <a:ext cx="1900585" cy="3457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tângulo 22"/>
              <p:cNvSpPr/>
              <p:nvPr/>
            </p:nvSpPr>
            <p:spPr>
              <a:xfrm>
                <a:off x="6261843" y="2674680"/>
                <a:ext cx="1331583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3" name="Retângulo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674680"/>
                <a:ext cx="1331583" cy="34573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0063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Inverso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inverso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que alcançam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2"/>
                <a:stretch>
                  <a:fillRect l="-796" t="-5042" r="-130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2"/>
          </p:cNvCxnSpPr>
          <p:nvPr/>
        </p:nvCxnSpPr>
        <p:spPr>
          <a:xfrm rot="5400000" flipH="1" flipV="1">
            <a:off x="1755401" y="3056369"/>
            <a:ext cx="359619" cy="373302"/>
          </a:xfrm>
          <a:prstGeom prst="curvedConnector2">
            <a:avLst/>
          </a:prstGeom>
          <a:ln w="254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de seta reta 15"/>
          <p:cNvCxnSpPr>
            <a:stCxn id="4" idx="4"/>
            <a:endCxn id="7" idx="0"/>
          </p:cNvCxnSpPr>
          <p:nvPr/>
        </p:nvCxnSpPr>
        <p:spPr>
          <a:xfrm flipH="1">
            <a:off x="1667208" y="2707186"/>
            <a:ext cx="1" cy="6826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14"/>
          <p:cNvCxnSpPr>
            <a:stCxn id="7" idx="6"/>
            <a:endCxn id="10" idx="3"/>
          </p:cNvCxnSpPr>
          <p:nvPr/>
        </p:nvCxnSpPr>
        <p:spPr>
          <a:xfrm flipV="1">
            <a:off x="1782256" y="3142747"/>
            <a:ext cx="373302" cy="359620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ângulo 17"/>
              <p:cNvSpPr/>
              <p:nvPr/>
            </p:nvSpPr>
            <p:spPr>
              <a:xfrm>
                <a:off x="6261843" y="2182955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18" name="Retâ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182955"/>
                <a:ext cx="1521250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331583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331583" cy="3457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 20"/>
              <p:cNvSpPr/>
              <p:nvPr/>
            </p:nvSpPr>
            <p:spPr>
              <a:xfrm>
                <a:off x="4135331" y="2674632"/>
                <a:ext cx="1900585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1" name="Retâ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2674632"/>
                <a:ext cx="1900585" cy="3457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tângulo 22"/>
              <p:cNvSpPr/>
              <p:nvPr/>
            </p:nvSpPr>
            <p:spPr>
              <a:xfrm>
                <a:off x="6261843" y="2674680"/>
                <a:ext cx="1331583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3" name="Retângulo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674680"/>
                <a:ext cx="1331583" cy="34573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 23"/>
              <p:cNvSpPr/>
              <p:nvPr/>
            </p:nvSpPr>
            <p:spPr>
              <a:xfrm>
                <a:off x="4135331" y="3235122"/>
                <a:ext cx="1900585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4" name="Retâ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3235122"/>
                <a:ext cx="1900585" cy="34573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661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Inverso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inverso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que alcançam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2"/>
                <a:stretch>
                  <a:fillRect l="-796" t="-5042" r="-130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2"/>
          </p:cNvCxnSpPr>
          <p:nvPr/>
        </p:nvCxnSpPr>
        <p:spPr>
          <a:xfrm rot="5400000" flipH="1" flipV="1">
            <a:off x="1755401" y="3056369"/>
            <a:ext cx="359619" cy="373302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de seta reta 15"/>
          <p:cNvCxnSpPr>
            <a:stCxn id="4" idx="4"/>
            <a:endCxn id="7" idx="0"/>
          </p:cNvCxnSpPr>
          <p:nvPr/>
        </p:nvCxnSpPr>
        <p:spPr>
          <a:xfrm flipH="1">
            <a:off x="1667208" y="2707186"/>
            <a:ext cx="1" cy="6826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14"/>
          <p:cNvCxnSpPr>
            <a:stCxn id="7" idx="6"/>
            <a:endCxn id="10" idx="3"/>
          </p:cNvCxnSpPr>
          <p:nvPr/>
        </p:nvCxnSpPr>
        <p:spPr>
          <a:xfrm flipV="1">
            <a:off x="1782256" y="3142747"/>
            <a:ext cx="373302" cy="359620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ângulo 17"/>
              <p:cNvSpPr/>
              <p:nvPr/>
            </p:nvSpPr>
            <p:spPr>
              <a:xfrm>
                <a:off x="6261843" y="2182955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18" name="Retâ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182955"/>
                <a:ext cx="1521250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331583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331583" cy="3457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 20"/>
              <p:cNvSpPr/>
              <p:nvPr/>
            </p:nvSpPr>
            <p:spPr>
              <a:xfrm>
                <a:off x="4135331" y="2674632"/>
                <a:ext cx="1900585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1" name="Retâ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2674632"/>
                <a:ext cx="1900585" cy="3457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tângulo 22"/>
              <p:cNvSpPr/>
              <p:nvPr/>
            </p:nvSpPr>
            <p:spPr>
              <a:xfrm>
                <a:off x="6261843" y="2674680"/>
                <a:ext cx="1331583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3" name="Retângulo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674680"/>
                <a:ext cx="1331583" cy="34573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 23"/>
              <p:cNvSpPr/>
              <p:nvPr/>
            </p:nvSpPr>
            <p:spPr>
              <a:xfrm>
                <a:off x="4135331" y="3235122"/>
                <a:ext cx="1900585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4" name="Retâ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3235122"/>
                <a:ext cx="1900585" cy="34573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tângulo 24"/>
              <p:cNvSpPr/>
              <p:nvPr/>
            </p:nvSpPr>
            <p:spPr>
              <a:xfrm>
                <a:off x="6261843" y="3235122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4, 6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5" name="Retâ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3235122"/>
                <a:ext cx="1521250" cy="34573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2156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Inverso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inverso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que alcançam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2"/>
                <a:stretch>
                  <a:fillRect l="-796" t="-5042" r="-130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2"/>
          </p:cNvCxnSpPr>
          <p:nvPr/>
        </p:nvCxnSpPr>
        <p:spPr>
          <a:xfrm rot="5400000" flipH="1" flipV="1">
            <a:off x="1755401" y="3056369"/>
            <a:ext cx="359619" cy="373302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de seta reta 15"/>
          <p:cNvCxnSpPr>
            <a:stCxn id="4" idx="4"/>
            <a:endCxn id="7" idx="0"/>
          </p:cNvCxnSpPr>
          <p:nvPr/>
        </p:nvCxnSpPr>
        <p:spPr>
          <a:xfrm flipH="1">
            <a:off x="1667208" y="2707186"/>
            <a:ext cx="1" cy="6826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14"/>
          <p:cNvCxnSpPr>
            <a:stCxn id="7" idx="6"/>
            <a:endCxn id="10" idx="3"/>
          </p:cNvCxnSpPr>
          <p:nvPr/>
        </p:nvCxnSpPr>
        <p:spPr>
          <a:xfrm flipV="1">
            <a:off x="1782256" y="3142747"/>
            <a:ext cx="373302" cy="359620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ângulo 17"/>
              <p:cNvSpPr/>
              <p:nvPr/>
            </p:nvSpPr>
            <p:spPr>
              <a:xfrm>
                <a:off x="6261843" y="2182955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18" name="Retâ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182955"/>
                <a:ext cx="1521250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331583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331583" cy="3457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 20"/>
              <p:cNvSpPr/>
              <p:nvPr/>
            </p:nvSpPr>
            <p:spPr>
              <a:xfrm>
                <a:off x="4135331" y="2674632"/>
                <a:ext cx="1900585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1" name="Retâ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2674632"/>
                <a:ext cx="1900585" cy="3457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tângulo 22"/>
              <p:cNvSpPr/>
              <p:nvPr/>
            </p:nvSpPr>
            <p:spPr>
              <a:xfrm>
                <a:off x="6261843" y="2674680"/>
                <a:ext cx="1331583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3" name="Retângulo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674680"/>
                <a:ext cx="1331583" cy="34573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 23"/>
              <p:cNvSpPr/>
              <p:nvPr/>
            </p:nvSpPr>
            <p:spPr>
              <a:xfrm>
                <a:off x="4135331" y="3235122"/>
                <a:ext cx="1900585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4" name="Retâ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3235122"/>
                <a:ext cx="1900585" cy="34573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tângulo 24"/>
              <p:cNvSpPr/>
              <p:nvPr/>
            </p:nvSpPr>
            <p:spPr>
              <a:xfrm>
                <a:off x="6261843" y="3235122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4, 6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5" name="Retâ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3235122"/>
                <a:ext cx="1521250" cy="34573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tângulo 25"/>
              <p:cNvSpPr/>
              <p:nvPr/>
            </p:nvSpPr>
            <p:spPr>
              <a:xfrm>
                <a:off x="4135330" y="3765200"/>
                <a:ext cx="128669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16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</m:acc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l-GR" sz="1600" i="1" baseline="5000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</m:t>
                      </m:r>
                      <m:d>
                        <m:dPr>
                          <m:ctrlP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6" name="Retângulo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3765200"/>
                <a:ext cx="1286699" cy="34573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5666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Fecho Transitivo Inverso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fecho transitivo inverso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representado por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é o conjunto de vértices que alcançam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Vale notar que v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0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25840"/>
              </a:xfrm>
              <a:prstGeom prst="rect">
                <a:avLst/>
              </a:prstGeom>
              <a:blipFill rotWithShape="0">
                <a:blip r:embed="rId2"/>
                <a:stretch>
                  <a:fillRect l="-796" t="-5042" r="-1302" b="-13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552160" y="248222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978594" y="29397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52159" y="33898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351958" y="363759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105436" y="362852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2121861" y="29507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2843745" y="25946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7"/>
            <a:endCxn id="4" idx="3"/>
          </p:cNvCxnSpPr>
          <p:nvPr/>
        </p:nvCxnSpPr>
        <p:spPr>
          <a:xfrm flipV="1">
            <a:off x="1174994" y="2674241"/>
            <a:ext cx="410863" cy="29846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6"/>
            <a:endCxn id="9" idx="2"/>
          </p:cNvCxnSpPr>
          <p:nvPr/>
        </p:nvCxnSpPr>
        <p:spPr>
          <a:xfrm flipV="1">
            <a:off x="2582055" y="3741006"/>
            <a:ext cx="523381" cy="907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7"/>
            <a:endCxn id="10" idx="2"/>
          </p:cNvCxnSpPr>
          <p:nvPr/>
        </p:nvCxnSpPr>
        <p:spPr>
          <a:xfrm rot="5400000" flipH="1" flipV="1">
            <a:off x="1755401" y="3056369"/>
            <a:ext cx="359619" cy="373302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5"/>
            <a:endCxn id="10" idx="1"/>
          </p:cNvCxnSpPr>
          <p:nvPr/>
        </p:nvCxnSpPr>
        <p:spPr>
          <a:xfrm>
            <a:off x="1748560" y="2674241"/>
            <a:ext cx="406998" cy="3094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138" y="22029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de seta reta 15"/>
          <p:cNvCxnSpPr>
            <a:stCxn id="4" idx="4"/>
            <a:endCxn id="7" idx="0"/>
          </p:cNvCxnSpPr>
          <p:nvPr/>
        </p:nvCxnSpPr>
        <p:spPr>
          <a:xfrm flipH="1">
            <a:off x="1667208" y="2707186"/>
            <a:ext cx="1" cy="6826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14"/>
          <p:cNvCxnSpPr>
            <a:stCxn id="7" idx="6"/>
            <a:endCxn id="10" idx="3"/>
          </p:cNvCxnSpPr>
          <p:nvPr/>
        </p:nvCxnSpPr>
        <p:spPr>
          <a:xfrm flipV="1">
            <a:off x="1782256" y="3142747"/>
            <a:ext cx="373302" cy="359620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ângulo 17"/>
              <p:cNvSpPr/>
              <p:nvPr/>
            </p:nvSpPr>
            <p:spPr>
              <a:xfrm>
                <a:off x="6261843" y="2182955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18" name="Retâ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182955"/>
                <a:ext cx="1521250" cy="3457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135330" y="2184246"/>
                <a:ext cx="1331583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2184246"/>
                <a:ext cx="1331583" cy="3457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 20"/>
              <p:cNvSpPr/>
              <p:nvPr/>
            </p:nvSpPr>
            <p:spPr>
              <a:xfrm>
                <a:off x="4135331" y="2674632"/>
                <a:ext cx="1900585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1" name="Retâ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2674632"/>
                <a:ext cx="1900585" cy="3457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tângulo 22"/>
              <p:cNvSpPr/>
              <p:nvPr/>
            </p:nvSpPr>
            <p:spPr>
              <a:xfrm>
                <a:off x="6261843" y="2674680"/>
                <a:ext cx="1331583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3" name="Retângulo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2674680"/>
                <a:ext cx="1331583" cy="34573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 23"/>
              <p:cNvSpPr/>
              <p:nvPr/>
            </p:nvSpPr>
            <p:spPr>
              <a:xfrm>
                <a:off x="4135331" y="3235122"/>
                <a:ext cx="1900585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1, 2, 3, 5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4" name="Retâ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1" y="3235122"/>
                <a:ext cx="1900585" cy="34573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tângulo 24"/>
              <p:cNvSpPr/>
              <p:nvPr/>
            </p:nvSpPr>
            <p:spPr>
              <a:xfrm>
                <a:off x="6261843" y="3235122"/>
                <a:ext cx="1521250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d>
                      <m:d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4, 6</m:t>
                        </m:r>
                      </m:e>
                    </m:d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pt-BR" sz="1600" dirty="0"/>
              </a:p>
            </p:txBody>
          </p:sp>
        </mc:Choice>
        <mc:Fallback xmlns="">
          <p:sp>
            <p:nvSpPr>
              <p:cNvPr id="25" name="Retâ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43" y="3235122"/>
                <a:ext cx="1521250" cy="34573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tângulo 25"/>
              <p:cNvSpPr/>
              <p:nvPr/>
            </p:nvSpPr>
            <p:spPr>
              <a:xfrm>
                <a:off x="4135330" y="3765200"/>
                <a:ext cx="1286699" cy="345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16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</m:acc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l-GR" sz="1600" i="1" baseline="5000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</m:t>
                      </m:r>
                      <m:d>
                        <m:dPr>
                          <m:ctrlP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6" name="Retângulo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330" y="3765200"/>
                <a:ext cx="1286699" cy="34573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0783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Base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uma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G é um subconjunto B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tal que não há caminhos entre elementos de B e todo vértice não pertencente a B pode ser alcançado por algum vértice de B.</a:t>
            </a:r>
          </a:p>
        </p:txBody>
      </p:sp>
      <p:sp>
        <p:nvSpPr>
          <p:cNvPr id="84" name="CaixaDeTexto 83"/>
          <p:cNvSpPr txBox="1"/>
          <p:nvPr/>
        </p:nvSpPr>
        <p:spPr>
          <a:xfrm>
            <a:off x="2224368" y="376347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85" name="Elipse 84"/>
          <p:cNvSpPr/>
          <p:nvPr/>
        </p:nvSpPr>
        <p:spPr>
          <a:xfrm>
            <a:off x="3207804" y="2392243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6" name="Elipse 85"/>
          <p:cNvSpPr/>
          <p:nvPr/>
        </p:nvSpPr>
        <p:spPr>
          <a:xfrm>
            <a:off x="2435670" y="2971618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7" name="Elipse 86"/>
          <p:cNvSpPr/>
          <p:nvPr/>
        </p:nvSpPr>
        <p:spPr>
          <a:xfrm>
            <a:off x="3322853" y="348462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8" name="Elipse 87"/>
          <p:cNvSpPr/>
          <p:nvPr/>
        </p:nvSpPr>
        <p:spPr>
          <a:xfrm>
            <a:off x="2756597" y="4059946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89" name="Elipse 88"/>
          <p:cNvSpPr/>
          <p:nvPr/>
        </p:nvSpPr>
        <p:spPr>
          <a:xfrm>
            <a:off x="4119206" y="4092891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90" name="Elipse 89"/>
          <p:cNvSpPr/>
          <p:nvPr/>
        </p:nvSpPr>
        <p:spPr>
          <a:xfrm>
            <a:off x="3922806" y="3011761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91" name="Elipse 90"/>
          <p:cNvSpPr/>
          <p:nvPr/>
        </p:nvSpPr>
        <p:spPr>
          <a:xfrm>
            <a:off x="4573172" y="2491979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92" name="Elipse 91"/>
          <p:cNvSpPr/>
          <p:nvPr/>
        </p:nvSpPr>
        <p:spPr>
          <a:xfrm>
            <a:off x="4908934" y="3451259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93" name="Conector de seta reta 92"/>
          <p:cNvCxnSpPr>
            <a:stCxn id="86" idx="4"/>
            <a:endCxn id="88" idx="1"/>
          </p:cNvCxnSpPr>
          <p:nvPr/>
        </p:nvCxnSpPr>
        <p:spPr>
          <a:xfrm>
            <a:off x="2550719" y="3196583"/>
            <a:ext cx="239575" cy="8963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de seta reta 93"/>
          <p:cNvCxnSpPr>
            <a:stCxn id="87" idx="5"/>
            <a:endCxn id="89" idx="1"/>
          </p:cNvCxnSpPr>
          <p:nvPr/>
        </p:nvCxnSpPr>
        <p:spPr>
          <a:xfrm>
            <a:off x="3519253" y="3676640"/>
            <a:ext cx="633650" cy="449196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de seta reta 94"/>
          <p:cNvCxnSpPr>
            <a:stCxn id="85" idx="6"/>
            <a:endCxn id="91" idx="1"/>
          </p:cNvCxnSpPr>
          <p:nvPr/>
        </p:nvCxnSpPr>
        <p:spPr>
          <a:xfrm>
            <a:off x="3437901" y="2504726"/>
            <a:ext cx="1168968" cy="201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88" idx="6"/>
            <a:endCxn id="89" idx="2"/>
          </p:cNvCxnSpPr>
          <p:nvPr/>
        </p:nvCxnSpPr>
        <p:spPr>
          <a:xfrm>
            <a:off x="2986694" y="4172429"/>
            <a:ext cx="1132512" cy="32945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de seta reta 97"/>
          <p:cNvCxnSpPr>
            <a:stCxn id="87" idx="7"/>
            <a:endCxn id="90" idx="3"/>
          </p:cNvCxnSpPr>
          <p:nvPr/>
        </p:nvCxnSpPr>
        <p:spPr>
          <a:xfrm flipV="1">
            <a:off x="3519253" y="3203781"/>
            <a:ext cx="437250" cy="313784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de seta reta 98"/>
          <p:cNvCxnSpPr>
            <a:stCxn id="86" idx="6"/>
            <a:endCxn id="87" idx="1"/>
          </p:cNvCxnSpPr>
          <p:nvPr/>
        </p:nvCxnSpPr>
        <p:spPr>
          <a:xfrm>
            <a:off x="2665767" y="3084101"/>
            <a:ext cx="690783" cy="433464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de seta reta 99"/>
          <p:cNvCxnSpPr>
            <a:stCxn id="85" idx="5"/>
            <a:endCxn id="90" idx="1"/>
          </p:cNvCxnSpPr>
          <p:nvPr/>
        </p:nvCxnSpPr>
        <p:spPr>
          <a:xfrm>
            <a:off x="3404204" y="2584263"/>
            <a:ext cx="552299" cy="460443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de seta reta 100"/>
          <p:cNvCxnSpPr>
            <a:stCxn id="92" idx="0"/>
            <a:endCxn id="91" idx="4"/>
          </p:cNvCxnSpPr>
          <p:nvPr/>
        </p:nvCxnSpPr>
        <p:spPr>
          <a:xfrm flipH="1" flipV="1">
            <a:off x="4688221" y="2716944"/>
            <a:ext cx="335762" cy="734315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de seta reta 101"/>
          <p:cNvCxnSpPr>
            <a:stCxn id="92" idx="1"/>
            <a:endCxn id="90" idx="5"/>
          </p:cNvCxnSpPr>
          <p:nvPr/>
        </p:nvCxnSpPr>
        <p:spPr>
          <a:xfrm flipH="1" flipV="1">
            <a:off x="4119206" y="3203781"/>
            <a:ext cx="823425" cy="280423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293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Base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uma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G é um subconjunto B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tal que não há caminhos entre elementos de B e todo vértice não pertencente a B pode ser alcançado por algum vértice de B.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224368" y="3762860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7" name="Elipse 46"/>
          <p:cNvSpPr/>
          <p:nvPr/>
        </p:nvSpPr>
        <p:spPr>
          <a:xfrm>
            <a:off x="3207804" y="2391624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8" name="Elipse 47"/>
          <p:cNvSpPr/>
          <p:nvPr/>
        </p:nvSpPr>
        <p:spPr>
          <a:xfrm>
            <a:off x="2435670" y="2970999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49" name="Elipse 48"/>
          <p:cNvSpPr/>
          <p:nvPr/>
        </p:nvSpPr>
        <p:spPr>
          <a:xfrm>
            <a:off x="3322853" y="34840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50" name="Elipse 49"/>
          <p:cNvSpPr/>
          <p:nvPr/>
        </p:nvSpPr>
        <p:spPr>
          <a:xfrm>
            <a:off x="2756597" y="4059327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1" name="Elipse 50"/>
          <p:cNvSpPr/>
          <p:nvPr/>
        </p:nvSpPr>
        <p:spPr>
          <a:xfrm>
            <a:off x="4119206" y="4092272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52" name="Elipse 51"/>
          <p:cNvSpPr/>
          <p:nvPr/>
        </p:nvSpPr>
        <p:spPr>
          <a:xfrm>
            <a:off x="3922806" y="3011142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53" name="Elipse 52"/>
          <p:cNvSpPr/>
          <p:nvPr/>
        </p:nvSpPr>
        <p:spPr>
          <a:xfrm>
            <a:off x="4573172" y="249136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54" name="Elipse 53"/>
          <p:cNvSpPr/>
          <p:nvPr/>
        </p:nvSpPr>
        <p:spPr>
          <a:xfrm>
            <a:off x="4908934" y="345064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55" name="Conector de seta reta 54"/>
          <p:cNvCxnSpPr>
            <a:stCxn id="48" idx="4"/>
            <a:endCxn id="50" idx="1"/>
          </p:cNvCxnSpPr>
          <p:nvPr/>
        </p:nvCxnSpPr>
        <p:spPr>
          <a:xfrm>
            <a:off x="2550719" y="3195964"/>
            <a:ext cx="239575" cy="896308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49" idx="5"/>
            <a:endCxn id="51" idx="1"/>
          </p:cNvCxnSpPr>
          <p:nvPr/>
        </p:nvCxnSpPr>
        <p:spPr>
          <a:xfrm>
            <a:off x="3519253" y="3676021"/>
            <a:ext cx="633650" cy="449196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/>
          <p:cNvCxnSpPr>
            <a:stCxn id="47" idx="6"/>
            <a:endCxn id="53" idx="1"/>
          </p:cNvCxnSpPr>
          <p:nvPr/>
        </p:nvCxnSpPr>
        <p:spPr>
          <a:xfrm>
            <a:off x="3437901" y="2504107"/>
            <a:ext cx="1168968" cy="201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>
            <a:stCxn id="50" idx="6"/>
            <a:endCxn id="51" idx="2"/>
          </p:cNvCxnSpPr>
          <p:nvPr/>
        </p:nvCxnSpPr>
        <p:spPr>
          <a:xfrm>
            <a:off x="2986694" y="4171810"/>
            <a:ext cx="1132512" cy="3294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stCxn id="49" idx="7"/>
            <a:endCxn id="52" idx="3"/>
          </p:cNvCxnSpPr>
          <p:nvPr/>
        </p:nvCxnSpPr>
        <p:spPr>
          <a:xfrm flipV="1">
            <a:off x="3519253" y="3203162"/>
            <a:ext cx="437250" cy="313784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48" idx="6"/>
            <a:endCxn id="49" idx="1"/>
          </p:cNvCxnSpPr>
          <p:nvPr/>
        </p:nvCxnSpPr>
        <p:spPr>
          <a:xfrm>
            <a:off x="2665767" y="3083482"/>
            <a:ext cx="690783" cy="433464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/>
          <p:cNvCxnSpPr>
            <a:stCxn id="47" idx="5"/>
            <a:endCxn id="52" idx="1"/>
          </p:cNvCxnSpPr>
          <p:nvPr/>
        </p:nvCxnSpPr>
        <p:spPr>
          <a:xfrm>
            <a:off x="3404204" y="2583644"/>
            <a:ext cx="552299" cy="460443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/>
          <p:cNvCxnSpPr>
            <a:stCxn id="54" idx="0"/>
            <a:endCxn id="53" idx="4"/>
          </p:cNvCxnSpPr>
          <p:nvPr/>
        </p:nvCxnSpPr>
        <p:spPr>
          <a:xfrm flipH="1" flipV="1">
            <a:off x="4688221" y="2716325"/>
            <a:ext cx="335762" cy="734315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63"/>
          <p:cNvCxnSpPr>
            <a:stCxn id="54" idx="1"/>
            <a:endCxn id="52" idx="5"/>
          </p:cNvCxnSpPr>
          <p:nvPr/>
        </p:nvCxnSpPr>
        <p:spPr>
          <a:xfrm flipH="1" flipV="1">
            <a:off x="4119206" y="3203162"/>
            <a:ext cx="823425" cy="280423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4042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Base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uma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G é um subconjunto B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tal que não há caminhos entre elementos de B e todo vértice não pertencente a B pode ser alcançado por algum vértice de B.</a:t>
            </a:r>
          </a:p>
        </p:txBody>
      </p:sp>
      <p:sp>
        <p:nvSpPr>
          <p:cNvPr id="5" name="Elipse 4"/>
          <p:cNvSpPr/>
          <p:nvPr/>
        </p:nvSpPr>
        <p:spPr>
          <a:xfrm>
            <a:off x="3207800" y="2387239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2435666" y="2966614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3322849" y="3479616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756593" y="4054942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4119202" y="4087887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3922802" y="3006757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1" name="Elipse 10"/>
          <p:cNvSpPr/>
          <p:nvPr/>
        </p:nvSpPr>
        <p:spPr>
          <a:xfrm>
            <a:off x="4573168" y="248697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2" name="Elipse 11"/>
          <p:cNvSpPr/>
          <p:nvPr/>
        </p:nvSpPr>
        <p:spPr>
          <a:xfrm>
            <a:off x="4908930" y="344625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4" name="Conector de seta reta 13"/>
          <p:cNvCxnSpPr>
            <a:stCxn id="6" idx="4"/>
            <a:endCxn id="8" idx="1"/>
          </p:cNvCxnSpPr>
          <p:nvPr/>
        </p:nvCxnSpPr>
        <p:spPr>
          <a:xfrm>
            <a:off x="2550715" y="3191579"/>
            <a:ext cx="239575" cy="896308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519249" y="3671636"/>
            <a:ext cx="633650" cy="449196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5" idx="6"/>
            <a:endCxn id="11" idx="1"/>
          </p:cNvCxnSpPr>
          <p:nvPr/>
        </p:nvCxnSpPr>
        <p:spPr>
          <a:xfrm>
            <a:off x="3437897" y="2499722"/>
            <a:ext cx="1168968" cy="20198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6"/>
            <a:endCxn id="9" idx="2"/>
          </p:cNvCxnSpPr>
          <p:nvPr/>
        </p:nvCxnSpPr>
        <p:spPr>
          <a:xfrm>
            <a:off x="2986690" y="4167425"/>
            <a:ext cx="1132512" cy="3294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7" idx="7"/>
            <a:endCxn id="10" idx="3"/>
          </p:cNvCxnSpPr>
          <p:nvPr/>
        </p:nvCxnSpPr>
        <p:spPr>
          <a:xfrm flipV="1">
            <a:off x="3519249" y="3198777"/>
            <a:ext cx="437250" cy="313784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1"/>
          </p:cNvCxnSpPr>
          <p:nvPr/>
        </p:nvCxnSpPr>
        <p:spPr>
          <a:xfrm>
            <a:off x="2665763" y="3079097"/>
            <a:ext cx="690783" cy="433464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5" idx="5"/>
            <a:endCxn id="10" idx="1"/>
          </p:cNvCxnSpPr>
          <p:nvPr/>
        </p:nvCxnSpPr>
        <p:spPr>
          <a:xfrm>
            <a:off x="3404200" y="2579259"/>
            <a:ext cx="552299" cy="460443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12" idx="0"/>
            <a:endCxn id="11" idx="4"/>
          </p:cNvCxnSpPr>
          <p:nvPr/>
        </p:nvCxnSpPr>
        <p:spPr>
          <a:xfrm flipH="1" flipV="1">
            <a:off x="4688217" y="2711940"/>
            <a:ext cx="335762" cy="734315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>
            <a:stCxn id="12" idx="1"/>
            <a:endCxn id="10" idx="5"/>
          </p:cNvCxnSpPr>
          <p:nvPr/>
        </p:nvCxnSpPr>
        <p:spPr>
          <a:xfrm flipH="1" flipV="1">
            <a:off x="4119202" y="3198777"/>
            <a:ext cx="823425" cy="280423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2224364" y="3762860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20224" y="2459915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Base B = { 1, 2 }</a:t>
            </a:r>
          </a:p>
        </p:txBody>
      </p:sp>
      <p:cxnSp>
        <p:nvCxnSpPr>
          <p:cNvPr id="25" name="Conector de seta reta 24"/>
          <p:cNvCxnSpPr/>
          <p:nvPr/>
        </p:nvCxnSpPr>
        <p:spPr>
          <a:xfrm flipV="1">
            <a:off x="2124953" y="2486975"/>
            <a:ext cx="957124" cy="101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/>
          <p:nvPr/>
        </p:nvCxnSpPr>
        <p:spPr>
          <a:xfrm>
            <a:off x="2085098" y="2809480"/>
            <a:ext cx="296521" cy="157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/>
              <p:cNvSpPr txBox="1"/>
              <p:nvPr/>
            </p:nvSpPr>
            <p:spPr>
              <a:xfrm>
                <a:off x="5674345" y="2351734"/>
                <a:ext cx="3009863" cy="18156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Usando Fecho Transitivo Direto</a:t>
                </a:r>
              </a:p>
              <a:p>
                <a:endParaRPr lang="pt-BR" sz="11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Se </a:t>
                </a:r>
                <a:r>
                  <a:rPr lang="pt-BR" sz="16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</a:t>
                </a:r>
                <a:r>
                  <a:rPr lang="pt-BR" sz="16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w</a:t>
                </a:r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 </a:t>
                </a:r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B então </a:t>
                </a:r>
              </a:p>
              <a:p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          v </a:t>
                </a:r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</a:t>
                </a:r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e w </a:t>
                </a:r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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16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endParaRPr lang="pt-BR" sz="16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Se w </a:t>
                </a:r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 V  </a:t>
                </a:r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B então</a:t>
                </a:r>
              </a:p>
              <a:p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        v  B tal que w 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</m:t>
                    </m:r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16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CaixaDeTex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345" y="2351734"/>
                <a:ext cx="3009863" cy="1815690"/>
              </a:xfrm>
              <a:prstGeom prst="rect">
                <a:avLst/>
              </a:prstGeom>
              <a:blipFill rotWithShape="0">
                <a:blip r:embed="rId3"/>
                <a:stretch>
                  <a:fillRect l="-1215" t="-10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7782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Antibase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uma </a:t>
            </a:r>
            <a:r>
              <a:rPr lang="pt-BR" sz="20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antibase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um subconjunto 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tal que não há caminhos entre elementos de A e todo vértice não pertencente a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pode alcançar por algum vértice de A.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2224368" y="376347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5" name="Elipse 4"/>
          <p:cNvSpPr/>
          <p:nvPr/>
        </p:nvSpPr>
        <p:spPr>
          <a:xfrm>
            <a:off x="3207804" y="2392243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2435670" y="2971618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3322853" y="348462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756597" y="4059946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4119206" y="4092891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3922806" y="3011761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1" name="Elipse 10"/>
          <p:cNvSpPr/>
          <p:nvPr/>
        </p:nvSpPr>
        <p:spPr>
          <a:xfrm>
            <a:off x="4573172" y="2491979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2" name="Elipse 11"/>
          <p:cNvSpPr/>
          <p:nvPr/>
        </p:nvSpPr>
        <p:spPr>
          <a:xfrm>
            <a:off x="4908934" y="3451259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4"/>
            <a:endCxn id="8" idx="1"/>
          </p:cNvCxnSpPr>
          <p:nvPr/>
        </p:nvCxnSpPr>
        <p:spPr>
          <a:xfrm>
            <a:off x="2550719" y="3196583"/>
            <a:ext cx="239575" cy="8963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7" idx="5"/>
            <a:endCxn id="9" idx="1"/>
          </p:cNvCxnSpPr>
          <p:nvPr/>
        </p:nvCxnSpPr>
        <p:spPr>
          <a:xfrm>
            <a:off x="3519253" y="3676640"/>
            <a:ext cx="633650" cy="449196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5" idx="6"/>
            <a:endCxn id="11" idx="1"/>
          </p:cNvCxnSpPr>
          <p:nvPr/>
        </p:nvCxnSpPr>
        <p:spPr>
          <a:xfrm>
            <a:off x="3437901" y="2504726"/>
            <a:ext cx="1168968" cy="201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8" idx="6"/>
            <a:endCxn id="9" idx="2"/>
          </p:cNvCxnSpPr>
          <p:nvPr/>
        </p:nvCxnSpPr>
        <p:spPr>
          <a:xfrm>
            <a:off x="2986694" y="4172429"/>
            <a:ext cx="1132512" cy="32945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7" idx="7"/>
            <a:endCxn id="10" idx="3"/>
          </p:cNvCxnSpPr>
          <p:nvPr/>
        </p:nvCxnSpPr>
        <p:spPr>
          <a:xfrm flipV="1">
            <a:off x="3519253" y="3203781"/>
            <a:ext cx="437250" cy="313784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6" idx="6"/>
            <a:endCxn id="7" idx="1"/>
          </p:cNvCxnSpPr>
          <p:nvPr/>
        </p:nvCxnSpPr>
        <p:spPr>
          <a:xfrm>
            <a:off x="2665767" y="3084101"/>
            <a:ext cx="690783" cy="433464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5" idx="5"/>
            <a:endCxn id="10" idx="1"/>
          </p:cNvCxnSpPr>
          <p:nvPr/>
        </p:nvCxnSpPr>
        <p:spPr>
          <a:xfrm>
            <a:off x="3404204" y="2584263"/>
            <a:ext cx="552299" cy="460443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12" idx="0"/>
            <a:endCxn id="11" idx="4"/>
          </p:cNvCxnSpPr>
          <p:nvPr/>
        </p:nvCxnSpPr>
        <p:spPr>
          <a:xfrm flipH="1" flipV="1">
            <a:off x="4688221" y="2716944"/>
            <a:ext cx="335762" cy="734315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12" idx="1"/>
            <a:endCxn id="10" idx="5"/>
          </p:cNvCxnSpPr>
          <p:nvPr/>
        </p:nvCxnSpPr>
        <p:spPr>
          <a:xfrm flipH="1" flipV="1">
            <a:off x="4119206" y="3203781"/>
            <a:ext cx="823425" cy="280423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20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Antibase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uma </a:t>
            </a:r>
            <a:r>
              <a:rPr lang="pt-BR" sz="20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antibase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um subconjunto 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tal que não há caminhos entre elementos de A e todo vértice não pertencente a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pode alcançar por algum vértice de A.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2224368" y="376347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5" name="Elipse 4"/>
          <p:cNvSpPr/>
          <p:nvPr/>
        </p:nvSpPr>
        <p:spPr>
          <a:xfrm>
            <a:off x="3207804" y="2392243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2435670" y="2971618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3322853" y="3484620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756597" y="4059946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4119206" y="409289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3922806" y="301176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1" name="Elipse 10"/>
          <p:cNvSpPr/>
          <p:nvPr/>
        </p:nvSpPr>
        <p:spPr>
          <a:xfrm>
            <a:off x="4573172" y="2491979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2" name="Elipse 11"/>
          <p:cNvSpPr/>
          <p:nvPr/>
        </p:nvSpPr>
        <p:spPr>
          <a:xfrm>
            <a:off x="4908934" y="3451259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4"/>
            <a:endCxn id="8" idx="1"/>
          </p:cNvCxnSpPr>
          <p:nvPr/>
        </p:nvCxnSpPr>
        <p:spPr>
          <a:xfrm>
            <a:off x="2550719" y="3196583"/>
            <a:ext cx="239575" cy="896308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7" idx="5"/>
            <a:endCxn id="9" idx="1"/>
          </p:cNvCxnSpPr>
          <p:nvPr/>
        </p:nvCxnSpPr>
        <p:spPr>
          <a:xfrm>
            <a:off x="3519253" y="3676640"/>
            <a:ext cx="633650" cy="449196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5" idx="6"/>
            <a:endCxn id="11" idx="1"/>
          </p:cNvCxnSpPr>
          <p:nvPr/>
        </p:nvCxnSpPr>
        <p:spPr>
          <a:xfrm>
            <a:off x="3437901" y="2504726"/>
            <a:ext cx="1168968" cy="201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8" idx="6"/>
            <a:endCxn id="9" idx="2"/>
          </p:cNvCxnSpPr>
          <p:nvPr/>
        </p:nvCxnSpPr>
        <p:spPr>
          <a:xfrm>
            <a:off x="2986694" y="4172429"/>
            <a:ext cx="1132512" cy="3294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7" idx="7"/>
            <a:endCxn id="10" idx="3"/>
          </p:cNvCxnSpPr>
          <p:nvPr/>
        </p:nvCxnSpPr>
        <p:spPr>
          <a:xfrm flipV="1">
            <a:off x="3519253" y="3203781"/>
            <a:ext cx="437250" cy="313784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6" idx="6"/>
            <a:endCxn id="7" idx="1"/>
          </p:cNvCxnSpPr>
          <p:nvPr/>
        </p:nvCxnSpPr>
        <p:spPr>
          <a:xfrm>
            <a:off x="2665767" y="3084101"/>
            <a:ext cx="690783" cy="433464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5" idx="5"/>
            <a:endCxn id="10" idx="1"/>
          </p:cNvCxnSpPr>
          <p:nvPr/>
        </p:nvCxnSpPr>
        <p:spPr>
          <a:xfrm>
            <a:off x="3404204" y="2584263"/>
            <a:ext cx="552299" cy="460443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12" idx="0"/>
            <a:endCxn id="11" idx="4"/>
          </p:cNvCxnSpPr>
          <p:nvPr/>
        </p:nvCxnSpPr>
        <p:spPr>
          <a:xfrm flipH="1" flipV="1">
            <a:off x="4688221" y="2716944"/>
            <a:ext cx="335762" cy="734315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12" idx="1"/>
            <a:endCxn id="10" idx="5"/>
          </p:cNvCxnSpPr>
          <p:nvPr/>
        </p:nvCxnSpPr>
        <p:spPr>
          <a:xfrm flipH="1" flipV="1">
            <a:off x="4119206" y="3203781"/>
            <a:ext cx="823425" cy="280423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2358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Antibase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uma </a:t>
            </a:r>
            <a:r>
              <a:rPr lang="pt-BR" sz="20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antibase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um subconjunto 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tal que não há caminhos entre elementos de A e todo vértice não pertencente a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pode alcançar por algum vértice de A.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2224368" y="376347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5" name="Elipse 4"/>
          <p:cNvSpPr/>
          <p:nvPr/>
        </p:nvSpPr>
        <p:spPr>
          <a:xfrm>
            <a:off x="3207804" y="2392243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2435670" y="2971618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3322853" y="3484620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756597" y="4059946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4119206" y="409289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3922806" y="301176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1" name="Elipse 10"/>
          <p:cNvSpPr/>
          <p:nvPr/>
        </p:nvSpPr>
        <p:spPr>
          <a:xfrm>
            <a:off x="4573172" y="2491979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2" name="Elipse 11"/>
          <p:cNvSpPr/>
          <p:nvPr/>
        </p:nvSpPr>
        <p:spPr>
          <a:xfrm>
            <a:off x="4908934" y="3451259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3" name="Conector de seta reta 12"/>
          <p:cNvCxnSpPr>
            <a:stCxn id="6" idx="4"/>
            <a:endCxn id="8" idx="1"/>
          </p:cNvCxnSpPr>
          <p:nvPr/>
        </p:nvCxnSpPr>
        <p:spPr>
          <a:xfrm>
            <a:off x="2550719" y="3196583"/>
            <a:ext cx="239575" cy="896308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7" idx="5"/>
            <a:endCxn id="9" idx="1"/>
          </p:cNvCxnSpPr>
          <p:nvPr/>
        </p:nvCxnSpPr>
        <p:spPr>
          <a:xfrm>
            <a:off x="3519253" y="3676640"/>
            <a:ext cx="633650" cy="449196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5" idx="6"/>
            <a:endCxn id="11" idx="1"/>
          </p:cNvCxnSpPr>
          <p:nvPr/>
        </p:nvCxnSpPr>
        <p:spPr>
          <a:xfrm>
            <a:off x="3437901" y="2504726"/>
            <a:ext cx="1168968" cy="20198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8" idx="6"/>
            <a:endCxn id="9" idx="2"/>
          </p:cNvCxnSpPr>
          <p:nvPr/>
        </p:nvCxnSpPr>
        <p:spPr>
          <a:xfrm>
            <a:off x="2986694" y="4172429"/>
            <a:ext cx="1132512" cy="3294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7" idx="7"/>
            <a:endCxn id="10" idx="3"/>
          </p:cNvCxnSpPr>
          <p:nvPr/>
        </p:nvCxnSpPr>
        <p:spPr>
          <a:xfrm flipV="1">
            <a:off x="3519253" y="3203781"/>
            <a:ext cx="437250" cy="313784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6" idx="6"/>
            <a:endCxn id="7" idx="1"/>
          </p:cNvCxnSpPr>
          <p:nvPr/>
        </p:nvCxnSpPr>
        <p:spPr>
          <a:xfrm>
            <a:off x="2665767" y="3084101"/>
            <a:ext cx="690783" cy="433464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5" idx="5"/>
            <a:endCxn id="10" idx="1"/>
          </p:cNvCxnSpPr>
          <p:nvPr/>
        </p:nvCxnSpPr>
        <p:spPr>
          <a:xfrm>
            <a:off x="3404204" y="2584263"/>
            <a:ext cx="552299" cy="460443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12" idx="0"/>
            <a:endCxn id="11" idx="4"/>
          </p:cNvCxnSpPr>
          <p:nvPr/>
        </p:nvCxnSpPr>
        <p:spPr>
          <a:xfrm flipH="1" flipV="1">
            <a:off x="4688221" y="2716944"/>
            <a:ext cx="335762" cy="734315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12" idx="1"/>
            <a:endCxn id="10" idx="5"/>
          </p:cNvCxnSpPr>
          <p:nvPr/>
        </p:nvCxnSpPr>
        <p:spPr>
          <a:xfrm flipH="1" flipV="1">
            <a:off x="4119206" y="3203781"/>
            <a:ext cx="823425" cy="280423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4856102" y="4133190"/>
            <a:ext cx="1998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Antibase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B = { 6, 7 }</a:t>
            </a:r>
          </a:p>
        </p:txBody>
      </p:sp>
      <p:cxnSp>
        <p:nvCxnSpPr>
          <p:cNvPr id="23" name="Conector de seta reta 22"/>
          <p:cNvCxnSpPr/>
          <p:nvPr/>
        </p:nvCxnSpPr>
        <p:spPr>
          <a:xfrm flipH="1" flipV="1">
            <a:off x="4445637" y="4242519"/>
            <a:ext cx="410465" cy="42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 flipV="1">
            <a:off x="5023982" y="3738517"/>
            <a:ext cx="19567" cy="433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/>
              <p:cNvSpPr txBox="1"/>
              <p:nvPr/>
            </p:nvSpPr>
            <p:spPr>
              <a:xfrm>
                <a:off x="5674348" y="2168056"/>
                <a:ext cx="2995244" cy="1753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Usando Fecho Transitivo Inverso</a:t>
                </a:r>
              </a:p>
              <a:p>
                <a:endParaRPr lang="pt-BR" sz="11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Se </a:t>
                </a:r>
                <a:r>
                  <a:rPr lang="pt-BR" sz="16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</a:t>
                </a:r>
                <a:r>
                  <a:rPr lang="pt-BR" sz="16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w</a:t>
                </a:r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 </a:t>
                </a:r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 então </a:t>
                </a:r>
              </a:p>
              <a:p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          v </a:t>
                </a:r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</a:t>
                </a:r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e w </a:t>
                </a:r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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16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endParaRPr lang="pt-BR" sz="16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Se w </a:t>
                </a:r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 V  </a:t>
                </a:r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 então</a:t>
                </a:r>
              </a:p>
              <a:p>
                <a:r>
                  <a:rPr lang="pt-BR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        v  A tal que w 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600" i="1" baseline="500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</m:t>
                    </m:r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16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CaixaDeTexto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348" y="2168056"/>
                <a:ext cx="2995244" cy="1753300"/>
              </a:xfrm>
              <a:prstGeom prst="rect">
                <a:avLst/>
              </a:prstGeom>
              <a:blipFill rotWithShape="0">
                <a:blip r:embed="rId2"/>
                <a:stretch>
                  <a:fillRect l="-1222" t="-1045" b="-38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06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Raiz / </a:t>
            </a:r>
            <a:r>
              <a:rPr lang="pt-BR" dirty="0" err="1"/>
              <a:t>Antirraiz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 a base de um grafo G for um conjunto unitário, então ela é dita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raiz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G.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5" name="CaixaDeTexto 64"/>
          <p:cNvSpPr txBox="1"/>
          <p:nvPr/>
        </p:nvSpPr>
        <p:spPr>
          <a:xfrm>
            <a:off x="1173614" y="382538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66" name="Elipse 65"/>
          <p:cNvSpPr/>
          <p:nvPr/>
        </p:nvSpPr>
        <p:spPr>
          <a:xfrm>
            <a:off x="2157050" y="2454147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7" name="Elipse 66"/>
          <p:cNvSpPr/>
          <p:nvPr/>
        </p:nvSpPr>
        <p:spPr>
          <a:xfrm>
            <a:off x="1384916" y="3033522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68" name="Elipse 67"/>
          <p:cNvSpPr/>
          <p:nvPr/>
        </p:nvSpPr>
        <p:spPr>
          <a:xfrm>
            <a:off x="2272099" y="3546524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69" name="Elipse 68"/>
          <p:cNvSpPr/>
          <p:nvPr/>
        </p:nvSpPr>
        <p:spPr>
          <a:xfrm>
            <a:off x="1705843" y="412185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0" name="Elipse 69"/>
          <p:cNvSpPr/>
          <p:nvPr/>
        </p:nvSpPr>
        <p:spPr>
          <a:xfrm>
            <a:off x="3068452" y="4154795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71" name="Elipse 70"/>
          <p:cNvSpPr/>
          <p:nvPr/>
        </p:nvSpPr>
        <p:spPr>
          <a:xfrm>
            <a:off x="2872052" y="3073665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72" name="Elipse 71"/>
          <p:cNvSpPr/>
          <p:nvPr/>
        </p:nvSpPr>
        <p:spPr>
          <a:xfrm>
            <a:off x="3522418" y="2553883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73" name="Elipse 72"/>
          <p:cNvSpPr/>
          <p:nvPr/>
        </p:nvSpPr>
        <p:spPr>
          <a:xfrm>
            <a:off x="3858180" y="3513163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74" name="Conector de seta reta 73"/>
          <p:cNvCxnSpPr>
            <a:stCxn id="67" idx="4"/>
            <a:endCxn id="69" idx="1"/>
          </p:cNvCxnSpPr>
          <p:nvPr/>
        </p:nvCxnSpPr>
        <p:spPr>
          <a:xfrm>
            <a:off x="1499965" y="3258487"/>
            <a:ext cx="239575" cy="896308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68" idx="5"/>
            <a:endCxn id="70" idx="1"/>
          </p:cNvCxnSpPr>
          <p:nvPr/>
        </p:nvCxnSpPr>
        <p:spPr>
          <a:xfrm>
            <a:off x="2468499" y="3738544"/>
            <a:ext cx="633650" cy="449196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66" idx="6"/>
            <a:endCxn id="72" idx="1"/>
          </p:cNvCxnSpPr>
          <p:nvPr/>
        </p:nvCxnSpPr>
        <p:spPr>
          <a:xfrm>
            <a:off x="2387147" y="2566630"/>
            <a:ext cx="1168968" cy="201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de seta reta 76"/>
          <p:cNvCxnSpPr>
            <a:stCxn id="69" idx="6"/>
            <a:endCxn id="70" idx="2"/>
          </p:cNvCxnSpPr>
          <p:nvPr/>
        </p:nvCxnSpPr>
        <p:spPr>
          <a:xfrm>
            <a:off x="1935940" y="4234333"/>
            <a:ext cx="1132512" cy="32945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68" idx="7"/>
            <a:endCxn id="71" idx="3"/>
          </p:cNvCxnSpPr>
          <p:nvPr/>
        </p:nvCxnSpPr>
        <p:spPr>
          <a:xfrm flipV="1">
            <a:off x="2468499" y="3265685"/>
            <a:ext cx="437250" cy="313784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de seta reta 78"/>
          <p:cNvCxnSpPr>
            <a:stCxn id="67" idx="6"/>
            <a:endCxn id="68" idx="1"/>
          </p:cNvCxnSpPr>
          <p:nvPr/>
        </p:nvCxnSpPr>
        <p:spPr>
          <a:xfrm>
            <a:off x="1615013" y="3146005"/>
            <a:ext cx="690783" cy="433464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66" idx="5"/>
            <a:endCxn id="71" idx="1"/>
          </p:cNvCxnSpPr>
          <p:nvPr/>
        </p:nvCxnSpPr>
        <p:spPr>
          <a:xfrm>
            <a:off x="2353450" y="2646167"/>
            <a:ext cx="552299" cy="460443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3" idx="0"/>
            <a:endCxn id="72" idx="4"/>
          </p:cNvCxnSpPr>
          <p:nvPr/>
        </p:nvCxnSpPr>
        <p:spPr>
          <a:xfrm flipH="1" flipV="1">
            <a:off x="3637467" y="2778848"/>
            <a:ext cx="335762" cy="734315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73" idx="1"/>
            <a:endCxn id="71" idx="5"/>
          </p:cNvCxnSpPr>
          <p:nvPr/>
        </p:nvCxnSpPr>
        <p:spPr>
          <a:xfrm flipH="1" flipV="1">
            <a:off x="3068452" y="3265685"/>
            <a:ext cx="823425" cy="280423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6" idx="3"/>
            <a:endCxn id="67" idx="7"/>
          </p:cNvCxnSpPr>
          <p:nvPr/>
        </p:nvCxnSpPr>
        <p:spPr>
          <a:xfrm flipH="1">
            <a:off x="1581316" y="2646167"/>
            <a:ext cx="609431" cy="420300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93843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Raiz / </a:t>
            </a:r>
            <a:r>
              <a:rPr lang="pt-BR" dirty="0" err="1"/>
              <a:t>Antirraiz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 a base de um grafo G for um conjunto unitário, então ela é dita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raiz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G.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CaixaDeTexto 45"/>
          <p:cNvSpPr txBox="1"/>
          <p:nvPr/>
        </p:nvSpPr>
        <p:spPr>
          <a:xfrm>
            <a:off x="1177106" y="382538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7" name="Elipse 46"/>
          <p:cNvSpPr/>
          <p:nvPr/>
        </p:nvSpPr>
        <p:spPr>
          <a:xfrm>
            <a:off x="2160542" y="2454147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8" name="Elipse 47"/>
          <p:cNvSpPr/>
          <p:nvPr/>
        </p:nvSpPr>
        <p:spPr>
          <a:xfrm>
            <a:off x="1388408" y="3033522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49" name="Elipse 48"/>
          <p:cNvSpPr/>
          <p:nvPr/>
        </p:nvSpPr>
        <p:spPr>
          <a:xfrm>
            <a:off x="2275591" y="3546524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50" name="Elipse 49"/>
          <p:cNvSpPr/>
          <p:nvPr/>
        </p:nvSpPr>
        <p:spPr>
          <a:xfrm>
            <a:off x="1709335" y="4121850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1" name="Elipse 50"/>
          <p:cNvSpPr/>
          <p:nvPr/>
        </p:nvSpPr>
        <p:spPr>
          <a:xfrm>
            <a:off x="3071944" y="415479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52" name="Elipse 51"/>
          <p:cNvSpPr/>
          <p:nvPr/>
        </p:nvSpPr>
        <p:spPr>
          <a:xfrm>
            <a:off x="2875544" y="307366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53" name="Elipse 52"/>
          <p:cNvSpPr/>
          <p:nvPr/>
        </p:nvSpPr>
        <p:spPr>
          <a:xfrm>
            <a:off x="3525910" y="2553883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54" name="Elipse 53"/>
          <p:cNvSpPr/>
          <p:nvPr/>
        </p:nvSpPr>
        <p:spPr>
          <a:xfrm>
            <a:off x="3861672" y="3513163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55" name="Conector de seta reta 54"/>
          <p:cNvCxnSpPr>
            <a:stCxn id="48" idx="4"/>
            <a:endCxn id="50" idx="1"/>
          </p:cNvCxnSpPr>
          <p:nvPr/>
        </p:nvCxnSpPr>
        <p:spPr>
          <a:xfrm>
            <a:off x="1503457" y="3258487"/>
            <a:ext cx="239575" cy="896308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49" idx="5"/>
            <a:endCxn id="51" idx="1"/>
          </p:cNvCxnSpPr>
          <p:nvPr/>
        </p:nvCxnSpPr>
        <p:spPr>
          <a:xfrm>
            <a:off x="2471991" y="3738544"/>
            <a:ext cx="633650" cy="449196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/>
          <p:cNvCxnSpPr>
            <a:stCxn id="47" idx="6"/>
            <a:endCxn id="53" idx="1"/>
          </p:cNvCxnSpPr>
          <p:nvPr/>
        </p:nvCxnSpPr>
        <p:spPr>
          <a:xfrm>
            <a:off x="2390639" y="2566630"/>
            <a:ext cx="1168968" cy="20198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>
            <a:stCxn id="50" idx="6"/>
            <a:endCxn id="51" idx="2"/>
          </p:cNvCxnSpPr>
          <p:nvPr/>
        </p:nvCxnSpPr>
        <p:spPr>
          <a:xfrm>
            <a:off x="1939432" y="4234333"/>
            <a:ext cx="1132512" cy="3294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stCxn id="49" idx="7"/>
            <a:endCxn id="52" idx="3"/>
          </p:cNvCxnSpPr>
          <p:nvPr/>
        </p:nvCxnSpPr>
        <p:spPr>
          <a:xfrm flipV="1">
            <a:off x="2471991" y="3265685"/>
            <a:ext cx="437250" cy="313784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48" idx="6"/>
            <a:endCxn id="49" idx="1"/>
          </p:cNvCxnSpPr>
          <p:nvPr/>
        </p:nvCxnSpPr>
        <p:spPr>
          <a:xfrm>
            <a:off x="1618505" y="3146005"/>
            <a:ext cx="690783" cy="433464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/>
          <p:cNvCxnSpPr>
            <a:stCxn id="47" idx="5"/>
            <a:endCxn id="52" idx="1"/>
          </p:cNvCxnSpPr>
          <p:nvPr/>
        </p:nvCxnSpPr>
        <p:spPr>
          <a:xfrm>
            <a:off x="2356942" y="2646167"/>
            <a:ext cx="552299" cy="460443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/>
          <p:cNvCxnSpPr>
            <a:stCxn id="54" idx="0"/>
            <a:endCxn id="53" idx="4"/>
          </p:cNvCxnSpPr>
          <p:nvPr/>
        </p:nvCxnSpPr>
        <p:spPr>
          <a:xfrm flipH="1" flipV="1">
            <a:off x="3640959" y="2778848"/>
            <a:ext cx="335762" cy="734315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63"/>
          <p:cNvCxnSpPr>
            <a:stCxn id="54" idx="1"/>
            <a:endCxn id="52" idx="5"/>
          </p:cNvCxnSpPr>
          <p:nvPr/>
        </p:nvCxnSpPr>
        <p:spPr>
          <a:xfrm flipH="1" flipV="1">
            <a:off x="3071944" y="3265685"/>
            <a:ext cx="823425" cy="280423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47" idx="3"/>
            <a:endCxn id="48" idx="7"/>
          </p:cNvCxnSpPr>
          <p:nvPr/>
        </p:nvCxnSpPr>
        <p:spPr>
          <a:xfrm flipH="1">
            <a:off x="1584808" y="2646167"/>
            <a:ext cx="609431" cy="420300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418838" y="3238331"/>
            <a:ext cx="481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cxnSp>
        <p:nvCxnSpPr>
          <p:cNvPr id="24" name="Conector de seta reta 23"/>
          <p:cNvCxnSpPr/>
          <p:nvPr/>
        </p:nvCxnSpPr>
        <p:spPr>
          <a:xfrm flipV="1">
            <a:off x="876758" y="3186148"/>
            <a:ext cx="463996" cy="176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852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Raiz / </a:t>
            </a:r>
            <a:r>
              <a:rPr lang="pt-BR" dirty="0" err="1"/>
              <a:t>Antirraiz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395536" y="1203960"/>
            <a:ext cx="84249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 a base de um grafo G for um conjunto unitário, então ela é dita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raiz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G.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 a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antibase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um grafo G for um conjunto unitário, então ela é dita </a:t>
            </a:r>
            <a:r>
              <a:rPr lang="pt-BR" sz="20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antirraiz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G.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1177106" y="382538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7" name="Elipse 46"/>
          <p:cNvSpPr/>
          <p:nvPr/>
        </p:nvSpPr>
        <p:spPr>
          <a:xfrm>
            <a:off x="2160542" y="2454147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8" name="Elipse 47"/>
          <p:cNvSpPr/>
          <p:nvPr/>
        </p:nvSpPr>
        <p:spPr>
          <a:xfrm>
            <a:off x="1388408" y="3033522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49" name="Elipse 48"/>
          <p:cNvSpPr/>
          <p:nvPr/>
        </p:nvSpPr>
        <p:spPr>
          <a:xfrm>
            <a:off x="2275591" y="3546524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50" name="Elipse 49"/>
          <p:cNvSpPr/>
          <p:nvPr/>
        </p:nvSpPr>
        <p:spPr>
          <a:xfrm>
            <a:off x="1709335" y="4121850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1" name="Elipse 50"/>
          <p:cNvSpPr/>
          <p:nvPr/>
        </p:nvSpPr>
        <p:spPr>
          <a:xfrm>
            <a:off x="3071944" y="415479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52" name="Elipse 51"/>
          <p:cNvSpPr/>
          <p:nvPr/>
        </p:nvSpPr>
        <p:spPr>
          <a:xfrm>
            <a:off x="2875544" y="307366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53" name="Elipse 52"/>
          <p:cNvSpPr/>
          <p:nvPr/>
        </p:nvSpPr>
        <p:spPr>
          <a:xfrm>
            <a:off x="3525910" y="2553883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54" name="Elipse 53"/>
          <p:cNvSpPr/>
          <p:nvPr/>
        </p:nvSpPr>
        <p:spPr>
          <a:xfrm>
            <a:off x="3861672" y="3513163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55" name="Conector de seta reta 54"/>
          <p:cNvCxnSpPr>
            <a:stCxn id="48" idx="4"/>
            <a:endCxn id="50" idx="1"/>
          </p:cNvCxnSpPr>
          <p:nvPr/>
        </p:nvCxnSpPr>
        <p:spPr>
          <a:xfrm>
            <a:off x="1503457" y="3258487"/>
            <a:ext cx="239575" cy="896308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49" idx="5"/>
            <a:endCxn id="51" idx="1"/>
          </p:cNvCxnSpPr>
          <p:nvPr/>
        </p:nvCxnSpPr>
        <p:spPr>
          <a:xfrm>
            <a:off x="2471991" y="3738544"/>
            <a:ext cx="633650" cy="449196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/>
          <p:cNvCxnSpPr>
            <a:stCxn id="47" idx="6"/>
            <a:endCxn id="53" idx="1"/>
          </p:cNvCxnSpPr>
          <p:nvPr/>
        </p:nvCxnSpPr>
        <p:spPr>
          <a:xfrm>
            <a:off x="2390639" y="2566630"/>
            <a:ext cx="1168968" cy="20198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>
            <a:stCxn id="50" idx="6"/>
            <a:endCxn id="51" idx="2"/>
          </p:cNvCxnSpPr>
          <p:nvPr/>
        </p:nvCxnSpPr>
        <p:spPr>
          <a:xfrm>
            <a:off x="1939432" y="4234333"/>
            <a:ext cx="1132512" cy="3294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stCxn id="49" idx="7"/>
            <a:endCxn id="52" idx="3"/>
          </p:cNvCxnSpPr>
          <p:nvPr/>
        </p:nvCxnSpPr>
        <p:spPr>
          <a:xfrm flipV="1">
            <a:off x="2471991" y="3265685"/>
            <a:ext cx="437250" cy="313784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48" idx="6"/>
            <a:endCxn id="49" idx="1"/>
          </p:cNvCxnSpPr>
          <p:nvPr/>
        </p:nvCxnSpPr>
        <p:spPr>
          <a:xfrm>
            <a:off x="1618505" y="3146005"/>
            <a:ext cx="690783" cy="433464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/>
          <p:cNvCxnSpPr>
            <a:stCxn id="47" idx="5"/>
            <a:endCxn id="52" idx="1"/>
          </p:cNvCxnSpPr>
          <p:nvPr/>
        </p:nvCxnSpPr>
        <p:spPr>
          <a:xfrm>
            <a:off x="2356942" y="2646167"/>
            <a:ext cx="552299" cy="460443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/>
          <p:cNvCxnSpPr>
            <a:stCxn id="54" idx="0"/>
            <a:endCxn id="53" idx="4"/>
          </p:cNvCxnSpPr>
          <p:nvPr/>
        </p:nvCxnSpPr>
        <p:spPr>
          <a:xfrm flipH="1" flipV="1">
            <a:off x="3640959" y="2778848"/>
            <a:ext cx="335762" cy="734315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63"/>
          <p:cNvCxnSpPr>
            <a:stCxn id="54" idx="1"/>
            <a:endCxn id="52" idx="5"/>
          </p:cNvCxnSpPr>
          <p:nvPr/>
        </p:nvCxnSpPr>
        <p:spPr>
          <a:xfrm flipH="1" flipV="1">
            <a:off x="3071944" y="3265685"/>
            <a:ext cx="823425" cy="280423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47" idx="3"/>
            <a:endCxn id="48" idx="7"/>
          </p:cNvCxnSpPr>
          <p:nvPr/>
        </p:nvCxnSpPr>
        <p:spPr>
          <a:xfrm flipH="1">
            <a:off x="1584808" y="2646167"/>
            <a:ext cx="609431" cy="420300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418838" y="3238331"/>
            <a:ext cx="481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cxnSp>
        <p:nvCxnSpPr>
          <p:cNvPr id="24" name="Conector de seta reta 23"/>
          <p:cNvCxnSpPr/>
          <p:nvPr/>
        </p:nvCxnSpPr>
        <p:spPr>
          <a:xfrm flipV="1">
            <a:off x="876758" y="3186148"/>
            <a:ext cx="463996" cy="176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108499" y="382538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26" name="Elipse 25"/>
          <p:cNvSpPr/>
          <p:nvPr/>
        </p:nvSpPr>
        <p:spPr>
          <a:xfrm>
            <a:off x="6091935" y="2454147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27" name="Elipse 26"/>
          <p:cNvSpPr/>
          <p:nvPr/>
        </p:nvSpPr>
        <p:spPr>
          <a:xfrm>
            <a:off x="5319801" y="3033522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28" name="Elipse 27"/>
          <p:cNvSpPr/>
          <p:nvPr/>
        </p:nvSpPr>
        <p:spPr>
          <a:xfrm>
            <a:off x="6206984" y="3546524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29" name="Elipse 28"/>
          <p:cNvSpPr/>
          <p:nvPr/>
        </p:nvSpPr>
        <p:spPr>
          <a:xfrm>
            <a:off x="5640728" y="412185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30" name="Elipse 29"/>
          <p:cNvSpPr/>
          <p:nvPr/>
        </p:nvSpPr>
        <p:spPr>
          <a:xfrm>
            <a:off x="7003337" y="4154795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31" name="Elipse 30"/>
          <p:cNvSpPr/>
          <p:nvPr/>
        </p:nvSpPr>
        <p:spPr>
          <a:xfrm>
            <a:off x="6806937" y="3073665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32" name="Elipse 31"/>
          <p:cNvSpPr/>
          <p:nvPr/>
        </p:nvSpPr>
        <p:spPr>
          <a:xfrm>
            <a:off x="7457303" y="2553883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33" name="Elipse 32"/>
          <p:cNvSpPr/>
          <p:nvPr/>
        </p:nvSpPr>
        <p:spPr>
          <a:xfrm>
            <a:off x="7793065" y="3513163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34" name="Conector de seta reta 33"/>
          <p:cNvCxnSpPr>
            <a:stCxn id="27" idx="4"/>
            <a:endCxn id="29" idx="1"/>
          </p:cNvCxnSpPr>
          <p:nvPr/>
        </p:nvCxnSpPr>
        <p:spPr>
          <a:xfrm>
            <a:off x="5434850" y="3258487"/>
            <a:ext cx="239575" cy="896308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28" idx="5"/>
            <a:endCxn id="30" idx="1"/>
          </p:cNvCxnSpPr>
          <p:nvPr/>
        </p:nvCxnSpPr>
        <p:spPr>
          <a:xfrm>
            <a:off x="6403384" y="3738544"/>
            <a:ext cx="633650" cy="449196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/>
          <p:cNvCxnSpPr>
            <a:stCxn id="26" idx="6"/>
            <a:endCxn id="32" idx="1"/>
          </p:cNvCxnSpPr>
          <p:nvPr/>
        </p:nvCxnSpPr>
        <p:spPr>
          <a:xfrm>
            <a:off x="6322032" y="2566630"/>
            <a:ext cx="1168968" cy="201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>
            <a:stCxn id="29" idx="6"/>
            <a:endCxn id="30" idx="2"/>
          </p:cNvCxnSpPr>
          <p:nvPr/>
        </p:nvCxnSpPr>
        <p:spPr>
          <a:xfrm>
            <a:off x="5870825" y="4234333"/>
            <a:ext cx="1132512" cy="32945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28" idx="7"/>
            <a:endCxn id="31" idx="3"/>
          </p:cNvCxnSpPr>
          <p:nvPr/>
        </p:nvCxnSpPr>
        <p:spPr>
          <a:xfrm flipV="1">
            <a:off x="6403384" y="3265685"/>
            <a:ext cx="437250" cy="313784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27" idx="6"/>
            <a:endCxn id="28" idx="1"/>
          </p:cNvCxnSpPr>
          <p:nvPr/>
        </p:nvCxnSpPr>
        <p:spPr>
          <a:xfrm>
            <a:off x="5549898" y="3146005"/>
            <a:ext cx="690783" cy="433464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>
            <a:stCxn id="26" idx="5"/>
            <a:endCxn id="31" idx="1"/>
          </p:cNvCxnSpPr>
          <p:nvPr/>
        </p:nvCxnSpPr>
        <p:spPr>
          <a:xfrm>
            <a:off x="6288335" y="2646167"/>
            <a:ext cx="552299" cy="460443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>
            <a:stCxn id="33" idx="0"/>
            <a:endCxn id="32" idx="4"/>
          </p:cNvCxnSpPr>
          <p:nvPr/>
        </p:nvCxnSpPr>
        <p:spPr>
          <a:xfrm flipH="1" flipV="1">
            <a:off x="7572352" y="2778848"/>
            <a:ext cx="335762" cy="734315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33" idx="1"/>
            <a:endCxn id="31" idx="5"/>
          </p:cNvCxnSpPr>
          <p:nvPr/>
        </p:nvCxnSpPr>
        <p:spPr>
          <a:xfrm flipH="1" flipV="1">
            <a:off x="7003337" y="3265685"/>
            <a:ext cx="823425" cy="280423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>
            <a:stCxn id="26" idx="3"/>
            <a:endCxn id="27" idx="7"/>
          </p:cNvCxnSpPr>
          <p:nvPr/>
        </p:nvCxnSpPr>
        <p:spPr>
          <a:xfrm flipH="1">
            <a:off x="5516201" y="2646167"/>
            <a:ext cx="609431" cy="420300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/>
          <p:cNvCxnSpPr/>
          <p:nvPr/>
        </p:nvCxnSpPr>
        <p:spPr>
          <a:xfrm>
            <a:off x="4666004" y="2527399"/>
            <a:ext cx="0" cy="1706934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8143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Raiz / </a:t>
            </a:r>
            <a:r>
              <a:rPr lang="pt-BR" dirty="0" err="1"/>
              <a:t>Antirraiz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395536" y="1203960"/>
            <a:ext cx="84249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 a base de um grafo G for um conjunto unitário, então ela é dita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raiz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G.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 a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antibase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um grafo G for um conjunto unitário, então ela é dita </a:t>
            </a:r>
            <a:r>
              <a:rPr lang="pt-BR" sz="20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antirraiz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G.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1177106" y="382538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7" name="Elipse 46"/>
          <p:cNvSpPr/>
          <p:nvPr/>
        </p:nvSpPr>
        <p:spPr>
          <a:xfrm>
            <a:off x="2160542" y="2454147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8" name="Elipse 47"/>
          <p:cNvSpPr/>
          <p:nvPr/>
        </p:nvSpPr>
        <p:spPr>
          <a:xfrm>
            <a:off x="1388408" y="3033522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49" name="Elipse 48"/>
          <p:cNvSpPr/>
          <p:nvPr/>
        </p:nvSpPr>
        <p:spPr>
          <a:xfrm>
            <a:off x="2275591" y="3546524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50" name="Elipse 49"/>
          <p:cNvSpPr/>
          <p:nvPr/>
        </p:nvSpPr>
        <p:spPr>
          <a:xfrm>
            <a:off x="1709335" y="4121850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1" name="Elipse 50"/>
          <p:cNvSpPr/>
          <p:nvPr/>
        </p:nvSpPr>
        <p:spPr>
          <a:xfrm>
            <a:off x="3071944" y="415479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52" name="Elipse 51"/>
          <p:cNvSpPr/>
          <p:nvPr/>
        </p:nvSpPr>
        <p:spPr>
          <a:xfrm>
            <a:off x="2875544" y="307366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53" name="Elipse 52"/>
          <p:cNvSpPr/>
          <p:nvPr/>
        </p:nvSpPr>
        <p:spPr>
          <a:xfrm>
            <a:off x="3525910" y="2553883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54" name="Elipse 53"/>
          <p:cNvSpPr/>
          <p:nvPr/>
        </p:nvSpPr>
        <p:spPr>
          <a:xfrm>
            <a:off x="3861672" y="3513163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55" name="Conector de seta reta 54"/>
          <p:cNvCxnSpPr>
            <a:stCxn id="48" idx="4"/>
            <a:endCxn id="50" idx="1"/>
          </p:cNvCxnSpPr>
          <p:nvPr/>
        </p:nvCxnSpPr>
        <p:spPr>
          <a:xfrm>
            <a:off x="1503457" y="3258487"/>
            <a:ext cx="239575" cy="896308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49" idx="5"/>
            <a:endCxn id="51" idx="1"/>
          </p:cNvCxnSpPr>
          <p:nvPr/>
        </p:nvCxnSpPr>
        <p:spPr>
          <a:xfrm>
            <a:off x="2471991" y="3738544"/>
            <a:ext cx="633650" cy="449196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/>
          <p:cNvCxnSpPr>
            <a:stCxn id="47" idx="6"/>
            <a:endCxn id="53" idx="1"/>
          </p:cNvCxnSpPr>
          <p:nvPr/>
        </p:nvCxnSpPr>
        <p:spPr>
          <a:xfrm>
            <a:off x="2390639" y="2566630"/>
            <a:ext cx="1168968" cy="20198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>
            <a:stCxn id="50" idx="6"/>
            <a:endCxn id="51" idx="2"/>
          </p:cNvCxnSpPr>
          <p:nvPr/>
        </p:nvCxnSpPr>
        <p:spPr>
          <a:xfrm>
            <a:off x="1939432" y="4234333"/>
            <a:ext cx="1132512" cy="32945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stCxn id="49" idx="7"/>
            <a:endCxn id="52" idx="3"/>
          </p:cNvCxnSpPr>
          <p:nvPr/>
        </p:nvCxnSpPr>
        <p:spPr>
          <a:xfrm flipV="1">
            <a:off x="2471991" y="3265685"/>
            <a:ext cx="437250" cy="313784"/>
          </a:xfrm>
          <a:prstGeom prst="straightConnector1">
            <a:avLst/>
          </a:prstGeom>
          <a:ln w="19050">
            <a:solidFill>
              <a:srgbClr val="0070C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48" idx="6"/>
            <a:endCxn id="49" idx="1"/>
          </p:cNvCxnSpPr>
          <p:nvPr/>
        </p:nvCxnSpPr>
        <p:spPr>
          <a:xfrm>
            <a:off x="1618505" y="3146005"/>
            <a:ext cx="690783" cy="433464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/>
          <p:cNvCxnSpPr>
            <a:stCxn id="47" idx="5"/>
            <a:endCxn id="52" idx="1"/>
          </p:cNvCxnSpPr>
          <p:nvPr/>
        </p:nvCxnSpPr>
        <p:spPr>
          <a:xfrm>
            <a:off x="2356942" y="2646167"/>
            <a:ext cx="552299" cy="460443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/>
          <p:cNvCxnSpPr>
            <a:stCxn id="54" idx="0"/>
            <a:endCxn id="53" idx="4"/>
          </p:cNvCxnSpPr>
          <p:nvPr/>
        </p:nvCxnSpPr>
        <p:spPr>
          <a:xfrm flipH="1" flipV="1">
            <a:off x="3640959" y="2778848"/>
            <a:ext cx="335762" cy="734315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63"/>
          <p:cNvCxnSpPr>
            <a:stCxn id="54" idx="1"/>
            <a:endCxn id="52" idx="5"/>
          </p:cNvCxnSpPr>
          <p:nvPr/>
        </p:nvCxnSpPr>
        <p:spPr>
          <a:xfrm flipH="1" flipV="1">
            <a:off x="3071944" y="3265685"/>
            <a:ext cx="823425" cy="280423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47" idx="3"/>
            <a:endCxn id="48" idx="7"/>
          </p:cNvCxnSpPr>
          <p:nvPr/>
        </p:nvCxnSpPr>
        <p:spPr>
          <a:xfrm flipH="1">
            <a:off x="1584808" y="2646167"/>
            <a:ext cx="609431" cy="420300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418838" y="3238331"/>
            <a:ext cx="481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cxnSp>
        <p:nvCxnSpPr>
          <p:cNvPr id="24" name="Conector de seta reta 23"/>
          <p:cNvCxnSpPr/>
          <p:nvPr/>
        </p:nvCxnSpPr>
        <p:spPr>
          <a:xfrm flipV="1">
            <a:off x="876758" y="3186148"/>
            <a:ext cx="463996" cy="176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108499" y="382538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26" name="Elipse 25"/>
          <p:cNvSpPr/>
          <p:nvPr/>
        </p:nvSpPr>
        <p:spPr>
          <a:xfrm>
            <a:off x="6091935" y="2454147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27" name="Elipse 26"/>
          <p:cNvSpPr/>
          <p:nvPr/>
        </p:nvSpPr>
        <p:spPr>
          <a:xfrm>
            <a:off x="5319801" y="3033522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28" name="Elipse 27"/>
          <p:cNvSpPr/>
          <p:nvPr/>
        </p:nvSpPr>
        <p:spPr>
          <a:xfrm>
            <a:off x="6206984" y="3546524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29" name="Elipse 28"/>
          <p:cNvSpPr/>
          <p:nvPr/>
        </p:nvSpPr>
        <p:spPr>
          <a:xfrm>
            <a:off x="5640728" y="4121850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30" name="Elipse 29"/>
          <p:cNvSpPr/>
          <p:nvPr/>
        </p:nvSpPr>
        <p:spPr>
          <a:xfrm>
            <a:off x="7003337" y="415479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31" name="Elipse 30"/>
          <p:cNvSpPr/>
          <p:nvPr/>
        </p:nvSpPr>
        <p:spPr>
          <a:xfrm>
            <a:off x="6806937" y="307366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32" name="Elipse 31"/>
          <p:cNvSpPr/>
          <p:nvPr/>
        </p:nvSpPr>
        <p:spPr>
          <a:xfrm>
            <a:off x="7457303" y="2553883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33" name="Elipse 32"/>
          <p:cNvSpPr/>
          <p:nvPr/>
        </p:nvSpPr>
        <p:spPr>
          <a:xfrm>
            <a:off x="7793065" y="3513163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34" name="Conector de seta reta 33"/>
          <p:cNvCxnSpPr>
            <a:stCxn id="27" idx="4"/>
            <a:endCxn id="29" idx="1"/>
          </p:cNvCxnSpPr>
          <p:nvPr/>
        </p:nvCxnSpPr>
        <p:spPr>
          <a:xfrm>
            <a:off x="5434850" y="3258487"/>
            <a:ext cx="239575" cy="896308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28" idx="5"/>
            <a:endCxn id="30" idx="1"/>
          </p:cNvCxnSpPr>
          <p:nvPr/>
        </p:nvCxnSpPr>
        <p:spPr>
          <a:xfrm>
            <a:off x="6403384" y="3738544"/>
            <a:ext cx="633650" cy="449196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/>
          <p:cNvCxnSpPr>
            <a:stCxn id="26" idx="6"/>
            <a:endCxn id="32" idx="1"/>
          </p:cNvCxnSpPr>
          <p:nvPr/>
        </p:nvCxnSpPr>
        <p:spPr>
          <a:xfrm>
            <a:off x="6322032" y="2566630"/>
            <a:ext cx="1168968" cy="201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>
            <a:stCxn id="29" idx="6"/>
            <a:endCxn id="30" idx="2"/>
          </p:cNvCxnSpPr>
          <p:nvPr/>
        </p:nvCxnSpPr>
        <p:spPr>
          <a:xfrm>
            <a:off x="5870825" y="4234333"/>
            <a:ext cx="1132512" cy="3294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28" idx="7"/>
            <a:endCxn id="31" idx="3"/>
          </p:cNvCxnSpPr>
          <p:nvPr/>
        </p:nvCxnSpPr>
        <p:spPr>
          <a:xfrm flipV="1">
            <a:off x="6403384" y="3265685"/>
            <a:ext cx="437250" cy="313784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27" idx="6"/>
            <a:endCxn id="28" idx="1"/>
          </p:cNvCxnSpPr>
          <p:nvPr/>
        </p:nvCxnSpPr>
        <p:spPr>
          <a:xfrm>
            <a:off x="5549898" y="3146005"/>
            <a:ext cx="690783" cy="433464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>
            <a:stCxn id="26" idx="5"/>
            <a:endCxn id="31" idx="1"/>
          </p:cNvCxnSpPr>
          <p:nvPr/>
        </p:nvCxnSpPr>
        <p:spPr>
          <a:xfrm>
            <a:off x="6288335" y="2646167"/>
            <a:ext cx="552299" cy="460443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>
            <a:stCxn id="33" idx="0"/>
            <a:endCxn id="32" idx="4"/>
          </p:cNvCxnSpPr>
          <p:nvPr/>
        </p:nvCxnSpPr>
        <p:spPr>
          <a:xfrm flipH="1" flipV="1">
            <a:off x="7572352" y="2778848"/>
            <a:ext cx="335762" cy="734315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33" idx="1"/>
            <a:endCxn id="31" idx="5"/>
          </p:cNvCxnSpPr>
          <p:nvPr/>
        </p:nvCxnSpPr>
        <p:spPr>
          <a:xfrm flipH="1" flipV="1">
            <a:off x="7003337" y="3265685"/>
            <a:ext cx="823425" cy="280423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>
            <a:stCxn id="26" idx="3"/>
            <a:endCxn id="27" idx="7"/>
          </p:cNvCxnSpPr>
          <p:nvPr/>
        </p:nvCxnSpPr>
        <p:spPr>
          <a:xfrm flipH="1">
            <a:off x="5516201" y="2646167"/>
            <a:ext cx="609431" cy="420300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/>
          <p:nvPr/>
        </p:nvCxnSpPr>
        <p:spPr>
          <a:xfrm>
            <a:off x="4666004" y="2527399"/>
            <a:ext cx="0" cy="1706934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/>
          <p:cNvSpPr txBox="1"/>
          <p:nvPr/>
        </p:nvSpPr>
        <p:spPr>
          <a:xfrm>
            <a:off x="7761696" y="3879056"/>
            <a:ext cx="8045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Antirraiz</a:t>
            </a:r>
            <a:endParaRPr lang="pt-BR" sz="1400" dirty="0"/>
          </a:p>
        </p:txBody>
      </p:sp>
      <p:cxnSp>
        <p:nvCxnSpPr>
          <p:cNvPr id="59" name="Conector de seta reta 58"/>
          <p:cNvCxnSpPr/>
          <p:nvPr/>
        </p:nvCxnSpPr>
        <p:spPr>
          <a:xfrm flipH="1">
            <a:off x="7316497" y="4043954"/>
            <a:ext cx="457920" cy="183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6937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Conectividade</a:t>
            </a:r>
          </a:p>
        </p:txBody>
      </p:sp>
    </p:spTree>
    <p:extLst>
      <p:ext uri="{BB962C8B-B14F-4D97-AF65-F5344CB8AC3E}">
        <p14:creationId xmlns:p14="http://schemas.microsoft.com/office/powerpoint/2010/main" val="35139107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Conectividade – Grafo Não Direcionado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Em um grafo não direcionado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conexo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todos os vértices são alcançáveis a partir de qualquer outro.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907653" y="2138397"/>
            <a:ext cx="2764391" cy="2234423"/>
            <a:chOff x="661710" y="1835699"/>
            <a:chExt cx="2764391" cy="2234423"/>
          </a:xfrm>
        </p:grpSpPr>
        <p:sp>
          <p:nvSpPr>
            <p:cNvPr id="6" name="Elipse 5"/>
            <p:cNvSpPr/>
            <p:nvPr/>
          </p:nvSpPr>
          <p:spPr>
            <a:xfrm>
              <a:off x="1525373" y="183569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2</a:t>
              </a:r>
            </a:p>
          </p:txBody>
        </p:sp>
        <p:sp>
          <p:nvSpPr>
            <p:cNvPr id="7" name="Elipse 6"/>
            <p:cNvSpPr/>
            <p:nvPr/>
          </p:nvSpPr>
          <p:spPr>
            <a:xfrm>
              <a:off x="661710" y="2498636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1</a:t>
              </a:r>
            </a:p>
          </p:txBody>
        </p:sp>
        <p:sp>
          <p:nvSpPr>
            <p:cNvPr id="8" name="Elipse 7"/>
            <p:cNvSpPr/>
            <p:nvPr/>
          </p:nvSpPr>
          <p:spPr>
            <a:xfrm>
              <a:off x="1559070" y="3032653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3</a:t>
              </a:r>
            </a:p>
          </p:txBody>
        </p:sp>
        <p:sp>
          <p:nvSpPr>
            <p:cNvPr id="9" name="Elipse 8"/>
            <p:cNvSpPr/>
            <p:nvPr/>
          </p:nvSpPr>
          <p:spPr>
            <a:xfrm>
              <a:off x="1043667" y="3720877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4</a:t>
              </a:r>
            </a:p>
          </p:txBody>
        </p:sp>
        <p:sp>
          <p:nvSpPr>
            <p:cNvPr id="10" name="Elipse 9"/>
            <p:cNvSpPr/>
            <p:nvPr/>
          </p:nvSpPr>
          <p:spPr>
            <a:xfrm>
              <a:off x="2524482" y="3845157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6</a:t>
              </a:r>
            </a:p>
          </p:txBody>
        </p:sp>
        <p:sp>
          <p:nvSpPr>
            <p:cNvPr id="11" name="Elipse 10"/>
            <p:cNvSpPr/>
            <p:nvPr/>
          </p:nvSpPr>
          <p:spPr>
            <a:xfrm>
              <a:off x="2294385" y="261111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5</a:t>
              </a:r>
            </a:p>
          </p:txBody>
        </p:sp>
        <p:sp>
          <p:nvSpPr>
            <p:cNvPr id="12" name="Elipse 11"/>
            <p:cNvSpPr/>
            <p:nvPr/>
          </p:nvSpPr>
          <p:spPr>
            <a:xfrm>
              <a:off x="2968913" y="2114915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8</a:t>
              </a:r>
            </a:p>
          </p:txBody>
        </p:sp>
        <p:sp>
          <p:nvSpPr>
            <p:cNvPr id="13" name="Elipse 12"/>
            <p:cNvSpPr/>
            <p:nvPr/>
          </p:nvSpPr>
          <p:spPr>
            <a:xfrm>
              <a:off x="3196004" y="3112190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7</a:t>
              </a:r>
            </a:p>
          </p:txBody>
        </p:sp>
        <p:cxnSp>
          <p:nvCxnSpPr>
            <p:cNvPr id="14" name="Conector de seta reta 13"/>
            <p:cNvCxnSpPr>
              <a:stCxn id="7" idx="7"/>
              <a:endCxn id="6" idx="3"/>
            </p:cNvCxnSpPr>
            <p:nvPr/>
          </p:nvCxnSpPr>
          <p:spPr>
            <a:xfrm flipV="1">
              <a:off x="858110" y="2027719"/>
              <a:ext cx="700960" cy="50386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7" idx="4"/>
              <a:endCxn id="9" idx="1"/>
            </p:cNvCxnSpPr>
            <p:nvPr/>
          </p:nvCxnSpPr>
          <p:spPr>
            <a:xfrm>
              <a:off x="776759" y="2723601"/>
              <a:ext cx="300605" cy="103022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/>
            <p:cNvCxnSpPr>
              <a:stCxn id="8" idx="5"/>
              <a:endCxn id="10" idx="1"/>
            </p:cNvCxnSpPr>
            <p:nvPr/>
          </p:nvCxnSpPr>
          <p:spPr>
            <a:xfrm>
              <a:off x="1755470" y="3224673"/>
              <a:ext cx="802709" cy="65342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6" idx="6"/>
              <a:endCxn id="12" idx="1"/>
            </p:cNvCxnSpPr>
            <p:nvPr/>
          </p:nvCxnSpPr>
          <p:spPr>
            <a:xfrm>
              <a:off x="1755470" y="1948182"/>
              <a:ext cx="1247140" cy="19967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/>
            <p:cNvCxnSpPr>
              <a:stCxn id="9" idx="6"/>
              <a:endCxn id="10" idx="2"/>
            </p:cNvCxnSpPr>
            <p:nvPr/>
          </p:nvCxnSpPr>
          <p:spPr>
            <a:xfrm>
              <a:off x="1273764" y="3833360"/>
              <a:ext cx="1250718" cy="12428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10" idx="7"/>
              <a:endCxn id="13" idx="3"/>
            </p:cNvCxnSpPr>
            <p:nvPr/>
          </p:nvCxnSpPr>
          <p:spPr>
            <a:xfrm flipV="1">
              <a:off x="2720882" y="3304210"/>
              <a:ext cx="508819" cy="57389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e seta reta 19"/>
            <p:cNvCxnSpPr>
              <a:stCxn id="8" idx="7"/>
              <a:endCxn id="11" idx="3"/>
            </p:cNvCxnSpPr>
            <p:nvPr/>
          </p:nvCxnSpPr>
          <p:spPr>
            <a:xfrm flipV="1">
              <a:off x="1755470" y="2803139"/>
              <a:ext cx="572612" cy="26245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7" idx="6"/>
              <a:endCxn id="8" idx="1"/>
            </p:cNvCxnSpPr>
            <p:nvPr/>
          </p:nvCxnSpPr>
          <p:spPr>
            <a:xfrm>
              <a:off x="891807" y="2611119"/>
              <a:ext cx="700960" cy="45447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/>
            <p:cNvCxnSpPr>
              <a:stCxn id="6" idx="5"/>
              <a:endCxn id="11" idx="1"/>
            </p:cNvCxnSpPr>
            <p:nvPr/>
          </p:nvCxnSpPr>
          <p:spPr>
            <a:xfrm>
              <a:off x="1721773" y="2027719"/>
              <a:ext cx="606309" cy="616345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13" idx="0"/>
              <a:endCxn id="12" idx="4"/>
            </p:cNvCxnSpPr>
            <p:nvPr/>
          </p:nvCxnSpPr>
          <p:spPr>
            <a:xfrm flipH="1" flipV="1">
              <a:off x="3083962" y="2339880"/>
              <a:ext cx="227091" cy="77231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/>
            <p:cNvCxnSpPr>
              <a:stCxn id="13" idx="1"/>
              <a:endCxn id="11" idx="5"/>
            </p:cNvCxnSpPr>
            <p:nvPr/>
          </p:nvCxnSpPr>
          <p:spPr>
            <a:xfrm flipH="1" flipV="1">
              <a:off x="2490785" y="2803139"/>
              <a:ext cx="738916" cy="341996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aixaDeTexto 24"/>
          <p:cNvSpPr txBox="1"/>
          <p:nvPr/>
        </p:nvSpPr>
        <p:spPr>
          <a:xfrm>
            <a:off x="858494" y="2014651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/>
              <p:cNvSpPr txBox="1"/>
              <p:nvPr/>
            </p:nvSpPr>
            <p:spPr>
              <a:xfrm>
                <a:off x="4085784" y="1815547"/>
                <a:ext cx="4660925" cy="1208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Ou ainda, o fecho transitivo de qualquer vértice é igual ao conjunto de vértices, isto é,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= V, para todo </a:t>
                </a:r>
                <a:r>
                  <a:rPr lang="pt-BR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V(G).</a:t>
                </a:r>
              </a:p>
              <a:p>
                <a:endPara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aixaDe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784" y="1815547"/>
                <a:ext cx="4660925" cy="1208344"/>
              </a:xfrm>
              <a:prstGeom prst="rect">
                <a:avLst/>
              </a:prstGeom>
              <a:blipFill rotWithShape="0">
                <a:blip r:embed="rId2"/>
                <a:stretch>
                  <a:fillRect l="-1046" t="-3030" r="-11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354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Conectividade – Grafo Não Direcionado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Em um grafo não direcionado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conexo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todos os vértices são alcançáveis a partir de qualquer outro.</a:t>
            </a:r>
          </a:p>
        </p:txBody>
      </p:sp>
      <p:sp>
        <p:nvSpPr>
          <p:cNvPr id="6" name="Elipse 5"/>
          <p:cNvSpPr/>
          <p:nvPr/>
        </p:nvSpPr>
        <p:spPr>
          <a:xfrm>
            <a:off x="1771316" y="213839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907653" y="280133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1805013" y="333535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1289610" y="402357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0" name="Elipse 9"/>
          <p:cNvSpPr/>
          <p:nvPr/>
        </p:nvSpPr>
        <p:spPr>
          <a:xfrm>
            <a:off x="2770425" y="414785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1" name="Elipse 10"/>
          <p:cNvSpPr/>
          <p:nvPr/>
        </p:nvSpPr>
        <p:spPr>
          <a:xfrm>
            <a:off x="2540328" y="291381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3214856" y="241761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3" name="Elipse 12"/>
          <p:cNvSpPr/>
          <p:nvPr/>
        </p:nvSpPr>
        <p:spPr>
          <a:xfrm>
            <a:off x="3441947" y="341488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4" name="Conector de seta reta 13"/>
          <p:cNvCxnSpPr>
            <a:stCxn id="7" idx="7"/>
            <a:endCxn id="6" idx="3"/>
          </p:cNvCxnSpPr>
          <p:nvPr/>
        </p:nvCxnSpPr>
        <p:spPr>
          <a:xfrm flipV="1">
            <a:off x="1104053" y="2330417"/>
            <a:ext cx="700960" cy="50386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4"/>
            <a:endCxn id="9" idx="1"/>
          </p:cNvCxnSpPr>
          <p:nvPr/>
        </p:nvCxnSpPr>
        <p:spPr>
          <a:xfrm>
            <a:off x="1022702" y="3026299"/>
            <a:ext cx="300605" cy="1030221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8" idx="5"/>
            <a:endCxn id="10" idx="1"/>
          </p:cNvCxnSpPr>
          <p:nvPr/>
        </p:nvCxnSpPr>
        <p:spPr>
          <a:xfrm>
            <a:off x="2001413" y="3527371"/>
            <a:ext cx="802709" cy="6534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6" idx="6"/>
            <a:endCxn id="12" idx="1"/>
          </p:cNvCxnSpPr>
          <p:nvPr/>
        </p:nvCxnSpPr>
        <p:spPr>
          <a:xfrm>
            <a:off x="2001413" y="2250880"/>
            <a:ext cx="1247140" cy="199678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  <a:endCxn id="10" idx="2"/>
          </p:cNvCxnSpPr>
          <p:nvPr/>
        </p:nvCxnSpPr>
        <p:spPr>
          <a:xfrm>
            <a:off x="1519707" y="4136058"/>
            <a:ext cx="1250718" cy="124280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10" idx="7"/>
            <a:endCxn id="13" idx="3"/>
          </p:cNvCxnSpPr>
          <p:nvPr/>
        </p:nvCxnSpPr>
        <p:spPr>
          <a:xfrm flipV="1">
            <a:off x="2966825" y="3606908"/>
            <a:ext cx="508819" cy="573892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8" idx="7"/>
            <a:endCxn id="11" idx="3"/>
          </p:cNvCxnSpPr>
          <p:nvPr/>
        </p:nvCxnSpPr>
        <p:spPr>
          <a:xfrm flipV="1">
            <a:off x="2001413" y="3105837"/>
            <a:ext cx="572612" cy="262459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7" idx="6"/>
            <a:endCxn id="8" idx="1"/>
          </p:cNvCxnSpPr>
          <p:nvPr/>
        </p:nvCxnSpPr>
        <p:spPr>
          <a:xfrm>
            <a:off x="1137750" y="2913817"/>
            <a:ext cx="700960" cy="454479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6" idx="5"/>
            <a:endCxn id="11" idx="1"/>
          </p:cNvCxnSpPr>
          <p:nvPr/>
        </p:nvCxnSpPr>
        <p:spPr>
          <a:xfrm>
            <a:off x="1967716" y="2330417"/>
            <a:ext cx="606309" cy="616345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>
            <a:stCxn id="13" idx="0"/>
            <a:endCxn id="12" idx="4"/>
          </p:cNvCxnSpPr>
          <p:nvPr/>
        </p:nvCxnSpPr>
        <p:spPr>
          <a:xfrm flipH="1" flipV="1">
            <a:off x="3329905" y="2642578"/>
            <a:ext cx="227091" cy="772310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>
            <a:stCxn id="13" idx="1"/>
            <a:endCxn id="11" idx="5"/>
          </p:cNvCxnSpPr>
          <p:nvPr/>
        </p:nvCxnSpPr>
        <p:spPr>
          <a:xfrm flipH="1" flipV="1">
            <a:off x="2736728" y="3105837"/>
            <a:ext cx="738916" cy="34199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858494" y="2014651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/>
              <p:cNvSpPr txBox="1"/>
              <p:nvPr/>
            </p:nvSpPr>
            <p:spPr>
              <a:xfrm>
                <a:off x="4085784" y="1815547"/>
                <a:ext cx="4660925" cy="24856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Ou ainda, o fecho transitivo de qualquer vértice é igual ao conjunto de vértices, isto é,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= V, para todo </a:t>
                </a:r>
                <a:r>
                  <a:rPr lang="pt-BR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V(G).</a:t>
                </a:r>
              </a:p>
              <a:p>
                <a:endPara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Em um grafo não direcionado conexo, é sempre possível fazer um passeio fechado que inclua todos os vértices.</a:t>
                </a:r>
              </a:p>
              <a:p>
                <a:endParaRPr lang="pt-BR" sz="9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 lvl="1"/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Por exemplo:  3   1   4   6   7   8   2   5   3</a:t>
                </a:r>
              </a:p>
            </p:txBody>
          </p:sp>
        </mc:Choice>
        <mc:Fallback xmlns="">
          <p:sp>
            <p:nvSpPr>
              <p:cNvPr id="3" name="CaixaDe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784" y="1815547"/>
                <a:ext cx="4660925" cy="2485617"/>
              </a:xfrm>
              <a:prstGeom prst="rect">
                <a:avLst/>
              </a:prstGeom>
              <a:blipFill rotWithShape="0">
                <a:blip r:embed="rId2"/>
                <a:stretch>
                  <a:fillRect l="-1046" t="-1471" r="-1176" b="-17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667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Conectividade – Grafo Não Direcionado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grafo não direcionado é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desconexo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quando não existir um caminho entre algum par de vértices.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4" name="Grupo 3"/>
          <p:cNvGrpSpPr/>
          <p:nvPr/>
        </p:nvGrpSpPr>
        <p:grpSpPr>
          <a:xfrm>
            <a:off x="908386" y="2049816"/>
            <a:ext cx="2764391" cy="2234423"/>
            <a:chOff x="661710" y="1835699"/>
            <a:chExt cx="2764391" cy="2234423"/>
          </a:xfrm>
        </p:grpSpPr>
        <p:sp>
          <p:nvSpPr>
            <p:cNvPr id="5" name="Elipse 4"/>
            <p:cNvSpPr/>
            <p:nvPr/>
          </p:nvSpPr>
          <p:spPr>
            <a:xfrm>
              <a:off x="1525373" y="183569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2</a:t>
              </a:r>
            </a:p>
          </p:txBody>
        </p:sp>
        <p:sp>
          <p:nvSpPr>
            <p:cNvPr id="6" name="Elipse 5"/>
            <p:cNvSpPr/>
            <p:nvPr/>
          </p:nvSpPr>
          <p:spPr>
            <a:xfrm>
              <a:off x="661710" y="2498636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1</a:t>
              </a:r>
            </a:p>
          </p:txBody>
        </p:sp>
        <p:sp>
          <p:nvSpPr>
            <p:cNvPr id="7" name="Elipse 6"/>
            <p:cNvSpPr/>
            <p:nvPr/>
          </p:nvSpPr>
          <p:spPr>
            <a:xfrm>
              <a:off x="1559070" y="3032653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3</a:t>
              </a:r>
            </a:p>
          </p:txBody>
        </p:sp>
        <p:sp>
          <p:nvSpPr>
            <p:cNvPr id="8" name="Elipse 7"/>
            <p:cNvSpPr/>
            <p:nvPr/>
          </p:nvSpPr>
          <p:spPr>
            <a:xfrm>
              <a:off x="1043667" y="3720877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4</a:t>
              </a:r>
            </a:p>
          </p:txBody>
        </p:sp>
        <p:sp>
          <p:nvSpPr>
            <p:cNvPr id="9" name="Elipse 8"/>
            <p:cNvSpPr/>
            <p:nvPr/>
          </p:nvSpPr>
          <p:spPr>
            <a:xfrm>
              <a:off x="2524482" y="3845157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6</a:t>
              </a:r>
            </a:p>
          </p:txBody>
        </p:sp>
        <p:sp>
          <p:nvSpPr>
            <p:cNvPr id="10" name="Elipse 9"/>
            <p:cNvSpPr/>
            <p:nvPr/>
          </p:nvSpPr>
          <p:spPr>
            <a:xfrm>
              <a:off x="2294385" y="261111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5</a:t>
              </a:r>
            </a:p>
          </p:txBody>
        </p:sp>
        <p:sp>
          <p:nvSpPr>
            <p:cNvPr id="11" name="Elipse 10"/>
            <p:cNvSpPr/>
            <p:nvPr/>
          </p:nvSpPr>
          <p:spPr>
            <a:xfrm>
              <a:off x="2968913" y="2114915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8</a:t>
              </a:r>
            </a:p>
          </p:txBody>
        </p:sp>
        <p:sp>
          <p:nvSpPr>
            <p:cNvPr id="12" name="Elipse 11"/>
            <p:cNvSpPr/>
            <p:nvPr/>
          </p:nvSpPr>
          <p:spPr>
            <a:xfrm>
              <a:off x="3196004" y="3112190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7</a:t>
              </a:r>
            </a:p>
          </p:txBody>
        </p:sp>
        <p:cxnSp>
          <p:nvCxnSpPr>
            <p:cNvPr id="13" name="Conector de seta reta 12"/>
            <p:cNvCxnSpPr>
              <a:stCxn id="6" idx="7"/>
              <a:endCxn id="5" idx="3"/>
            </p:cNvCxnSpPr>
            <p:nvPr/>
          </p:nvCxnSpPr>
          <p:spPr>
            <a:xfrm flipV="1">
              <a:off x="858110" y="2027719"/>
              <a:ext cx="700960" cy="50386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/>
            <p:cNvCxnSpPr>
              <a:stCxn id="6" idx="4"/>
              <a:endCxn id="8" idx="1"/>
            </p:cNvCxnSpPr>
            <p:nvPr/>
          </p:nvCxnSpPr>
          <p:spPr>
            <a:xfrm>
              <a:off x="776759" y="2723601"/>
              <a:ext cx="300605" cy="103022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8" idx="6"/>
              <a:endCxn id="9" idx="2"/>
            </p:cNvCxnSpPr>
            <p:nvPr/>
          </p:nvCxnSpPr>
          <p:spPr>
            <a:xfrm>
              <a:off x="1273764" y="3833360"/>
              <a:ext cx="1250718" cy="12428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/>
            <p:cNvCxnSpPr>
              <a:stCxn id="7" idx="7"/>
              <a:endCxn id="10" idx="3"/>
            </p:cNvCxnSpPr>
            <p:nvPr/>
          </p:nvCxnSpPr>
          <p:spPr>
            <a:xfrm flipV="1">
              <a:off x="1755470" y="2803139"/>
              <a:ext cx="572612" cy="26245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6" idx="6"/>
              <a:endCxn id="7" idx="1"/>
            </p:cNvCxnSpPr>
            <p:nvPr/>
          </p:nvCxnSpPr>
          <p:spPr>
            <a:xfrm>
              <a:off x="891807" y="2611119"/>
              <a:ext cx="700960" cy="45447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/>
            <p:cNvCxnSpPr>
              <a:stCxn id="5" idx="5"/>
              <a:endCxn id="10" idx="1"/>
            </p:cNvCxnSpPr>
            <p:nvPr/>
          </p:nvCxnSpPr>
          <p:spPr>
            <a:xfrm>
              <a:off x="1721773" y="2027719"/>
              <a:ext cx="606309" cy="616345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12" idx="0"/>
              <a:endCxn id="11" idx="4"/>
            </p:cNvCxnSpPr>
            <p:nvPr/>
          </p:nvCxnSpPr>
          <p:spPr>
            <a:xfrm flipH="1" flipV="1">
              <a:off x="3083962" y="2339880"/>
              <a:ext cx="227091" cy="77231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CaixaDeTexto 19"/>
          <p:cNvSpPr txBox="1"/>
          <p:nvPr/>
        </p:nvSpPr>
        <p:spPr>
          <a:xfrm>
            <a:off x="859227" y="1926070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/>
              <p:cNvSpPr txBox="1"/>
              <p:nvPr/>
            </p:nvSpPr>
            <p:spPr>
              <a:xfrm>
                <a:off x="4510066" y="2083291"/>
                <a:ext cx="3682339" cy="16780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Ou ainda, o fecho transitivo de algum vértice for diferente ao conjunto de vértices, isto é,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pt-BR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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V, para algum </a:t>
                </a:r>
                <a:r>
                  <a:rPr lang="pt-BR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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V(G).</a:t>
                </a:r>
              </a:p>
              <a:p>
                <a:endParaRPr lang="pt-BR" sz="12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    Por exemplo,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acc>
                    <m:d>
                      <m:dPr>
                        <m:ctrlPr>
                          <a:rPr lang="pt-B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pt-BR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7, 8</m:t>
                        </m:r>
                      </m:e>
                    </m:d>
                  </m:oMath>
                </a14:m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 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 V</a:t>
                </a:r>
                <a:endParaRPr lang="pt-BR" dirty="0"/>
              </a:p>
            </p:txBody>
          </p:sp>
        </mc:Choice>
        <mc:Fallback xmlns="">
          <p:sp>
            <p:nvSpPr>
              <p:cNvPr id="21" name="CaixaDeTexto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066" y="2083291"/>
                <a:ext cx="3682339" cy="1678023"/>
              </a:xfrm>
              <a:prstGeom prst="rect">
                <a:avLst/>
              </a:prstGeom>
              <a:blipFill rotWithShape="0">
                <a:blip r:embed="rId2"/>
                <a:stretch>
                  <a:fillRect l="-1490" t="-2182" r="-1987" b="-5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637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Componente Conexo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não direcionado, seus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componentes conexos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são os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maximais que são conexos.</a:t>
            </a: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maximal conexo é um dos maiores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(em número de vértices e arestas) que também seja conexo.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10393" y="304929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836827" y="350682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1410392" y="395695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348195" y="399896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0" name="Elipse 9"/>
          <p:cNvSpPr/>
          <p:nvPr/>
        </p:nvSpPr>
        <p:spPr>
          <a:xfrm>
            <a:off x="3101673" y="398989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1" name="Elipse 10"/>
          <p:cNvSpPr/>
          <p:nvPr/>
        </p:nvSpPr>
        <p:spPr>
          <a:xfrm>
            <a:off x="1980094" y="35177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3000691" y="29194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3" name="Elipse 12"/>
          <p:cNvSpPr/>
          <p:nvPr/>
        </p:nvSpPr>
        <p:spPr>
          <a:xfrm>
            <a:off x="3543405" y="35884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4" name="Conector de seta reta 13"/>
          <p:cNvCxnSpPr>
            <a:stCxn id="7" idx="7"/>
            <a:endCxn id="6" idx="3"/>
          </p:cNvCxnSpPr>
          <p:nvPr/>
        </p:nvCxnSpPr>
        <p:spPr>
          <a:xfrm flipV="1">
            <a:off x="1033227" y="3241310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9" idx="6"/>
            <a:endCxn id="10" idx="2"/>
          </p:cNvCxnSpPr>
          <p:nvPr/>
        </p:nvCxnSpPr>
        <p:spPr>
          <a:xfrm flipV="1">
            <a:off x="2578292" y="4102381"/>
            <a:ext cx="523381" cy="907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8" idx="7"/>
            <a:endCxn id="11" idx="3"/>
          </p:cNvCxnSpPr>
          <p:nvPr/>
        </p:nvCxnSpPr>
        <p:spPr>
          <a:xfrm flipV="1">
            <a:off x="1606792" y="3709816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7" idx="5"/>
            <a:endCxn id="8" idx="1"/>
          </p:cNvCxnSpPr>
          <p:nvPr/>
        </p:nvCxnSpPr>
        <p:spPr>
          <a:xfrm>
            <a:off x="1033227" y="3698846"/>
            <a:ext cx="410862" cy="2910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5"/>
            <a:endCxn id="11" idx="1"/>
          </p:cNvCxnSpPr>
          <p:nvPr/>
        </p:nvCxnSpPr>
        <p:spPr>
          <a:xfrm>
            <a:off x="1606793" y="3241310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13" idx="1"/>
            <a:endCxn id="12" idx="5"/>
          </p:cNvCxnSpPr>
          <p:nvPr/>
        </p:nvCxnSpPr>
        <p:spPr>
          <a:xfrm flipH="1" flipV="1">
            <a:off x="3197091" y="3111478"/>
            <a:ext cx="380011" cy="50996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89028" y="291295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64" name="Elipse 63"/>
          <p:cNvSpPr/>
          <p:nvPr/>
        </p:nvSpPr>
        <p:spPr>
          <a:xfrm>
            <a:off x="5154515" y="346678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65" name="Elipse 64"/>
          <p:cNvSpPr/>
          <p:nvPr/>
        </p:nvSpPr>
        <p:spPr>
          <a:xfrm>
            <a:off x="6297782" y="347775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66" name="CaixaDeTexto 65"/>
          <p:cNvSpPr txBox="1"/>
          <p:nvPr/>
        </p:nvSpPr>
        <p:spPr>
          <a:xfrm>
            <a:off x="5106716" y="287291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</a:t>
            </a:r>
          </a:p>
        </p:txBody>
      </p:sp>
      <p:sp>
        <p:nvSpPr>
          <p:cNvPr id="67" name="CaixaDeTexto 66"/>
          <p:cNvSpPr txBox="1"/>
          <p:nvPr/>
        </p:nvSpPr>
        <p:spPr>
          <a:xfrm>
            <a:off x="4695591" y="3933103"/>
            <a:ext cx="2458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mas não é conexo</a:t>
            </a:r>
          </a:p>
        </p:txBody>
      </p:sp>
    </p:spTree>
    <p:extLst>
      <p:ext uri="{BB962C8B-B14F-4D97-AF65-F5344CB8AC3E}">
        <p14:creationId xmlns:p14="http://schemas.microsoft.com/office/powerpoint/2010/main" val="156749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2" grpId="0"/>
      <p:bldP spid="64" grpId="0" animBg="1"/>
      <p:bldP spid="65" grpId="0" animBg="1"/>
      <p:bldP spid="66" grpId="0"/>
      <p:bldP spid="6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Componente Conexo</a:t>
            </a:r>
          </a:p>
        </p:txBody>
      </p:sp>
      <p:sp>
        <p:nvSpPr>
          <p:cNvPr id="6" name="Elipse 5"/>
          <p:cNvSpPr/>
          <p:nvPr/>
        </p:nvSpPr>
        <p:spPr>
          <a:xfrm>
            <a:off x="1410393" y="304929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836827" y="350682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1410392" y="395695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348195" y="399896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0" name="Elipse 9"/>
          <p:cNvSpPr/>
          <p:nvPr/>
        </p:nvSpPr>
        <p:spPr>
          <a:xfrm>
            <a:off x="3101673" y="398989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1" name="Elipse 10"/>
          <p:cNvSpPr/>
          <p:nvPr/>
        </p:nvSpPr>
        <p:spPr>
          <a:xfrm>
            <a:off x="1980094" y="35177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3000691" y="29194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3" name="Elipse 12"/>
          <p:cNvSpPr/>
          <p:nvPr/>
        </p:nvSpPr>
        <p:spPr>
          <a:xfrm>
            <a:off x="3543405" y="35884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4" name="Conector de seta reta 13"/>
          <p:cNvCxnSpPr>
            <a:stCxn id="7" idx="7"/>
            <a:endCxn id="6" idx="3"/>
          </p:cNvCxnSpPr>
          <p:nvPr/>
        </p:nvCxnSpPr>
        <p:spPr>
          <a:xfrm flipV="1">
            <a:off x="1033227" y="3241310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9" idx="6"/>
            <a:endCxn id="10" idx="2"/>
          </p:cNvCxnSpPr>
          <p:nvPr/>
        </p:nvCxnSpPr>
        <p:spPr>
          <a:xfrm flipV="1">
            <a:off x="2578292" y="4102381"/>
            <a:ext cx="523381" cy="907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8" idx="7"/>
            <a:endCxn id="11" idx="3"/>
          </p:cNvCxnSpPr>
          <p:nvPr/>
        </p:nvCxnSpPr>
        <p:spPr>
          <a:xfrm flipV="1">
            <a:off x="1606792" y="3709816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7" idx="5"/>
            <a:endCxn id="8" idx="1"/>
          </p:cNvCxnSpPr>
          <p:nvPr/>
        </p:nvCxnSpPr>
        <p:spPr>
          <a:xfrm>
            <a:off x="1033227" y="3698846"/>
            <a:ext cx="410862" cy="2910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5"/>
            <a:endCxn id="11" idx="1"/>
          </p:cNvCxnSpPr>
          <p:nvPr/>
        </p:nvCxnSpPr>
        <p:spPr>
          <a:xfrm>
            <a:off x="1606793" y="3241310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13" idx="1"/>
            <a:endCxn id="12" idx="5"/>
          </p:cNvCxnSpPr>
          <p:nvPr/>
        </p:nvCxnSpPr>
        <p:spPr>
          <a:xfrm flipH="1" flipV="1">
            <a:off x="3197091" y="3111478"/>
            <a:ext cx="380011" cy="50996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89028" y="291295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67" name="CaixaDeTexto 66"/>
          <p:cNvSpPr txBox="1"/>
          <p:nvPr/>
        </p:nvSpPr>
        <p:spPr>
          <a:xfrm>
            <a:off x="4511442" y="3937105"/>
            <a:ext cx="1860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conexo mas não maximal</a:t>
            </a:r>
          </a:p>
        </p:txBody>
      </p:sp>
      <p:sp>
        <p:nvSpPr>
          <p:cNvPr id="23" name="Elipse 22"/>
          <p:cNvSpPr/>
          <p:nvPr/>
        </p:nvSpPr>
        <p:spPr>
          <a:xfrm>
            <a:off x="5326718" y="279479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24" name="Elipse 23"/>
          <p:cNvSpPr/>
          <p:nvPr/>
        </p:nvSpPr>
        <p:spPr>
          <a:xfrm>
            <a:off x="4753152" y="325232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25" name="Elipse 24"/>
          <p:cNvSpPr/>
          <p:nvPr/>
        </p:nvSpPr>
        <p:spPr>
          <a:xfrm>
            <a:off x="5326717" y="370245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cxnSp>
        <p:nvCxnSpPr>
          <p:cNvPr id="27" name="Conector de seta reta 26"/>
          <p:cNvCxnSpPr>
            <a:stCxn id="24" idx="7"/>
            <a:endCxn id="23" idx="3"/>
          </p:cNvCxnSpPr>
          <p:nvPr/>
        </p:nvCxnSpPr>
        <p:spPr>
          <a:xfrm flipV="1">
            <a:off x="4949552" y="2986810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24" idx="5"/>
            <a:endCxn id="25" idx="1"/>
          </p:cNvCxnSpPr>
          <p:nvPr/>
        </p:nvCxnSpPr>
        <p:spPr>
          <a:xfrm>
            <a:off x="4949552" y="3444346"/>
            <a:ext cx="410862" cy="2910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4671690" y="2658458"/>
            <a:ext cx="381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32" name="Elipse 31"/>
          <p:cNvSpPr/>
          <p:nvPr/>
        </p:nvSpPr>
        <p:spPr>
          <a:xfrm>
            <a:off x="7493526" y="279517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33" name="Elipse 32"/>
          <p:cNvSpPr/>
          <p:nvPr/>
        </p:nvSpPr>
        <p:spPr>
          <a:xfrm>
            <a:off x="6919960" y="325271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34" name="Elipse 33"/>
          <p:cNvSpPr/>
          <p:nvPr/>
        </p:nvSpPr>
        <p:spPr>
          <a:xfrm>
            <a:off x="7493525" y="370284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35" name="Elipse 34"/>
          <p:cNvSpPr/>
          <p:nvPr/>
        </p:nvSpPr>
        <p:spPr>
          <a:xfrm>
            <a:off x="8063227" y="32636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36" name="Conector de seta reta 35"/>
          <p:cNvCxnSpPr>
            <a:stCxn id="33" idx="7"/>
            <a:endCxn id="32" idx="3"/>
          </p:cNvCxnSpPr>
          <p:nvPr/>
        </p:nvCxnSpPr>
        <p:spPr>
          <a:xfrm flipV="1">
            <a:off x="7116360" y="2987198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>
            <a:stCxn id="34" idx="7"/>
            <a:endCxn id="35" idx="3"/>
          </p:cNvCxnSpPr>
          <p:nvPr/>
        </p:nvCxnSpPr>
        <p:spPr>
          <a:xfrm flipV="1">
            <a:off x="7689925" y="3455704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33" idx="5"/>
            <a:endCxn id="34" idx="1"/>
          </p:cNvCxnSpPr>
          <p:nvPr/>
        </p:nvCxnSpPr>
        <p:spPr>
          <a:xfrm>
            <a:off x="7116360" y="3444734"/>
            <a:ext cx="410862" cy="2910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32" idx="5"/>
            <a:endCxn id="35" idx="1"/>
          </p:cNvCxnSpPr>
          <p:nvPr/>
        </p:nvCxnSpPr>
        <p:spPr>
          <a:xfrm>
            <a:off x="7689926" y="2987198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6838498" y="2658846"/>
            <a:ext cx="381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6678250" y="3931546"/>
            <a:ext cx="1860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conexo maximal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95536" y="1203960"/>
            <a:ext cx="842493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não direcionado, seus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componentes conexos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são os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maximais que são conexos.</a:t>
            </a: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maximal conexo é um dos maiores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(em número de vértices e arestas) que também seja conexo.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138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40" grpId="0"/>
      <p:bldP spid="4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Componente Conexo</a:t>
            </a:r>
          </a:p>
        </p:txBody>
      </p:sp>
      <p:sp>
        <p:nvSpPr>
          <p:cNvPr id="6" name="Elipse 5"/>
          <p:cNvSpPr/>
          <p:nvPr/>
        </p:nvSpPr>
        <p:spPr>
          <a:xfrm>
            <a:off x="1410393" y="304929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836827" y="350682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1410392" y="395695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348195" y="399896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0" name="Elipse 9"/>
          <p:cNvSpPr/>
          <p:nvPr/>
        </p:nvSpPr>
        <p:spPr>
          <a:xfrm>
            <a:off x="3101673" y="398989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1" name="Elipse 10"/>
          <p:cNvSpPr/>
          <p:nvPr/>
        </p:nvSpPr>
        <p:spPr>
          <a:xfrm>
            <a:off x="1980094" y="35177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3000691" y="29194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3" name="Elipse 12"/>
          <p:cNvSpPr/>
          <p:nvPr/>
        </p:nvSpPr>
        <p:spPr>
          <a:xfrm>
            <a:off x="3543405" y="35884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4" name="Conector de seta reta 13"/>
          <p:cNvCxnSpPr>
            <a:stCxn id="7" idx="7"/>
            <a:endCxn id="6" idx="3"/>
          </p:cNvCxnSpPr>
          <p:nvPr/>
        </p:nvCxnSpPr>
        <p:spPr>
          <a:xfrm flipV="1">
            <a:off x="1033227" y="3241310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9" idx="6"/>
            <a:endCxn id="10" idx="2"/>
          </p:cNvCxnSpPr>
          <p:nvPr/>
        </p:nvCxnSpPr>
        <p:spPr>
          <a:xfrm flipV="1">
            <a:off x="2578292" y="4102381"/>
            <a:ext cx="523381" cy="907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8" idx="7"/>
            <a:endCxn id="11" idx="3"/>
          </p:cNvCxnSpPr>
          <p:nvPr/>
        </p:nvCxnSpPr>
        <p:spPr>
          <a:xfrm flipV="1">
            <a:off x="1606792" y="3709816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7" idx="5"/>
            <a:endCxn id="8" idx="1"/>
          </p:cNvCxnSpPr>
          <p:nvPr/>
        </p:nvCxnSpPr>
        <p:spPr>
          <a:xfrm>
            <a:off x="1033227" y="3698846"/>
            <a:ext cx="410862" cy="2910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5"/>
            <a:endCxn id="11" idx="1"/>
          </p:cNvCxnSpPr>
          <p:nvPr/>
        </p:nvCxnSpPr>
        <p:spPr>
          <a:xfrm>
            <a:off x="1606793" y="3241310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13" idx="1"/>
            <a:endCxn id="12" idx="5"/>
          </p:cNvCxnSpPr>
          <p:nvPr/>
        </p:nvCxnSpPr>
        <p:spPr>
          <a:xfrm flipH="1" flipV="1">
            <a:off x="3197091" y="3111478"/>
            <a:ext cx="380011" cy="50996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89028" y="291295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32" name="Elipse 31"/>
          <p:cNvSpPr/>
          <p:nvPr/>
        </p:nvSpPr>
        <p:spPr>
          <a:xfrm>
            <a:off x="5290721" y="280345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33" name="Elipse 32"/>
          <p:cNvSpPr/>
          <p:nvPr/>
        </p:nvSpPr>
        <p:spPr>
          <a:xfrm>
            <a:off x="4717155" y="326098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34" name="Elipse 33"/>
          <p:cNvSpPr/>
          <p:nvPr/>
        </p:nvSpPr>
        <p:spPr>
          <a:xfrm>
            <a:off x="5290720" y="371111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35" name="Elipse 34"/>
          <p:cNvSpPr/>
          <p:nvPr/>
        </p:nvSpPr>
        <p:spPr>
          <a:xfrm>
            <a:off x="5860422" y="327195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36" name="Conector de seta reta 35"/>
          <p:cNvCxnSpPr>
            <a:stCxn id="33" idx="7"/>
            <a:endCxn id="32" idx="3"/>
          </p:cNvCxnSpPr>
          <p:nvPr/>
        </p:nvCxnSpPr>
        <p:spPr>
          <a:xfrm flipV="1">
            <a:off x="4913555" y="2995470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>
            <a:stCxn id="34" idx="7"/>
            <a:endCxn id="35" idx="3"/>
          </p:cNvCxnSpPr>
          <p:nvPr/>
        </p:nvCxnSpPr>
        <p:spPr>
          <a:xfrm flipV="1">
            <a:off x="5487120" y="3463976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33" idx="5"/>
            <a:endCxn id="34" idx="1"/>
          </p:cNvCxnSpPr>
          <p:nvPr/>
        </p:nvCxnSpPr>
        <p:spPr>
          <a:xfrm>
            <a:off x="4913555" y="3453006"/>
            <a:ext cx="410862" cy="2910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32" idx="5"/>
            <a:endCxn id="35" idx="1"/>
          </p:cNvCxnSpPr>
          <p:nvPr/>
        </p:nvCxnSpPr>
        <p:spPr>
          <a:xfrm>
            <a:off x="5487121" y="2995470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4635693" y="2667118"/>
            <a:ext cx="381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4475445" y="3939818"/>
            <a:ext cx="1860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conexo maximal</a:t>
            </a:r>
          </a:p>
        </p:txBody>
      </p:sp>
      <p:sp>
        <p:nvSpPr>
          <p:cNvPr id="42" name="Elipse 41"/>
          <p:cNvSpPr/>
          <p:nvPr/>
        </p:nvSpPr>
        <p:spPr>
          <a:xfrm>
            <a:off x="7321657" y="280345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3" name="Elipse 42"/>
          <p:cNvSpPr/>
          <p:nvPr/>
        </p:nvSpPr>
        <p:spPr>
          <a:xfrm>
            <a:off x="6748091" y="326098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44" name="Elipse 43"/>
          <p:cNvSpPr/>
          <p:nvPr/>
        </p:nvSpPr>
        <p:spPr>
          <a:xfrm>
            <a:off x="7321656" y="371111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45" name="Elipse 44"/>
          <p:cNvSpPr/>
          <p:nvPr/>
        </p:nvSpPr>
        <p:spPr>
          <a:xfrm>
            <a:off x="7891358" y="327195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46" name="Conector de seta reta 45"/>
          <p:cNvCxnSpPr>
            <a:stCxn id="43" idx="7"/>
            <a:endCxn id="42" idx="3"/>
          </p:cNvCxnSpPr>
          <p:nvPr/>
        </p:nvCxnSpPr>
        <p:spPr>
          <a:xfrm flipV="1">
            <a:off x="6944491" y="2995470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>
            <a:stCxn id="44" idx="7"/>
            <a:endCxn id="45" idx="3"/>
          </p:cNvCxnSpPr>
          <p:nvPr/>
        </p:nvCxnSpPr>
        <p:spPr>
          <a:xfrm flipV="1">
            <a:off x="7518056" y="3463976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>
            <a:stCxn id="43" idx="5"/>
            <a:endCxn id="44" idx="1"/>
          </p:cNvCxnSpPr>
          <p:nvPr/>
        </p:nvCxnSpPr>
        <p:spPr>
          <a:xfrm>
            <a:off x="6944491" y="3453006"/>
            <a:ext cx="410862" cy="2910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>
            <a:stCxn id="42" idx="5"/>
            <a:endCxn id="45" idx="1"/>
          </p:cNvCxnSpPr>
          <p:nvPr/>
        </p:nvCxnSpPr>
        <p:spPr>
          <a:xfrm>
            <a:off x="7518057" y="2995470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/>
          <p:cNvSpPr txBox="1"/>
          <p:nvPr/>
        </p:nvSpPr>
        <p:spPr>
          <a:xfrm>
            <a:off x="6666629" y="2667118"/>
            <a:ext cx="381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506381" y="3939818"/>
            <a:ext cx="1860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não conexo</a:t>
            </a:r>
          </a:p>
        </p:txBody>
      </p:sp>
      <p:sp>
        <p:nvSpPr>
          <p:cNvPr id="52" name="Elipse 51"/>
          <p:cNvSpPr/>
          <p:nvPr/>
        </p:nvSpPr>
        <p:spPr>
          <a:xfrm>
            <a:off x="8218280" y="37440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395536" y="1203960"/>
            <a:ext cx="842493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não direcionado, seus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componentes conexos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são os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maximais que são conexos.</a:t>
            </a: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maximal conexo é um dos maiores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(em número de vértices e arestas) que também seja conexo.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5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50" grpId="0"/>
      <p:bldP spid="51" grpId="0"/>
      <p:bldP spid="5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Componente Conexo</a:t>
            </a:r>
          </a:p>
        </p:txBody>
      </p:sp>
      <p:sp>
        <p:nvSpPr>
          <p:cNvPr id="6" name="Elipse 5"/>
          <p:cNvSpPr/>
          <p:nvPr/>
        </p:nvSpPr>
        <p:spPr>
          <a:xfrm>
            <a:off x="1410393" y="304929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836827" y="350682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1410392" y="395695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348195" y="399896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0" name="Elipse 9"/>
          <p:cNvSpPr/>
          <p:nvPr/>
        </p:nvSpPr>
        <p:spPr>
          <a:xfrm>
            <a:off x="3101673" y="398989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1" name="Elipse 10"/>
          <p:cNvSpPr/>
          <p:nvPr/>
        </p:nvSpPr>
        <p:spPr>
          <a:xfrm>
            <a:off x="1980094" y="35177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3000691" y="29194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3" name="Elipse 12"/>
          <p:cNvSpPr/>
          <p:nvPr/>
        </p:nvSpPr>
        <p:spPr>
          <a:xfrm>
            <a:off x="3543405" y="35884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4" name="Conector de seta reta 13"/>
          <p:cNvCxnSpPr>
            <a:stCxn id="7" idx="7"/>
            <a:endCxn id="6" idx="3"/>
          </p:cNvCxnSpPr>
          <p:nvPr/>
        </p:nvCxnSpPr>
        <p:spPr>
          <a:xfrm flipV="1">
            <a:off x="1033227" y="3241310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9" idx="6"/>
            <a:endCxn id="10" idx="2"/>
          </p:cNvCxnSpPr>
          <p:nvPr/>
        </p:nvCxnSpPr>
        <p:spPr>
          <a:xfrm flipV="1">
            <a:off x="2578292" y="4102381"/>
            <a:ext cx="523381" cy="907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8" idx="7"/>
            <a:endCxn id="11" idx="3"/>
          </p:cNvCxnSpPr>
          <p:nvPr/>
        </p:nvCxnSpPr>
        <p:spPr>
          <a:xfrm flipV="1">
            <a:off x="1606792" y="3709816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7" idx="5"/>
            <a:endCxn id="8" idx="1"/>
          </p:cNvCxnSpPr>
          <p:nvPr/>
        </p:nvCxnSpPr>
        <p:spPr>
          <a:xfrm>
            <a:off x="1033227" y="3698846"/>
            <a:ext cx="410862" cy="2910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5"/>
            <a:endCxn id="11" idx="1"/>
          </p:cNvCxnSpPr>
          <p:nvPr/>
        </p:nvCxnSpPr>
        <p:spPr>
          <a:xfrm>
            <a:off x="1606793" y="3241310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13" idx="1"/>
            <a:endCxn id="12" idx="5"/>
          </p:cNvCxnSpPr>
          <p:nvPr/>
        </p:nvCxnSpPr>
        <p:spPr>
          <a:xfrm flipH="1" flipV="1">
            <a:off x="3197091" y="3111478"/>
            <a:ext cx="380011" cy="50996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89028" y="291295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53" name="Elipse 52"/>
          <p:cNvSpPr/>
          <p:nvPr/>
        </p:nvSpPr>
        <p:spPr>
          <a:xfrm>
            <a:off x="5434118" y="275892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54" name="Elipse 53"/>
          <p:cNvSpPr/>
          <p:nvPr/>
        </p:nvSpPr>
        <p:spPr>
          <a:xfrm>
            <a:off x="4860552" y="321646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5" name="Elipse 54"/>
          <p:cNvSpPr/>
          <p:nvPr/>
        </p:nvSpPr>
        <p:spPr>
          <a:xfrm>
            <a:off x="5434117" y="366658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56" name="Elipse 55"/>
          <p:cNvSpPr/>
          <p:nvPr/>
        </p:nvSpPr>
        <p:spPr>
          <a:xfrm>
            <a:off x="6198444" y="406835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7" name="Elipse 56"/>
          <p:cNvSpPr/>
          <p:nvPr/>
        </p:nvSpPr>
        <p:spPr>
          <a:xfrm>
            <a:off x="6951922" y="405928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58" name="Elipse 57"/>
          <p:cNvSpPr/>
          <p:nvPr/>
        </p:nvSpPr>
        <p:spPr>
          <a:xfrm>
            <a:off x="6003819" y="32274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59" name="Elipse 58"/>
          <p:cNvSpPr/>
          <p:nvPr/>
        </p:nvSpPr>
        <p:spPr>
          <a:xfrm>
            <a:off x="6647057" y="275474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60" name="Elipse 59"/>
          <p:cNvSpPr/>
          <p:nvPr/>
        </p:nvSpPr>
        <p:spPr>
          <a:xfrm>
            <a:off x="7189771" y="342378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61" name="Conector de seta reta 60"/>
          <p:cNvCxnSpPr>
            <a:stCxn id="54" idx="7"/>
            <a:endCxn id="53" idx="3"/>
          </p:cNvCxnSpPr>
          <p:nvPr/>
        </p:nvCxnSpPr>
        <p:spPr>
          <a:xfrm flipV="1">
            <a:off x="5056952" y="2950946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/>
          <p:cNvCxnSpPr>
            <a:stCxn id="56" idx="6"/>
            <a:endCxn id="57" idx="2"/>
          </p:cNvCxnSpPr>
          <p:nvPr/>
        </p:nvCxnSpPr>
        <p:spPr>
          <a:xfrm flipV="1">
            <a:off x="6428541" y="4171763"/>
            <a:ext cx="523381" cy="907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/>
          <p:cNvCxnSpPr>
            <a:stCxn id="55" idx="7"/>
            <a:endCxn id="58" idx="3"/>
          </p:cNvCxnSpPr>
          <p:nvPr/>
        </p:nvCxnSpPr>
        <p:spPr>
          <a:xfrm flipV="1">
            <a:off x="5630517" y="3419452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63"/>
          <p:cNvCxnSpPr>
            <a:stCxn id="54" idx="5"/>
            <a:endCxn id="55" idx="1"/>
          </p:cNvCxnSpPr>
          <p:nvPr/>
        </p:nvCxnSpPr>
        <p:spPr>
          <a:xfrm>
            <a:off x="5056952" y="3408482"/>
            <a:ext cx="410862" cy="2910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53" idx="5"/>
            <a:endCxn id="58" idx="1"/>
          </p:cNvCxnSpPr>
          <p:nvPr/>
        </p:nvCxnSpPr>
        <p:spPr>
          <a:xfrm>
            <a:off x="5630518" y="2950946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de seta reta 65"/>
          <p:cNvCxnSpPr>
            <a:stCxn id="60" idx="1"/>
            <a:endCxn id="59" idx="5"/>
          </p:cNvCxnSpPr>
          <p:nvPr/>
        </p:nvCxnSpPr>
        <p:spPr>
          <a:xfrm flipH="1" flipV="1">
            <a:off x="6843457" y="2946762"/>
            <a:ext cx="380011" cy="50996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ângulo de cantos arredondados 3"/>
          <p:cNvSpPr/>
          <p:nvPr/>
        </p:nvSpPr>
        <p:spPr>
          <a:xfrm rot="2619333">
            <a:off x="4842546" y="2676499"/>
            <a:ext cx="1390313" cy="1254657"/>
          </a:xfrm>
          <a:prstGeom prst="roundRect">
            <a:avLst>
              <a:gd name="adj" fmla="val 32680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de cantos arredondados 14"/>
          <p:cNvSpPr/>
          <p:nvPr/>
        </p:nvSpPr>
        <p:spPr>
          <a:xfrm rot="3080693">
            <a:off x="6351664" y="2926879"/>
            <a:ext cx="1376273" cy="510045"/>
          </a:xfrm>
          <a:prstGeom prst="roundRect">
            <a:avLst>
              <a:gd name="adj" fmla="val 41626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Retângulo de cantos arredondados 67"/>
          <p:cNvSpPr/>
          <p:nvPr/>
        </p:nvSpPr>
        <p:spPr>
          <a:xfrm>
            <a:off x="6037516" y="3929260"/>
            <a:ext cx="1303296" cy="476450"/>
          </a:xfrm>
          <a:prstGeom prst="roundRect">
            <a:avLst>
              <a:gd name="adj" fmla="val 41626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4043199" y="3903423"/>
            <a:ext cx="11332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Componente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conexo</a:t>
            </a:r>
          </a:p>
        </p:txBody>
      </p:sp>
      <p:cxnSp>
        <p:nvCxnSpPr>
          <p:cNvPr id="24" name="Conector de seta reta 23"/>
          <p:cNvCxnSpPr>
            <a:stCxn id="16" idx="0"/>
          </p:cNvCxnSpPr>
          <p:nvPr/>
        </p:nvCxnSpPr>
        <p:spPr>
          <a:xfrm flipV="1">
            <a:off x="4609829" y="3650370"/>
            <a:ext cx="314906" cy="253053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/>
          <p:cNvSpPr txBox="1"/>
          <p:nvPr/>
        </p:nvSpPr>
        <p:spPr>
          <a:xfrm>
            <a:off x="7687213" y="3632956"/>
            <a:ext cx="11332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Componente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conexo</a:t>
            </a:r>
          </a:p>
        </p:txBody>
      </p:sp>
      <p:cxnSp>
        <p:nvCxnSpPr>
          <p:cNvPr id="70" name="Conector de seta reta 69"/>
          <p:cNvCxnSpPr/>
          <p:nvPr/>
        </p:nvCxnSpPr>
        <p:spPr>
          <a:xfrm flipH="1">
            <a:off x="7424573" y="4068351"/>
            <a:ext cx="439620" cy="129286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de seta reta 70"/>
          <p:cNvCxnSpPr/>
          <p:nvPr/>
        </p:nvCxnSpPr>
        <p:spPr>
          <a:xfrm flipH="1" flipV="1">
            <a:off x="7682509" y="3469722"/>
            <a:ext cx="359576" cy="163234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/>
          <p:cNvSpPr txBox="1"/>
          <p:nvPr/>
        </p:nvSpPr>
        <p:spPr>
          <a:xfrm>
            <a:off x="395536" y="1203960"/>
            <a:ext cx="842493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não direcionado, seus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componentes conexos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são os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maximais que são conexos.</a:t>
            </a: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maximal conexo é um dos maiores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(em número de vértices e arestas) que também seja conexo.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2026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Subjacente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seu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grafo subjacente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 = (V, E’) é grafo não direcionado obtido pela troca de cada aresta por outra não direcionada.</a:t>
            </a:r>
          </a:p>
        </p:txBody>
      </p:sp>
      <p:sp>
        <p:nvSpPr>
          <p:cNvPr id="6" name="Elipse 5"/>
          <p:cNvSpPr/>
          <p:nvPr/>
        </p:nvSpPr>
        <p:spPr>
          <a:xfrm>
            <a:off x="1947890" y="2132091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1084227" y="2795028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1981587" y="3329045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1466184" y="4017269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0" name="Elipse 9"/>
          <p:cNvSpPr/>
          <p:nvPr/>
        </p:nvSpPr>
        <p:spPr>
          <a:xfrm>
            <a:off x="2946999" y="4141549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1" name="Elipse 10"/>
          <p:cNvSpPr/>
          <p:nvPr/>
        </p:nvSpPr>
        <p:spPr>
          <a:xfrm>
            <a:off x="2716902" y="2907511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3391430" y="2411307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3" name="Elipse 12"/>
          <p:cNvSpPr/>
          <p:nvPr/>
        </p:nvSpPr>
        <p:spPr>
          <a:xfrm>
            <a:off x="3618521" y="3408582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4" name="Conector de seta reta 13"/>
          <p:cNvCxnSpPr>
            <a:stCxn id="7" idx="7"/>
            <a:endCxn id="6" idx="3"/>
          </p:cNvCxnSpPr>
          <p:nvPr/>
        </p:nvCxnSpPr>
        <p:spPr>
          <a:xfrm flipV="1">
            <a:off x="1280627" y="2324111"/>
            <a:ext cx="700960" cy="50386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4"/>
            <a:endCxn id="9" idx="1"/>
          </p:cNvCxnSpPr>
          <p:nvPr/>
        </p:nvCxnSpPr>
        <p:spPr>
          <a:xfrm>
            <a:off x="1199276" y="3019993"/>
            <a:ext cx="300605" cy="103022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8" idx="5"/>
            <a:endCxn id="10" idx="1"/>
          </p:cNvCxnSpPr>
          <p:nvPr/>
        </p:nvCxnSpPr>
        <p:spPr>
          <a:xfrm>
            <a:off x="2177987" y="3521065"/>
            <a:ext cx="802709" cy="65342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6" idx="6"/>
            <a:endCxn id="12" idx="1"/>
          </p:cNvCxnSpPr>
          <p:nvPr/>
        </p:nvCxnSpPr>
        <p:spPr>
          <a:xfrm>
            <a:off x="2177987" y="2244574"/>
            <a:ext cx="1247140" cy="19967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  <a:endCxn id="10" idx="2"/>
          </p:cNvCxnSpPr>
          <p:nvPr/>
        </p:nvCxnSpPr>
        <p:spPr>
          <a:xfrm>
            <a:off x="1696281" y="4129752"/>
            <a:ext cx="1250718" cy="12428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10" idx="7"/>
            <a:endCxn id="13" idx="3"/>
          </p:cNvCxnSpPr>
          <p:nvPr/>
        </p:nvCxnSpPr>
        <p:spPr>
          <a:xfrm flipV="1">
            <a:off x="3143399" y="3600602"/>
            <a:ext cx="508819" cy="57389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8" idx="7"/>
            <a:endCxn id="11" idx="3"/>
          </p:cNvCxnSpPr>
          <p:nvPr/>
        </p:nvCxnSpPr>
        <p:spPr>
          <a:xfrm flipV="1">
            <a:off x="2177987" y="3099531"/>
            <a:ext cx="572612" cy="26245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7" idx="6"/>
            <a:endCxn id="8" idx="1"/>
          </p:cNvCxnSpPr>
          <p:nvPr/>
        </p:nvCxnSpPr>
        <p:spPr>
          <a:xfrm>
            <a:off x="1314324" y="2907511"/>
            <a:ext cx="700960" cy="45447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6" idx="5"/>
            <a:endCxn id="11" idx="1"/>
          </p:cNvCxnSpPr>
          <p:nvPr/>
        </p:nvCxnSpPr>
        <p:spPr>
          <a:xfrm>
            <a:off x="2144290" y="2324111"/>
            <a:ext cx="606309" cy="616345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>
            <a:stCxn id="13" idx="0"/>
            <a:endCxn id="12" idx="4"/>
          </p:cNvCxnSpPr>
          <p:nvPr/>
        </p:nvCxnSpPr>
        <p:spPr>
          <a:xfrm flipH="1" flipV="1">
            <a:off x="3506479" y="2636272"/>
            <a:ext cx="227091" cy="77231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>
            <a:stCxn id="13" idx="1"/>
            <a:endCxn id="11" idx="5"/>
          </p:cNvCxnSpPr>
          <p:nvPr/>
        </p:nvCxnSpPr>
        <p:spPr>
          <a:xfrm flipH="1" flipV="1">
            <a:off x="2913302" y="3099531"/>
            <a:ext cx="738916" cy="341996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1035068" y="2008345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26" name="Elipse 25"/>
          <p:cNvSpPr/>
          <p:nvPr/>
        </p:nvSpPr>
        <p:spPr>
          <a:xfrm>
            <a:off x="5965169" y="2132091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27" name="Elipse 26"/>
          <p:cNvSpPr/>
          <p:nvPr/>
        </p:nvSpPr>
        <p:spPr>
          <a:xfrm>
            <a:off x="5101506" y="2795028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28" name="Elipse 27"/>
          <p:cNvSpPr/>
          <p:nvPr/>
        </p:nvSpPr>
        <p:spPr>
          <a:xfrm>
            <a:off x="5998866" y="3329045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29" name="Elipse 28"/>
          <p:cNvSpPr/>
          <p:nvPr/>
        </p:nvSpPr>
        <p:spPr>
          <a:xfrm>
            <a:off x="5483463" y="4017269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30" name="Elipse 29"/>
          <p:cNvSpPr/>
          <p:nvPr/>
        </p:nvSpPr>
        <p:spPr>
          <a:xfrm>
            <a:off x="6964278" y="4141549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31" name="Elipse 30"/>
          <p:cNvSpPr/>
          <p:nvPr/>
        </p:nvSpPr>
        <p:spPr>
          <a:xfrm>
            <a:off x="6734181" y="2907511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32" name="Elipse 31"/>
          <p:cNvSpPr/>
          <p:nvPr/>
        </p:nvSpPr>
        <p:spPr>
          <a:xfrm>
            <a:off x="7408709" y="2411307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33" name="Elipse 32"/>
          <p:cNvSpPr/>
          <p:nvPr/>
        </p:nvSpPr>
        <p:spPr>
          <a:xfrm>
            <a:off x="7635800" y="3408582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34" name="Conector de seta reta 33"/>
          <p:cNvCxnSpPr>
            <a:stCxn id="27" idx="7"/>
            <a:endCxn id="26" idx="3"/>
          </p:cNvCxnSpPr>
          <p:nvPr/>
        </p:nvCxnSpPr>
        <p:spPr>
          <a:xfrm flipV="1">
            <a:off x="5297906" y="2324111"/>
            <a:ext cx="700960" cy="50386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27" idx="4"/>
            <a:endCxn id="29" idx="1"/>
          </p:cNvCxnSpPr>
          <p:nvPr/>
        </p:nvCxnSpPr>
        <p:spPr>
          <a:xfrm>
            <a:off x="5216555" y="3019993"/>
            <a:ext cx="300605" cy="103022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/>
          <p:cNvCxnSpPr>
            <a:stCxn id="28" idx="5"/>
            <a:endCxn id="30" idx="1"/>
          </p:cNvCxnSpPr>
          <p:nvPr/>
        </p:nvCxnSpPr>
        <p:spPr>
          <a:xfrm>
            <a:off x="6195266" y="3521065"/>
            <a:ext cx="802709" cy="65342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>
            <a:stCxn id="26" idx="6"/>
            <a:endCxn id="32" idx="1"/>
          </p:cNvCxnSpPr>
          <p:nvPr/>
        </p:nvCxnSpPr>
        <p:spPr>
          <a:xfrm>
            <a:off x="6195266" y="2244574"/>
            <a:ext cx="1247140" cy="19967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29" idx="6"/>
            <a:endCxn id="30" idx="2"/>
          </p:cNvCxnSpPr>
          <p:nvPr/>
        </p:nvCxnSpPr>
        <p:spPr>
          <a:xfrm>
            <a:off x="5713560" y="4129752"/>
            <a:ext cx="1250718" cy="124280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30" idx="7"/>
            <a:endCxn id="33" idx="3"/>
          </p:cNvCxnSpPr>
          <p:nvPr/>
        </p:nvCxnSpPr>
        <p:spPr>
          <a:xfrm flipV="1">
            <a:off x="7160678" y="3600602"/>
            <a:ext cx="508819" cy="57389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>
            <a:stCxn id="28" idx="7"/>
            <a:endCxn id="31" idx="3"/>
          </p:cNvCxnSpPr>
          <p:nvPr/>
        </p:nvCxnSpPr>
        <p:spPr>
          <a:xfrm flipV="1">
            <a:off x="6195266" y="3099531"/>
            <a:ext cx="572612" cy="26245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>
            <a:stCxn id="27" idx="6"/>
            <a:endCxn id="28" idx="1"/>
          </p:cNvCxnSpPr>
          <p:nvPr/>
        </p:nvCxnSpPr>
        <p:spPr>
          <a:xfrm>
            <a:off x="5331603" y="2907511"/>
            <a:ext cx="700960" cy="45447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26" idx="5"/>
            <a:endCxn id="31" idx="1"/>
          </p:cNvCxnSpPr>
          <p:nvPr/>
        </p:nvCxnSpPr>
        <p:spPr>
          <a:xfrm>
            <a:off x="6161569" y="2324111"/>
            <a:ext cx="606309" cy="61634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>
            <a:stCxn id="33" idx="0"/>
            <a:endCxn id="32" idx="4"/>
          </p:cNvCxnSpPr>
          <p:nvPr/>
        </p:nvCxnSpPr>
        <p:spPr>
          <a:xfrm flipH="1" flipV="1">
            <a:off x="7523758" y="2636272"/>
            <a:ext cx="227091" cy="772310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>
            <a:stCxn id="33" idx="1"/>
            <a:endCxn id="31" idx="5"/>
          </p:cNvCxnSpPr>
          <p:nvPr/>
        </p:nvCxnSpPr>
        <p:spPr>
          <a:xfrm flipH="1" flipV="1">
            <a:off x="6930581" y="3099531"/>
            <a:ext cx="738916" cy="341996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/>
          <p:cNvSpPr txBox="1"/>
          <p:nvPr/>
        </p:nvSpPr>
        <p:spPr>
          <a:xfrm>
            <a:off x="5026699" y="2008345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7445984" y="3819027"/>
            <a:ext cx="10413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Grafo subjacente</a:t>
            </a:r>
          </a:p>
        </p:txBody>
      </p:sp>
    </p:spTree>
    <p:extLst>
      <p:ext uri="{BB962C8B-B14F-4D97-AF65-F5344CB8AC3E}">
        <p14:creationId xmlns:p14="http://schemas.microsoft.com/office/powerpoint/2010/main" val="2448913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5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45" grpId="0"/>
      <p:bldP spid="4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Conectividade – Grafo Direcionado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ele é considerado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conexo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quando seu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subjacente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G’ for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conexo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4" name="Elipse 3"/>
          <p:cNvSpPr/>
          <p:nvPr/>
        </p:nvSpPr>
        <p:spPr>
          <a:xfrm>
            <a:off x="1679750" y="256728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1106184" y="302481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679749" y="347494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249451" y="303578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9" name="Conector de seta reta 8"/>
          <p:cNvCxnSpPr>
            <a:stCxn id="6" idx="7"/>
            <a:endCxn id="4" idx="3"/>
          </p:cNvCxnSpPr>
          <p:nvPr/>
        </p:nvCxnSpPr>
        <p:spPr>
          <a:xfrm flipV="1">
            <a:off x="1302584" y="2759301"/>
            <a:ext cx="410863" cy="29846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7" idx="7"/>
            <a:endCxn id="8" idx="3"/>
          </p:cNvCxnSpPr>
          <p:nvPr/>
        </p:nvCxnSpPr>
        <p:spPr>
          <a:xfrm flipV="1">
            <a:off x="1876149" y="3227807"/>
            <a:ext cx="406999" cy="2800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6" idx="5"/>
            <a:endCxn id="7" idx="1"/>
          </p:cNvCxnSpPr>
          <p:nvPr/>
        </p:nvCxnSpPr>
        <p:spPr>
          <a:xfrm>
            <a:off x="1302584" y="3216837"/>
            <a:ext cx="410862" cy="29105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4" idx="5"/>
            <a:endCxn id="8" idx="1"/>
          </p:cNvCxnSpPr>
          <p:nvPr/>
        </p:nvCxnSpPr>
        <p:spPr>
          <a:xfrm>
            <a:off x="1876150" y="2759301"/>
            <a:ext cx="406998" cy="3094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058385" y="243094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4" name="Elipse 13"/>
          <p:cNvSpPr/>
          <p:nvPr/>
        </p:nvSpPr>
        <p:spPr>
          <a:xfrm>
            <a:off x="4313081" y="256728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15" name="Elipse 14"/>
          <p:cNvSpPr/>
          <p:nvPr/>
        </p:nvSpPr>
        <p:spPr>
          <a:xfrm>
            <a:off x="3739515" y="302481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16" name="Elipse 15"/>
          <p:cNvSpPr/>
          <p:nvPr/>
        </p:nvSpPr>
        <p:spPr>
          <a:xfrm>
            <a:off x="4313080" y="347494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17" name="Elipse 16"/>
          <p:cNvSpPr/>
          <p:nvPr/>
        </p:nvSpPr>
        <p:spPr>
          <a:xfrm>
            <a:off x="4882782" y="303578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18" name="Conector de seta reta 17"/>
          <p:cNvCxnSpPr>
            <a:stCxn id="15" idx="7"/>
            <a:endCxn id="14" idx="3"/>
          </p:cNvCxnSpPr>
          <p:nvPr/>
        </p:nvCxnSpPr>
        <p:spPr>
          <a:xfrm flipV="1">
            <a:off x="3935915" y="2759301"/>
            <a:ext cx="410863" cy="29846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16" idx="7"/>
            <a:endCxn id="17" idx="3"/>
          </p:cNvCxnSpPr>
          <p:nvPr/>
        </p:nvCxnSpPr>
        <p:spPr>
          <a:xfrm flipV="1">
            <a:off x="4509480" y="3227807"/>
            <a:ext cx="406999" cy="2800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15" idx="5"/>
            <a:endCxn id="16" idx="1"/>
          </p:cNvCxnSpPr>
          <p:nvPr/>
        </p:nvCxnSpPr>
        <p:spPr>
          <a:xfrm>
            <a:off x="3935915" y="3216837"/>
            <a:ext cx="410862" cy="29105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14" idx="5"/>
            <a:endCxn id="17" idx="1"/>
          </p:cNvCxnSpPr>
          <p:nvPr/>
        </p:nvCxnSpPr>
        <p:spPr>
          <a:xfrm>
            <a:off x="4509481" y="2759301"/>
            <a:ext cx="406998" cy="30943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3666068" y="2430949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</a:p>
        </p:txBody>
      </p:sp>
      <p:sp>
        <p:nvSpPr>
          <p:cNvPr id="3" name="Seta para a direita 2"/>
          <p:cNvSpPr/>
          <p:nvPr/>
        </p:nvSpPr>
        <p:spPr>
          <a:xfrm>
            <a:off x="2894517" y="2981305"/>
            <a:ext cx="467832" cy="311988"/>
          </a:xfrm>
          <a:prstGeom prst="rightArrow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/>
          <p:cNvSpPr txBox="1"/>
          <p:nvPr/>
        </p:nvSpPr>
        <p:spPr>
          <a:xfrm>
            <a:off x="2607734" y="3417035"/>
            <a:ext cx="10413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Grafo subjacente</a:t>
            </a:r>
          </a:p>
        </p:txBody>
      </p:sp>
      <p:sp>
        <p:nvSpPr>
          <p:cNvPr id="24" name="Seta para a direita 23"/>
          <p:cNvSpPr/>
          <p:nvPr/>
        </p:nvSpPr>
        <p:spPr>
          <a:xfrm>
            <a:off x="5531712" y="2988976"/>
            <a:ext cx="467832" cy="311988"/>
          </a:xfrm>
          <a:prstGeom prst="rightArrow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/>
          <p:cNvSpPr txBox="1"/>
          <p:nvPr/>
        </p:nvSpPr>
        <p:spPr>
          <a:xfrm>
            <a:off x="5244929" y="3424706"/>
            <a:ext cx="10141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Como G’ é conexo</a:t>
            </a:r>
          </a:p>
        </p:txBody>
      </p:sp>
      <p:sp>
        <p:nvSpPr>
          <p:cNvPr id="26" name="Retângulo de cantos arredondados 25"/>
          <p:cNvSpPr/>
          <p:nvPr/>
        </p:nvSpPr>
        <p:spPr>
          <a:xfrm>
            <a:off x="6418377" y="2810441"/>
            <a:ext cx="1779182" cy="682698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 é conexo</a:t>
            </a:r>
          </a:p>
        </p:txBody>
      </p:sp>
    </p:spTree>
    <p:extLst>
      <p:ext uri="{BB962C8B-B14F-4D97-AF65-F5344CB8AC3E}">
        <p14:creationId xmlns:p14="http://schemas.microsoft.com/office/powerpoint/2010/main" val="2928478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3" grpId="0"/>
      <p:bldP spid="14" grpId="0" animBg="1"/>
      <p:bldP spid="15" grpId="0" animBg="1"/>
      <p:bldP spid="16" grpId="0" animBg="1"/>
      <p:bldP spid="17" grpId="0" animBg="1"/>
      <p:bldP spid="22" grpId="0"/>
      <p:bldP spid="3" grpId="0" animBg="1"/>
      <p:bldP spid="23" grpId="0"/>
      <p:bldP spid="24" grpId="0" animBg="1"/>
      <p:bldP spid="25" grpId="0"/>
      <p:bldP spid="2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Conectividade – Grafo Direcionado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ele é considerado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desconexo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quando seu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subjacente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G’ for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desconexo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4" name="Elipse 3"/>
          <p:cNvSpPr/>
          <p:nvPr/>
        </p:nvSpPr>
        <p:spPr>
          <a:xfrm>
            <a:off x="1679750" y="256728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1106184" y="302481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679749" y="347494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249451" y="303578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9" name="Conector de seta reta 8"/>
          <p:cNvCxnSpPr>
            <a:stCxn id="6" idx="7"/>
            <a:endCxn id="4" idx="3"/>
          </p:cNvCxnSpPr>
          <p:nvPr/>
        </p:nvCxnSpPr>
        <p:spPr>
          <a:xfrm flipV="1">
            <a:off x="1302584" y="2759301"/>
            <a:ext cx="410863" cy="29846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6" idx="5"/>
            <a:endCxn id="7" idx="1"/>
          </p:cNvCxnSpPr>
          <p:nvPr/>
        </p:nvCxnSpPr>
        <p:spPr>
          <a:xfrm>
            <a:off x="1302584" y="3216837"/>
            <a:ext cx="410862" cy="29105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058385" y="243094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4" name="Elipse 13"/>
          <p:cNvSpPr/>
          <p:nvPr/>
        </p:nvSpPr>
        <p:spPr>
          <a:xfrm>
            <a:off x="4313081" y="256728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15" name="Elipse 14"/>
          <p:cNvSpPr/>
          <p:nvPr/>
        </p:nvSpPr>
        <p:spPr>
          <a:xfrm>
            <a:off x="3739515" y="302481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16" name="Elipse 15"/>
          <p:cNvSpPr/>
          <p:nvPr/>
        </p:nvSpPr>
        <p:spPr>
          <a:xfrm>
            <a:off x="4313080" y="347494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17" name="Elipse 16"/>
          <p:cNvSpPr/>
          <p:nvPr/>
        </p:nvSpPr>
        <p:spPr>
          <a:xfrm>
            <a:off x="4882782" y="303578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18" name="Conector de seta reta 17"/>
          <p:cNvCxnSpPr>
            <a:stCxn id="15" idx="7"/>
            <a:endCxn id="14" idx="3"/>
          </p:cNvCxnSpPr>
          <p:nvPr/>
        </p:nvCxnSpPr>
        <p:spPr>
          <a:xfrm flipV="1">
            <a:off x="3935915" y="2759301"/>
            <a:ext cx="410863" cy="29846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15" idx="5"/>
            <a:endCxn id="16" idx="1"/>
          </p:cNvCxnSpPr>
          <p:nvPr/>
        </p:nvCxnSpPr>
        <p:spPr>
          <a:xfrm>
            <a:off x="3935915" y="3216837"/>
            <a:ext cx="410862" cy="29105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3666068" y="2430949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</a:p>
        </p:txBody>
      </p:sp>
      <p:sp>
        <p:nvSpPr>
          <p:cNvPr id="3" name="Seta para a direita 2"/>
          <p:cNvSpPr/>
          <p:nvPr/>
        </p:nvSpPr>
        <p:spPr>
          <a:xfrm>
            <a:off x="2894517" y="2981305"/>
            <a:ext cx="467832" cy="311988"/>
          </a:xfrm>
          <a:prstGeom prst="rightArrow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/>
          <p:cNvSpPr txBox="1"/>
          <p:nvPr/>
        </p:nvSpPr>
        <p:spPr>
          <a:xfrm>
            <a:off x="2607734" y="3417035"/>
            <a:ext cx="10413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Grafo subjacente</a:t>
            </a:r>
          </a:p>
        </p:txBody>
      </p:sp>
      <p:sp>
        <p:nvSpPr>
          <p:cNvPr id="24" name="Seta para a direita 23"/>
          <p:cNvSpPr/>
          <p:nvPr/>
        </p:nvSpPr>
        <p:spPr>
          <a:xfrm>
            <a:off x="5531712" y="2988976"/>
            <a:ext cx="467832" cy="311988"/>
          </a:xfrm>
          <a:prstGeom prst="rightArrow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/>
          <p:cNvSpPr txBox="1"/>
          <p:nvPr/>
        </p:nvSpPr>
        <p:spPr>
          <a:xfrm>
            <a:off x="5244929" y="3424706"/>
            <a:ext cx="10141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Como G’ é desconexo</a:t>
            </a:r>
          </a:p>
        </p:txBody>
      </p:sp>
      <p:sp>
        <p:nvSpPr>
          <p:cNvPr id="26" name="Retângulo de cantos arredondados 25"/>
          <p:cNvSpPr/>
          <p:nvPr/>
        </p:nvSpPr>
        <p:spPr>
          <a:xfrm>
            <a:off x="6418377" y="2810441"/>
            <a:ext cx="1779182" cy="682698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 é desconexo</a:t>
            </a:r>
          </a:p>
        </p:txBody>
      </p:sp>
    </p:spTree>
    <p:extLst>
      <p:ext uri="{BB962C8B-B14F-4D97-AF65-F5344CB8AC3E}">
        <p14:creationId xmlns:p14="http://schemas.microsoft.com/office/powerpoint/2010/main" val="343022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3" grpId="0"/>
      <p:bldP spid="14" grpId="0" animBg="1"/>
      <p:bldP spid="15" grpId="0" animBg="1"/>
      <p:bldP spid="16" grpId="0" animBg="1"/>
      <p:bldP spid="17" grpId="0" animBg="1"/>
      <p:bldP spid="22" grpId="0"/>
      <p:bldP spid="3" grpId="0" animBg="1"/>
      <p:bldP spid="23" grpId="0"/>
      <p:bldP spid="24" grpId="0" animBg="1"/>
      <p:bldP spid="25" grpId="0"/>
      <p:bldP spid="2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Conectividade – Grafo Direcionado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conexo pode ser ainda classificado como:</a:t>
            </a:r>
          </a:p>
        </p:txBody>
      </p:sp>
      <p:graphicFrame>
        <p:nvGraphicFramePr>
          <p:cNvPr id="27" name="Diagrama 26"/>
          <p:cNvGraphicFramePr/>
          <p:nvPr/>
        </p:nvGraphicFramePr>
        <p:xfrm>
          <a:off x="5871710" y="1825442"/>
          <a:ext cx="2948762" cy="2381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8" name="Retângulo 27"/>
          <p:cNvSpPr/>
          <p:nvPr/>
        </p:nvSpPr>
        <p:spPr>
          <a:xfrm>
            <a:off x="395536" y="1739039"/>
            <a:ext cx="538857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Simplesmente Conexo (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S-Conexo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): quando o grafo subjacente for conexo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Semifortemente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Conexo (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SF-Conexo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): quando para todo par de vértices pelo menos um deles é alcançável a partir do outro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Fortemente Conexo (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F-Conexo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): quando todos os vértices são mutuamente alcançáveis</a:t>
            </a:r>
          </a:p>
        </p:txBody>
      </p:sp>
    </p:spTree>
    <p:extLst>
      <p:ext uri="{BB962C8B-B14F-4D97-AF65-F5344CB8AC3E}">
        <p14:creationId xmlns:p14="http://schemas.microsoft.com/office/powerpoint/2010/main" val="145840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7" grpId="0">
        <p:bldAsOne/>
      </p:bldGraphic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Conectividade – Grafo Direcionado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conexo pode ser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s-conexo mas não ser </a:t>
            </a:r>
            <a:r>
              <a:rPr lang="pt-BR" sz="2000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sf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-conexo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4" name="Elipse 3"/>
          <p:cNvSpPr/>
          <p:nvPr/>
        </p:nvSpPr>
        <p:spPr>
          <a:xfrm>
            <a:off x="1679750" y="191515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1106184" y="237268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679749" y="282281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249451" y="238365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9" name="Conector de seta reta 8"/>
          <p:cNvCxnSpPr>
            <a:stCxn id="6" idx="7"/>
            <a:endCxn id="4" idx="3"/>
          </p:cNvCxnSpPr>
          <p:nvPr/>
        </p:nvCxnSpPr>
        <p:spPr>
          <a:xfrm flipV="1">
            <a:off x="1302584" y="2107170"/>
            <a:ext cx="410863" cy="29846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7" idx="7"/>
            <a:endCxn id="8" idx="3"/>
          </p:cNvCxnSpPr>
          <p:nvPr/>
        </p:nvCxnSpPr>
        <p:spPr>
          <a:xfrm flipV="1">
            <a:off x="1876149" y="2575676"/>
            <a:ext cx="406999" cy="2800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6" idx="5"/>
            <a:endCxn id="7" idx="1"/>
          </p:cNvCxnSpPr>
          <p:nvPr/>
        </p:nvCxnSpPr>
        <p:spPr>
          <a:xfrm>
            <a:off x="1302584" y="2564706"/>
            <a:ext cx="410862" cy="29105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4" idx="5"/>
            <a:endCxn id="8" idx="1"/>
          </p:cNvCxnSpPr>
          <p:nvPr/>
        </p:nvCxnSpPr>
        <p:spPr>
          <a:xfrm>
            <a:off x="1876150" y="2107170"/>
            <a:ext cx="406998" cy="3094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058385" y="17788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4" name="Elipse 13"/>
          <p:cNvSpPr/>
          <p:nvPr/>
        </p:nvSpPr>
        <p:spPr>
          <a:xfrm>
            <a:off x="4313081" y="191515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15" name="Elipse 14"/>
          <p:cNvSpPr/>
          <p:nvPr/>
        </p:nvSpPr>
        <p:spPr>
          <a:xfrm>
            <a:off x="3739515" y="237268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16" name="Elipse 15"/>
          <p:cNvSpPr/>
          <p:nvPr/>
        </p:nvSpPr>
        <p:spPr>
          <a:xfrm>
            <a:off x="4313080" y="282281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17" name="Elipse 16"/>
          <p:cNvSpPr/>
          <p:nvPr/>
        </p:nvSpPr>
        <p:spPr>
          <a:xfrm>
            <a:off x="4882782" y="238365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18" name="Conector de seta reta 17"/>
          <p:cNvCxnSpPr>
            <a:stCxn id="15" idx="7"/>
            <a:endCxn id="14" idx="3"/>
          </p:cNvCxnSpPr>
          <p:nvPr/>
        </p:nvCxnSpPr>
        <p:spPr>
          <a:xfrm flipV="1">
            <a:off x="3935915" y="2107170"/>
            <a:ext cx="410863" cy="29846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16" idx="7"/>
            <a:endCxn id="17" idx="3"/>
          </p:cNvCxnSpPr>
          <p:nvPr/>
        </p:nvCxnSpPr>
        <p:spPr>
          <a:xfrm flipV="1">
            <a:off x="4509480" y="2575676"/>
            <a:ext cx="406999" cy="2800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15" idx="5"/>
            <a:endCxn id="16" idx="1"/>
          </p:cNvCxnSpPr>
          <p:nvPr/>
        </p:nvCxnSpPr>
        <p:spPr>
          <a:xfrm>
            <a:off x="3935915" y="2564706"/>
            <a:ext cx="410862" cy="29105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14" idx="5"/>
            <a:endCxn id="17" idx="1"/>
          </p:cNvCxnSpPr>
          <p:nvPr/>
        </p:nvCxnSpPr>
        <p:spPr>
          <a:xfrm>
            <a:off x="4509481" y="2107170"/>
            <a:ext cx="406998" cy="30943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3666068" y="1778818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</a:p>
        </p:txBody>
      </p:sp>
      <p:sp>
        <p:nvSpPr>
          <p:cNvPr id="3" name="Seta para a direita 2"/>
          <p:cNvSpPr/>
          <p:nvPr/>
        </p:nvSpPr>
        <p:spPr>
          <a:xfrm>
            <a:off x="2894517" y="2329174"/>
            <a:ext cx="467832" cy="311988"/>
          </a:xfrm>
          <a:prstGeom prst="rightArrow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/>
          <p:cNvSpPr txBox="1"/>
          <p:nvPr/>
        </p:nvSpPr>
        <p:spPr>
          <a:xfrm>
            <a:off x="2607734" y="2764904"/>
            <a:ext cx="10413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Grafo subjacente</a:t>
            </a:r>
          </a:p>
        </p:txBody>
      </p:sp>
      <p:sp>
        <p:nvSpPr>
          <p:cNvPr id="24" name="Seta para a direita 23"/>
          <p:cNvSpPr/>
          <p:nvPr/>
        </p:nvSpPr>
        <p:spPr>
          <a:xfrm>
            <a:off x="5531712" y="2336845"/>
            <a:ext cx="467832" cy="311988"/>
          </a:xfrm>
          <a:prstGeom prst="rightArrow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/>
          <p:cNvSpPr txBox="1"/>
          <p:nvPr/>
        </p:nvSpPr>
        <p:spPr>
          <a:xfrm>
            <a:off x="5244929" y="2772575"/>
            <a:ext cx="10141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Como G’ é conexo</a:t>
            </a:r>
          </a:p>
        </p:txBody>
      </p:sp>
      <p:sp>
        <p:nvSpPr>
          <p:cNvPr id="26" name="Retângulo de cantos arredondados 25"/>
          <p:cNvSpPr/>
          <p:nvPr/>
        </p:nvSpPr>
        <p:spPr>
          <a:xfrm>
            <a:off x="6418376" y="2158310"/>
            <a:ext cx="1995521" cy="682698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 é s-conexo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2751846" y="3585106"/>
            <a:ext cx="2740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Vértice 2 não alcança o vértice 3 nem o vértice 3 alcança o vértice 2</a:t>
            </a:r>
          </a:p>
        </p:txBody>
      </p:sp>
      <p:sp>
        <p:nvSpPr>
          <p:cNvPr id="28" name="Seta dobrada para cima 27"/>
          <p:cNvSpPr/>
          <p:nvPr/>
        </p:nvSpPr>
        <p:spPr>
          <a:xfrm rot="5400000">
            <a:off x="1862029" y="3173316"/>
            <a:ext cx="701781" cy="998947"/>
          </a:xfrm>
          <a:prstGeom prst="bentUpArrow">
            <a:avLst>
              <a:gd name="adj1" fmla="val 23096"/>
              <a:gd name="adj2" fmla="val 25000"/>
              <a:gd name="adj3" fmla="val 25000"/>
            </a:avLst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Seta para a direita 28"/>
          <p:cNvSpPr/>
          <p:nvPr/>
        </p:nvSpPr>
        <p:spPr>
          <a:xfrm>
            <a:off x="5531712" y="3654524"/>
            <a:ext cx="467832" cy="311988"/>
          </a:xfrm>
          <a:prstGeom prst="rightArrow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de cantos arredondados 29"/>
          <p:cNvSpPr/>
          <p:nvPr/>
        </p:nvSpPr>
        <p:spPr>
          <a:xfrm>
            <a:off x="6418376" y="3475989"/>
            <a:ext cx="1995522" cy="682698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 não é </a:t>
            </a:r>
            <a:r>
              <a:rPr lang="pt-BR" dirty="0" err="1"/>
              <a:t>sf</a:t>
            </a:r>
            <a:r>
              <a:rPr lang="pt-BR" dirty="0"/>
              <a:t>-conexo</a:t>
            </a:r>
          </a:p>
        </p:txBody>
      </p:sp>
    </p:spTree>
    <p:extLst>
      <p:ext uri="{BB962C8B-B14F-4D97-AF65-F5344CB8AC3E}">
        <p14:creationId xmlns:p14="http://schemas.microsoft.com/office/powerpoint/2010/main" val="49980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3" grpId="0"/>
      <p:bldP spid="14" grpId="0" animBg="1"/>
      <p:bldP spid="15" grpId="0" animBg="1"/>
      <p:bldP spid="16" grpId="0" animBg="1"/>
      <p:bldP spid="17" grpId="0" animBg="1"/>
      <p:bldP spid="22" grpId="0"/>
      <p:bldP spid="3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 animBg="1"/>
      <p:bldP spid="3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Conectividade – Grafo Direcionado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conexo pode ser </a:t>
            </a:r>
            <a:r>
              <a:rPr lang="pt-BR" sz="2000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sf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-conexo mas não ser f-conexo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4" name="Elipse 3"/>
          <p:cNvSpPr/>
          <p:nvPr/>
        </p:nvSpPr>
        <p:spPr>
          <a:xfrm>
            <a:off x="1679750" y="191515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1106184" y="237268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679749" y="282281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249451" y="238365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9" name="Conector de seta reta 8"/>
          <p:cNvCxnSpPr>
            <a:stCxn id="6" idx="7"/>
            <a:endCxn id="4" idx="3"/>
          </p:cNvCxnSpPr>
          <p:nvPr/>
        </p:nvCxnSpPr>
        <p:spPr>
          <a:xfrm flipV="1">
            <a:off x="1302584" y="2107170"/>
            <a:ext cx="410863" cy="29846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7" idx="7"/>
            <a:endCxn id="8" idx="3"/>
          </p:cNvCxnSpPr>
          <p:nvPr/>
        </p:nvCxnSpPr>
        <p:spPr>
          <a:xfrm flipV="1">
            <a:off x="1876149" y="2575676"/>
            <a:ext cx="406999" cy="2800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6" idx="5"/>
            <a:endCxn id="7" idx="1"/>
          </p:cNvCxnSpPr>
          <p:nvPr/>
        </p:nvCxnSpPr>
        <p:spPr>
          <a:xfrm>
            <a:off x="1302584" y="2564706"/>
            <a:ext cx="410862" cy="29105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4" idx="5"/>
            <a:endCxn id="8" idx="1"/>
          </p:cNvCxnSpPr>
          <p:nvPr/>
        </p:nvCxnSpPr>
        <p:spPr>
          <a:xfrm>
            <a:off x="1876150" y="2107170"/>
            <a:ext cx="406998" cy="3094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058385" y="17788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3" name="Seta para a direita 2"/>
          <p:cNvSpPr/>
          <p:nvPr/>
        </p:nvSpPr>
        <p:spPr>
          <a:xfrm>
            <a:off x="2894517" y="2329174"/>
            <a:ext cx="467832" cy="311988"/>
          </a:xfrm>
          <a:prstGeom prst="rightArrow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/>
          <p:cNvSpPr txBox="1"/>
          <p:nvPr/>
        </p:nvSpPr>
        <p:spPr>
          <a:xfrm>
            <a:off x="2607734" y="2764904"/>
            <a:ext cx="10413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Pares de vértices</a:t>
            </a:r>
          </a:p>
        </p:txBody>
      </p:sp>
      <p:sp>
        <p:nvSpPr>
          <p:cNvPr id="24" name="Seta para a direita 23"/>
          <p:cNvSpPr/>
          <p:nvPr/>
        </p:nvSpPr>
        <p:spPr>
          <a:xfrm>
            <a:off x="5146158" y="2362834"/>
            <a:ext cx="882168" cy="311988"/>
          </a:xfrm>
          <a:prstGeom prst="rightArrow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/>
          <p:cNvSpPr txBox="1"/>
          <p:nvPr/>
        </p:nvSpPr>
        <p:spPr>
          <a:xfrm>
            <a:off x="4592825" y="2779520"/>
            <a:ext cx="2112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Pelo menos um dos vértices alcança o outro</a:t>
            </a:r>
          </a:p>
        </p:txBody>
      </p:sp>
      <p:sp>
        <p:nvSpPr>
          <p:cNvPr id="26" name="Retângulo de cantos arredondados 25"/>
          <p:cNvSpPr/>
          <p:nvPr/>
        </p:nvSpPr>
        <p:spPr>
          <a:xfrm>
            <a:off x="6418376" y="2158310"/>
            <a:ext cx="1995521" cy="682698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 é </a:t>
            </a:r>
            <a:r>
              <a:rPr lang="pt-BR" dirty="0" err="1"/>
              <a:t>sf</a:t>
            </a:r>
            <a:r>
              <a:rPr lang="pt-BR" dirty="0"/>
              <a:t>-conexo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2593110" y="3447280"/>
            <a:ext cx="31232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Vértice 2 não alcança o vértice 1        nem o vértice 3 alcança os vértices 1 e 2 nem vértice 4 alcança os vértices 1, 2 e 3</a:t>
            </a:r>
          </a:p>
        </p:txBody>
      </p:sp>
      <p:sp>
        <p:nvSpPr>
          <p:cNvPr id="28" name="Seta dobrada para cima 27"/>
          <p:cNvSpPr/>
          <p:nvPr/>
        </p:nvSpPr>
        <p:spPr>
          <a:xfrm rot="5400000">
            <a:off x="1787938" y="3247580"/>
            <a:ext cx="701781" cy="836244"/>
          </a:xfrm>
          <a:prstGeom prst="bentUpArrow">
            <a:avLst>
              <a:gd name="adj1" fmla="val 23096"/>
              <a:gd name="adj2" fmla="val 25000"/>
              <a:gd name="adj3" fmla="val 25000"/>
            </a:avLst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Seta para a direita 28"/>
          <p:cNvSpPr/>
          <p:nvPr/>
        </p:nvSpPr>
        <p:spPr>
          <a:xfrm>
            <a:off x="5794410" y="3694278"/>
            <a:ext cx="467832" cy="311988"/>
          </a:xfrm>
          <a:prstGeom prst="rightArrow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de cantos arredondados 29"/>
          <p:cNvSpPr/>
          <p:nvPr/>
        </p:nvSpPr>
        <p:spPr>
          <a:xfrm>
            <a:off x="6418376" y="3475989"/>
            <a:ext cx="1995522" cy="682698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 não é f-conexo</a:t>
            </a:r>
          </a:p>
        </p:txBody>
      </p:sp>
      <p:cxnSp>
        <p:nvCxnSpPr>
          <p:cNvPr id="31" name="Conector de seta reta 30"/>
          <p:cNvCxnSpPr>
            <a:stCxn id="4" idx="4"/>
            <a:endCxn id="7" idx="0"/>
          </p:cNvCxnSpPr>
          <p:nvPr/>
        </p:nvCxnSpPr>
        <p:spPr>
          <a:xfrm flipH="1">
            <a:off x="1794798" y="2140115"/>
            <a:ext cx="1" cy="6826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3631064" y="2058516"/>
            <a:ext cx="1194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(1,2)    (1,3)</a:t>
            </a:r>
          </a:p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(1,4)    (2,3)</a:t>
            </a:r>
          </a:p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(2,4)    (3,4)</a:t>
            </a:r>
          </a:p>
        </p:txBody>
      </p:sp>
    </p:spTree>
    <p:extLst>
      <p:ext uri="{BB962C8B-B14F-4D97-AF65-F5344CB8AC3E}">
        <p14:creationId xmlns:p14="http://schemas.microsoft.com/office/powerpoint/2010/main" val="194695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3" grpId="0"/>
      <p:bldP spid="3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 animBg="1"/>
      <p:bldP spid="30" grpId="0" animBg="1"/>
      <p:bldP spid="3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Conectividade – Grafo Direcionado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conexo pode ser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f-conexo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4" name="Elipse 3"/>
          <p:cNvSpPr/>
          <p:nvPr/>
        </p:nvSpPr>
        <p:spPr>
          <a:xfrm>
            <a:off x="1637221" y="177359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1063655" y="223112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637220" y="26812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206922" y="224209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9" name="Conector de seta reta 8"/>
          <p:cNvCxnSpPr>
            <a:stCxn id="6" idx="7"/>
            <a:endCxn id="4" idx="3"/>
          </p:cNvCxnSpPr>
          <p:nvPr/>
        </p:nvCxnSpPr>
        <p:spPr>
          <a:xfrm flipV="1">
            <a:off x="1260055" y="1965611"/>
            <a:ext cx="410863" cy="29846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7" idx="7"/>
            <a:endCxn id="8" idx="3"/>
          </p:cNvCxnSpPr>
          <p:nvPr/>
        </p:nvCxnSpPr>
        <p:spPr>
          <a:xfrm flipV="1">
            <a:off x="1833620" y="2434117"/>
            <a:ext cx="406999" cy="280082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6" idx="5"/>
            <a:endCxn id="7" idx="1"/>
          </p:cNvCxnSpPr>
          <p:nvPr/>
        </p:nvCxnSpPr>
        <p:spPr>
          <a:xfrm>
            <a:off x="1260055" y="2423147"/>
            <a:ext cx="410862" cy="291052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4" idx="5"/>
            <a:endCxn id="8" idx="1"/>
          </p:cNvCxnSpPr>
          <p:nvPr/>
        </p:nvCxnSpPr>
        <p:spPr>
          <a:xfrm>
            <a:off x="1833621" y="1965611"/>
            <a:ext cx="406998" cy="3094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015856" y="163725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3" name="Seta para a direita 2"/>
          <p:cNvSpPr/>
          <p:nvPr/>
        </p:nvSpPr>
        <p:spPr>
          <a:xfrm>
            <a:off x="2851988" y="2187615"/>
            <a:ext cx="467832" cy="311988"/>
          </a:xfrm>
          <a:prstGeom prst="rightArrow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/>
          <p:cNvSpPr txBox="1"/>
          <p:nvPr/>
        </p:nvSpPr>
        <p:spPr>
          <a:xfrm>
            <a:off x="2565205" y="2623345"/>
            <a:ext cx="10413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Pares de vértices</a:t>
            </a:r>
          </a:p>
        </p:txBody>
      </p:sp>
      <p:sp>
        <p:nvSpPr>
          <p:cNvPr id="24" name="Seta para a direita 23"/>
          <p:cNvSpPr/>
          <p:nvPr/>
        </p:nvSpPr>
        <p:spPr>
          <a:xfrm>
            <a:off x="5103629" y="2221275"/>
            <a:ext cx="882168" cy="311988"/>
          </a:xfrm>
          <a:prstGeom prst="rightArrow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/>
          <p:cNvSpPr txBox="1"/>
          <p:nvPr/>
        </p:nvSpPr>
        <p:spPr>
          <a:xfrm>
            <a:off x="4550296" y="2637961"/>
            <a:ext cx="2112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Todos os vértices alcançam todos os outros</a:t>
            </a:r>
          </a:p>
        </p:txBody>
      </p:sp>
      <p:sp>
        <p:nvSpPr>
          <p:cNvPr id="26" name="Retângulo de cantos arredondados 25"/>
          <p:cNvSpPr/>
          <p:nvPr/>
        </p:nvSpPr>
        <p:spPr>
          <a:xfrm>
            <a:off x="6375847" y="2016751"/>
            <a:ext cx="1995521" cy="682698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 é f-conexo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3588535" y="1916957"/>
            <a:ext cx="1194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(1,2)    (1,3)</a:t>
            </a:r>
          </a:p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(1,4)    (2,3)</a:t>
            </a:r>
          </a:p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(2,4)    (3,4)</a:t>
            </a:r>
          </a:p>
        </p:txBody>
      </p:sp>
      <p:sp>
        <p:nvSpPr>
          <p:cNvPr id="32" name="Retângulo de cantos arredondados 31"/>
          <p:cNvSpPr/>
          <p:nvPr/>
        </p:nvSpPr>
        <p:spPr>
          <a:xfrm>
            <a:off x="757090" y="3503399"/>
            <a:ext cx="1800432" cy="682698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 é f-conexo</a:t>
            </a:r>
          </a:p>
        </p:txBody>
      </p:sp>
      <p:sp>
        <p:nvSpPr>
          <p:cNvPr id="33" name="Seta para a direita 32"/>
          <p:cNvSpPr/>
          <p:nvPr/>
        </p:nvSpPr>
        <p:spPr>
          <a:xfrm>
            <a:off x="2896442" y="3613957"/>
            <a:ext cx="461154" cy="479532"/>
          </a:xfrm>
          <a:prstGeom prst="rightArrow">
            <a:avLst/>
          </a:prstGeom>
          <a:ln/>
        </p:spPr>
        <p:style>
          <a:lnRef idx="0">
            <a:schemeClr val="accent3"/>
          </a:lnRef>
          <a:fillRef idx="1001">
            <a:schemeClr val="dk2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de cantos arredondados 34"/>
          <p:cNvSpPr/>
          <p:nvPr/>
        </p:nvSpPr>
        <p:spPr>
          <a:xfrm>
            <a:off x="3696517" y="3512374"/>
            <a:ext cx="1800432" cy="682698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 é </a:t>
            </a:r>
            <a:r>
              <a:rPr lang="pt-BR" dirty="0" err="1"/>
              <a:t>sf</a:t>
            </a:r>
            <a:r>
              <a:rPr lang="pt-BR" dirty="0"/>
              <a:t>-conexo</a:t>
            </a:r>
          </a:p>
        </p:txBody>
      </p:sp>
      <p:sp>
        <p:nvSpPr>
          <p:cNvPr id="36" name="Retângulo de cantos arredondados 35"/>
          <p:cNvSpPr/>
          <p:nvPr/>
        </p:nvSpPr>
        <p:spPr>
          <a:xfrm>
            <a:off x="6635944" y="3512374"/>
            <a:ext cx="1800432" cy="682698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 é s-conexo</a:t>
            </a:r>
          </a:p>
        </p:txBody>
      </p:sp>
      <p:sp>
        <p:nvSpPr>
          <p:cNvPr id="38" name="Seta para a direita 37"/>
          <p:cNvSpPr/>
          <p:nvPr/>
        </p:nvSpPr>
        <p:spPr>
          <a:xfrm>
            <a:off x="5831242" y="3613957"/>
            <a:ext cx="461154" cy="479532"/>
          </a:xfrm>
          <a:prstGeom prst="rightArrow">
            <a:avLst/>
          </a:prstGeom>
          <a:ln/>
        </p:spPr>
        <p:style>
          <a:lnRef idx="0">
            <a:schemeClr val="accent3"/>
          </a:lnRef>
          <a:fillRef idx="1001">
            <a:schemeClr val="dk2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617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3" grpId="0"/>
      <p:bldP spid="3" grpId="0" animBg="1"/>
      <p:bldP spid="23" grpId="0"/>
      <p:bldP spid="24" grpId="0" animBg="1"/>
      <p:bldP spid="25" grpId="0"/>
      <p:bldP spid="26" grpId="0" animBg="1"/>
      <p:bldP spid="34" grpId="0"/>
      <p:bldP spid="32" grpId="0" animBg="1"/>
      <p:bldP spid="33" grpId="0" animBg="1"/>
      <p:bldP spid="35" grpId="0" animBg="1"/>
      <p:bldP spid="36" grpId="0" animBg="1"/>
      <p:bldP spid="3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Componente Fortemente Conexo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direcionado, seus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componentes fortemente conexos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são os seus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maximais que são fortemente conexos.</a:t>
            </a:r>
          </a:p>
        </p:txBody>
      </p:sp>
      <p:sp>
        <p:nvSpPr>
          <p:cNvPr id="7" name="Elipse 6"/>
          <p:cNvSpPr/>
          <p:nvPr/>
        </p:nvSpPr>
        <p:spPr>
          <a:xfrm>
            <a:off x="3883016" y="2103738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3202521" y="2760048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9" name="Elipse 8"/>
          <p:cNvSpPr/>
          <p:nvPr/>
        </p:nvSpPr>
        <p:spPr>
          <a:xfrm>
            <a:off x="3889233" y="3300691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10" name="Elipse 9"/>
          <p:cNvSpPr/>
          <p:nvPr/>
        </p:nvSpPr>
        <p:spPr>
          <a:xfrm>
            <a:off x="3320100" y="3955984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1" name="Elipse 10"/>
          <p:cNvSpPr/>
          <p:nvPr/>
        </p:nvSpPr>
        <p:spPr>
          <a:xfrm>
            <a:off x="4749209" y="3955984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2" name="Elipse 11"/>
          <p:cNvSpPr/>
          <p:nvPr/>
        </p:nvSpPr>
        <p:spPr>
          <a:xfrm>
            <a:off x="4487166" y="2680510"/>
            <a:ext cx="262043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4" name="Elipse 13"/>
          <p:cNvSpPr/>
          <p:nvPr/>
        </p:nvSpPr>
        <p:spPr>
          <a:xfrm>
            <a:off x="5532758" y="3380229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5" name="Conector de seta reta 14"/>
          <p:cNvCxnSpPr>
            <a:stCxn id="8" idx="7"/>
            <a:endCxn id="7" idx="3"/>
          </p:cNvCxnSpPr>
          <p:nvPr/>
        </p:nvCxnSpPr>
        <p:spPr>
          <a:xfrm flipV="1">
            <a:off x="3398921" y="2295758"/>
            <a:ext cx="517792" cy="497235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8" idx="4"/>
            <a:endCxn id="10" idx="1"/>
          </p:cNvCxnSpPr>
          <p:nvPr/>
        </p:nvCxnSpPr>
        <p:spPr>
          <a:xfrm>
            <a:off x="3317570" y="2985013"/>
            <a:ext cx="36227" cy="1003916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9" idx="5"/>
            <a:endCxn id="11" idx="1"/>
          </p:cNvCxnSpPr>
          <p:nvPr/>
        </p:nvCxnSpPr>
        <p:spPr>
          <a:xfrm>
            <a:off x="4085633" y="3492711"/>
            <a:ext cx="697273" cy="49621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10" idx="6"/>
            <a:endCxn id="11" idx="2"/>
          </p:cNvCxnSpPr>
          <p:nvPr/>
        </p:nvCxnSpPr>
        <p:spPr>
          <a:xfrm>
            <a:off x="3550197" y="4068467"/>
            <a:ext cx="1199012" cy="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11" idx="0"/>
            <a:endCxn id="14" idx="2"/>
          </p:cNvCxnSpPr>
          <p:nvPr/>
        </p:nvCxnSpPr>
        <p:spPr>
          <a:xfrm rot="5400000" flipH="1" flipV="1">
            <a:off x="4966872" y="3390098"/>
            <a:ext cx="463272" cy="668500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9" idx="7"/>
            <a:endCxn id="12" idx="3"/>
          </p:cNvCxnSpPr>
          <p:nvPr/>
        </p:nvCxnSpPr>
        <p:spPr>
          <a:xfrm flipV="1">
            <a:off x="4085633" y="2872530"/>
            <a:ext cx="439908" cy="461106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8" idx="6"/>
            <a:endCxn id="9" idx="1"/>
          </p:cNvCxnSpPr>
          <p:nvPr/>
        </p:nvCxnSpPr>
        <p:spPr>
          <a:xfrm>
            <a:off x="3432618" y="2872531"/>
            <a:ext cx="490312" cy="461105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>
            <a:stCxn id="7" idx="5"/>
            <a:endCxn id="12" idx="1"/>
          </p:cNvCxnSpPr>
          <p:nvPr/>
        </p:nvCxnSpPr>
        <p:spPr>
          <a:xfrm>
            <a:off x="4079416" y="2295758"/>
            <a:ext cx="446125" cy="417697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stCxn id="14" idx="1"/>
            <a:endCxn id="12" idx="5"/>
          </p:cNvCxnSpPr>
          <p:nvPr/>
        </p:nvCxnSpPr>
        <p:spPr>
          <a:xfrm flipH="1" flipV="1">
            <a:off x="4710834" y="2872530"/>
            <a:ext cx="855621" cy="540644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2970194" y="197999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28" name="Conector de seta reta 19"/>
          <p:cNvCxnSpPr>
            <a:stCxn id="11" idx="6"/>
            <a:endCxn id="14" idx="4"/>
          </p:cNvCxnSpPr>
          <p:nvPr/>
        </p:nvCxnSpPr>
        <p:spPr>
          <a:xfrm flipV="1">
            <a:off x="4979306" y="3605194"/>
            <a:ext cx="668501" cy="463273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tângulo de cantos arredondados 73"/>
          <p:cNvSpPr/>
          <p:nvPr/>
        </p:nvSpPr>
        <p:spPr>
          <a:xfrm rot="2619333">
            <a:off x="3271848" y="2083864"/>
            <a:ext cx="1452431" cy="1498413"/>
          </a:xfrm>
          <a:prstGeom prst="roundRect">
            <a:avLst>
              <a:gd name="adj" fmla="val 22011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CaixaDeTexto 74"/>
          <p:cNvSpPr txBox="1"/>
          <p:nvPr/>
        </p:nvSpPr>
        <p:spPr>
          <a:xfrm>
            <a:off x="1507008" y="2883173"/>
            <a:ext cx="11331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Componente fortemente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conexo</a:t>
            </a:r>
          </a:p>
        </p:txBody>
      </p:sp>
      <p:cxnSp>
        <p:nvCxnSpPr>
          <p:cNvPr id="76" name="Conector de seta reta 75"/>
          <p:cNvCxnSpPr/>
          <p:nvPr/>
        </p:nvCxnSpPr>
        <p:spPr>
          <a:xfrm flipV="1">
            <a:off x="2639874" y="2929848"/>
            <a:ext cx="377354" cy="173235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tângulo de cantos arredondados 98"/>
          <p:cNvSpPr/>
          <p:nvPr/>
        </p:nvSpPr>
        <p:spPr>
          <a:xfrm rot="19706276">
            <a:off x="4457264" y="3440508"/>
            <a:ext cx="1627019" cy="674005"/>
          </a:xfrm>
          <a:prstGeom prst="roundRect">
            <a:avLst>
              <a:gd name="adj" fmla="val 41626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0" name="Conector de seta reta 99"/>
          <p:cNvCxnSpPr/>
          <p:nvPr/>
        </p:nvCxnSpPr>
        <p:spPr>
          <a:xfrm>
            <a:off x="2563328" y="3413173"/>
            <a:ext cx="540343" cy="426035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Elipse 100"/>
          <p:cNvSpPr/>
          <p:nvPr/>
        </p:nvSpPr>
        <p:spPr>
          <a:xfrm>
            <a:off x="3113107" y="3770458"/>
            <a:ext cx="639022" cy="596016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" name="CaixaDeTexto 105"/>
          <p:cNvSpPr txBox="1"/>
          <p:nvPr/>
        </p:nvSpPr>
        <p:spPr>
          <a:xfrm>
            <a:off x="6472708" y="2857601"/>
            <a:ext cx="11331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Componente fortemente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conexo</a:t>
            </a:r>
          </a:p>
        </p:txBody>
      </p:sp>
      <p:cxnSp>
        <p:nvCxnSpPr>
          <p:cNvPr id="107" name="Conector de seta reta 106"/>
          <p:cNvCxnSpPr/>
          <p:nvPr/>
        </p:nvCxnSpPr>
        <p:spPr>
          <a:xfrm flipH="1">
            <a:off x="6095224" y="3252505"/>
            <a:ext cx="433896" cy="16066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624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26" grpId="0"/>
      <p:bldP spid="74" grpId="0" animBg="1"/>
      <p:bldP spid="75" grpId="0"/>
      <p:bldP spid="99" grpId="0" animBg="1"/>
      <p:bldP spid="101" grpId="0" animBg="1"/>
      <p:bldP spid="10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Reverso (ou Transposto) 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reverso do grafo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G (ou grafo transposto de G) – representado por G</a:t>
            </a:r>
            <a:r>
              <a:rPr lang="pt-BR" sz="200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– é o resultado da reversão de todas as suas arestas, isto é se a aresta 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E(G) então a aresta 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E(G</a:t>
            </a:r>
            <a:r>
              <a:rPr lang="pt-BR" sz="200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).</a:t>
            </a:r>
          </a:p>
        </p:txBody>
      </p:sp>
      <p:sp>
        <p:nvSpPr>
          <p:cNvPr id="7" name="Elipse 6"/>
          <p:cNvSpPr/>
          <p:nvPr/>
        </p:nvSpPr>
        <p:spPr>
          <a:xfrm>
            <a:off x="2148001" y="2343369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1467506" y="2999679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9" name="Elipse 8"/>
          <p:cNvSpPr/>
          <p:nvPr/>
        </p:nvSpPr>
        <p:spPr>
          <a:xfrm>
            <a:off x="2154218" y="3540322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10" name="Elipse 9"/>
          <p:cNvSpPr/>
          <p:nvPr/>
        </p:nvSpPr>
        <p:spPr>
          <a:xfrm>
            <a:off x="1585085" y="4195615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1" name="Elipse 10"/>
          <p:cNvSpPr/>
          <p:nvPr/>
        </p:nvSpPr>
        <p:spPr>
          <a:xfrm>
            <a:off x="3014194" y="4195615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2" name="Elipse 11"/>
          <p:cNvSpPr/>
          <p:nvPr/>
        </p:nvSpPr>
        <p:spPr>
          <a:xfrm>
            <a:off x="2752151" y="2920141"/>
            <a:ext cx="262043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4" name="Elipse 13"/>
          <p:cNvSpPr/>
          <p:nvPr/>
        </p:nvSpPr>
        <p:spPr>
          <a:xfrm>
            <a:off x="3797743" y="361986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5" name="Conector de seta reta 14"/>
          <p:cNvCxnSpPr>
            <a:stCxn id="8" idx="7"/>
            <a:endCxn id="7" idx="3"/>
          </p:cNvCxnSpPr>
          <p:nvPr/>
        </p:nvCxnSpPr>
        <p:spPr>
          <a:xfrm flipV="1">
            <a:off x="1663906" y="2535389"/>
            <a:ext cx="517792" cy="497235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8" idx="4"/>
            <a:endCxn id="10" idx="1"/>
          </p:cNvCxnSpPr>
          <p:nvPr/>
        </p:nvCxnSpPr>
        <p:spPr>
          <a:xfrm>
            <a:off x="1582555" y="3224644"/>
            <a:ext cx="36227" cy="1003916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9" idx="5"/>
            <a:endCxn id="11" idx="1"/>
          </p:cNvCxnSpPr>
          <p:nvPr/>
        </p:nvCxnSpPr>
        <p:spPr>
          <a:xfrm>
            <a:off x="2350618" y="3732342"/>
            <a:ext cx="697273" cy="49621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10" idx="6"/>
            <a:endCxn id="11" idx="2"/>
          </p:cNvCxnSpPr>
          <p:nvPr/>
        </p:nvCxnSpPr>
        <p:spPr>
          <a:xfrm>
            <a:off x="1815182" y="4308098"/>
            <a:ext cx="1199012" cy="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11" idx="0"/>
            <a:endCxn id="14" idx="2"/>
          </p:cNvCxnSpPr>
          <p:nvPr/>
        </p:nvCxnSpPr>
        <p:spPr>
          <a:xfrm rot="5400000" flipH="1" flipV="1">
            <a:off x="3231857" y="3629729"/>
            <a:ext cx="463272" cy="668500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9" idx="7"/>
            <a:endCxn id="12" idx="3"/>
          </p:cNvCxnSpPr>
          <p:nvPr/>
        </p:nvCxnSpPr>
        <p:spPr>
          <a:xfrm flipV="1">
            <a:off x="2350618" y="3112161"/>
            <a:ext cx="439908" cy="461106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8" idx="6"/>
            <a:endCxn id="9" idx="1"/>
          </p:cNvCxnSpPr>
          <p:nvPr/>
        </p:nvCxnSpPr>
        <p:spPr>
          <a:xfrm>
            <a:off x="1697603" y="3112162"/>
            <a:ext cx="490312" cy="461105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>
            <a:stCxn id="7" idx="5"/>
            <a:endCxn id="12" idx="1"/>
          </p:cNvCxnSpPr>
          <p:nvPr/>
        </p:nvCxnSpPr>
        <p:spPr>
          <a:xfrm>
            <a:off x="2344401" y="2535389"/>
            <a:ext cx="446125" cy="417697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stCxn id="14" idx="1"/>
            <a:endCxn id="12" idx="5"/>
          </p:cNvCxnSpPr>
          <p:nvPr/>
        </p:nvCxnSpPr>
        <p:spPr>
          <a:xfrm flipH="1" flipV="1">
            <a:off x="2975819" y="3112161"/>
            <a:ext cx="855621" cy="540644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1235178" y="221962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endParaRPr lang="pt-BR" sz="1600" baseline="30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8" name="Conector de seta reta 19"/>
          <p:cNvCxnSpPr>
            <a:stCxn id="11" idx="6"/>
            <a:endCxn id="14" idx="4"/>
          </p:cNvCxnSpPr>
          <p:nvPr/>
        </p:nvCxnSpPr>
        <p:spPr>
          <a:xfrm flipV="1">
            <a:off x="3244291" y="3844825"/>
            <a:ext cx="668501" cy="463273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ipse 29"/>
          <p:cNvSpPr/>
          <p:nvPr/>
        </p:nvSpPr>
        <p:spPr>
          <a:xfrm>
            <a:off x="5958709" y="2343369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31" name="Elipse 30"/>
          <p:cNvSpPr/>
          <p:nvPr/>
        </p:nvSpPr>
        <p:spPr>
          <a:xfrm>
            <a:off x="5278214" y="2999679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32" name="Elipse 31"/>
          <p:cNvSpPr/>
          <p:nvPr/>
        </p:nvSpPr>
        <p:spPr>
          <a:xfrm>
            <a:off x="5964926" y="3540322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33" name="Elipse 32"/>
          <p:cNvSpPr/>
          <p:nvPr/>
        </p:nvSpPr>
        <p:spPr>
          <a:xfrm>
            <a:off x="5395793" y="4195615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34" name="Elipse 33"/>
          <p:cNvSpPr/>
          <p:nvPr/>
        </p:nvSpPr>
        <p:spPr>
          <a:xfrm>
            <a:off x="6824902" y="4195615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35" name="Elipse 34"/>
          <p:cNvSpPr/>
          <p:nvPr/>
        </p:nvSpPr>
        <p:spPr>
          <a:xfrm>
            <a:off x="6562859" y="2920141"/>
            <a:ext cx="262043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36" name="Elipse 35"/>
          <p:cNvSpPr/>
          <p:nvPr/>
        </p:nvSpPr>
        <p:spPr>
          <a:xfrm>
            <a:off x="7608451" y="361986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37" name="Conector de seta reta 36"/>
          <p:cNvCxnSpPr>
            <a:stCxn id="31" idx="7"/>
            <a:endCxn id="30" idx="3"/>
          </p:cNvCxnSpPr>
          <p:nvPr/>
        </p:nvCxnSpPr>
        <p:spPr>
          <a:xfrm flipV="1">
            <a:off x="5474614" y="2535389"/>
            <a:ext cx="517792" cy="497235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31" idx="4"/>
            <a:endCxn id="33" idx="1"/>
          </p:cNvCxnSpPr>
          <p:nvPr/>
        </p:nvCxnSpPr>
        <p:spPr>
          <a:xfrm>
            <a:off x="5393263" y="3224644"/>
            <a:ext cx="36227" cy="1003916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32" idx="5"/>
            <a:endCxn id="34" idx="1"/>
          </p:cNvCxnSpPr>
          <p:nvPr/>
        </p:nvCxnSpPr>
        <p:spPr>
          <a:xfrm>
            <a:off x="6161326" y="3732342"/>
            <a:ext cx="697273" cy="496218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>
            <a:stCxn id="33" idx="6"/>
            <a:endCxn id="34" idx="2"/>
          </p:cNvCxnSpPr>
          <p:nvPr/>
        </p:nvCxnSpPr>
        <p:spPr>
          <a:xfrm>
            <a:off x="5625890" y="4308098"/>
            <a:ext cx="1199012" cy="0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19"/>
          <p:cNvCxnSpPr>
            <a:stCxn id="34" idx="0"/>
            <a:endCxn id="36" idx="2"/>
          </p:cNvCxnSpPr>
          <p:nvPr/>
        </p:nvCxnSpPr>
        <p:spPr>
          <a:xfrm rot="5400000" flipH="1" flipV="1">
            <a:off x="7042565" y="3629729"/>
            <a:ext cx="463272" cy="668500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32" idx="7"/>
            <a:endCxn id="35" idx="3"/>
          </p:cNvCxnSpPr>
          <p:nvPr/>
        </p:nvCxnSpPr>
        <p:spPr>
          <a:xfrm flipV="1">
            <a:off x="6161326" y="3112161"/>
            <a:ext cx="439908" cy="461106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>
            <a:stCxn id="31" idx="6"/>
            <a:endCxn id="32" idx="1"/>
          </p:cNvCxnSpPr>
          <p:nvPr/>
        </p:nvCxnSpPr>
        <p:spPr>
          <a:xfrm>
            <a:off x="5508311" y="3112162"/>
            <a:ext cx="490312" cy="461105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>
            <a:stCxn id="30" idx="5"/>
            <a:endCxn id="35" idx="1"/>
          </p:cNvCxnSpPr>
          <p:nvPr/>
        </p:nvCxnSpPr>
        <p:spPr>
          <a:xfrm>
            <a:off x="6155109" y="2535389"/>
            <a:ext cx="446125" cy="417697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/>
          <p:cNvCxnSpPr>
            <a:stCxn id="36" idx="1"/>
            <a:endCxn id="35" idx="5"/>
          </p:cNvCxnSpPr>
          <p:nvPr/>
        </p:nvCxnSpPr>
        <p:spPr>
          <a:xfrm flipH="1" flipV="1">
            <a:off x="6786527" y="3112161"/>
            <a:ext cx="855621" cy="540644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/>
          <p:cNvSpPr txBox="1"/>
          <p:nvPr/>
        </p:nvSpPr>
        <p:spPr>
          <a:xfrm>
            <a:off x="5009018" y="2219623"/>
            <a:ext cx="388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</a:p>
        </p:txBody>
      </p:sp>
      <p:cxnSp>
        <p:nvCxnSpPr>
          <p:cNvPr id="47" name="Conector de seta reta 19"/>
          <p:cNvCxnSpPr>
            <a:stCxn id="34" idx="6"/>
            <a:endCxn id="36" idx="4"/>
          </p:cNvCxnSpPr>
          <p:nvPr/>
        </p:nvCxnSpPr>
        <p:spPr>
          <a:xfrm flipV="1">
            <a:off x="7054999" y="3844825"/>
            <a:ext cx="668501" cy="463273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094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26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4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</a:t>
            </a:r>
            <a:r>
              <a:rPr lang="pt-BR" dirty="0" err="1"/>
              <a:t>Kosaraju</a:t>
            </a:r>
            <a:r>
              <a:rPr lang="pt-BR" dirty="0"/>
              <a:t> – Algoritmo 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89746" y="1203959"/>
            <a:ext cx="850273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Fazer busca em profundidade em G	        </a:t>
            </a:r>
            <a:r>
              <a:rPr lang="pt-BR" sz="1600" dirty="0">
                <a:solidFill>
                  <a:srgbClr val="0070C0"/>
                </a:solidFill>
                <a:sym typeface="Symbol" panose="05050102010706020507" pitchFamily="18" charset="2"/>
              </a:rPr>
              <a:t>// Salvar tempos de término (TT)</a:t>
            </a:r>
            <a:endParaRPr lang="pt-BR" sz="20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Construir o grafo G</a:t>
            </a:r>
            <a:r>
              <a:rPr lang="pt-BR" sz="200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			        </a:t>
            </a:r>
            <a:r>
              <a:rPr lang="pt-BR" sz="1600" dirty="0">
                <a:solidFill>
                  <a:srgbClr val="0070C0"/>
                </a:solidFill>
                <a:sym typeface="Symbol" panose="05050102010706020507" pitchFamily="18" charset="2"/>
              </a:rPr>
              <a:t>// Gerar reverso do grafo G</a:t>
            </a:r>
            <a:endParaRPr lang="pt-BR" sz="2000" dirty="0">
              <a:solidFill>
                <a:srgbClr val="0070C0"/>
              </a:solidFill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Fazer busca em profundidade em G</a:t>
            </a:r>
            <a:r>
              <a:rPr lang="pt-BR" sz="200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em ordem decrescente de TT</a:t>
            </a:r>
          </a:p>
        </p:txBody>
      </p:sp>
      <p:sp>
        <p:nvSpPr>
          <p:cNvPr id="4" name="Seta para a direita 3"/>
          <p:cNvSpPr/>
          <p:nvPr/>
        </p:nvSpPr>
        <p:spPr>
          <a:xfrm rot="5400000">
            <a:off x="4371547" y="2550550"/>
            <a:ext cx="546929" cy="573313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de cantos arredondados 4"/>
          <p:cNvSpPr/>
          <p:nvPr/>
        </p:nvSpPr>
        <p:spPr>
          <a:xfrm>
            <a:off x="2715730" y="3236805"/>
            <a:ext cx="3772969" cy="1138642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Cada árvore da floresta de profundidade corresponde a um componente f-conexo</a:t>
            </a:r>
          </a:p>
        </p:txBody>
      </p:sp>
    </p:spTree>
    <p:extLst>
      <p:ext uri="{BB962C8B-B14F-4D97-AF65-F5344CB8AC3E}">
        <p14:creationId xmlns:p14="http://schemas.microsoft.com/office/powerpoint/2010/main" val="67383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de cantos arredondados 6"/>
          <p:cNvSpPr/>
          <p:nvPr/>
        </p:nvSpPr>
        <p:spPr>
          <a:xfrm>
            <a:off x="389746" y="1203959"/>
            <a:ext cx="8027861" cy="778665"/>
          </a:xfrm>
          <a:prstGeom prst="roundRect">
            <a:avLst/>
          </a:prstGeom>
          <a:solidFill>
            <a:srgbClr val="E6B9B8">
              <a:alpha val="32941"/>
            </a:srgbClr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</a:t>
            </a:r>
            <a:r>
              <a:rPr lang="pt-BR" dirty="0" err="1"/>
              <a:t>Kosaraju</a:t>
            </a:r>
            <a:r>
              <a:rPr lang="pt-BR" dirty="0"/>
              <a:t> – Algoritmo 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89746" y="1203959"/>
            <a:ext cx="850273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Fazer busca em profundidade em G	        </a:t>
            </a:r>
            <a:r>
              <a:rPr lang="pt-BR" sz="1600" dirty="0">
                <a:solidFill>
                  <a:srgbClr val="0070C0"/>
                </a:solidFill>
                <a:sym typeface="Symbol" panose="05050102010706020507" pitchFamily="18" charset="2"/>
              </a:rPr>
              <a:t>// Salvar tempos de término (TT)</a:t>
            </a:r>
            <a:endParaRPr lang="pt-BR" sz="20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Construir o grafo G</a:t>
            </a:r>
            <a:r>
              <a:rPr lang="pt-BR" sz="200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			        </a:t>
            </a:r>
            <a:r>
              <a:rPr lang="pt-BR" sz="1600" dirty="0">
                <a:solidFill>
                  <a:srgbClr val="0070C0"/>
                </a:solidFill>
                <a:sym typeface="Symbol" panose="05050102010706020507" pitchFamily="18" charset="2"/>
              </a:rPr>
              <a:t>// Gerar reverso do grafo G</a:t>
            </a:r>
            <a:endParaRPr lang="pt-BR" sz="2000" dirty="0">
              <a:solidFill>
                <a:srgbClr val="0070C0"/>
              </a:solidFill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Fazer busca em profundidade em G</a:t>
            </a:r>
            <a:r>
              <a:rPr lang="pt-BR" sz="200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em ordem decrescente de TT</a:t>
            </a:r>
          </a:p>
        </p:txBody>
      </p:sp>
      <p:sp>
        <p:nvSpPr>
          <p:cNvPr id="4" name="Seta para a direita 3"/>
          <p:cNvSpPr/>
          <p:nvPr/>
        </p:nvSpPr>
        <p:spPr>
          <a:xfrm rot="5400000">
            <a:off x="4371547" y="2550550"/>
            <a:ext cx="546929" cy="573313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de cantos arredondados 4"/>
          <p:cNvSpPr/>
          <p:nvPr/>
        </p:nvSpPr>
        <p:spPr>
          <a:xfrm>
            <a:off x="2715730" y="3236805"/>
            <a:ext cx="3772969" cy="1138642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Cada árvore da floresta de profundidade corresponde a um componente f-conexo</a:t>
            </a:r>
          </a:p>
        </p:txBody>
      </p:sp>
      <p:sp>
        <p:nvSpPr>
          <p:cNvPr id="8" name="Seta para a direita 7"/>
          <p:cNvSpPr/>
          <p:nvPr/>
        </p:nvSpPr>
        <p:spPr>
          <a:xfrm rot="13489260">
            <a:off x="4726982" y="2002209"/>
            <a:ext cx="1272211" cy="271556"/>
          </a:xfrm>
          <a:prstGeom prst="rightArrow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de cantos arredondados 9"/>
          <p:cNvSpPr/>
          <p:nvPr/>
        </p:nvSpPr>
        <p:spPr>
          <a:xfrm>
            <a:off x="5648770" y="2406836"/>
            <a:ext cx="2144994" cy="511268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Podem ser realizados de forma paralela</a:t>
            </a:r>
          </a:p>
        </p:txBody>
      </p:sp>
    </p:spTree>
    <p:extLst>
      <p:ext uri="{BB962C8B-B14F-4D97-AF65-F5344CB8AC3E}">
        <p14:creationId xmlns:p14="http://schemas.microsoft.com/office/powerpoint/2010/main" val="10613441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</a:t>
            </a:r>
            <a:r>
              <a:rPr lang="pt-BR" dirty="0" err="1"/>
              <a:t>Kosaraju</a:t>
            </a:r>
            <a:r>
              <a:rPr lang="pt-BR" dirty="0"/>
              <a:t> – Exemplo 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7" name="Elipse 6"/>
          <p:cNvSpPr/>
          <p:nvPr/>
        </p:nvSpPr>
        <p:spPr>
          <a:xfrm>
            <a:off x="1852503" y="190650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1172008" y="256281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9" name="Elipse 8"/>
          <p:cNvSpPr/>
          <p:nvPr/>
        </p:nvSpPr>
        <p:spPr>
          <a:xfrm>
            <a:off x="1858720" y="3103453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10" name="Elipse 9"/>
          <p:cNvSpPr/>
          <p:nvPr/>
        </p:nvSpPr>
        <p:spPr>
          <a:xfrm>
            <a:off x="1289587" y="3758746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1" name="Elipse 10"/>
          <p:cNvSpPr/>
          <p:nvPr/>
        </p:nvSpPr>
        <p:spPr>
          <a:xfrm>
            <a:off x="2718696" y="3758746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2" name="Elipse 11"/>
          <p:cNvSpPr/>
          <p:nvPr/>
        </p:nvSpPr>
        <p:spPr>
          <a:xfrm>
            <a:off x="2456653" y="2483272"/>
            <a:ext cx="262043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4" name="Elipse 13"/>
          <p:cNvSpPr/>
          <p:nvPr/>
        </p:nvSpPr>
        <p:spPr>
          <a:xfrm>
            <a:off x="3502245" y="3182991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5" name="Conector de seta reta 14"/>
          <p:cNvCxnSpPr>
            <a:stCxn id="8" idx="7"/>
            <a:endCxn id="7" idx="3"/>
          </p:cNvCxnSpPr>
          <p:nvPr/>
        </p:nvCxnSpPr>
        <p:spPr>
          <a:xfrm flipV="1">
            <a:off x="1368408" y="2098520"/>
            <a:ext cx="517792" cy="497235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8" idx="4"/>
            <a:endCxn id="10" idx="1"/>
          </p:cNvCxnSpPr>
          <p:nvPr/>
        </p:nvCxnSpPr>
        <p:spPr>
          <a:xfrm>
            <a:off x="1287057" y="2787775"/>
            <a:ext cx="36227" cy="1003916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9" idx="5"/>
            <a:endCxn id="11" idx="1"/>
          </p:cNvCxnSpPr>
          <p:nvPr/>
        </p:nvCxnSpPr>
        <p:spPr>
          <a:xfrm>
            <a:off x="2055120" y="3295473"/>
            <a:ext cx="697273" cy="49621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10" idx="6"/>
            <a:endCxn id="11" idx="2"/>
          </p:cNvCxnSpPr>
          <p:nvPr/>
        </p:nvCxnSpPr>
        <p:spPr>
          <a:xfrm>
            <a:off x="1519684" y="3871229"/>
            <a:ext cx="1199012" cy="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11" idx="0"/>
            <a:endCxn id="14" idx="2"/>
          </p:cNvCxnSpPr>
          <p:nvPr/>
        </p:nvCxnSpPr>
        <p:spPr>
          <a:xfrm rot="5400000" flipH="1" flipV="1">
            <a:off x="2936359" y="3192860"/>
            <a:ext cx="463272" cy="668500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9" idx="7"/>
            <a:endCxn id="12" idx="3"/>
          </p:cNvCxnSpPr>
          <p:nvPr/>
        </p:nvCxnSpPr>
        <p:spPr>
          <a:xfrm flipV="1">
            <a:off x="2055120" y="2675292"/>
            <a:ext cx="439908" cy="461106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8" idx="6"/>
            <a:endCxn id="9" idx="1"/>
          </p:cNvCxnSpPr>
          <p:nvPr/>
        </p:nvCxnSpPr>
        <p:spPr>
          <a:xfrm>
            <a:off x="1402105" y="2675293"/>
            <a:ext cx="490312" cy="461105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>
            <a:stCxn id="7" idx="5"/>
            <a:endCxn id="12" idx="1"/>
          </p:cNvCxnSpPr>
          <p:nvPr/>
        </p:nvCxnSpPr>
        <p:spPr>
          <a:xfrm>
            <a:off x="2048903" y="2098520"/>
            <a:ext cx="446125" cy="417697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stCxn id="14" idx="1"/>
            <a:endCxn id="12" idx="5"/>
          </p:cNvCxnSpPr>
          <p:nvPr/>
        </p:nvCxnSpPr>
        <p:spPr>
          <a:xfrm flipH="1" flipV="1">
            <a:off x="2680321" y="2675292"/>
            <a:ext cx="855621" cy="540644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939680" y="1782754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endParaRPr lang="pt-BR" sz="1600" baseline="30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8" name="Conector de seta reta 19"/>
          <p:cNvCxnSpPr>
            <a:stCxn id="11" idx="6"/>
            <a:endCxn id="14" idx="4"/>
          </p:cNvCxnSpPr>
          <p:nvPr/>
        </p:nvCxnSpPr>
        <p:spPr>
          <a:xfrm flipV="1">
            <a:off x="2948793" y="3407956"/>
            <a:ext cx="668501" cy="463273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6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</a:t>
            </a:r>
            <a:r>
              <a:rPr lang="pt-BR" dirty="0" err="1"/>
              <a:t>Kosaraju</a:t>
            </a:r>
            <a:r>
              <a:rPr lang="pt-BR" dirty="0"/>
              <a:t> – Exemplo 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7" name="Elipse 6"/>
          <p:cNvSpPr/>
          <p:nvPr/>
        </p:nvSpPr>
        <p:spPr>
          <a:xfrm>
            <a:off x="1852503" y="190650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1172008" y="256281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9" name="Elipse 8"/>
          <p:cNvSpPr/>
          <p:nvPr/>
        </p:nvSpPr>
        <p:spPr>
          <a:xfrm>
            <a:off x="1858720" y="3103453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10" name="Elipse 9"/>
          <p:cNvSpPr/>
          <p:nvPr/>
        </p:nvSpPr>
        <p:spPr>
          <a:xfrm>
            <a:off x="1289587" y="3758746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1" name="Elipse 10"/>
          <p:cNvSpPr/>
          <p:nvPr/>
        </p:nvSpPr>
        <p:spPr>
          <a:xfrm>
            <a:off x="2718696" y="3758746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2" name="Elipse 11"/>
          <p:cNvSpPr/>
          <p:nvPr/>
        </p:nvSpPr>
        <p:spPr>
          <a:xfrm>
            <a:off x="2456653" y="2483272"/>
            <a:ext cx="262043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4" name="Elipse 13"/>
          <p:cNvSpPr/>
          <p:nvPr/>
        </p:nvSpPr>
        <p:spPr>
          <a:xfrm>
            <a:off x="3502245" y="3182991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5" name="Conector de seta reta 14"/>
          <p:cNvCxnSpPr>
            <a:stCxn id="8" idx="7"/>
            <a:endCxn id="7" idx="3"/>
          </p:cNvCxnSpPr>
          <p:nvPr/>
        </p:nvCxnSpPr>
        <p:spPr>
          <a:xfrm flipV="1">
            <a:off x="1368408" y="2098520"/>
            <a:ext cx="517792" cy="497235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8" idx="4"/>
            <a:endCxn id="10" idx="1"/>
          </p:cNvCxnSpPr>
          <p:nvPr/>
        </p:nvCxnSpPr>
        <p:spPr>
          <a:xfrm>
            <a:off x="1287057" y="2787775"/>
            <a:ext cx="36227" cy="1003916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9" idx="5"/>
            <a:endCxn id="11" idx="1"/>
          </p:cNvCxnSpPr>
          <p:nvPr/>
        </p:nvCxnSpPr>
        <p:spPr>
          <a:xfrm>
            <a:off x="2055120" y="3295473"/>
            <a:ext cx="697273" cy="49621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10" idx="6"/>
            <a:endCxn id="11" idx="2"/>
          </p:cNvCxnSpPr>
          <p:nvPr/>
        </p:nvCxnSpPr>
        <p:spPr>
          <a:xfrm>
            <a:off x="1519684" y="3871229"/>
            <a:ext cx="1199012" cy="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11" idx="0"/>
            <a:endCxn id="14" idx="2"/>
          </p:cNvCxnSpPr>
          <p:nvPr/>
        </p:nvCxnSpPr>
        <p:spPr>
          <a:xfrm rot="5400000" flipH="1" flipV="1">
            <a:off x="2936359" y="3192860"/>
            <a:ext cx="463272" cy="668500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9" idx="7"/>
            <a:endCxn id="12" idx="3"/>
          </p:cNvCxnSpPr>
          <p:nvPr/>
        </p:nvCxnSpPr>
        <p:spPr>
          <a:xfrm flipV="1">
            <a:off x="2055120" y="2675292"/>
            <a:ext cx="439908" cy="461106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8" idx="6"/>
            <a:endCxn id="9" idx="1"/>
          </p:cNvCxnSpPr>
          <p:nvPr/>
        </p:nvCxnSpPr>
        <p:spPr>
          <a:xfrm>
            <a:off x="1402105" y="2675293"/>
            <a:ext cx="490312" cy="461105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>
            <a:stCxn id="7" idx="5"/>
            <a:endCxn id="12" idx="1"/>
          </p:cNvCxnSpPr>
          <p:nvPr/>
        </p:nvCxnSpPr>
        <p:spPr>
          <a:xfrm>
            <a:off x="2048903" y="2098520"/>
            <a:ext cx="446125" cy="417697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stCxn id="14" idx="1"/>
            <a:endCxn id="12" idx="5"/>
          </p:cNvCxnSpPr>
          <p:nvPr/>
        </p:nvCxnSpPr>
        <p:spPr>
          <a:xfrm flipH="1" flipV="1">
            <a:off x="2680321" y="2675292"/>
            <a:ext cx="855621" cy="540644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939680" y="1782754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endParaRPr lang="pt-BR" sz="1600" baseline="30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8" name="Conector de seta reta 19"/>
          <p:cNvCxnSpPr>
            <a:stCxn id="11" idx="6"/>
            <a:endCxn id="14" idx="4"/>
          </p:cNvCxnSpPr>
          <p:nvPr/>
        </p:nvCxnSpPr>
        <p:spPr>
          <a:xfrm flipV="1">
            <a:off x="2948793" y="3407956"/>
            <a:ext cx="668501" cy="463273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Tabela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982666"/>
              </p:ext>
            </p:extLst>
          </p:nvPr>
        </p:nvGraphicFramePr>
        <p:xfrm>
          <a:off x="4602215" y="1744283"/>
          <a:ext cx="3868614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1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2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CaixaDeTexto 34"/>
          <p:cNvSpPr txBox="1"/>
          <p:nvPr/>
        </p:nvSpPr>
        <p:spPr>
          <a:xfrm>
            <a:off x="5054802" y="1380692"/>
            <a:ext cx="2963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Busca em profundidade em G</a:t>
            </a:r>
          </a:p>
        </p:txBody>
      </p:sp>
    </p:spTree>
    <p:extLst>
      <p:ext uri="{BB962C8B-B14F-4D97-AF65-F5344CB8AC3E}">
        <p14:creationId xmlns:p14="http://schemas.microsoft.com/office/powerpoint/2010/main" val="361546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</a:t>
            </a:r>
            <a:r>
              <a:rPr lang="pt-BR" dirty="0" err="1"/>
              <a:t>Kosaraju</a:t>
            </a:r>
            <a:r>
              <a:rPr lang="pt-BR" dirty="0"/>
              <a:t> – Exemplo 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89747" y="1193437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graphicFrame>
        <p:nvGraphicFramePr>
          <p:cNvPr id="48" name="Tabela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150968"/>
              </p:ext>
            </p:extLst>
          </p:nvPr>
        </p:nvGraphicFramePr>
        <p:xfrm>
          <a:off x="4602215" y="1744283"/>
          <a:ext cx="3868614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14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13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1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2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Elipse 34"/>
          <p:cNvSpPr/>
          <p:nvPr/>
        </p:nvSpPr>
        <p:spPr>
          <a:xfrm>
            <a:off x="1852503" y="190650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36" name="Elipse 35"/>
          <p:cNvSpPr/>
          <p:nvPr/>
        </p:nvSpPr>
        <p:spPr>
          <a:xfrm>
            <a:off x="1172008" y="256281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37" name="Elipse 36"/>
          <p:cNvSpPr/>
          <p:nvPr/>
        </p:nvSpPr>
        <p:spPr>
          <a:xfrm>
            <a:off x="1858720" y="3103453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38" name="Elipse 37"/>
          <p:cNvSpPr/>
          <p:nvPr/>
        </p:nvSpPr>
        <p:spPr>
          <a:xfrm>
            <a:off x="1289587" y="3758746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39" name="Elipse 38"/>
          <p:cNvSpPr/>
          <p:nvPr/>
        </p:nvSpPr>
        <p:spPr>
          <a:xfrm>
            <a:off x="2718696" y="3758746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40" name="Elipse 39"/>
          <p:cNvSpPr/>
          <p:nvPr/>
        </p:nvSpPr>
        <p:spPr>
          <a:xfrm>
            <a:off x="2456653" y="2483272"/>
            <a:ext cx="262043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41" name="Elipse 40"/>
          <p:cNvSpPr/>
          <p:nvPr/>
        </p:nvSpPr>
        <p:spPr>
          <a:xfrm>
            <a:off x="3502245" y="3182991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42" name="Conector de seta reta 41"/>
          <p:cNvCxnSpPr>
            <a:stCxn id="36" idx="7"/>
            <a:endCxn id="35" idx="3"/>
          </p:cNvCxnSpPr>
          <p:nvPr/>
        </p:nvCxnSpPr>
        <p:spPr>
          <a:xfrm flipV="1">
            <a:off x="1368408" y="2098520"/>
            <a:ext cx="517792" cy="497235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>
            <a:stCxn id="36" idx="4"/>
            <a:endCxn id="38" idx="1"/>
          </p:cNvCxnSpPr>
          <p:nvPr/>
        </p:nvCxnSpPr>
        <p:spPr>
          <a:xfrm>
            <a:off x="1287057" y="2787775"/>
            <a:ext cx="36227" cy="1003916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>
            <a:stCxn id="37" idx="5"/>
            <a:endCxn id="39" idx="1"/>
          </p:cNvCxnSpPr>
          <p:nvPr/>
        </p:nvCxnSpPr>
        <p:spPr>
          <a:xfrm>
            <a:off x="2055120" y="3295473"/>
            <a:ext cx="697273" cy="49621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/>
          <p:cNvCxnSpPr>
            <a:stCxn id="38" idx="6"/>
            <a:endCxn id="39" idx="2"/>
          </p:cNvCxnSpPr>
          <p:nvPr/>
        </p:nvCxnSpPr>
        <p:spPr>
          <a:xfrm>
            <a:off x="1519684" y="3871229"/>
            <a:ext cx="1199012" cy="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19"/>
          <p:cNvCxnSpPr>
            <a:stCxn id="39" idx="0"/>
            <a:endCxn id="41" idx="2"/>
          </p:cNvCxnSpPr>
          <p:nvPr/>
        </p:nvCxnSpPr>
        <p:spPr>
          <a:xfrm rot="5400000" flipH="1" flipV="1">
            <a:off x="2936359" y="3192860"/>
            <a:ext cx="463272" cy="668500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>
            <a:stCxn id="37" idx="7"/>
            <a:endCxn id="40" idx="3"/>
          </p:cNvCxnSpPr>
          <p:nvPr/>
        </p:nvCxnSpPr>
        <p:spPr>
          <a:xfrm flipV="1">
            <a:off x="2055120" y="2675292"/>
            <a:ext cx="439908" cy="461106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>
            <a:stCxn id="36" idx="6"/>
            <a:endCxn id="37" idx="1"/>
          </p:cNvCxnSpPr>
          <p:nvPr/>
        </p:nvCxnSpPr>
        <p:spPr>
          <a:xfrm>
            <a:off x="1402105" y="2675293"/>
            <a:ext cx="490312" cy="461105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35" idx="5"/>
            <a:endCxn id="40" idx="1"/>
          </p:cNvCxnSpPr>
          <p:nvPr/>
        </p:nvCxnSpPr>
        <p:spPr>
          <a:xfrm>
            <a:off x="2048903" y="2098520"/>
            <a:ext cx="446125" cy="417697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de seta reta 50"/>
          <p:cNvCxnSpPr>
            <a:stCxn id="41" idx="1"/>
            <a:endCxn id="40" idx="5"/>
          </p:cNvCxnSpPr>
          <p:nvPr/>
        </p:nvCxnSpPr>
        <p:spPr>
          <a:xfrm flipH="1" flipV="1">
            <a:off x="2680321" y="2675292"/>
            <a:ext cx="855621" cy="540644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/>
          <p:cNvSpPr txBox="1"/>
          <p:nvPr/>
        </p:nvSpPr>
        <p:spPr>
          <a:xfrm>
            <a:off x="939680" y="1782754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endParaRPr lang="pt-BR" sz="1600" baseline="30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3" name="Conector de seta reta 19"/>
          <p:cNvCxnSpPr>
            <a:stCxn id="39" idx="6"/>
            <a:endCxn id="41" idx="4"/>
          </p:cNvCxnSpPr>
          <p:nvPr/>
        </p:nvCxnSpPr>
        <p:spPr>
          <a:xfrm flipV="1">
            <a:off x="2948793" y="3407956"/>
            <a:ext cx="668501" cy="463273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5054802" y="1380692"/>
            <a:ext cx="2963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Busca em profundidade em G</a:t>
            </a:r>
          </a:p>
        </p:txBody>
      </p:sp>
    </p:spTree>
    <p:extLst>
      <p:ext uri="{BB962C8B-B14F-4D97-AF65-F5344CB8AC3E}">
        <p14:creationId xmlns:p14="http://schemas.microsoft.com/office/powerpoint/2010/main" val="3998625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</a:t>
            </a:r>
            <a:r>
              <a:rPr lang="pt-BR" dirty="0" err="1"/>
              <a:t>Kosaraju</a:t>
            </a:r>
            <a:r>
              <a:rPr lang="pt-BR" dirty="0"/>
              <a:t> – Exemplo 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54" name="Elipse 53"/>
          <p:cNvSpPr/>
          <p:nvPr/>
        </p:nvSpPr>
        <p:spPr>
          <a:xfrm>
            <a:off x="1866947" y="190650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55" name="Elipse 54"/>
          <p:cNvSpPr/>
          <p:nvPr/>
        </p:nvSpPr>
        <p:spPr>
          <a:xfrm>
            <a:off x="1186452" y="256281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6" name="Elipse 55"/>
          <p:cNvSpPr/>
          <p:nvPr/>
        </p:nvSpPr>
        <p:spPr>
          <a:xfrm>
            <a:off x="1873164" y="3103453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57" name="Elipse 56"/>
          <p:cNvSpPr/>
          <p:nvPr/>
        </p:nvSpPr>
        <p:spPr>
          <a:xfrm>
            <a:off x="1304031" y="3758746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8" name="Elipse 57"/>
          <p:cNvSpPr/>
          <p:nvPr/>
        </p:nvSpPr>
        <p:spPr>
          <a:xfrm>
            <a:off x="2733140" y="3758746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59" name="Elipse 58"/>
          <p:cNvSpPr/>
          <p:nvPr/>
        </p:nvSpPr>
        <p:spPr>
          <a:xfrm>
            <a:off x="2471097" y="2483272"/>
            <a:ext cx="262043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60" name="Elipse 59"/>
          <p:cNvSpPr/>
          <p:nvPr/>
        </p:nvSpPr>
        <p:spPr>
          <a:xfrm>
            <a:off x="3516689" y="3182991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61" name="Conector de seta reta 60"/>
          <p:cNvCxnSpPr>
            <a:stCxn id="55" idx="7"/>
            <a:endCxn id="54" idx="3"/>
          </p:cNvCxnSpPr>
          <p:nvPr/>
        </p:nvCxnSpPr>
        <p:spPr>
          <a:xfrm flipV="1">
            <a:off x="1382852" y="2098520"/>
            <a:ext cx="517792" cy="497235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/>
          <p:cNvCxnSpPr>
            <a:stCxn id="55" idx="4"/>
            <a:endCxn id="57" idx="1"/>
          </p:cNvCxnSpPr>
          <p:nvPr/>
        </p:nvCxnSpPr>
        <p:spPr>
          <a:xfrm>
            <a:off x="1301501" y="2787775"/>
            <a:ext cx="36227" cy="1003916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/>
          <p:cNvCxnSpPr>
            <a:stCxn id="56" idx="5"/>
            <a:endCxn id="58" idx="1"/>
          </p:cNvCxnSpPr>
          <p:nvPr/>
        </p:nvCxnSpPr>
        <p:spPr>
          <a:xfrm>
            <a:off x="2069564" y="3295473"/>
            <a:ext cx="697273" cy="496218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63"/>
          <p:cNvCxnSpPr>
            <a:stCxn id="57" idx="6"/>
            <a:endCxn id="58" idx="2"/>
          </p:cNvCxnSpPr>
          <p:nvPr/>
        </p:nvCxnSpPr>
        <p:spPr>
          <a:xfrm>
            <a:off x="1534128" y="3871229"/>
            <a:ext cx="1199012" cy="0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19"/>
          <p:cNvCxnSpPr>
            <a:stCxn id="58" idx="0"/>
            <a:endCxn id="60" idx="2"/>
          </p:cNvCxnSpPr>
          <p:nvPr/>
        </p:nvCxnSpPr>
        <p:spPr>
          <a:xfrm rot="5400000" flipH="1" flipV="1">
            <a:off x="2950803" y="3192860"/>
            <a:ext cx="463272" cy="668500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de seta reta 65"/>
          <p:cNvCxnSpPr>
            <a:stCxn id="56" idx="7"/>
            <a:endCxn id="59" idx="3"/>
          </p:cNvCxnSpPr>
          <p:nvPr/>
        </p:nvCxnSpPr>
        <p:spPr>
          <a:xfrm flipV="1">
            <a:off x="2069564" y="2675292"/>
            <a:ext cx="439908" cy="461106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5" idx="6"/>
            <a:endCxn id="56" idx="1"/>
          </p:cNvCxnSpPr>
          <p:nvPr/>
        </p:nvCxnSpPr>
        <p:spPr>
          <a:xfrm>
            <a:off x="1416549" y="2675293"/>
            <a:ext cx="490312" cy="461105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de seta reta 67"/>
          <p:cNvCxnSpPr>
            <a:stCxn id="54" idx="5"/>
            <a:endCxn id="59" idx="1"/>
          </p:cNvCxnSpPr>
          <p:nvPr/>
        </p:nvCxnSpPr>
        <p:spPr>
          <a:xfrm>
            <a:off x="2063347" y="2098520"/>
            <a:ext cx="446125" cy="417697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0" idx="1"/>
            <a:endCxn id="59" idx="5"/>
          </p:cNvCxnSpPr>
          <p:nvPr/>
        </p:nvCxnSpPr>
        <p:spPr>
          <a:xfrm flipH="1" flipV="1">
            <a:off x="2694765" y="2675292"/>
            <a:ext cx="855621" cy="540644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aixaDeTexto 69"/>
          <p:cNvSpPr txBox="1"/>
          <p:nvPr/>
        </p:nvSpPr>
        <p:spPr>
          <a:xfrm>
            <a:off x="917256" y="1782754"/>
            <a:ext cx="388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</a:p>
        </p:txBody>
      </p:sp>
      <p:cxnSp>
        <p:nvCxnSpPr>
          <p:cNvPr id="71" name="Conector de seta reta 19"/>
          <p:cNvCxnSpPr>
            <a:stCxn id="58" idx="6"/>
            <a:endCxn id="60" idx="4"/>
          </p:cNvCxnSpPr>
          <p:nvPr/>
        </p:nvCxnSpPr>
        <p:spPr>
          <a:xfrm flipV="1">
            <a:off x="2963237" y="3407956"/>
            <a:ext cx="668501" cy="463273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994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</a:t>
            </a:r>
            <a:r>
              <a:rPr lang="pt-BR" dirty="0" err="1"/>
              <a:t>Kosaraju</a:t>
            </a:r>
            <a:r>
              <a:rPr lang="pt-BR" dirty="0"/>
              <a:t> – Exemplo 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graphicFrame>
        <p:nvGraphicFramePr>
          <p:cNvPr id="48" name="Tabela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614061"/>
              </p:ext>
            </p:extLst>
          </p:nvPr>
        </p:nvGraphicFramePr>
        <p:xfrm>
          <a:off x="4602215" y="1564817"/>
          <a:ext cx="3868614" cy="609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1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2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3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4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5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6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7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14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13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ela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480241"/>
              </p:ext>
            </p:extLst>
          </p:nvPr>
        </p:nvGraphicFramePr>
        <p:xfrm>
          <a:off x="4602215" y="2606335"/>
          <a:ext cx="3868614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CaixaDeTexto 31"/>
          <p:cNvSpPr txBox="1"/>
          <p:nvPr/>
        </p:nvSpPr>
        <p:spPr>
          <a:xfrm>
            <a:off x="5054802" y="1201226"/>
            <a:ext cx="2963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Busca em profundidade em G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080088" y="2259779"/>
            <a:ext cx="3088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Busca em profundidade em G</a:t>
            </a:r>
            <a:r>
              <a:rPr lang="pt-BR" baseline="30000" dirty="0"/>
              <a:t>R</a:t>
            </a:r>
          </a:p>
        </p:txBody>
      </p:sp>
      <p:sp>
        <p:nvSpPr>
          <p:cNvPr id="34" name="Elipse 33"/>
          <p:cNvSpPr/>
          <p:nvPr/>
        </p:nvSpPr>
        <p:spPr>
          <a:xfrm>
            <a:off x="1866947" y="190650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35" name="Elipse 34"/>
          <p:cNvSpPr/>
          <p:nvPr/>
        </p:nvSpPr>
        <p:spPr>
          <a:xfrm>
            <a:off x="1186452" y="256281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36" name="Elipse 35"/>
          <p:cNvSpPr/>
          <p:nvPr/>
        </p:nvSpPr>
        <p:spPr>
          <a:xfrm>
            <a:off x="1873164" y="3103453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37" name="Elipse 36"/>
          <p:cNvSpPr/>
          <p:nvPr/>
        </p:nvSpPr>
        <p:spPr>
          <a:xfrm>
            <a:off x="1304031" y="3758746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38" name="Elipse 37"/>
          <p:cNvSpPr/>
          <p:nvPr/>
        </p:nvSpPr>
        <p:spPr>
          <a:xfrm>
            <a:off x="2733140" y="3758746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39" name="Elipse 38"/>
          <p:cNvSpPr/>
          <p:nvPr/>
        </p:nvSpPr>
        <p:spPr>
          <a:xfrm>
            <a:off x="2471097" y="2483272"/>
            <a:ext cx="262043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40" name="Elipse 39"/>
          <p:cNvSpPr/>
          <p:nvPr/>
        </p:nvSpPr>
        <p:spPr>
          <a:xfrm>
            <a:off x="3516689" y="3182991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41" name="Conector de seta reta 40"/>
          <p:cNvCxnSpPr>
            <a:stCxn id="35" idx="7"/>
            <a:endCxn id="34" idx="3"/>
          </p:cNvCxnSpPr>
          <p:nvPr/>
        </p:nvCxnSpPr>
        <p:spPr>
          <a:xfrm flipV="1">
            <a:off x="1382852" y="2098520"/>
            <a:ext cx="517792" cy="497235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35" idx="4"/>
            <a:endCxn id="37" idx="1"/>
          </p:cNvCxnSpPr>
          <p:nvPr/>
        </p:nvCxnSpPr>
        <p:spPr>
          <a:xfrm>
            <a:off x="1301501" y="2787775"/>
            <a:ext cx="36227" cy="1003916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>
            <a:stCxn id="36" idx="5"/>
            <a:endCxn id="38" idx="1"/>
          </p:cNvCxnSpPr>
          <p:nvPr/>
        </p:nvCxnSpPr>
        <p:spPr>
          <a:xfrm>
            <a:off x="2069564" y="3295473"/>
            <a:ext cx="697273" cy="496218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>
            <a:stCxn id="37" idx="6"/>
            <a:endCxn id="38" idx="2"/>
          </p:cNvCxnSpPr>
          <p:nvPr/>
        </p:nvCxnSpPr>
        <p:spPr>
          <a:xfrm>
            <a:off x="1534128" y="3871229"/>
            <a:ext cx="1199012" cy="0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19"/>
          <p:cNvCxnSpPr>
            <a:stCxn id="38" idx="0"/>
            <a:endCxn id="40" idx="2"/>
          </p:cNvCxnSpPr>
          <p:nvPr/>
        </p:nvCxnSpPr>
        <p:spPr>
          <a:xfrm rot="5400000" flipH="1" flipV="1">
            <a:off x="2950803" y="3192860"/>
            <a:ext cx="463272" cy="668500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/>
          <p:cNvCxnSpPr>
            <a:stCxn id="36" idx="7"/>
            <a:endCxn id="39" idx="3"/>
          </p:cNvCxnSpPr>
          <p:nvPr/>
        </p:nvCxnSpPr>
        <p:spPr>
          <a:xfrm flipV="1">
            <a:off x="2069564" y="2675292"/>
            <a:ext cx="439908" cy="461106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>
            <a:stCxn id="35" idx="6"/>
            <a:endCxn id="36" idx="1"/>
          </p:cNvCxnSpPr>
          <p:nvPr/>
        </p:nvCxnSpPr>
        <p:spPr>
          <a:xfrm>
            <a:off x="1416549" y="2675293"/>
            <a:ext cx="490312" cy="461105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>
            <a:stCxn id="34" idx="5"/>
            <a:endCxn id="39" idx="1"/>
          </p:cNvCxnSpPr>
          <p:nvPr/>
        </p:nvCxnSpPr>
        <p:spPr>
          <a:xfrm>
            <a:off x="2063347" y="2098520"/>
            <a:ext cx="446125" cy="417697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40" idx="1"/>
            <a:endCxn id="39" idx="5"/>
          </p:cNvCxnSpPr>
          <p:nvPr/>
        </p:nvCxnSpPr>
        <p:spPr>
          <a:xfrm flipH="1" flipV="1">
            <a:off x="2694765" y="2675292"/>
            <a:ext cx="855621" cy="540644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917256" y="1782754"/>
            <a:ext cx="388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</a:p>
        </p:txBody>
      </p:sp>
      <p:cxnSp>
        <p:nvCxnSpPr>
          <p:cNvPr id="52" name="Conector de seta reta 19"/>
          <p:cNvCxnSpPr>
            <a:stCxn id="38" idx="6"/>
            <a:endCxn id="40" idx="4"/>
          </p:cNvCxnSpPr>
          <p:nvPr/>
        </p:nvCxnSpPr>
        <p:spPr>
          <a:xfrm flipV="1">
            <a:off x="2963237" y="3407956"/>
            <a:ext cx="668501" cy="463273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31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</a:t>
            </a:r>
            <a:r>
              <a:rPr lang="pt-BR" dirty="0" err="1"/>
              <a:t>Kosaraju</a:t>
            </a:r>
            <a:r>
              <a:rPr lang="pt-BR" dirty="0"/>
              <a:t> – Exemplo 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graphicFrame>
        <p:nvGraphicFramePr>
          <p:cNvPr id="48" name="Tabela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614061"/>
              </p:ext>
            </p:extLst>
          </p:nvPr>
        </p:nvGraphicFramePr>
        <p:xfrm>
          <a:off x="4602215" y="1564817"/>
          <a:ext cx="3868614" cy="609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1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2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3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4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5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6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7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14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13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4" name="Elipse 53"/>
          <p:cNvSpPr/>
          <p:nvPr/>
        </p:nvSpPr>
        <p:spPr>
          <a:xfrm>
            <a:off x="1866947" y="190650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55" name="Elipse 54"/>
          <p:cNvSpPr/>
          <p:nvPr/>
        </p:nvSpPr>
        <p:spPr>
          <a:xfrm>
            <a:off x="1186452" y="256281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6" name="Elipse 55"/>
          <p:cNvSpPr/>
          <p:nvPr/>
        </p:nvSpPr>
        <p:spPr>
          <a:xfrm>
            <a:off x="1873164" y="3103453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57" name="Elipse 56"/>
          <p:cNvSpPr/>
          <p:nvPr/>
        </p:nvSpPr>
        <p:spPr>
          <a:xfrm>
            <a:off x="1304031" y="3758746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8" name="Elipse 57"/>
          <p:cNvSpPr/>
          <p:nvPr/>
        </p:nvSpPr>
        <p:spPr>
          <a:xfrm>
            <a:off x="2733140" y="3758746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59" name="Elipse 58"/>
          <p:cNvSpPr/>
          <p:nvPr/>
        </p:nvSpPr>
        <p:spPr>
          <a:xfrm>
            <a:off x="2471097" y="2483272"/>
            <a:ext cx="262043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60" name="Elipse 59"/>
          <p:cNvSpPr/>
          <p:nvPr/>
        </p:nvSpPr>
        <p:spPr>
          <a:xfrm>
            <a:off x="3516689" y="3182991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61" name="Conector de seta reta 60"/>
          <p:cNvCxnSpPr>
            <a:stCxn id="55" idx="7"/>
            <a:endCxn id="54" idx="3"/>
          </p:cNvCxnSpPr>
          <p:nvPr/>
        </p:nvCxnSpPr>
        <p:spPr>
          <a:xfrm flipV="1">
            <a:off x="1382852" y="2098520"/>
            <a:ext cx="517792" cy="497235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/>
          <p:cNvCxnSpPr>
            <a:stCxn id="55" idx="4"/>
            <a:endCxn id="57" idx="1"/>
          </p:cNvCxnSpPr>
          <p:nvPr/>
        </p:nvCxnSpPr>
        <p:spPr>
          <a:xfrm>
            <a:off x="1301501" y="2787775"/>
            <a:ext cx="36227" cy="1003916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/>
          <p:cNvCxnSpPr>
            <a:stCxn id="56" idx="5"/>
            <a:endCxn id="58" idx="1"/>
          </p:cNvCxnSpPr>
          <p:nvPr/>
        </p:nvCxnSpPr>
        <p:spPr>
          <a:xfrm>
            <a:off x="2069564" y="3295473"/>
            <a:ext cx="697273" cy="496218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63"/>
          <p:cNvCxnSpPr>
            <a:stCxn id="57" idx="6"/>
            <a:endCxn id="58" idx="2"/>
          </p:cNvCxnSpPr>
          <p:nvPr/>
        </p:nvCxnSpPr>
        <p:spPr>
          <a:xfrm>
            <a:off x="1534128" y="3871229"/>
            <a:ext cx="1199012" cy="0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19"/>
          <p:cNvCxnSpPr>
            <a:stCxn id="58" idx="0"/>
            <a:endCxn id="60" idx="2"/>
          </p:cNvCxnSpPr>
          <p:nvPr/>
        </p:nvCxnSpPr>
        <p:spPr>
          <a:xfrm rot="5400000" flipH="1" flipV="1">
            <a:off x="2950803" y="3192860"/>
            <a:ext cx="463272" cy="668500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de seta reta 65"/>
          <p:cNvCxnSpPr>
            <a:stCxn id="56" idx="7"/>
            <a:endCxn id="59" idx="3"/>
          </p:cNvCxnSpPr>
          <p:nvPr/>
        </p:nvCxnSpPr>
        <p:spPr>
          <a:xfrm flipV="1">
            <a:off x="2069564" y="2675292"/>
            <a:ext cx="439908" cy="46110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5" idx="6"/>
            <a:endCxn id="56" idx="1"/>
          </p:cNvCxnSpPr>
          <p:nvPr/>
        </p:nvCxnSpPr>
        <p:spPr>
          <a:xfrm>
            <a:off x="1416549" y="2675293"/>
            <a:ext cx="490312" cy="46110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de seta reta 67"/>
          <p:cNvCxnSpPr>
            <a:stCxn id="54" idx="5"/>
            <a:endCxn id="59" idx="1"/>
          </p:cNvCxnSpPr>
          <p:nvPr/>
        </p:nvCxnSpPr>
        <p:spPr>
          <a:xfrm>
            <a:off x="2063347" y="2098520"/>
            <a:ext cx="446125" cy="417697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0" idx="1"/>
            <a:endCxn id="59" idx="5"/>
          </p:cNvCxnSpPr>
          <p:nvPr/>
        </p:nvCxnSpPr>
        <p:spPr>
          <a:xfrm flipH="1" flipV="1">
            <a:off x="2694765" y="2675292"/>
            <a:ext cx="855621" cy="540644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aixaDeTexto 69"/>
          <p:cNvSpPr txBox="1"/>
          <p:nvPr/>
        </p:nvSpPr>
        <p:spPr>
          <a:xfrm>
            <a:off x="917256" y="1782754"/>
            <a:ext cx="388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</a:p>
        </p:txBody>
      </p:sp>
      <p:cxnSp>
        <p:nvCxnSpPr>
          <p:cNvPr id="71" name="Conector de seta reta 19"/>
          <p:cNvCxnSpPr>
            <a:stCxn id="58" idx="6"/>
            <a:endCxn id="60" idx="4"/>
          </p:cNvCxnSpPr>
          <p:nvPr/>
        </p:nvCxnSpPr>
        <p:spPr>
          <a:xfrm flipV="1">
            <a:off x="2963237" y="3407956"/>
            <a:ext cx="668501" cy="463273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ela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75362"/>
              </p:ext>
            </p:extLst>
          </p:nvPr>
        </p:nvGraphicFramePr>
        <p:xfrm>
          <a:off x="4602215" y="2606335"/>
          <a:ext cx="3868614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4" name="Conector de seta reta 23"/>
          <p:cNvCxnSpPr/>
          <p:nvPr/>
        </p:nvCxnSpPr>
        <p:spPr>
          <a:xfrm flipH="1">
            <a:off x="6414593" y="405083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/>
          <p:nvPr/>
        </p:nvCxnSpPr>
        <p:spPr>
          <a:xfrm flipH="1">
            <a:off x="4645507" y="405083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697069" y="389694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4929281" y="389694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28" name="Conector de seta reta 27"/>
          <p:cNvCxnSpPr/>
          <p:nvPr/>
        </p:nvCxnSpPr>
        <p:spPr>
          <a:xfrm flipH="1">
            <a:off x="6422649" y="4334737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/>
          <p:nvPr/>
        </p:nvCxnSpPr>
        <p:spPr>
          <a:xfrm flipH="1">
            <a:off x="4653563" y="4334737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6705125" y="4180849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937337" y="4180849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054802" y="1201226"/>
            <a:ext cx="2963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Busca em profundidade em G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080088" y="2259779"/>
            <a:ext cx="3088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Busca em profundidade em G</a:t>
            </a:r>
            <a:r>
              <a:rPr lang="pt-BR" baseline="30000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088487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</a:t>
            </a:r>
            <a:r>
              <a:rPr lang="pt-BR" dirty="0" err="1"/>
              <a:t>Kosaraju</a:t>
            </a:r>
            <a:r>
              <a:rPr lang="pt-BR" dirty="0"/>
              <a:t> – Exemplo 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54" name="Elipse 53"/>
          <p:cNvSpPr/>
          <p:nvPr/>
        </p:nvSpPr>
        <p:spPr>
          <a:xfrm>
            <a:off x="1866947" y="190650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55" name="Elipse 54"/>
          <p:cNvSpPr/>
          <p:nvPr/>
        </p:nvSpPr>
        <p:spPr>
          <a:xfrm>
            <a:off x="1186452" y="256281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6" name="Elipse 55"/>
          <p:cNvSpPr/>
          <p:nvPr/>
        </p:nvSpPr>
        <p:spPr>
          <a:xfrm>
            <a:off x="1873164" y="3103453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57" name="Elipse 56"/>
          <p:cNvSpPr/>
          <p:nvPr/>
        </p:nvSpPr>
        <p:spPr>
          <a:xfrm>
            <a:off x="1304031" y="3758746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8" name="Elipse 57"/>
          <p:cNvSpPr/>
          <p:nvPr/>
        </p:nvSpPr>
        <p:spPr>
          <a:xfrm>
            <a:off x="2733140" y="3758746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59" name="Elipse 58"/>
          <p:cNvSpPr/>
          <p:nvPr/>
        </p:nvSpPr>
        <p:spPr>
          <a:xfrm>
            <a:off x="2471097" y="2483272"/>
            <a:ext cx="262043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60" name="Elipse 59"/>
          <p:cNvSpPr/>
          <p:nvPr/>
        </p:nvSpPr>
        <p:spPr>
          <a:xfrm>
            <a:off x="3516689" y="3182991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61" name="Conector de seta reta 60"/>
          <p:cNvCxnSpPr>
            <a:stCxn id="55" idx="7"/>
            <a:endCxn id="54" idx="3"/>
          </p:cNvCxnSpPr>
          <p:nvPr/>
        </p:nvCxnSpPr>
        <p:spPr>
          <a:xfrm flipV="1">
            <a:off x="1382852" y="2098520"/>
            <a:ext cx="517792" cy="497235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/>
          <p:cNvCxnSpPr>
            <a:stCxn id="55" idx="4"/>
            <a:endCxn id="57" idx="1"/>
          </p:cNvCxnSpPr>
          <p:nvPr/>
        </p:nvCxnSpPr>
        <p:spPr>
          <a:xfrm>
            <a:off x="1301501" y="2787775"/>
            <a:ext cx="36227" cy="1003916"/>
          </a:xfrm>
          <a:prstGeom prst="straightConnector1">
            <a:avLst/>
          </a:prstGeom>
          <a:ln w="28575">
            <a:solidFill>
              <a:srgbClr val="FFC000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/>
          <p:cNvCxnSpPr>
            <a:stCxn id="56" idx="5"/>
            <a:endCxn id="58" idx="1"/>
          </p:cNvCxnSpPr>
          <p:nvPr/>
        </p:nvCxnSpPr>
        <p:spPr>
          <a:xfrm>
            <a:off x="2069564" y="3295473"/>
            <a:ext cx="697273" cy="496218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63"/>
          <p:cNvCxnSpPr>
            <a:stCxn id="57" idx="6"/>
            <a:endCxn id="58" idx="2"/>
          </p:cNvCxnSpPr>
          <p:nvPr/>
        </p:nvCxnSpPr>
        <p:spPr>
          <a:xfrm>
            <a:off x="1534128" y="3871229"/>
            <a:ext cx="1199012" cy="0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19"/>
          <p:cNvCxnSpPr>
            <a:stCxn id="58" idx="0"/>
            <a:endCxn id="60" idx="2"/>
          </p:cNvCxnSpPr>
          <p:nvPr/>
        </p:nvCxnSpPr>
        <p:spPr>
          <a:xfrm rot="5400000" flipH="1" flipV="1">
            <a:off x="2950803" y="3192860"/>
            <a:ext cx="463272" cy="668500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de seta reta 65"/>
          <p:cNvCxnSpPr>
            <a:stCxn id="56" idx="7"/>
            <a:endCxn id="59" idx="3"/>
          </p:cNvCxnSpPr>
          <p:nvPr/>
        </p:nvCxnSpPr>
        <p:spPr>
          <a:xfrm flipV="1">
            <a:off x="2069564" y="2675292"/>
            <a:ext cx="439908" cy="46110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5" idx="6"/>
            <a:endCxn id="56" idx="1"/>
          </p:cNvCxnSpPr>
          <p:nvPr/>
        </p:nvCxnSpPr>
        <p:spPr>
          <a:xfrm>
            <a:off x="1416549" y="2675293"/>
            <a:ext cx="490312" cy="46110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de seta reta 67"/>
          <p:cNvCxnSpPr>
            <a:stCxn id="54" idx="5"/>
            <a:endCxn id="59" idx="1"/>
          </p:cNvCxnSpPr>
          <p:nvPr/>
        </p:nvCxnSpPr>
        <p:spPr>
          <a:xfrm>
            <a:off x="2063347" y="2098520"/>
            <a:ext cx="446125" cy="417697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0" idx="1"/>
            <a:endCxn id="59" idx="5"/>
          </p:cNvCxnSpPr>
          <p:nvPr/>
        </p:nvCxnSpPr>
        <p:spPr>
          <a:xfrm flipH="1" flipV="1">
            <a:off x="2694765" y="2675292"/>
            <a:ext cx="855621" cy="540644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aixaDeTexto 69"/>
          <p:cNvSpPr txBox="1"/>
          <p:nvPr/>
        </p:nvSpPr>
        <p:spPr>
          <a:xfrm>
            <a:off x="917256" y="1782754"/>
            <a:ext cx="388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</a:p>
        </p:txBody>
      </p:sp>
      <p:cxnSp>
        <p:nvCxnSpPr>
          <p:cNvPr id="71" name="Conector de seta reta 19"/>
          <p:cNvCxnSpPr>
            <a:stCxn id="58" idx="6"/>
            <a:endCxn id="60" idx="4"/>
          </p:cNvCxnSpPr>
          <p:nvPr/>
        </p:nvCxnSpPr>
        <p:spPr>
          <a:xfrm flipV="1">
            <a:off x="2963237" y="3407956"/>
            <a:ext cx="668501" cy="463273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ela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873577"/>
              </p:ext>
            </p:extLst>
          </p:nvPr>
        </p:nvGraphicFramePr>
        <p:xfrm>
          <a:off x="4602215" y="2606335"/>
          <a:ext cx="3868614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4" name="Conector de seta reta 23"/>
          <p:cNvCxnSpPr/>
          <p:nvPr/>
        </p:nvCxnSpPr>
        <p:spPr>
          <a:xfrm flipH="1">
            <a:off x="6414593" y="405083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/>
          <p:nvPr/>
        </p:nvCxnSpPr>
        <p:spPr>
          <a:xfrm flipH="1">
            <a:off x="4645507" y="405083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697069" y="389694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4929281" y="389694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28" name="Conector de seta reta 27"/>
          <p:cNvCxnSpPr/>
          <p:nvPr/>
        </p:nvCxnSpPr>
        <p:spPr>
          <a:xfrm flipH="1">
            <a:off x="6422649" y="4334737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/>
          <p:nvPr/>
        </p:nvCxnSpPr>
        <p:spPr>
          <a:xfrm flipH="1">
            <a:off x="4653563" y="4334737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6705125" y="4180849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937337" y="4180849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32" name="Tabela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61329"/>
              </p:ext>
            </p:extLst>
          </p:nvPr>
        </p:nvGraphicFramePr>
        <p:xfrm>
          <a:off x="4602215" y="1564817"/>
          <a:ext cx="3868614" cy="609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1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2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3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4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5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6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7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14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13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CaixaDeTexto 32"/>
          <p:cNvSpPr txBox="1"/>
          <p:nvPr/>
        </p:nvSpPr>
        <p:spPr>
          <a:xfrm>
            <a:off x="5054802" y="1201226"/>
            <a:ext cx="2963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Busca em profundidade em G</a:t>
            </a:r>
          </a:p>
        </p:txBody>
      </p:sp>
    </p:spTree>
    <p:extLst>
      <p:ext uri="{BB962C8B-B14F-4D97-AF65-F5344CB8AC3E}">
        <p14:creationId xmlns:p14="http://schemas.microsoft.com/office/powerpoint/2010/main" val="153013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</a:t>
            </a:r>
            <a:r>
              <a:rPr lang="pt-BR" dirty="0" err="1"/>
              <a:t>Kosaraju</a:t>
            </a:r>
            <a:r>
              <a:rPr lang="pt-BR" dirty="0"/>
              <a:t> – Exemplo 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54" name="Elipse 53"/>
          <p:cNvSpPr/>
          <p:nvPr/>
        </p:nvSpPr>
        <p:spPr>
          <a:xfrm>
            <a:off x="1866947" y="190650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55" name="Elipse 54"/>
          <p:cNvSpPr/>
          <p:nvPr/>
        </p:nvSpPr>
        <p:spPr>
          <a:xfrm>
            <a:off x="1186452" y="256281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6" name="Elipse 55"/>
          <p:cNvSpPr/>
          <p:nvPr/>
        </p:nvSpPr>
        <p:spPr>
          <a:xfrm>
            <a:off x="1873164" y="3103453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57" name="Elipse 56"/>
          <p:cNvSpPr/>
          <p:nvPr/>
        </p:nvSpPr>
        <p:spPr>
          <a:xfrm>
            <a:off x="1304031" y="3758746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8" name="Elipse 57"/>
          <p:cNvSpPr/>
          <p:nvPr/>
        </p:nvSpPr>
        <p:spPr>
          <a:xfrm>
            <a:off x="2733140" y="3758746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59" name="Elipse 58"/>
          <p:cNvSpPr/>
          <p:nvPr/>
        </p:nvSpPr>
        <p:spPr>
          <a:xfrm>
            <a:off x="2471097" y="2483272"/>
            <a:ext cx="262043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60" name="Elipse 59"/>
          <p:cNvSpPr/>
          <p:nvPr/>
        </p:nvSpPr>
        <p:spPr>
          <a:xfrm>
            <a:off x="3516689" y="3182991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61" name="Conector de seta reta 60"/>
          <p:cNvCxnSpPr>
            <a:stCxn id="55" idx="7"/>
            <a:endCxn id="54" idx="3"/>
          </p:cNvCxnSpPr>
          <p:nvPr/>
        </p:nvCxnSpPr>
        <p:spPr>
          <a:xfrm flipV="1">
            <a:off x="1382852" y="2098520"/>
            <a:ext cx="517792" cy="497235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/>
          <p:cNvCxnSpPr>
            <a:stCxn id="55" idx="4"/>
            <a:endCxn id="57" idx="1"/>
          </p:cNvCxnSpPr>
          <p:nvPr/>
        </p:nvCxnSpPr>
        <p:spPr>
          <a:xfrm>
            <a:off x="1301501" y="2787775"/>
            <a:ext cx="36227" cy="1003916"/>
          </a:xfrm>
          <a:prstGeom prst="straightConnector1">
            <a:avLst/>
          </a:prstGeom>
          <a:ln w="28575">
            <a:solidFill>
              <a:srgbClr val="FFC000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/>
          <p:cNvCxnSpPr>
            <a:stCxn id="56" idx="5"/>
            <a:endCxn id="58" idx="1"/>
          </p:cNvCxnSpPr>
          <p:nvPr/>
        </p:nvCxnSpPr>
        <p:spPr>
          <a:xfrm>
            <a:off x="2069564" y="3295473"/>
            <a:ext cx="697273" cy="496218"/>
          </a:xfrm>
          <a:prstGeom prst="straightConnector1">
            <a:avLst/>
          </a:prstGeom>
          <a:ln w="28575">
            <a:solidFill>
              <a:srgbClr val="FFC000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63"/>
          <p:cNvCxnSpPr>
            <a:stCxn id="57" idx="6"/>
            <a:endCxn id="58" idx="2"/>
          </p:cNvCxnSpPr>
          <p:nvPr/>
        </p:nvCxnSpPr>
        <p:spPr>
          <a:xfrm>
            <a:off x="1534128" y="3871229"/>
            <a:ext cx="1199012" cy="0"/>
          </a:xfrm>
          <a:prstGeom prst="straightConnector1">
            <a:avLst/>
          </a:prstGeom>
          <a:ln w="28575">
            <a:solidFill>
              <a:srgbClr val="FFC000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19"/>
          <p:cNvCxnSpPr>
            <a:stCxn id="58" idx="0"/>
            <a:endCxn id="60" idx="2"/>
          </p:cNvCxnSpPr>
          <p:nvPr/>
        </p:nvCxnSpPr>
        <p:spPr>
          <a:xfrm rot="5400000" flipH="1" flipV="1">
            <a:off x="2950803" y="3192860"/>
            <a:ext cx="463272" cy="668500"/>
          </a:xfrm>
          <a:prstGeom prst="curvedConnector2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de seta reta 65"/>
          <p:cNvCxnSpPr>
            <a:stCxn id="56" idx="7"/>
            <a:endCxn id="59" idx="3"/>
          </p:cNvCxnSpPr>
          <p:nvPr/>
        </p:nvCxnSpPr>
        <p:spPr>
          <a:xfrm flipV="1">
            <a:off x="2069564" y="2675292"/>
            <a:ext cx="439908" cy="46110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5" idx="6"/>
            <a:endCxn id="56" idx="1"/>
          </p:cNvCxnSpPr>
          <p:nvPr/>
        </p:nvCxnSpPr>
        <p:spPr>
          <a:xfrm>
            <a:off x="1416549" y="2675293"/>
            <a:ext cx="490312" cy="46110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de seta reta 67"/>
          <p:cNvCxnSpPr>
            <a:stCxn id="54" idx="5"/>
            <a:endCxn id="59" idx="1"/>
          </p:cNvCxnSpPr>
          <p:nvPr/>
        </p:nvCxnSpPr>
        <p:spPr>
          <a:xfrm>
            <a:off x="2063347" y="2098520"/>
            <a:ext cx="446125" cy="417697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0" idx="1"/>
            <a:endCxn id="59" idx="5"/>
          </p:cNvCxnSpPr>
          <p:nvPr/>
        </p:nvCxnSpPr>
        <p:spPr>
          <a:xfrm flipH="1" flipV="1">
            <a:off x="2694765" y="2675292"/>
            <a:ext cx="855621" cy="540644"/>
          </a:xfrm>
          <a:prstGeom prst="straightConnector1">
            <a:avLst/>
          </a:prstGeom>
          <a:ln w="28575">
            <a:solidFill>
              <a:srgbClr val="FFC00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aixaDeTexto 69"/>
          <p:cNvSpPr txBox="1"/>
          <p:nvPr/>
        </p:nvSpPr>
        <p:spPr>
          <a:xfrm>
            <a:off x="917256" y="1782754"/>
            <a:ext cx="388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</a:p>
        </p:txBody>
      </p:sp>
      <p:cxnSp>
        <p:nvCxnSpPr>
          <p:cNvPr id="71" name="Conector de seta reta 19"/>
          <p:cNvCxnSpPr>
            <a:stCxn id="58" idx="6"/>
            <a:endCxn id="60" idx="4"/>
          </p:cNvCxnSpPr>
          <p:nvPr/>
        </p:nvCxnSpPr>
        <p:spPr>
          <a:xfrm flipV="1">
            <a:off x="2963237" y="3407956"/>
            <a:ext cx="668501" cy="463273"/>
          </a:xfrm>
          <a:prstGeom prst="curvedConnector2">
            <a:avLst/>
          </a:prstGeom>
          <a:ln w="28575">
            <a:solidFill>
              <a:srgbClr val="FF000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ela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166589"/>
              </p:ext>
            </p:extLst>
          </p:nvPr>
        </p:nvGraphicFramePr>
        <p:xfrm>
          <a:off x="4602215" y="2606335"/>
          <a:ext cx="3868614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4" name="Conector de seta reta 23"/>
          <p:cNvCxnSpPr/>
          <p:nvPr/>
        </p:nvCxnSpPr>
        <p:spPr>
          <a:xfrm flipH="1">
            <a:off x="6414593" y="405083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/>
          <p:nvPr/>
        </p:nvCxnSpPr>
        <p:spPr>
          <a:xfrm flipH="1">
            <a:off x="4645507" y="405083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697069" y="389694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4929281" y="389694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28" name="Conector de seta reta 27"/>
          <p:cNvCxnSpPr/>
          <p:nvPr/>
        </p:nvCxnSpPr>
        <p:spPr>
          <a:xfrm flipH="1">
            <a:off x="6422649" y="4334737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/>
          <p:nvPr/>
        </p:nvCxnSpPr>
        <p:spPr>
          <a:xfrm flipH="1">
            <a:off x="4653563" y="4334737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6705125" y="4180849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937337" y="4180849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32" name="Tabela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61329"/>
              </p:ext>
            </p:extLst>
          </p:nvPr>
        </p:nvGraphicFramePr>
        <p:xfrm>
          <a:off x="4602215" y="1564817"/>
          <a:ext cx="3868614" cy="609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1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2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3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4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5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6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7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14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13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CaixaDeTexto 32"/>
          <p:cNvSpPr txBox="1"/>
          <p:nvPr/>
        </p:nvSpPr>
        <p:spPr>
          <a:xfrm>
            <a:off x="5054802" y="1201226"/>
            <a:ext cx="2963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Busca em profundidade em G</a:t>
            </a:r>
          </a:p>
        </p:txBody>
      </p:sp>
    </p:spTree>
    <p:extLst>
      <p:ext uri="{BB962C8B-B14F-4D97-AF65-F5344CB8AC3E}">
        <p14:creationId xmlns:p14="http://schemas.microsoft.com/office/powerpoint/2010/main" val="3584472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</a:t>
            </a:r>
            <a:r>
              <a:rPr lang="pt-BR" dirty="0" err="1"/>
              <a:t>Kosaraju</a:t>
            </a:r>
            <a:r>
              <a:rPr lang="pt-BR" dirty="0"/>
              <a:t> – Exemplo 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54" name="Elipse 53"/>
          <p:cNvSpPr/>
          <p:nvPr/>
        </p:nvSpPr>
        <p:spPr>
          <a:xfrm>
            <a:off x="1866947" y="190650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55" name="Elipse 54"/>
          <p:cNvSpPr/>
          <p:nvPr/>
        </p:nvSpPr>
        <p:spPr>
          <a:xfrm>
            <a:off x="1186452" y="256281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6" name="Elipse 55"/>
          <p:cNvSpPr/>
          <p:nvPr/>
        </p:nvSpPr>
        <p:spPr>
          <a:xfrm>
            <a:off x="1873164" y="3103453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57" name="Elipse 56"/>
          <p:cNvSpPr/>
          <p:nvPr/>
        </p:nvSpPr>
        <p:spPr>
          <a:xfrm>
            <a:off x="1304031" y="3758746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8" name="Elipse 57"/>
          <p:cNvSpPr/>
          <p:nvPr/>
        </p:nvSpPr>
        <p:spPr>
          <a:xfrm>
            <a:off x="2733140" y="3758746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59" name="Elipse 58"/>
          <p:cNvSpPr/>
          <p:nvPr/>
        </p:nvSpPr>
        <p:spPr>
          <a:xfrm>
            <a:off x="2471097" y="2483272"/>
            <a:ext cx="262043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60" name="Elipse 59"/>
          <p:cNvSpPr/>
          <p:nvPr/>
        </p:nvSpPr>
        <p:spPr>
          <a:xfrm>
            <a:off x="3516689" y="3182991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61" name="Conector de seta reta 60"/>
          <p:cNvCxnSpPr>
            <a:stCxn id="55" idx="7"/>
            <a:endCxn id="54" idx="3"/>
          </p:cNvCxnSpPr>
          <p:nvPr/>
        </p:nvCxnSpPr>
        <p:spPr>
          <a:xfrm flipV="1">
            <a:off x="1382852" y="2098520"/>
            <a:ext cx="517792" cy="497235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/>
          <p:cNvCxnSpPr>
            <a:stCxn id="55" idx="4"/>
            <a:endCxn id="57" idx="1"/>
          </p:cNvCxnSpPr>
          <p:nvPr/>
        </p:nvCxnSpPr>
        <p:spPr>
          <a:xfrm>
            <a:off x="1301501" y="2787775"/>
            <a:ext cx="36227" cy="1003916"/>
          </a:xfrm>
          <a:prstGeom prst="straightConnector1">
            <a:avLst/>
          </a:prstGeom>
          <a:ln w="28575">
            <a:solidFill>
              <a:srgbClr val="FFC000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/>
          <p:cNvCxnSpPr>
            <a:stCxn id="56" idx="5"/>
            <a:endCxn id="58" idx="1"/>
          </p:cNvCxnSpPr>
          <p:nvPr/>
        </p:nvCxnSpPr>
        <p:spPr>
          <a:xfrm>
            <a:off x="2069564" y="3295473"/>
            <a:ext cx="697273" cy="496218"/>
          </a:xfrm>
          <a:prstGeom prst="straightConnector1">
            <a:avLst/>
          </a:prstGeom>
          <a:ln w="28575">
            <a:solidFill>
              <a:srgbClr val="FFC000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63"/>
          <p:cNvCxnSpPr>
            <a:stCxn id="57" idx="6"/>
            <a:endCxn id="58" idx="2"/>
          </p:cNvCxnSpPr>
          <p:nvPr/>
        </p:nvCxnSpPr>
        <p:spPr>
          <a:xfrm>
            <a:off x="1534128" y="3871229"/>
            <a:ext cx="1199012" cy="0"/>
          </a:xfrm>
          <a:prstGeom prst="straightConnector1">
            <a:avLst/>
          </a:prstGeom>
          <a:ln w="28575">
            <a:solidFill>
              <a:srgbClr val="FFC000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19"/>
          <p:cNvCxnSpPr>
            <a:stCxn id="58" idx="0"/>
            <a:endCxn id="60" idx="2"/>
          </p:cNvCxnSpPr>
          <p:nvPr/>
        </p:nvCxnSpPr>
        <p:spPr>
          <a:xfrm rot="5400000" flipH="1" flipV="1">
            <a:off x="2950803" y="3192860"/>
            <a:ext cx="463272" cy="668500"/>
          </a:xfrm>
          <a:prstGeom prst="curvedConnector2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de seta reta 65"/>
          <p:cNvCxnSpPr>
            <a:stCxn id="56" idx="7"/>
            <a:endCxn id="59" idx="3"/>
          </p:cNvCxnSpPr>
          <p:nvPr/>
        </p:nvCxnSpPr>
        <p:spPr>
          <a:xfrm flipV="1">
            <a:off x="2069564" y="2675292"/>
            <a:ext cx="439908" cy="46110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5" idx="6"/>
            <a:endCxn id="56" idx="1"/>
          </p:cNvCxnSpPr>
          <p:nvPr/>
        </p:nvCxnSpPr>
        <p:spPr>
          <a:xfrm>
            <a:off x="1416549" y="2675293"/>
            <a:ext cx="490312" cy="46110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de seta reta 67"/>
          <p:cNvCxnSpPr>
            <a:stCxn id="54" idx="5"/>
            <a:endCxn id="59" idx="1"/>
          </p:cNvCxnSpPr>
          <p:nvPr/>
        </p:nvCxnSpPr>
        <p:spPr>
          <a:xfrm>
            <a:off x="2063347" y="2098520"/>
            <a:ext cx="446125" cy="417697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0" idx="1"/>
            <a:endCxn id="59" idx="5"/>
          </p:cNvCxnSpPr>
          <p:nvPr/>
        </p:nvCxnSpPr>
        <p:spPr>
          <a:xfrm flipH="1" flipV="1">
            <a:off x="2694765" y="2675292"/>
            <a:ext cx="855621" cy="540644"/>
          </a:xfrm>
          <a:prstGeom prst="straightConnector1">
            <a:avLst/>
          </a:prstGeom>
          <a:ln w="28575">
            <a:solidFill>
              <a:srgbClr val="FFC00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aixaDeTexto 69"/>
          <p:cNvSpPr txBox="1"/>
          <p:nvPr/>
        </p:nvSpPr>
        <p:spPr>
          <a:xfrm>
            <a:off x="917256" y="1782754"/>
            <a:ext cx="388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</a:p>
        </p:txBody>
      </p:sp>
      <p:cxnSp>
        <p:nvCxnSpPr>
          <p:cNvPr id="71" name="Conector de seta reta 19"/>
          <p:cNvCxnSpPr>
            <a:stCxn id="58" idx="6"/>
            <a:endCxn id="60" idx="4"/>
          </p:cNvCxnSpPr>
          <p:nvPr/>
        </p:nvCxnSpPr>
        <p:spPr>
          <a:xfrm flipV="1">
            <a:off x="2963237" y="3407956"/>
            <a:ext cx="668501" cy="463273"/>
          </a:xfrm>
          <a:prstGeom prst="curvedConnector2">
            <a:avLst/>
          </a:prstGeom>
          <a:ln w="28575">
            <a:solidFill>
              <a:srgbClr val="FF000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ela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166589"/>
              </p:ext>
            </p:extLst>
          </p:nvPr>
        </p:nvGraphicFramePr>
        <p:xfrm>
          <a:off x="4602215" y="2606335"/>
          <a:ext cx="3868614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Retângulo de cantos arredondados 23"/>
          <p:cNvSpPr/>
          <p:nvPr/>
        </p:nvSpPr>
        <p:spPr>
          <a:xfrm rot="2619333">
            <a:off x="1237183" y="1898239"/>
            <a:ext cx="1452431" cy="1498413"/>
          </a:xfrm>
          <a:prstGeom prst="roundRect">
            <a:avLst>
              <a:gd name="adj" fmla="val 22011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de cantos arredondados 24"/>
          <p:cNvSpPr/>
          <p:nvPr/>
        </p:nvSpPr>
        <p:spPr>
          <a:xfrm rot="19706276">
            <a:off x="2422599" y="3254883"/>
            <a:ext cx="1627019" cy="674005"/>
          </a:xfrm>
          <a:prstGeom prst="roundRect">
            <a:avLst>
              <a:gd name="adj" fmla="val 41626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/>
          <p:cNvSpPr/>
          <p:nvPr/>
        </p:nvSpPr>
        <p:spPr>
          <a:xfrm>
            <a:off x="1078442" y="3584833"/>
            <a:ext cx="639022" cy="596016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de seta reta 26"/>
          <p:cNvCxnSpPr/>
          <p:nvPr/>
        </p:nvCxnSpPr>
        <p:spPr>
          <a:xfrm flipH="1">
            <a:off x="6414593" y="4050830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4645507" y="4050830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6697069" y="3896942"/>
            <a:ext cx="1471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retorno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929281" y="3896942"/>
            <a:ext cx="139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árvore</a:t>
            </a:r>
          </a:p>
        </p:txBody>
      </p:sp>
      <p:cxnSp>
        <p:nvCxnSpPr>
          <p:cNvPr id="31" name="Conector de seta reta 30"/>
          <p:cNvCxnSpPr/>
          <p:nvPr/>
        </p:nvCxnSpPr>
        <p:spPr>
          <a:xfrm flipH="1">
            <a:off x="6422649" y="4334737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/>
          <p:nvPr/>
        </p:nvCxnSpPr>
        <p:spPr>
          <a:xfrm flipH="1">
            <a:off x="4653563" y="4334737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6705125" y="4180849"/>
            <a:ext cx="1782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cruzamento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4937337" y="4180849"/>
            <a:ext cx="1429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avanço</a:t>
            </a:r>
          </a:p>
        </p:txBody>
      </p:sp>
      <p:graphicFrame>
        <p:nvGraphicFramePr>
          <p:cNvPr id="35" name="Tabela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61329"/>
              </p:ext>
            </p:extLst>
          </p:nvPr>
        </p:nvGraphicFramePr>
        <p:xfrm>
          <a:off x="4602215" y="1564817"/>
          <a:ext cx="3868614" cy="609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55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1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2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3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4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5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6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7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TT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14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13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>
                    <a:solidFill>
                      <a:srgbClr val="FFFF00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CaixaDeTexto 35"/>
          <p:cNvSpPr txBox="1"/>
          <p:nvPr/>
        </p:nvSpPr>
        <p:spPr>
          <a:xfrm>
            <a:off x="5054802" y="1201226"/>
            <a:ext cx="2963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Busca em profundidade em G</a:t>
            </a:r>
          </a:p>
        </p:txBody>
      </p:sp>
    </p:spTree>
    <p:extLst>
      <p:ext uri="{BB962C8B-B14F-4D97-AF65-F5344CB8AC3E}">
        <p14:creationId xmlns:p14="http://schemas.microsoft.com/office/powerpoint/2010/main" val="330827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</a:t>
            </a:r>
            <a:r>
              <a:rPr lang="pt-BR" dirty="0" err="1"/>
              <a:t>Kosaraju</a:t>
            </a:r>
            <a:r>
              <a:rPr lang="pt-BR" dirty="0"/>
              <a:t> – Exemplo 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54" name="Elipse 53"/>
          <p:cNvSpPr/>
          <p:nvPr/>
        </p:nvSpPr>
        <p:spPr>
          <a:xfrm>
            <a:off x="1866947" y="190650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55" name="Elipse 54"/>
          <p:cNvSpPr/>
          <p:nvPr/>
        </p:nvSpPr>
        <p:spPr>
          <a:xfrm>
            <a:off x="1186452" y="2562810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6" name="Elipse 55"/>
          <p:cNvSpPr/>
          <p:nvPr/>
        </p:nvSpPr>
        <p:spPr>
          <a:xfrm>
            <a:off x="1873164" y="3103453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57" name="Elipse 56"/>
          <p:cNvSpPr/>
          <p:nvPr/>
        </p:nvSpPr>
        <p:spPr>
          <a:xfrm>
            <a:off x="1304031" y="3758746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8" name="Elipse 57"/>
          <p:cNvSpPr/>
          <p:nvPr/>
        </p:nvSpPr>
        <p:spPr>
          <a:xfrm>
            <a:off x="2733140" y="3758746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59" name="Elipse 58"/>
          <p:cNvSpPr/>
          <p:nvPr/>
        </p:nvSpPr>
        <p:spPr>
          <a:xfrm>
            <a:off x="2471097" y="2483272"/>
            <a:ext cx="262043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60" name="Elipse 59"/>
          <p:cNvSpPr/>
          <p:nvPr/>
        </p:nvSpPr>
        <p:spPr>
          <a:xfrm>
            <a:off x="3516689" y="3182991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61" name="Conector de seta reta 60"/>
          <p:cNvCxnSpPr>
            <a:stCxn id="55" idx="7"/>
            <a:endCxn id="54" idx="3"/>
          </p:cNvCxnSpPr>
          <p:nvPr/>
        </p:nvCxnSpPr>
        <p:spPr>
          <a:xfrm flipV="1">
            <a:off x="1382852" y="2098520"/>
            <a:ext cx="517792" cy="497235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/>
          <p:cNvCxnSpPr>
            <a:stCxn id="55" idx="4"/>
            <a:endCxn id="57" idx="1"/>
          </p:cNvCxnSpPr>
          <p:nvPr/>
        </p:nvCxnSpPr>
        <p:spPr>
          <a:xfrm>
            <a:off x="1301501" y="2787775"/>
            <a:ext cx="36227" cy="1003916"/>
          </a:xfrm>
          <a:prstGeom prst="straightConnector1">
            <a:avLst/>
          </a:prstGeom>
          <a:ln w="28575">
            <a:solidFill>
              <a:srgbClr val="FFC000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/>
          <p:cNvCxnSpPr>
            <a:stCxn id="56" idx="5"/>
            <a:endCxn id="58" idx="1"/>
          </p:cNvCxnSpPr>
          <p:nvPr/>
        </p:nvCxnSpPr>
        <p:spPr>
          <a:xfrm>
            <a:off x="2069564" y="3295473"/>
            <a:ext cx="697273" cy="496218"/>
          </a:xfrm>
          <a:prstGeom prst="straightConnector1">
            <a:avLst/>
          </a:prstGeom>
          <a:ln w="28575">
            <a:solidFill>
              <a:srgbClr val="FFC000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63"/>
          <p:cNvCxnSpPr>
            <a:stCxn id="57" idx="6"/>
            <a:endCxn id="58" idx="2"/>
          </p:cNvCxnSpPr>
          <p:nvPr/>
        </p:nvCxnSpPr>
        <p:spPr>
          <a:xfrm>
            <a:off x="1534128" y="3871229"/>
            <a:ext cx="1199012" cy="0"/>
          </a:xfrm>
          <a:prstGeom prst="straightConnector1">
            <a:avLst/>
          </a:prstGeom>
          <a:ln w="28575">
            <a:solidFill>
              <a:srgbClr val="FFC000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19"/>
          <p:cNvCxnSpPr>
            <a:stCxn id="58" idx="0"/>
            <a:endCxn id="60" idx="2"/>
          </p:cNvCxnSpPr>
          <p:nvPr/>
        </p:nvCxnSpPr>
        <p:spPr>
          <a:xfrm rot="5400000" flipH="1" flipV="1">
            <a:off x="2950803" y="3192860"/>
            <a:ext cx="463272" cy="668500"/>
          </a:xfrm>
          <a:prstGeom prst="curvedConnector2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de seta reta 65"/>
          <p:cNvCxnSpPr>
            <a:stCxn id="56" idx="7"/>
            <a:endCxn id="59" idx="3"/>
          </p:cNvCxnSpPr>
          <p:nvPr/>
        </p:nvCxnSpPr>
        <p:spPr>
          <a:xfrm flipV="1">
            <a:off x="2069564" y="2675292"/>
            <a:ext cx="439908" cy="46110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5" idx="6"/>
            <a:endCxn id="56" idx="1"/>
          </p:cNvCxnSpPr>
          <p:nvPr/>
        </p:nvCxnSpPr>
        <p:spPr>
          <a:xfrm>
            <a:off x="1416549" y="2675293"/>
            <a:ext cx="490312" cy="46110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de seta reta 67"/>
          <p:cNvCxnSpPr>
            <a:stCxn id="54" idx="5"/>
            <a:endCxn id="59" idx="1"/>
          </p:cNvCxnSpPr>
          <p:nvPr/>
        </p:nvCxnSpPr>
        <p:spPr>
          <a:xfrm>
            <a:off x="2063347" y="2098520"/>
            <a:ext cx="446125" cy="417697"/>
          </a:xfrm>
          <a:prstGeom prst="straightConnector1">
            <a:avLst/>
          </a:prstGeom>
          <a:ln w="28575">
            <a:solidFill>
              <a:srgbClr val="00B0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0" idx="1"/>
            <a:endCxn id="59" idx="5"/>
          </p:cNvCxnSpPr>
          <p:nvPr/>
        </p:nvCxnSpPr>
        <p:spPr>
          <a:xfrm flipH="1" flipV="1">
            <a:off x="2694765" y="2675292"/>
            <a:ext cx="855621" cy="540644"/>
          </a:xfrm>
          <a:prstGeom prst="straightConnector1">
            <a:avLst/>
          </a:prstGeom>
          <a:ln w="28575">
            <a:solidFill>
              <a:srgbClr val="FFC00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aixaDeTexto 69"/>
          <p:cNvSpPr txBox="1"/>
          <p:nvPr/>
        </p:nvSpPr>
        <p:spPr>
          <a:xfrm>
            <a:off x="917256" y="1782754"/>
            <a:ext cx="388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</a:p>
        </p:txBody>
      </p:sp>
      <p:cxnSp>
        <p:nvCxnSpPr>
          <p:cNvPr id="71" name="Conector de seta reta 19"/>
          <p:cNvCxnSpPr>
            <a:stCxn id="58" idx="6"/>
            <a:endCxn id="60" idx="4"/>
          </p:cNvCxnSpPr>
          <p:nvPr/>
        </p:nvCxnSpPr>
        <p:spPr>
          <a:xfrm flipV="1">
            <a:off x="2963237" y="3407956"/>
            <a:ext cx="668501" cy="463273"/>
          </a:xfrm>
          <a:prstGeom prst="curvedConnector2">
            <a:avLst/>
          </a:prstGeom>
          <a:ln w="28575">
            <a:solidFill>
              <a:srgbClr val="FF000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tângulo de cantos arredondados 23"/>
          <p:cNvSpPr/>
          <p:nvPr/>
        </p:nvSpPr>
        <p:spPr>
          <a:xfrm rot="2619333">
            <a:off x="1237183" y="1898239"/>
            <a:ext cx="1452431" cy="1498413"/>
          </a:xfrm>
          <a:prstGeom prst="roundRect">
            <a:avLst>
              <a:gd name="adj" fmla="val 22011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de cantos arredondados 24"/>
          <p:cNvSpPr/>
          <p:nvPr/>
        </p:nvSpPr>
        <p:spPr>
          <a:xfrm rot="19706276">
            <a:off x="2422599" y="3254883"/>
            <a:ext cx="1627019" cy="674005"/>
          </a:xfrm>
          <a:prstGeom prst="roundRect">
            <a:avLst>
              <a:gd name="adj" fmla="val 41626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/>
          <p:cNvSpPr/>
          <p:nvPr/>
        </p:nvSpPr>
        <p:spPr>
          <a:xfrm>
            <a:off x="1078442" y="3584833"/>
            <a:ext cx="639022" cy="596016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/>
          <p:cNvSpPr/>
          <p:nvPr/>
        </p:nvSpPr>
        <p:spPr>
          <a:xfrm>
            <a:off x="6021767" y="1902028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28" name="Elipse 27"/>
          <p:cNvSpPr/>
          <p:nvPr/>
        </p:nvSpPr>
        <p:spPr>
          <a:xfrm>
            <a:off x="5341272" y="2558338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29" name="Elipse 28"/>
          <p:cNvSpPr/>
          <p:nvPr/>
        </p:nvSpPr>
        <p:spPr>
          <a:xfrm>
            <a:off x="6027984" y="3098981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30" name="Elipse 29"/>
          <p:cNvSpPr/>
          <p:nvPr/>
        </p:nvSpPr>
        <p:spPr>
          <a:xfrm>
            <a:off x="5458851" y="3754274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31" name="Elipse 30"/>
          <p:cNvSpPr/>
          <p:nvPr/>
        </p:nvSpPr>
        <p:spPr>
          <a:xfrm>
            <a:off x="6887960" y="3754274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32" name="Elipse 31"/>
          <p:cNvSpPr/>
          <p:nvPr/>
        </p:nvSpPr>
        <p:spPr>
          <a:xfrm>
            <a:off x="6625917" y="2478800"/>
            <a:ext cx="262043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33" name="Elipse 32"/>
          <p:cNvSpPr/>
          <p:nvPr/>
        </p:nvSpPr>
        <p:spPr>
          <a:xfrm>
            <a:off x="7671509" y="3178519"/>
            <a:ext cx="230097" cy="224965"/>
          </a:xfrm>
          <a:prstGeom prst="ellips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34" name="Conector de seta reta 33"/>
          <p:cNvCxnSpPr>
            <a:stCxn id="28" idx="7"/>
            <a:endCxn id="27" idx="3"/>
          </p:cNvCxnSpPr>
          <p:nvPr/>
        </p:nvCxnSpPr>
        <p:spPr>
          <a:xfrm flipV="1">
            <a:off x="5537672" y="2094048"/>
            <a:ext cx="517792" cy="497235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28" idx="4"/>
            <a:endCxn id="30" idx="1"/>
          </p:cNvCxnSpPr>
          <p:nvPr/>
        </p:nvCxnSpPr>
        <p:spPr>
          <a:xfrm>
            <a:off x="5456321" y="2783303"/>
            <a:ext cx="36227" cy="1003916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/>
          <p:cNvCxnSpPr>
            <a:stCxn id="29" idx="5"/>
            <a:endCxn id="31" idx="1"/>
          </p:cNvCxnSpPr>
          <p:nvPr/>
        </p:nvCxnSpPr>
        <p:spPr>
          <a:xfrm>
            <a:off x="6224384" y="3291001"/>
            <a:ext cx="697273" cy="49621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>
            <a:stCxn id="30" idx="6"/>
            <a:endCxn id="31" idx="2"/>
          </p:cNvCxnSpPr>
          <p:nvPr/>
        </p:nvCxnSpPr>
        <p:spPr>
          <a:xfrm>
            <a:off x="5688948" y="3866757"/>
            <a:ext cx="1199012" cy="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19"/>
          <p:cNvCxnSpPr>
            <a:stCxn id="31" idx="0"/>
            <a:endCxn id="33" idx="2"/>
          </p:cNvCxnSpPr>
          <p:nvPr/>
        </p:nvCxnSpPr>
        <p:spPr>
          <a:xfrm rot="5400000" flipH="1" flipV="1">
            <a:off x="7105623" y="3188388"/>
            <a:ext cx="463272" cy="668500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29" idx="7"/>
            <a:endCxn id="32" idx="3"/>
          </p:cNvCxnSpPr>
          <p:nvPr/>
        </p:nvCxnSpPr>
        <p:spPr>
          <a:xfrm flipV="1">
            <a:off x="6224384" y="2670820"/>
            <a:ext cx="439908" cy="461106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>
            <a:stCxn id="28" idx="6"/>
            <a:endCxn id="29" idx="1"/>
          </p:cNvCxnSpPr>
          <p:nvPr/>
        </p:nvCxnSpPr>
        <p:spPr>
          <a:xfrm>
            <a:off x="5571369" y="2670821"/>
            <a:ext cx="490312" cy="461105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>
            <a:stCxn id="27" idx="5"/>
            <a:endCxn id="32" idx="1"/>
          </p:cNvCxnSpPr>
          <p:nvPr/>
        </p:nvCxnSpPr>
        <p:spPr>
          <a:xfrm>
            <a:off x="6218167" y="2094048"/>
            <a:ext cx="446125" cy="417697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33" idx="1"/>
            <a:endCxn id="32" idx="5"/>
          </p:cNvCxnSpPr>
          <p:nvPr/>
        </p:nvCxnSpPr>
        <p:spPr>
          <a:xfrm flipH="1" flipV="1">
            <a:off x="6849585" y="2670820"/>
            <a:ext cx="855621" cy="540644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5108945" y="177828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44" name="Conector de seta reta 19"/>
          <p:cNvCxnSpPr>
            <a:stCxn id="31" idx="6"/>
            <a:endCxn id="33" idx="4"/>
          </p:cNvCxnSpPr>
          <p:nvPr/>
        </p:nvCxnSpPr>
        <p:spPr>
          <a:xfrm flipV="1">
            <a:off x="7118057" y="3403484"/>
            <a:ext cx="668501" cy="463273"/>
          </a:xfrm>
          <a:prstGeom prst="curvedConnector2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tângulo de cantos arredondados 44"/>
          <p:cNvSpPr/>
          <p:nvPr/>
        </p:nvSpPr>
        <p:spPr>
          <a:xfrm rot="2619333">
            <a:off x="5410599" y="1882154"/>
            <a:ext cx="1452431" cy="1498413"/>
          </a:xfrm>
          <a:prstGeom prst="roundRect">
            <a:avLst>
              <a:gd name="adj" fmla="val 22011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tângulo de cantos arredondados 48"/>
          <p:cNvSpPr/>
          <p:nvPr/>
        </p:nvSpPr>
        <p:spPr>
          <a:xfrm rot="19706276">
            <a:off x="6596015" y="3238798"/>
            <a:ext cx="1627019" cy="674005"/>
          </a:xfrm>
          <a:prstGeom prst="roundRect">
            <a:avLst>
              <a:gd name="adj" fmla="val 41626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/>
          <p:cNvSpPr/>
          <p:nvPr/>
        </p:nvSpPr>
        <p:spPr>
          <a:xfrm>
            <a:off x="5251858" y="3568748"/>
            <a:ext cx="639022" cy="596016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 para a direita 6"/>
          <p:cNvSpPr/>
          <p:nvPr/>
        </p:nvSpPr>
        <p:spPr>
          <a:xfrm>
            <a:off x="4368956" y="2511745"/>
            <a:ext cx="427289" cy="494519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408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Separabilidade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447016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Corte de Vértices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conexo não direcionado G = (V, E), 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corte de vértices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G é  um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subconjunto </a:t>
            </a:r>
            <a:r>
              <a:rPr lang="pt-BR" sz="2000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minimal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vértices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V’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cuja remoção transforma G em um grafo desconexo ou trivial (isto é, com apenas um vértice).</a:t>
            </a:r>
          </a:p>
        </p:txBody>
      </p:sp>
      <p:cxnSp>
        <p:nvCxnSpPr>
          <p:cNvPr id="6" name="Conector de seta reta 5"/>
          <p:cNvCxnSpPr>
            <a:stCxn id="16" idx="5"/>
            <a:endCxn id="18" idx="1"/>
          </p:cNvCxnSpPr>
          <p:nvPr/>
        </p:nvCxnSpPr>
        <p:spPr>
          <a:xfrm>
            <a:off x="1589288" y="3244974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>
            <a:stCxn id="16" idx="6"/>
            <a:endCxn id="17" idx="2"/>
          </p:cNvCxnSpPr>
          <p:nvPr/>
        </p:nvCxnSpPr>
        <p:spPr>
          <a:xfrm flipV="1">
            <a:off x="1622985" y="3160443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646611" y="275977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9" name="Conector de seta reta 8"/>
          <p:cNvCxnSpPr>
            <a:stCxn id="17" idx="4"/>
            <a:endCxn id="18" idx="0"/>
          </p:cNvCxnSpPr>
          <p:nvPr/>
        </p:nvCxnSpPr>
        <p:spPr>
          <a:xfrm>
            <a:off x="2433112" y="3272925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15" idx="7"/>
            <a:endCxn id="17" idx="3"/>
          </p:cNvCxnSpPr>
          <p:nvPr/>
        </p:nvCxnSpPr>
        <p:spPr>
          <a:xfrm flipV="1">
            <a:off x="1585472" y="3239980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16" idx="2"/>
            <a:endCxn id="20" idx="7"/>
          </p:cNvCxnSpPr>
          <p:nvPr/>
        </p:nvCxnSpPr>
        <p:spPr>
          <a:xfrm flipH="1">
            <a:off x="1006229" y="3165437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 flipH="1" flipV="1">
            <a:off x="1030667" y="3611065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17" idx="6"/>
            <a:endCxn id="19" idx="1"/>
          </p:cNvCxnSpPr>
          <p:nvPr/>
        </p:nvCxnSpPr>
        <p:spPr>
          <a:xfrm>
            <a:off x="2548160" y="3160443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8" idx="6"/>
            <a:endCxn id="19" idx="3"/>
          </p:cNvCxnSpPr>
          <p:nvPr/>
        </p:nvCxnSpPr>
        <p:spPr>
          <a:xfrm flipV="1">
            <a:off x="2554211" y="3607769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1389072" y="379306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6" name="Elipse 15"/>
          <p:cNvSpPr/>
          <p:nvPr/>
        </p:nvSpPr>
        <p:spPr>
          <a:xfrm>
            <a:off x="1392888" y="30529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" name="Elipse 16"/>
          <p:cNvSpPr/>
          <p:nvPr/>
        </p:nvSpPr>
        <p:spPr>
          <a:xfrm>
            <a:off x="2318063" y="304796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8" name="Elipse 17"/>
          <p:cNvSpPr/>
          <p:nvPr/>
        </p:nvSpPr>
        <p:spPr>
          <a:xfrm>
            <a:off x="2324114" y="3790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9" name="Elipse 18"/>
          <p:cNvSpPr/>
          <p:nvPr/>
        </p:nvSpPr>
        <p:spPr>
          <a:xfrm>
            <a:off x="2907587" y="34157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ipse 19"/>
          <p:cNvSpPr/>
          <p:nvPr/>
        </p:nvSpPr>
        <p:spPr>
          <a:xfrm>
            <a:off x="809829" y="341904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1" name="Conector de seta reta 20"/>
          <p:cNvCxnSpPr/>
          <p:nvPr/>
        </p:nvCxnSpPr>
        <p:spPr>
          <a:xfrm flipV="1">
            <a:off x="1643607" y="3902617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635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Corte de Vértices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conexo não direcionado G = (V, E), 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corte de vértices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G é  um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subconjunto </a:t>
            </a:r>
            <a:r>
              <a:rPr lang="pt-BR" sz="2000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minimal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vértices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V’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cuja remoção transforma G em um grafo desconexo ou trivial (isto é, com apenas um vértice).</a:t>
            </a:r>
          </a:p>
        </p:txBody>
      </p:sp>
      <p:cxnSp>
        <p:nvCxnSpPr>
          <p:cNvPr id="6" name="Conector de seta reta 5"/>
          <p:cNvCxnSpPr>
            <a:stCxn id="16" idx="5"/>
            <a:endCxn id="18" idx="1"/>
          </p:cNvCxnSpPr>
          <p:nvPr/>
        </p:nvCxnSpPr>
        <p:spPr>
          <a:xfrm>
            <a:off x="1589288" y="3244974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>
            <a:stCxn id="16" idx="6"/>
            <a:endCxn id="17" idx="2"/>
          </p:cNvCxnSpPr>
          <p:nvPr/>
        </p:nvCxnSpPr>
        <p:spPr>
          <a:xfrm flipV="1">
            <a:off x="1622985" y="3160443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646611" y="275977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9" name="Conector de seta reta 8"/>
          <p:cNvCxnSpPr>
            <a:stCxn id="17" idx="4"/>
            <a:endCxn id="18" idx="0"/>
          </p:cNvCxnSpPr>
          <p:nvPr/>
        </p:nvCxnSpPr>
        <p:spPr>
          <a:xfrm>
            <a:off x="2433112" y="3272925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15" idx="7"/>
            <a:endCxn id="17" idx="3"/>
          </p:cNvCxnSpPr>
          <p:nvPr/>
        </p:nvCxnSpPr>
        <p:spPr>
          <a:xfrm flipV="1">
            <a:off x="1585472" y="3239980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16" idx="2"/>
            <a:endCxn id="20" idx="7"/>
          </p:cNvCxnSpPr>
          <p:nvPr/>
        </p:nvCxnSpPr>
        <p:spPr>
          <a:xfrm flipH="1">
            <a:off x="1006229" y="3165437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 flipH="1" flipV="1">
            <a:off x="1030667" y="3611065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17" idx="6"/>
            <a:endCxn id="19" idx="1"/>
          </p:cNvCxnSpPr>
          <p:nvPr/>
        </p:nvCxnSpPr>
        <p:spPr>
          <a:xfrm>
            <a:off x="2548160" y="3160443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8" idx="6"/>
            <a:endCxn id="19" idx="3"/>
          </p:cNvCxnSpPr>
          <p:nvPr/>
        </p:nvCxnSpPr>
        <p:spPr>
          <a:xfrm flipV="1">
            <a:off x="2554211" y="3607769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1389072" y="379306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6" name="Elipse 15"/>
          <p:cNvSpPr/>
          <p:nvPr/>
        </p:nvSpPr>
        <p:spPr>
          <a:xfrm>
            <a:off x="1392888" y="30529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" name="Elipse 16"/>
          <p:cNvSpPr/>
          <p:nvPr/>
        </p:nvSpPr>
        <p:spPr>
          <a:xfrm>
            <a:off x="2318063" y="304796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8" name="Elipse 17"/>
          <p:cNvSpPr/>
          <p:nvPr/>
        </p:nvSpPr>
        <p:spPr>
          <a:xfrm>
            <a:off x="2324114" y="3790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9" name="Elipse 18"/>
          <p:cNvSpPr/>
          <p:nvPr/>
        </p:nvSpPr>
        <p:spPr>
          <a:xfrm>
            <a:off x="2907587" y="34157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ipse 19"/>
          <p:cNvSpPr/>
          <p:nvPr/>
        </p:nvSpPr>
        <p:spPr>
          <a:xfrm>
            <a:off x="809829" y="341904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1" name="Conector de seta reta 20"/>
          <p:cNvCxnSpPr/>
          <p:nvPr/>
        </p:nvCxnSpPr>
        <p:spPr>
          <a:xfrm flipV="1">
            <a:off x="1643607" y="3902617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ângulo de cantos arredondados 21"/>
          <p:cNvSpPr/>
          <p:nvPr/>
        </p:nvSpPr>
        <p:spPr>
          <a:xfrm>
            <a:off x="1229861" y="2896539"/>
            <a:ext cx="544891" cy="1237800"/>
          </a:xfrm>
          <a:prstGeom prst="round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/>
          <p:cNvSpPr txBox="1"/>
          <p:nvPr/>
        </p:nvSpPr>
        <p:spPr>
          <a:xfrm>
            <a:off x="1918632" y="2495112"/>
            <a:ext cx="2045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Corte de vértices = { a, e }</a:t>
            </a:r>
          </a:p>
        </p:txBody>
      </p:sp>
      <p:cxnSp>
        <p:nvCxnSpPr>
          <p:cNvPr id="27" name="Conector de seta reta 26"/>
          <p:cNvCxnSpPr/>
          <p:nvPr/>
        </p:nvCxnSpPr>
        <p:spPr>
          <a:xfrm flipH="1">
            <a:off x="1722541" y="2697675"/>
            <a:ext cx="246075" cy="142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6263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Corte de Vértices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conexo não direcionado G = (V, E), 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corte de vértices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G é  um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subconjunto </a:t>
            </a:r>
            <a:r>
              <a:rPr lang="pt-BR" sz="2000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minimal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vértices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V’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cuja remoção transforma G em um grafo desconexo ou trivial (isto é, com apenas um vértice).</a:t>
            </a:r>
          </a:p>
        </p:txBody>
      </p:sp>
      <p:cxnSp>
        <p:nvCxnSpPr>
          <p:cNvPr id="6" name="Conector de seta reta 5"/>
          <p:cNvCxnSpPr>
            <a:stCxn id="16" idx="5"/>
            <a:endCxn id="18" idx="1"/>
          </p:cNvCxnSpPr>
          <p:nvPr/>
        </p:nvCxnSpPr>
        <p:spPr>
          <a:xfrm>
            <a:off x="1589288" y="3244974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>
            <a:stCxn id="16" idx="6"/>
            <a:endCxn id="17" idx="2"/>
          </p:cNvCxnSpPr>
          <p:nvPr/>
        </p:nvCxnSpPr>
        <p:spPr>
          <a:xfrm flipV="1">
            <a:off x="1622985" y="3160443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646611" y="275977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9" name="Conector de seta reta 8"/>
          <p:cNvCxnSpPr>
            <a:stCxn id="17" idx="4"/>
            <a:endCxn id="18" idx="0"/>
          </p:cNvCxnSpPr>
          <p:nvPr/>
        </p:nvCxnSpPr>
        <p:spPr>
          <a:xfrm>
            <a:off x="2433112" y="3272925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15" idx="7"/>
            <a:endCxn id="17" idx="3"/>
          </p:cNvCxnSpPr>
          <p:nvPr/>
        </p:nvCxnSpPr>
        <p:spPr>
          <a:xfrm flipV="1">
            <a:off x="1585472" y="3239980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16" idx="2"/>
            <a:endCxn id="20" idx="7"/>
          </p:cNvCxnSpPr>
          <p:nvPr/>
        </p:nvCxnSpPr>
        <p:spPr>
          <a:xfrm flipH="1">
            <a:off x="1006229" y="3165437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 flipH="1" flipV="1">
            <a:off x="1030667" y="3611065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17" idx="6"/>
            <a:endCxn id="19" idx="1"/>
          </p:cNvCxnSpPr>
          <p:nvPr/>
        </p:nvCxnSpPr>
        <p:spPr>
          <a:xfrm>
            <a:off x="2548160" y="3160443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8" idx="6"/>
            <a:endCxn id="19" idx="3"/>
          </p:cNvCxnSpPr>
          <p:nvPr/>
        </p:nvCxnSpPr>
        <p:spPr>
          <a:xfrm flipV="1">
            <a:off x="2554211" y="3607769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1389072" y="379306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6" name="Elipse 15"/>
          <p:cNvSpPr/>
          <p:nvPr/>
        </p:nvSpPr>
        <p:spPr>
          <a:xfrm>
            <a:off x="1392888" y="30529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" name="Elipse 16"/>
          <p:cNvSpPr/>
          <p:nvPr/>
        </p:nvSpPr>
        <p:spPr>
          <a:xfrm>
            <a:off x="2318063" y="304796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8" name="Elipse 17"/>
          <p:cNvSpPr/>
          <p:nvPr/>
        </p:nvSpPr>
        <p:spPr>
          <a:xfrm>
            <a:off x="2324114" y="3790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9" name="Elipse 18"/>
          <p:cNvSpPr/>
          <p:nvPr/>
        </p:nvSpPr>
        <p:spPr>
          <a:xfrm>
            <a:off x="2907587" y="34157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ipse 19"/>
          <p:cNvSpPr/>
          <p:nvPr/>
        </p:nvSpPr>
        <p:spPr>
          <a:xfrm>
            <a:off x="809829" y="341904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1" name="Conector de seta reta 20"/>
          <p:cNvCxnSpPr/>
          <p:nvPr/>
        </p:nvCxnSpPr>
        <p:spPr>
          <a:xfrm flipV="1">
            <a:off x="1643607" y="3902617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ângulo de cantos arredondados 21"/>
          <p:cNvSpPr/>
          <p:nvPr/>
        </p:nvSpPr>
        <p:spPr>
          <a:xfrm>
            <a:off x="1229861" y="2896539"/>
            <a:ext cx="544891" cy="1237800"/>
          </a:xfrm>
          <a:prstGeom prst="round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/>
          <p:cNvSpPr txBox="1"/>
          <p:nvPr/>
        </p:nvSpPr>
        <p:spPr>
          <a:xfrm>
            <a:off x="1918632" y="2495112"/>
            <a:ext cx="2045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Corte de vértices = { a, e }</a:t>
            </a:r>
          </a:p>
        </p:txBody>
      </p:sp>
      <p:cxnSp>
        <p:nvCxnSpPr>
          <p:cNvPr id="27" name="Conector de seta reta 26"/>
          <p:cNvCxnSpPr/>
          <p:nvPr/>
        </p:nvCxnSpPr>
        <p:spPr>
          <a:xfrm flipH="1">
            <a:off x="1722541" y="2697675"/>
            <a:ext cx="246075" cy="142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5576921" y="2749655"/>
            <a:ext cx="10967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(G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)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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</a:t>
            </a:r>
          </a:p>
        </p:txBody>
      </p:sp>
      <p:cxnSp>
        <p:nvCxnSpPr>
          <p:cNvPr id="30" name="Conector de seta reta 29"/>
          <p:cNvCxnSpPr>
            <a:stCxn id="38" idx="4"/>
            <a:endCxn id="39" idx="0"/>
          </p:cNvCxnSpPr>
          <p:nvPr/>
        </p:nvCxnSpPr>
        <p:spPr>
          <a:xfrm>
            <a:off x="7213026" y="3272925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/>
          <p:cNvCxnSpPr>
            <a:stCxn id="38" idx="6"/>
            <a:endCxn id="40" idx="1"/>
          </p:cNvCxnSpPr>
          <p:nvPr/>
        </p:nvCxnSpPr>
        <p:spPr>
          <a:xfrm>
            <a:off x="7328074" y="3160443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39" idx="6"/>
            <a:endCxn id="40" idx="3"/>
          </p:cNvCxnSpPr>
          <p:nvPr/>
        </p:nvCxnSpPr>
        <p:spPr>
          <a:xfrm flipV="1">
            <a:off x="7334125" y="3607769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/>
          <p:nvPr/>
        </p:nvSpPr>
        <p:spPr>
          <a:xfrm>
            <a:off x="7097977" y="304796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9" name="Elipse 38"/>
          <p:cNvSpPr/>
          <p:nvPr/>
        </p:nvSpPr>
        <p:spPr>
          <a:xfrm>
            <a:off x="7104028" y="3790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0" name="Elipse 39"/>
          <p:cNvSpPr/>
          <p:nvPr/>
        </p:nvSpPr>
        <p:spPr>
          <a:xfrm>
            <a:off x="7687501" y="34157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1" name="Elipse 40"/>
          <p:cNvSpPr/>
          <p:nvPr/>
        </p:nvSpPr>
        <p:spPr>
          <a:xfrm>
            <a:off x="5589743" y="341904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314669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Corte de Vértices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conexo não direcionado G = (V, E), 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corte de vértices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G é  um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subconjunto </a:t>
            </a:r>
            <a:r>
              <a:rPr lang="pt-BR" sz="2000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minimal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vértices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V’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cuja remoção transforma G em um grafo desconexo ou trivial (isto é, com apenas um vértice).</a:t>
            </a:r>
          </a:p>
        </p:txBody>
      </p:sp>
      <p:cxnSp>
        <p:nvCxnSpPr>
          <p:cNvPr id="6" name="Conector de seta reta 5"/>
          <p:cNvCxnSpPr>
            <a:stCxn id="16" idx="5"/>
            <a:endCxn id="18" idx="1"/>
          </p:cNvCxnSpPr>
          <p:nvPr/>
        </p:nvCxnSpPr>
        <p:spPr>
          <a:xfrm>
            <a:off x="1589288" y="3244974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>
            <a:stCxn id="16" idx="6"/>
            <a:endCxn id="17" idx="2"/>
          </p:cNvCxnSpPr>
          <p:nvPr/>
        </p:nvCxnSpPr>
        <p:spPr>
          <a:xfrm flipV="1">
            <a:off x="1622985" y="3160443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646611" y="275977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9" name="Conector de seta reta 8"/>
          <p:cNvCxnSpPr>
            <a:stCxn id="17" idx="4"/>
            <a:endCxn id="18" idx="0"/>
          </p:cNvCxnSpPr>
          <p:nvPr/>
        </p:nvCxnSpPr>
        <p:spPr>
          <a:xfrm>
            <a:off x="2433112" y="3272925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15" idx="7"/>
            <a:endCxn id="17" idx="3"/>
          </p:cNvCxnSpPr>
          <p:nvPr/>
        </p:nvCxnSpPr>
        <p:spPr>
          <a:xfrm flipV="1">
            <a:off x="1585472" y="3239980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16" idx="2"/>
            <a:endCxn id="20" idx="7"/>
          </p:cNvCxnSpPr>
          <p:nvPr/>
        </p:nvCxnSpPr>
        <p:spPr>
          <a:xfrm flipH="1">
            <a:off x="1006229" y="3165437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 flipH="1" flipV="1">
            <a:off x="1030667" y="3611065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17" idx="6"/>
            <a:endCxn id="19" idx="1"/>
          </p:cNvCxnSpPr>
          <p:nvPr/>
        </p:nvCxnSpPr>
        <p:spPr>
          <a:xfrm>
            <a:off x="2548160" y="3160443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8" idx="6"/>
            <a:endCxn id="19" idx="3"/>
          </p:cNvCxnSpPr>
          <p:nvPr/>
        </p:nvCxnSpPr>
        <p:spPr>
          <a:xfrm flipV="1">
            <a:off x="2554211" y="3607769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1389072" y="379306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6" name="Elipse 15"/>
          <p:cNvSpPr/>
          <p:nvPr/>
        </p:nvSpPr>
        <p:spPr>
          <a:xfrm>
            <a:off x="1392888" y="30529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" name="Elipse 16"/>
          <p:cNvSpPr/>
          <p:nvPr/>
        </p:nvSpPr>
        <p:spPr>
          <a:xfrm>
            <a:off x="2318063" y="304796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8" name="Elipse 17"/>
          <p:cNvSpPr/>
          <p:nvPr/>
        </p:nvSpPr>
        <p:spPr>
          <a:xfrm>
            <a:off x="2324114" y="3790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9" name="Elipse 18"/>
          <p:cNvSpPr/>
          <p:nvPr/>
        </p:nvSpPr>
        <p:spPr>
          <a:xfrm>
            <a:off x="2907587" y="34157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ipse 19"/>
          <p:cNvSpPr/>
          <p:nvPr/>
        </p:nvSpPr>
        <p:spPr>
          <a:xfrm>
            <a:off x="809829" y="341904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1" name="Conector de seta reta 20"/>
          <p:cNvCxnSpPr/>
          <p:nvPr/>
        </p:nvCxnSpPr>
        <p:spPr>
          <a:xfrm flipV="1">
            <a:off x="1643607" y="3902617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/>
          <p:nvPr/>
        </p:nvCxnSpPr>
        <p:spPr>
          <a:xfrm flipH="1" flipV="1">
            <a:off x="1681746" y="4025820"/>
            <a:ext cx="275023" cy="242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/>
          <p:cNvSpPr/>
          <p:nvPr/>
        </p:nvSpPr>
        <p:spPr>
          <a:xfrm>
            <a:off x="1304107" y="3720888"/>
            <a:ext cx="390769" cy="373783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/>
          <p:cNvSpPr txBox="1"/>
          <p:nvPr/>
        </p:nvSpPr>
        <p:spPr>
          <a:xfrm>
            <a:off x="1918631" y="4153454"/>
            <a:ext cx="3154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Conjunto { e } não é um corte de vértices</a:t>
            </a:r>
          </a:p>
        </p:txBody>
      </p:sp>
      <p:cxnSp>
        <p:nvCxnSpPr>
          <p:cNvPr id="26" name="Conector de seta reta 25"/>
          <p:cNvCxnSpPr>
            <a:stCxn id="37" idx="5"/>
            <a:endCxn id="39" idx="1"/>
          </p:cNvCxnSpPr>
          <p:nvPr/>
        </p:nvCxnSpPr>
        <p:spPr>
          <a:xfrm>
            <a:off x="6369202" y="3244974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>
            <a:stCxn id="37" idx="6"/>
            <a:endCxn id="38" idx="2"/>
          </p:cNvCxnSpPr>
          <p:nvPr/>
        </p:nvCxnSpPr>
        <p:spPr>
          <a:xfrm flipV="1">
            <a:off x="6402899" y="3160443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5272638" y="2759779"/>
            <a:ext cx="6222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</a:t>
            </a:r>
          </a:p>
        </p:txBody>
      </p:sp>
      <p:cxnSp>
        <p:nvCxnSpPr>
          <p:cNvPr id="30" name="Conector de seta reta 29"/>
          <p:cNvCxnSpPr>
            <a:stCxn id="38" idx="4"/>
            <a:endCxn id="39" idx="0"/>
          </p:cNvCxnSpPr>
          <p:nvPr/>
        </p:nvCxnSpPr>
        <p:spPr>
          <a:xfrm>
            <a:off x="7213026" y="3272925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>
            <a:stCxn id="37" idx="2"/>
            <a:endCxn id="41" idx="7"/>
          </p:cNvCxnSpPr>
          <p:nvPr/>
        </p:nvCxnSpPr>
        <p:spPr>
          <a:xfrm flipH="1">
            <a:off x="5786143" y="3165437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/>
          <p:cNvCxnSpPr>
            <a:stCxn id="38" idx="6"/>
            <a:endCxn id="40" idx="1"/>
          </p:cNvCxnSpPr>
          <p:nvPr/>
        </p:nvCxnSpPr>
        <p:spPr>
          <a:xfrm>
            <a:off x="7328074" y="3160443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39" idx="6"/>
            <a:endCxn id="40" idx="3"/>
          </p:cNvCxnSpPr>
          <p:nvPr/>
        </p:nvCxnSpPr>
        <p:spPr>
          <a:xfrm flipV="1">
            <a:off x="7334125" y="3607769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6172802" y="30529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8" name="Elipse 37"/>
          <p:cNvSpPr/>
          <p:nvPr/>
        </p:nvSpPr>
        <p:spPr>
          <a:xfrm>
            <a:off x="7097977" y="304796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9" name="Elipse 38"/>
          <p:cNvSpPr/>
          <p:nvPr/>
        </p:nvSpPr>
        <p:spPr>
          <a:xfrm>
            <a:off x="7104028" y="3790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0" name="Elipse 39"/>
          <p:cNvSpPr/>
          <p:nvPr/>
        </p:nvSpPr>
        <p:spPr>
          <a:xfrm>
            <a:off x="7687501" y="34157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1" name="Elipse 40"/>
          <p:cNvSpPr/>
          <p:nvPr/>
        </p:nvSpPr>
        <p:spPr>
          <a:xfrm>
            <a:off x="5589743" y="341904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682260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Corte de Arestas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conexo não direcionado G = (V, E), 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corte de arestas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G é  um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subconjunto </a:t>
            </a:r>
            <a:r>
              <a:rPr lang="pt-BR" sz="2000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minimal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arestas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E’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 cuja remoção transforma G em um grafo desconexo.</a:t>
            </a:r>
          </a:p>
        </p:txBody>
      </p:sp>
      <p:cxnSp>
        <p:nvCxnSpPr>
          <p:cNvPr id="6" name="Conector de seta reta 5"/>
          <p:cNvCxnSpPr>
            <a:stCxn id="16" idx="5"/>
            <a:endCxn id="18" idx="1"/>
          </p:cNvCxnSpPr>
          <p:nvPr/>
        </p:nvCxnSpPr>
        <p:spPr>
          <a:xfrm>
            <a:off x="1589288" y="3244974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>
            <a:stCxn id="16" idx="6"/>
            <a:endCxn id="17" idx="2"/>
          </p:cNvCxnSpPr>
          <p:nvPr/>
        </p:nvCxnSpPr>
        <p:spPr>
          <a:xfrm flipV="1">
            <a:off x="1622985" y="3160443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646611" y="275977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9" name="Conector de seta reta 8"/>
          <p:cNvCxnSpPr>
            <a:stCxn id="17" idx="4"/>
            <a:endCxn id="18" idx="0"/>
          </p:cNvCxnSpPr>
          <p:nvPr/>
        </p:nvCxnSpPr>
        <p:spPr>
          <a:xfrm>
            <a:off x="2433112" y="3272925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15" idx="7"/>
            <a:endCxn id="17" idx="3"/>
          </p:cNvCxnSpPr>
          <p:nvPr/>
        </p:nvCxnSpPr>
        <p:spPr>
          <a:xfrm flipV="1">
            <a:off x="1585472" y="3239980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16" idx="2"/>
            <a:endCxn id="20" idx="7"/>
          </p:cNvCxnSpPr>
          <p:nvPr/>
        </p:nvCxnSpPr>
        <p:spPr>
          <a:xfrm flipH="1">
            <a:off x="1006229" y="3165437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 flipH="1" flipV="1">
            <a:off x="1030667" y="3611065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17" idx="6"/>
            <a:endCxn id="19" idx="1"/>
          </p:cNvCxnSpPr>
          <p:nvPr/>
        </p:nvCxnSpPr>
        <p:spPr>
          <a:xfrm>
            <a:off x="2548160" y="3160443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8" idx="6"/>
            <a:endCxn id="19" idx="3"/>
          </p:cNvCxnSpPr>
          <p:nvPr/>
        </p:nvCxnSpPr>
        <p:spPr>
          <a:xfrm flipV="1">
            <a:off x="2554211" y="3607769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1389072" y="379306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6" name="Elipse 15"/>
          <p:cNvSpPr/>
          <p:nvPr/>
        </p:nvSpPr>
        <p:spPr>
          <a:xfrm>
            <a:off x="1392888" y="30529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" name="Elipse 16"/>
          <p:cNvSpPr/>
          <p:nvPr/>
        </p:nvSpPr>
        <p:spPr>
          <a:xfrm>
            <a:off x="2318063" y="304796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8" name="Elipse 17"/>
          <p:cNvSpPr/>
          <p:nvPr/>
        </p:nvSpPr>
        <p:spPr>
          <a:xfrm>
            <a:off x="2324114" y="3790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9" name="Elipse 18"/>
          <p:cNvSpPr/>
          <p:nvPr/>
        </p:nvSpPr>
        <p:spPr>
          <a:xfrm>
            <a:off x="2907587" y="34157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ipse 19"/>
          <p:cNvSpPr/>
          <p:nvPr/>
        </p:nvSpPr>
        <p:spPr>
          <a:xfrm>
            <a:off x="809829" y="341904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1" name="Conector de seta reta 20"/>
          <p:cNvCxnSpPr/>
          <p:nvPr/>
        </p:nvCxnSpPr>
        <p:spPr>
          <a:xfrm flipV="1">
            <a:off x="1643607" y="3902617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434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Corte de Arestas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conexo não direcionado G = (V, E), 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corte de arestas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G é  um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subconjunto </a:t>
            </a:r>
            <a:r>
              <a:rPr lang="pt-BR" sz="2000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minimal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arestas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E’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 cuja remoção transforma G em um grafo desconexo.</a:t>
            </a:r>
          </a:p>
        </p:txBody>
      </p:sp>
      <p:cxnSp>
        <p:nvCxnSpPr>
          <p:cNvPr id="6" name="Conector de seta reta 5"/>
          <p:cNvCxnSpPr>
            <a:stCxn id="16" idx="5"/>
            <a:endCxn id="18" idx="1"/>
          </p:cNvCxnSpPr>
          <p:nvPr/>
        </p:nvCxnSpPr>
        <p:spPr>
          <a:xfrm>
            <a:off x="1589288" y="3244974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>
            <a:stCxn id="16" idx="6"/>
            <a:endCxn id="17" idx="2"/>
          </p:cNvCxnSpPr>
          <p:nvPr/>
        </p:nvCxnSpPr>
        <p:spPr>
          <a:xfrm flipV="1">
            <a:off x="1622985" y="3160443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646611" y="275977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9" name="Conector de seta reta 8"/>
          <p:cNvCxnSpPr>
            <a:stCxn id="17" idx="4"/>
            <a:endCxn id="18" idx="0"/>
          </p:cNvCxnSpPr>
          <p:nvPr/>
        </p:nvCxnSpPr>
        <p:spPr>
          <a:xfrm>
            <a:off x="2433112" y="3272925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15" idx="7"/>
            <a:endCxn id="17" idx="3"/>
          </p:cNvCxnSpPr>
          <p:nvPr/>
        </p:nvCxnSpPr>
        <p:spPr>
          <a:xfrm flipV="1">
            <a:off x="1585472" y="3239980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endCxn id="20" idx="7"/>
          </p:cNvCxnSpPr>
          <p:nvPr/>
        </p:nvCxnSpPr>
        <p:spPr>
          <a:xfrm flipH="1">
            <a:off x="1006229" y="3160443"/>
            <a:ext cx="407281" cy="291547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 flipH="1" flipV="1">
            <a:off x="1030667" y="3611065"/>
            <a:ext cx="382843" cy="294478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17" idx="6"/>
            <a:endCxn id="19" idx="1"/>
          </p:cNvCxnSpPr>
          <p:nvPr/>
        </p:nvCxnSpPr>
        <p:spPr>
          <a:xfrm>
            <a:off x="2548160" y="3160443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8" idx="6"/>
            <a:endCxn id="19" idx="3"/>
          </p:cNvCxnSpPr>
          <p:nvPr/>
        </p:nvCxnSpPr>
        <p:spPr>
          <a:xfrm flipV="1">
            <a:off x="2554211" y="3607769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1389072" y="379306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6" name="Elipse 15"/>
          <p:cNvSpPr/>
          <p:nvPr/>
        </p:nvSpPr>
        <p:spPr>
          <a:xfrm>
            <a:off x="1392888" y="30529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" name="Elipse 16"/>
          <p:cNvSpPr/>
          <p:nvPr/>
        </p:nvSpPr>
        <p:spPr>
          <a:xfrm>
            <a:off x="2318063" y="304796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8" name="Elipse 17"/>
          <p:cNvSpPr/>
          <p:nvPr/>
        </p:nvSpPr>
        <p:spPr>
          <a:xfrm>
            <a:off x="2324114" y="3790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9" name="Elipse 18"/>
          <p:cNvSpPr/>
          <p:nvPr/>
        </p:nvSpPr>
        <p:spPr>
          <a:xfrm>
            <a:off x="2907587" y="34157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ipse 19"/>
          <p:cNvSpPr/>
          <p:nvPr/>
        </p:nvSpPr>
        <p:spPr>
          <a:xfrm>
            <a:off x="809829" y="341904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1" name="Conector de seta reta 20"/>
          <p:cNvCxnSpPr/>
          <p:nvPr/>
        </p:nvCxnSpPr>
        <p:spPr>
          <a:xfrm flipV="1">
            <a:off x="1643607" y="3902617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ângulo de cantos arredondados 21"/>
          <p:cNvSpPr/>
          <p:nvPr/>
        </p:nvSpPr>
        <p:spPr>
          <a:xfrm>
            <a:off x="1036422" y="2896539"/>
            <a:ext cx="393124" cy="1237800"/>
          </a:xfrm>
          <a:prstGeom prst="round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/>
          <p:cNvSpPr txBox="1"/>
          <p:nvPr/>
        </p:nvSpPr>
        <p:spPr>
          <a:xfrm>
            <a:off x="1582057" y="2471815"/>
            <a:ext cx="24604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Corte de arestas = { {</a:t>
            </a:r>
            <a:r>
              <a:rPr lang="pt-BR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a,c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}, {</a:t>
            </a:r>
            <a:r>
              <a:rPr lang="pt-BR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c,e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}</a:t>
            </a:r>
          </a:p>
        </p:txBody>
      </p:sp>
      <p:cxnSp>
        <p:nvCxnSpPr>
          <p:cNvPr id="24" name="Conector de seta reta 23"/>
          <p:cNvCxnSpPr/>
          <p:nvPr/>
        </p:nvCxnSpPr>
        <p:spPr>
          <a:xfrm flipH="1">
            <a:off x="1385966" y="2674378"/>
            <a:ext cx="246075" cy="142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89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Corte de Arestas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conexo não direcionado G = (V, E), 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corte de arestas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G é  um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subconjunto </a:t>
            </a:r>
            <a:r>
              <a:rPr lang="pt-BR" sz="2000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minimal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arestas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E’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 cuja remoção transforma G em um grafo desconexo.</a:t>
            </a:r>
          </a:p>
        </p:txBody>
      </p:sp>
      <p:cxnSp>
        <p:nvCxnSpPr>
          <p:cNvPr id="6" name="Conector de seta reta 5"/>
          <p:cNvCxnSpPr>
            <a:stCxn id="16" idx="5"/>
            <a:endCxn id="18" idx="1"/>
          </p:cNvCxnSpPr>
          <p:nvPr/>
        </p:nvCxnSpPr>
        <p:spPr>
          <a:xfrm>
            <a:off x="1589288" y="3244974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>
            <a:stCxn id="16" idx="6"/>
            <a:endCxn id="17" idx="2"/>
          </p:cNvCxnSpPr>
          <p:nvPr/>
        </p:nvCxnSpPr>
        <p:spPr>
          <a:xfrm flipV="1">
            <a:off x="1622985" y="3160443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646611" y="275977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9" name="Conector de seta reta 8"/>
          <p:cNvCxnSpPr>
            <a:stCxn id="17" idx="4"/>
            <a:endCxn id="18" idx="0"/>
          </p:cNvCxnSpPr>
          <p:nvPr/>
        </p:nvCxnSpPr>
        <p:spPr>
          <a:xfrm>
            <a:off x="2433112" y="3272925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15" idx="7"/>
            <a:endCxn id="17" idx="3"/>
          </p:cNvCxnSpPr>
          <p:nvPr/>
        </p:nvCxnSpPr>
        <p:spPr>
          <a:xfrm flipV="1">
            <a:off x="1585472" y="3239980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endCxn id="20" idx="7"/>
          </p:cNvCxnSpPr>
          <p:nvPr/>
        </p:nvCxnSpPr>
        <p:spPr>
          <a:xfrm flipH="1">
            <a:off x="1006229" y="3160443"/>
            <a:ext cx="407281" cy="291547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 flipH="1" flipV="1">
            <a:off x="1030667" y="3611065"/>
            <a:ext cx="382843" cy="294478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17" idx="6"/>
            <a:endCxn id="19" idx="1"/>
          </p:cNvCxnSpPr>
          <p:nvPr/>
        </p:nvCxnSpPr>
        <p:spPr>
          <a:xfrm>
            <a:off x="2548160" y="3160443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8" idx="6"/>
            <a:endCxn id="19" idx="3"/>
          </p:cNvCxnSpPr>
          <p:nvPr/>
        </p:nvCxnSpPr>
        <p:spPr>
          <a:xfrm flipV="1">
            <a:off x="2554211" y="3607769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1389072" y="379306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6" name="Elipse 15"/>
          <p:cNvSpPr/>
          <p:nvPr/>
        </p:nvSpPr>
        <p:spPr>
          <a:xfrm>
            <a:off x="1392888" y="30529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" name="Elipse 16"/>
          <p:cNvSpPr/>
          <p:nvPr/>
        </p:nvSpPr>
        <p:spPr>
          <a:xfrm>
            <a:off x="2318063" y="304796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8" name="Elipse 17"/>
          <p:cNvSpPr/>
          <p:nvPr/>
        </p:nvSpPr>
        <p:spPr>
          <a:xfrm>
            <a:off x="2324114" y="3790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9" name="Elipse 18"/>
          <p:cNvSpPr/>
          <p:nvPr/>
        </p:nvSpPr>
        <p:spPr>
          <a:xfrm>
            <a:off x="2907587" y="34157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ipse 19"/>
          <p:cNvSpPr/>
          <p:nvPr/>
        </p:nvSpPr>
        <p:spPr>
          <a:xfrm>
            <a:off x="809829" y="341904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1" name="Conector de seta reta 20"/>
          <p:cNvCxnSpPr/>
          <p:nvPr/>
        </p:nvCxnSpPr>
        <p:spPr>
          <a:xfrm flipV="1">
            <a:off x="1643607" y="3902617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ângulo de cantos arredondados 21"/>
          <p:cNvSpPr/>
          <p:nvPr/>
        </p:nvSpPr>
        <p:spPr>
          <a:xfrm>
            <a:off x="1036422" y="2896539"/>
            <a:ext cx="393124" cy="1237800"/>
          </a:xfrm>
          <a:prstGeom prst="round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/>
          <p:cNvSpPr txBox="1"/>
          <p:nvPr/>
        </p:nvSpPr>
        <p:spPr>
          <a:xfrm>
            <a:off x="1582057" y="2471815"/>
            <a:ext cx="24604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Corte de arestas = { {</a:t>
            </a:r>
            <a:r>
              <a:rPr lang="pt-BR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a,c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}, {</a:t>
            </a:r>
            <a:r>
              <a:rPr lang="pt-BR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c,e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}</a:t>
            </a:r>
          </a:p>
        </p:txBody>
      </p:sp>
      <p:cxnSp>
        <p:nvCxnSpPr>
          <p:cNvPr id="24" name="Conector de seta reta 23"/>
          <p:cNvCxnSpPr/>
          <p:nvPr/>
        </p:nvCxnSpPr>
        <p:spPr>
          <a:xfrm flipH="1">
            <a:off x="1385966" y="2674378"/>
            <a:ext cx="246075" cy="142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stCxn id="35" idx="5"/>
            <a:endCxn id="37" idx="1"/>
          </p:cNvCxnSpPr>
          <p:nvPr/>
        </p:nvCxnSpPr>
        <p:spPr>
          <a:xfrm>
            <a:off x="6106581" y="3244974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>
            <a:stCxn id="35" idx="6"/>
            <a:endCxn id="36" idx="2"/>
          </p:cNvCxnSpPr>
          <p:nvPr/>
        </p:nvCxnSpPr>
        <p:spPr>
          <a:xfrm flipV="1">
            <a:off x="6140278" y="3160443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5139560" y="2464514"/>
            <a:ext cx="15824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(G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 {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a,c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})  {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c,e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}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8" name="Conector de seta reta 27"/>
          <p:cNvCxnSpPr>
            <a:stCxn id="36" idx="4"/>
            <a:endCxn id="37" idx="0"/>
          </p:cNvCxnSpPr>
          <p:nvPr/>
        </p:nvCxnSpPr>
        <p:spPr>
          <a:xfrm>
            <a:off x="6950405" y="3272925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34" idx="7"/>
            <a:endCxn id="36" idx="3"/>
          </p:cNvCxnSpPr>
          <p:nvPr/>
        </p:nvCxnSpPr>
        <p:spPr>
          <a:xfrm flipV="1">
            <a:off x="6102765" y="3239980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>
            <a:stCxn id="36" idx="6"/>
            <a:endCxn id="38" idx="1"/>
          </p:cNvCxnSpPr>
          <p:nvPr/>
        </p:nvCxnSpPr>
        <p:spPr>
          <a:xfrm>
            <a:off x="7065453" y="3160443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>
            <a:stCxn id="37" idx="6"/>
            <a:endCxn id="38" idx="3"/>
          </p:cNvCxnSpPr>
          <p:nvPr/>
        </p:nvCxnSpPr>
        <p:spPr>
          <a:xfrm flipV="1">
            <a:off x="7071504" y="3607769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/>
          <p:nvPr/>
        </p:nvSpPr>
        <p:spPr>
          <a:xfrm>
            <a:off x="5906365" y="379306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Elipse 34"/>
          <p:cNvSpPr/>
          <p:nvPr/>
        </p:nvSpPr>
        <p:spPr>
          <a:xfrm>
            <a:off x="5910181" y="30529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6" name="Elipse 35"/>
          <p:cNvSpPr/>
          <p:nvPr/>
        </p:nvSpPr>
        <p:spPr>
          <a:xfrm>
            <a:off x="6835356" y="304796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7" name="Elipse 36"/>
          <p:cNvSpPr/>
          <p:nvPr/>
        </p:nvSpPr>
        <p:spPr>
          <a:xfrm>
            <a:off x="6841407" y="3790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38" name="Elipse 37"/>
          <p:cNvSpPr/>
          <p:nvPr/>
        </p:nvSpPr>
        <p:spPr>
          <a:xfrm>
            <a:off x="7424880" y="34157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9" name="Elipse 38"/>
          <p:cNvSpPr/>
          <p:nvPr/>
        </p:nvSpPr>
        <p:spPr>
          <a:xfrm>
            <a:off x="5327122" y="341904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0" name="Conector de seta reta 39"/>
          <p:cNvCxnSpPr/>
          <p:nvPr/>
        </p:nvCxnSpPr>
        <p:spPr>
          <a:xfrm flipV="1">
            <a:off x="6160900" y="3902617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3491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Corte de Arestas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conexo não direcionado G = (V, E), 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corte de arestas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G é  um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subconjunto </a:t>
            </a:r>
            <a:r>
              <a:rPr lang="pt-BR" sz="2000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minimal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arestas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E’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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 cuja remoção transforma G em um grafo desconexo.</a:t>
            </a:r>
          </a:p>
        </p:txBody>
      </p:sp>
      <p:cxnSp>
        <p:nvCxnSpPr>
          <p:cNvPr id="6" name="Conector de seta reta 5"/>
          <p:cNvCxnSpPr>
            <a:stCxn id="16" idx="5"/>
            <a:endCxn id="18" idx="1"/>
          </p:cNvCxnSpPr>
          <p:nvPr/>
        </p:nvCxnSpPr>
        <p:spPr>
          <a:xfrm>
            <a:off x="1589288" y="3244974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>
            <a:stCxn id="16" idx="6"/>
            <a:endCxn id="17" idx="2"/>
          </p:cNvCxnSpPr>
          <p:nvPr/>
        </p:nvCxnSpPr>
        <p:spPr>
          <a:xfrm flipV="1">
            <a:off x="1622985" y="3160443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646611" y="275977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9" name="Conector de seta reta 8"/>
          <p:cNvCxnSpPr>
            <a:stCxn id="17" idx="4"/>
            <a:endCxn id="18" idx="0"/>
          </p:cNvCxnSpPr>
          <p:nvPr/>
        </p:nvCxnSpPr>
        <p:spPr>
          <a:xfrm>
            <a:off x="2433112" y="3272925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15" idx="7"/>
            <a:endCxn id="17" idx="3"/>
          </p:cNvCxnSpPr>
          <p:nvPr/>
        </p:nvCxnSpPr>
        <p:spPr>
          <a:xfrm flipV="1">
            <a:off x="1585472" y="3239980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16" idx="2"/>
            <a:endCxn id="20" idx="7"/>
          </p:cNvCxnSpPr>
          <p:nvPr/>
        </p:nvCxnSpPr>
        <p:spPr>
          <a:xfrm flipH="1">
            <a:off x="1006229" y="3165437"/>
            <a:ext cx="386659" cy="286553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 flipH="1" flipV="1">
            <a:off x="1030667" y="3611065"/>
            <a:ext cx="382843" cy="294478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17" idx="6"/>
            <a:endCxn id="19" idx="1"/>
          </p:cNvCxnSpPr>
          <p:nvPr/>
        </p:nvCxnSpPr>
        <p:spPr>
          <a:xfrm>
            <a:off x="2548160" y="3160443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8" idx="6"/>
            <a:endCxn id="19" idx="3"/>
          </p:cNvCxnSpPr>
          <p:nvPr/>
        </p:nvCxnSpPr>
        <p:spPr>
          <a:xfrm flipV="1">
            <a:off x="2554211" y="3607769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1389072" y="379306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6" name="Elipse 15"/>
          <p:cNvSpPr/>
          <p:nvPr/>
        </p:nvSpPr>
        <p:spPr>
          <a:xfrm>
            <a:off x="1392888" y="30529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" name="Elipse 16"/>
          <p:cNvSpPr/>
          <p:nvPr/>
        </p:nvSpPr>
        <p:spPr>
          <a:xfrm>
            <a:off x="2318063" y="304796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8" name="Elipse 17"/>
          <p:cNvSpPr/>
          <p:nvPr/>
        </p:nvSpPr>
        <p:spPr>
          <a:xfrm>
            <a:off x="2324114" y="3790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9" name="Elipse 18"/>
          <p:cNvSpPr/>
          <p:nvPr/>
        </p:nvSpPr>
        <p:spPr>
          <a:xfrm>
            <a:off x="2907587" y="34157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ipse 19"/>
          <p:cNvSpPr/>
          <p:nvPr/>
        </p:nvSpPr>
        <p:spPr>
          <a:xfrm>
            <a:off x="809829" y="341904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1" name="Conector de seta reta 20"/>
          <p:cNvCxnSpPr/>
          <p:nvPr/>
        </p:nvCxnSpPr>
        <p:spPr>
          <a:xfrm flipV="1">
            <a:off x="1643607" y="3902617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stCxn id="35" idx="5"/>
            <a:endCxn id="37" idx="1"/>
          </p:cNvCxnSpPr>
          <p:nvPr/>
        </p:nvCxnSpPr>
        <p:spPr>
          <a:xfrm>
            <a:off x="6106581" y="3244974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>
            <a:stCxn id="35" idx="6"/>
            <a:endCxn id="36" idx="2"/>
          </p:cNvCxnSpPr>
          <p:nvPr/>
        </p:nvCxnSpPr>
        <p:spPr>
          <a:xfrm flipV="1">
            <a:off x="6140278" y="3160443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5486610" y="2464514"/>
            <a:ext cx="888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 {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c,e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}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8" name="Conector de seta reta 27"/>
          <p:cNvCxnSpPr>
            <a:stCxn id="36" idx="4"/>
            <a:endCxn id="37" idx="0"/>
          </p:cNvCxnSpPr>
          <p:nvPr/>
        </p:nvCxnSpPr>
        <p:spPr>
          <a:xfrm>
            <a:off x="6950405" y="3272925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34" idx="7"/>
            <a:endCxn id="36" idx="3"/>
          </p:cNvCxnSpPr>
          <p:nvPr/>
        </p:nvCxnSpPr>
        <p:spPr>
          <a:xfrm flipV="1">
            <a:off x="6102765" y="3239980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>
            <a:stCxn id="36" idx="6"/>
            <a:endCxn id="38" idx="1"/>
          </p:cNvCxnSpPr>
          <p:nvPr/>
        </p:nvCxnSpPr>
        <p:spPr>
          <a:xfrm>
            <a:off x="7065453" y="3160443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>
            <a:stCxn id="37" idx="6"/>
            <a:endCxn id="38" idx="3"/>
          </p:cNvCxnSpPr>
          <p:nvPr/>
        </p:nvCxnSpPr>
        <p:spPr>
          <a:xfrm flipV="1">
            <a:off x="7071504" y="3607769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/>
          <p:nvPr/>
        </p:nvSpPr>
        <p:spPr>
          <a:xfrm>
            <a:off x="5906365" y="379306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Elipse 34"/>
          <p:cNvSpPr/>
          <p:nvPr/>
        </p:nvSpPr>
        <p:spPr>
          <a:xfrm>
            <a:off x="5910181" y="30529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6" name="Elipse 35"/>
          <p:cNvSpPr/>
          <p:nvPr/>
        </p:nvSpPr>
        <p:spPr>
          <a:xfrm>
            <a:off x="6835356" y="304796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7" name="Elipse 36"/>
          <p:cNvSpPr/>
          <p:nvPr/>
        </p:nvSpPr>
        <p:spPr>
          <a:xfrm>
            <a:off x="6841407" y="3790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38" name="Elipse 37"/>
          <p:cNvSpPr/>
          <p:nvPr/>
        </p:nvSpPr>
        <p:spPr>
          <a:xfrm>
            <a:off x="7424880" y="341574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9" name="Elipse 38"/>
          <p:cNvSpPr/>
          <p:nvPr/>
        </p:nvSpPr>
        <p:spPr>
          <a:xfrm>
            <a:off x="5327122" y="341904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0" name="Conector de seta reta 39"/>
          <p:cNvCxnSpPr/>
          <p:nvPr/>
        </p:nvCxnSpPr>
        <p:spPr>
          <a:xfrm flipV="1">
            <a:off x="6160900" y="3902617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/>
          <p:nvPr/>
        </p:nvCxnSpPr>
        <p:spPr>
          <a:xfrm flipH="1" flipV="1">
            <a:off x="1385966" y="4043898"/>
            <a:ext cx="570804" cy="224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1918631" y="4153454"/>
            <a:ext cx="33372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Conjunto { {</a:t>
            </a:r>
            <a:r>
              <a:rPr lang="pt-BR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c,e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} não é um corte de arestas</a:t>
            </a:r>
          </a:p>
        </p:txBody>
      </p:sp>
      <p:sp>
        <p:nvSpPr>
          <p:cNvPr id="3" name="Retângulo de cantos arredondados 2"/>
          <p:cNvSpPr/>
          <p:nvPr/>
        </p:nvSpPr>
        <p:spPr>
          <a:xfrm rot="2347889">
            <a:off x="912523" y="3618587"/>
            <a:ext cx="554892" cy="273211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4" name="Conector de seta reta 43"/>
          <p:cNvCxnSpPr>
            <a:stCxn id="35" idx="2"/>
            <a:endCxn id="39" idx="7"/>
          </p:cNvCxnSpPr>
          <p:nvPr/>
        </p:nvCxnSpPr>
        <p:spPr>
          <a:xfrm flipH="1">
            <a:off x="5523522" y="3165437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992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Corte de Arestas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conexo não direcionado G = (V, E) e um subconjunto de seus vértice 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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V, 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corte de arestas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pode ser construído selecionando-as as arestas com um extremo em S e o outro não:</a:t>
            </a:r>
          </a:p>
          <a:p>
            <a:pPr algn="ctr"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corte(S) = { {v, w}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 | v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S, w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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 }.</a:t>
            </a:r>
          </a:p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conjunto de vértices S não pode ser vazio nem conter todos os vértices.</a:t>
            </a:r>
          </a:p>
        </p:txBody>
      </p:sp>
    </p:spTree>
    <p:extLst>
      <p:ext uri="{BB962C8B-B14F-4D97-AF65-F5344CB8AC3E}">
        <p14:creationId xmlns:p14="http://schemas.microsoft.com/office/powerpoint/2010/main" val="1837429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Corte de Arestas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conexo não direcionado G = (V, E) e um subconjunto de seus vértice 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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V, 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corte de arestas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pode ser construído selecionando-as as arestas com um extremo em S e o outro não:</a:t>
            </a:r>
          </a:p>
          <a:p>
            <a:pPr algn="ctr"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corte(S) = { {v, w}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 | v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S, w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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 }.</a:t>
            </a:r>
          </a:p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conjunto de vértices S não pode ser vazio nem conter todos os vértices.</a:t>
            </a:r>
          </a:p>
        </p:txBody>
      </p:sp>
      <p:cxnSp>
        <p:nvCxnSpPr>
          <p:cNvPr id="6" name="Conector de seta reta 5"/>
          <p:cNvCxnSpPr>
            <a:stCxn id="16" idx="5"/>
            <a:endCxn id="18" idx="1"/>
          </p:cNvCxnSpPr>
          <p:nvPr/>
        </p:nvCxnSpPr>
        <p:spPr>
          <a:xfrm>
            <a:off x="3884922" y="3547179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>
            <a:stCxn id="16" idx="6"/>
            <a:endCxn id="17" idx="2"/>
          </p:cNvCxnSpPr>
          <p:nvPr/>
        </p:nvCxnSpPr>
        <p:spPr>
          <a:xfrm flipV="1">
            <a:off x="3918619" y="3462648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4114740" y="3081164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9" name="Conector de seta reta 8"/>
          <p:cNvCxnSpPr>
            <a:stCxn id="17" idx="4"/>
            <a:endCxn id="18" idx="0"/>
          </p:cNvCxnSpPr>
          <p:nvPr/>
        </p:nvCxnSpPr>
        <p:spPr>
          <a:xfrm>
            <a:off x="4728746" y="3575130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15" idx="7"/>
            <a:endCxn id="17" idx="3"/>
          </p:cNvCxnSpPr>
          <p:nvPr/>
        </p:nvCxnSpPr>
        <p:spPr>
          <a:xfrm flipV="1">
            <a:off x="3881106" y="3542185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16" idx="2"/>
            <a:endCxn id="20" idx="7"/>
          </p:cNvCxnSpPr>
          <p:nvPr/>
        </p:nvCxnSpPr>
        <p:spPr>
          <a:xfrm flipH="1">
            <a:off x="3301863" y="3467642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15" idx="2"/>
            <a:endCxn id="20" idx="5"/>
          </p:cNvCxnSpPr>
          <p:nvPr/>
        </p:nvCxnSpPr>
        <p:spPr>
          <a:xfrm flipH="1" flipV="1">
            <a:off x="3301863" y="3913270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17" idx="6"/>
            <a:endCxn id="19" idx="1"/>
          </p:cNvCxnSpPr>
          <p:nvPr/>
        </p:nvCxnSpPr>
        <p:spPr>
          <a:xfrm>
            <a:off x="4843794" y="3462648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8" idx="6"/>
            <a:endCxn id="19" idx="3"/>
          </p:cNvCxnSpPr>
          <p:nvPr/>
        </p:nvCxnSpPr>
        <p:spPr>
          <a:xfrm flipV="1">
            <a:off x="4849845" y="3909974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684706" y="409526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6" name="Elipse 15"/>
          <p:cNvSpPr/>
          <p:nvPr/>
        </p:nvSpPr>
        <p:spPr>
          <a:xfrm>
            <a:off x="3688522" y="335515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" name="Elipse 16"/>
          <p:cNvSpPr/>
          <p:nvPr/>
        </p:nvSpPr>
        <p:spPr>
          <a:xfrm>
            <a:off x="4613697" y="335016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8" name="Elipse 17"/>
          <p:cNvSpPr/>
          <p:nvPr/>
        </p:nvSpPr>
        <p:spPr>
          <a:xfrm>
            <a:off x="4619748" y="409233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9" name="Elipse 18"/>
          <p:cNvSpPr/>
          <p:nvPr/>
        </p:nvSpPr>
        <p:spPr>
          <a:xfrm>
            <a:off x="5203221" y="37179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ipse 19"/>
          <p:cNvSpPr/>
          <p:nvPr/>
        </p:nvSpPr>
        <p:spPr>
          <a:xfrm>
            <a:off x="3105463" y="372125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1" name="Conector de seta reta 20"/>
          <p:cNvCxnSpPr>
            <a:stCxn id="15" idx="6"/>
            <a:endCxn id="18" idx="2"/>
          </p:cNvCxnSpPr>
          <p:nvPr/>
        </p:nvCxnSpPr>
        <p:spPr>
          <a:xfrm flipV="1">
            <a:off x="3914803" y="4204822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05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Corte de Arestas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conexo não direcionado G = (V, E) e um subconjunto de seus vértice 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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V, 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corte de arestas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pode ser construído selecionando-as as arestas com um extremo em S e o outro não:</a:t>
            </a:r>
          </a:p>
          <a:p>
            <a:pPr algn="ctr"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corte(S) = { {v, w}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 | v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S, w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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 }.</a:t>
            </a:r>
          </a:p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conjunto de vértices S não pode ser vazio nem conter todos os vértices.</a:t>
            </a:r>
          </a:p>
        </p:txBody>
      </p:sp>
      <p:cxnSp>
        <p:nvCxnSpPr>
          <p:cNvPr id="6" name="Conector de seta reta 5"/>
          <p:cNvCxnSpPr>
            <a:stCxn id="16" idx="5"/>
            <a:endCxn id="18" idx="1"/>
          </p:cNvCxnSpPr>
          <p:nvPr/>
        </p:nvCxnSpPr>
        <p:spPr>
          <a:xfrm>
            <a:off x="3884922" y="3547179"/>
            <a:ext cx="768523" cy="5781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>
            <a:stCxn id="16" idx="6"/>
            <a:endCxn id="17" idx="2"/>
          </p:cNvCxnSpPr>
          <p:nvPr/>
        </p:nvCxnSpPr>
        <p:spPr>
          <a:xfrm flipV="1">
            <a:off x="3918619" y="3462648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4114740" y="3081164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9" name="Conector de seta reta 8"/>
          <p:cNvCxnSpPr>
            <a:stCxn id="17" idx="4"/>
            <a:endCxn id="18" idx="0"/>
          </p:cNvCxnSpPr>
          <p:nvPr/>
        </p:nvCxnSpPr>
        <p:spPr>
          <a:xfrm>
            <a:off x="4728746" y="3575130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15" idx="7"/>
            <a:endCxn id="17" idx="3"/>
          </p:cNvCxnSpPr>
          <p:nvPr/>
        </p:nvCxnSpPr>
        <p:spPr>
          <a:xfrm flipV="1">
            <a:off x="3881106" y="3542185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16" idx="2"/>
            <a:endCxn id="20" idx="7"/>
          </p:cNvCxnSpPr>
          <p:nvPr/>
        </p:nvCxnSpPr>
        <p:spPr>
          <a:xfrm flipH="1">
            <a:off x="3301863" y="3467642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15" idx="2"/>
            <a:endCxn id="20" idx="5"/>
          </p:cNvCxnSpPr>
          <p:nvPr/>
        </p:nvCxnSpPr>
        <p:spPr>
          <a:xfrm flipH="1" flipV="1">
            <a:off x="3301863" y="3913270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17" idx="6"/>
            <a:endCxn id="19" idx="1"/>
          </p:cNvCxnSpPr>
          <p:nvPr/>
        </p:nvCxnSpPr>
        <p:spPr>
          <a:xfrm>
            <a:off x="4843794" y="3462648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8" idx="6"/>
            <a:endCxn id="19" idx="3"/>
          </p:cNvCxnSpPr>
          <p:nvPr/>
        </p:nvCxnSpPr>
        <p:spPr>
          <a:xfrm flipV="1">
            <a:off x="4849845" y="3909974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684706" y="409526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6" name="Elipse 15"/>
          <p:cNvSpPr/>
          <p:nvPr/>
        </p:nvSpPr>
        <p:spPr>
          <a:xfrm>
            <a:off x="3688522" y="335515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" name="Elipse 16"/>
          <p:cNvSpPr/>
          <p:nvPr/>
        </p:nvSpPr>
        <p:spPr>
          <a:xfrm>
            <a:off x="4613697" y="335016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8" name="Elipse 17"/>
          <p:cNvSpPr/>
          <p:nvPr/>
        </p:nvSpPr>
        <p:spPr>
          <a:xfrm>
            <a:off x="4619748" y="409233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9" name="Elipse 18"/>
          <p:cNvSpPr/>
          <p:nvPr/>
        </p:nvSpPr>
        <p:spPr>
          <a:xfrm>
            <a:off x="5203221" y="37179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ipse 19"/>
          <p:cNvSpPr/>
          <p:nvPr/>
        </p:nvSpPr>
        <p:spPr>
          <a:xfrm>
            <a:off x="3105463" y="372125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1" name="Conector de seta reta 20"/>
          <p:cNvCxnSpPr>
            <a:stCxn id="15" idx="6"/>
            <a:endCxn id="18" idx="2"/>
          </p:cNvCxnSpPr>
          <p:nvPr/>
        </p:nvCxnSpPr>
        <p:spPr>
          <a:xfrm flipV="1">
            <a:off x="3914803" y="4204822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5590294" y="3282986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Seja S = {a, c, e}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Retângulo de cantos arredondados 22"/>
          <p:cNvSpPr/>
          <p:nvPr/>
        </p:nvSpPr>
        <p:spPr>
          <a:xfrm>
            <a:off x="2982924" y="3258142"/>
            <a:ext cx="1156158" cy="1170774"/>
          </a:xfrm>
          <a:prstGeom prst="round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/>
          <p:cNvSpPr txBox="1"/>
          <p:nvPr/>
        </p:nvSpPr>
        <p:spPr>
          <a:xfrm>
            <a:off x="3047058" y="4090362"/>
            <a:ext cx="2792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600434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Corte de Arestas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conexo não direcionado G = (V, E) e um subconjunto de seus vértice 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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V, 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corte de arestas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pode ser construído selecionando-as as arestas com um extremo em S e o outro não:</a:t>
            </a:r>
          </a:p>
          <a:p>
            <a:pPr algn="ctr"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corte(S) = { {v, w}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 | v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S, w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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 }.</a:t>
            </a:r>
          </a:p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conjunto de vértices S não pode ser vazio nem conter todos os vértices.</a:t>
            </a:r>
          </a:p>
        </p:txBody>
      </p:sp>
      <p:cxnSp>
        <p:nvCxnSpPr>
          <p:cNvPr id="6" name="Conector de seta reta 5"/>
          <p:cNvCxnSpPr>
            <a:stCxn id="16" idx="5"/>
            <a:endCxn id="18" idx="1"/>
          </p:cNvCxnSpPr>
          <p:nvPr/>
        </p:nvCxnSpPr>
        <p:spPr>
          <a:xfrm>
            <a:off x="3884922" y="3547179"/>
            <a:ext cx="768523" cy="578105"/>
          </a:xfrm>
          <a:prstGeom prst="straightConnector1">
            <a:avLst/>
          </a:prstGeom>
          <a:ln w="28575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>
            <a:stCxn id="16" idx="6"/>
            <a:endCxn id="17" idx="2"/>
          </p:cNvCxnSpPr>
          <p:nvPr/>
        </p:nvCxnSpPr>
        <p:spPr>
          <a:xfrm flipV="1">
            <a:off x="3918619" y="3462648"/>
            <a:ext cx="695078" cy="4994"/>
          </a:xfrm>
          <a:prstGeom prst="straightConnector1">
            <a:avLst/>
          </a:prstGeom>
          <a:ln w="28575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4114740" y="3081164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9" name="Conector de seta reta 8"/>
          <p:cNvCxnSpPr>
            <a:stCxn id="17" idx="4"/>
            <a:endCxn id="18" idx="0"/>
          </p:cNvCxnSpPr>
          <p:nvPr/>
        </p:nvCxnSpPr>
        <p:spPr>
          <a:xfrm>
            <a:off x="4728746" y="3575130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15" idx="7"/>
            <a:endCxn id="17" idx="3"/>
          </p:cNvCxnSpPr>
          <p:nvPr/>
        </p:nvCxnSpPr>
        <p:spPr>
          <a:xfrm flipV="1">
            <a:off x="3881106" y="3542185"/>
            <a:ext cx="766288" cy="586025"/>
          </a:xfrm>
          <a:prstGeom prst="straightConnector1">
            <a:avLst/>
          </a:prstGeom>
          <a:ln w="28575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16" idx="2"/>
            <a:endCxn id="20" idx="7"/>
          </p:cNvCxnSpPr>
          <p:nvPr/>
        </p:nvCxnSpPr>
        <p:spPr>
          <a:xfrm flipH="1">
            <a:off x="3301863" y="3467642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15" idx="2"/>
            <a:endCxn id="20" idx="5"/>
          </p:cNvCxnSpPr>
          <p:nvPr/>
        </p:nvCxnSpPr>
        <p:spPr>
          <a:xfrm flipH="1" flipV="1">
            <a:off x="3301863" y="3913270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17" idx="6"/>
            <a:endCxn id="19" idx="1"/>
          </p:cNvCxnSpPr>
          <p:nvPr/>
        </p:nvCxnSpPr>
        <p:spPr>
          <a:xfrm>
            <a:off x="4843794" y="3462648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8" idx="6"/>
            <a:endCxn id="19" idx="3"/>
          </p:cNvCxnSpPr>
          <p:nvPr/>
        </p:nvCxnSpPr>
        <p:spPr>
          <a:xfrm flipV="1">
            <a:off x="4849845" y="3909974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684706" y="409526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6" name="Elipse 15"/>
          <p:cNvSpPr/>
          <p:nvPr/>
        </p:nvSpPr>
        <p:spPr>
          <a:xfrm>
            <a:off x="3688522" y="335515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" name="Elipse 16"/>
          <p:cNvSpPr/>
          <p:nvPr/>
        </p:nvSpPr>
        <p:spPr>
          <a:xfrm>
            <a:off x="4613697" y="335016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8" name="Elipse 17"/>
          <p:cNvSpPr/>
          <p:nvPr/>
        </p:nvSpPr>
        <p:spPr>
          <a:xfrm>
            <a:off x="4619748" y="409233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9" name="Elipse 18"/>
          <p:cNvSpPr/>
          <p:nvPr/>
        </p:nvSpPr>
        <p:spPr>
          <a:xfrm>
            <a:off x="5203221" y="37179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ipse 19"/>
          <p:cNvSpPr/>
          <p:nvPr/>
        </p:nvSpPr>
        <p:spPr>
          <a:xfrm>
            <a:off x="3105463" y="372125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1" name="Conector de seta reta 20"/>
          <p:cNvCxnSpPr>
            <a:stCxn id="15" idx="6"/>
            <a:endCxn id="18" idx="2"/>
          </p:cNvCxnSpPr>
          <p:nvPr/>
        </p:nvCxnSpPr>
        <p:spPr>
          <a:xfrm flipV="1">
            <a:off x="3914803" y="4204822"/>
            <a:ext cx="704945" cy="2926"/>
          </a:xfrm>
          <a:prstGeom prst="straightConnector1">
            <a:avLst/>
          </a:prstGeom>
          <a:ln w="28575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5590294" y="3282986"/>
            <a:ext cx="3302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Seja S = {a, c, e}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Então corte(S) = {{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a,b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},{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a,f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},{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e,b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},{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e,f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}}</a:t>
            </a:r>
          </a:p>
        </p:txBody>
      </p:sp>
      <p:sp>
        <p:nvSpPr>
          <p:cNvPr id="23" name="Retângulo de cantos arredondados 22"/>
          <p:cNvSpPr/>
          <p:nvPr/>
        </p:nvSpPr>
        <p:spPr>
          <a:xfrm>
            <a:off x="2982924" y="3258142"/>
            <a:ext cx="1156158" cy="1170774"/>
          </a:xfrm>
          <a:prstGeom prst="round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/>
          <p:cNvSpPr txBox="1"/>
          <p:nvPr/>
        </p:nvSpPr>
        <p:spPr>
          <a:xfrm>
            <a:off x="3047058" y="4090362"/>
            <a:ext cx="2792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06740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Corte de Arestas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conexo não direcionado G = (V, E) e um subconjunto de seus vértice 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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V, 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corte de arestas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pode ser construído selecionando-as as arestas com um extremo em S e o outro não:</a:t>
            </a:r>
          </a:p>
          <a:p>
            <a:pPr algn="ctr"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corte(S) = { {v, w}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 | v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S, w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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 }.</a:t>
            </a:r>
          </a:p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conjunto de vértices S não pode ser vazio nem conter todos os vértices.</a:t>
            </a:r>
          </a:p>
        </p:txBody>
      </p:sp>
      <p:sp>
        <p:nvSpPr>
          <p:cNvPr id="4" name="Retângulo 3"/>
          <p:cNvSpPr/>
          <p:nvPr/>
        </p:nvSpPr>
        <p:spPr>
          <a:xfrm>
            <a:off x="681022" y="3584942"/>
            <a:ext cx="20291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remoção das arestas do corte(S) elimina os todos caminhos entre os vértices pertencentes a S e os demais.</a:t>
            </a:r>
          </a:p>
        </p:txBody>
      </p:sp>
      <p:cxnSp>
        <p:nvCxnSpPr>
          <p:cNvPr id="6" name="Conector de seta reta 5"/>
          <p:cNvCxnSpPr>
            <a:stCxn id="16" idx="5"/>
            <a:endCxn id="18" idx="1"/>
          </p:cNvCxnSpPr>
          <p:nvPr/>
        </p:nvCxnSpPr>
        <p:spPr>
          <a:xfrm>
            <a:off x="3884922" y="3547179"/>
            <a:ext cx="768523" cy="578105"/>
          </a:xfrm>
          <a:prstGeom prst="straightConnector1">
            <a:avLst/>
          </a:prstGeom>
          <a:ln w="28575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>
            <a:stCxn id="16" idx="6"/>
            <a:endCxn id="17" idx="2"/>
          </p:cNvCxnSpPr>
          <p:nvPr/>
        </p:nvCxnSpPr>
        <p:spPr>
          <a:xfrm flipV="1">
            <a:off x="3918619" y="3462648"/>
            <a:ext cx="695078" cy="4994"/>
          </a:xfrm>
          <a:prstGeom prst="straightConnector1">
            <a:avLst/>
          </a:prstGeom>
          <a:ln w="28575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4114740" y="3081164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9" name="Conector de seta reta 8"/>
          <p:cNvCxnSpPr>
            <a:stCxn id="17" idx="4"/>
            <a:endCxn id="18" idx="0"/>
          </p:cNvCxnSpPr>
          <p:nvPr/>
        </p:nvCxnSpPr>
        <p:spPr>
          <a:xfrm>
            <a:off x="4728746" y="3575130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15" idx="7"/>
            <a:endCxn id="17" idx="3"/>
          </p:cNvCxnSpPr>
          <p:nvPr/>
        </p:nvCxnSpPr>
        <p:spPr>
          <a:xfrm flipV="1">
            <a:off x="3881106" y="3542185"/>
            <a:ext cx="766288" cy="586025"/>
          </a:xfrm>
          <a:prstGeom prst="straightConnector1">
            <a:avLst/>
          </a:prstGeom>
          <a:ln w="28575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16" idx="2"/>
            <a:endCxn id="20" idx="7"/>
          </p:cNvCxnSpPr>
          <p:nvPr/>
        </p:nvCxnSpPr>
        <p:spPr>
          <a:xfrm flipH="1">
            <a:off x="3301863" y="3467642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15" idx="2"/>
            <a:endCxn id="20" idx="5"/>
          </p:cNvCxnSpPr>
          <p:nvPr/>
        </p:nvCxnSpPr>
        <p:spPr>
          <a:xfrm flipH="1" flipV="1">
            <a:off x="3301863" y="3913270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17" idx="6"/>
            <a:endCxn id="19" idx="1"/>
          </p:cNvCxnSpPr>
          <p:nvPr/>
        </p:nvCxnSpPr>
        <p:spPr>
          <a:xfrm>
            <a:off x="4843794" y="3462648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8" idx="6"/>
            <a:endCxn id="19" idx="3"/>
          </p:cNvCxnSpPr>
          <p:nvPr/>
        </p:nvCxnSpPr>
        <p:spPr>
          <a:xfrm flipV="1">
            <a:off x="4849845" y="3909974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684706" y="409526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6" name="Elipse 15"/>
          <p:cNvSpPr/>
          <p:nvPr/>
        </p:nvSpPr>
        <p:spPr>
          <a:xfrm>
            <a:off x="3688522" y="335515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" name="Elipse 16"/>
          <p:cNvSpPr/>
          <p:nvPr/>
        </p:nvSpPr>
        <p:spPr>
          <a:xfrm>
            <a:off x="4613697" y="335016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8" name="Elipse 17"/>
          <p:cNvSpPr/>
          <p:nvPr/>
        </p:nvSpPr>
        <p:spPr>
          <a:xfrm>
            <a:off x="4619748" y="409233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9" name="Elipse 18"/>
          <p:cNvSpPr/>
          <p:nvPr/>
        </p:nvSpPr>
        <p:spPr>
          <a:xfrm>
            <a:off x="5203221" y="37179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ipse 19"/>
          <p:cNvSpPr/>
          <p:nvPr/>
        </p:nvSpPr>
        <p:spPr>
          <a:xfrm>
            <a:off x="3105463" y="372125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1" name="Conector de seta reta 20"/>
          <p:cNvCxnSpPr>
            <a:stCxn id="15" idx="6"/>
            <a:endCxn id="18" idx="2"/>
          </p:cNvCxnSpPr>
          <p:nvPr/>
        </p:nvCxnSpPr>
        <p:spPr>
          <a:xfrm flipV="1">
            <a:off x="3914803" y="4204822"/>
            <a:ext cx="704945" cy="2926"/>
          </a:xfrm>
          <a:prstGeom prst="straightConnector1">
            <a:avLst/>
          </a:prstGeom>
          <a:ln w="28575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5590294" y="3282986"/>
            <a:ext cx="3302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Seja S = {a, c, e}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Então corte(S) = {{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a,b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},{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a,f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},{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e,b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},{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e,f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}}</a:t>
            </a:r>
          </a:p>
        </p:txBody>
      </p:sp>
      <p:sp>
        <p:nvSpPr>
          <p:cNvPr id="23" name="Retângulo de cantos arredondados 22"/>
          <p:cNvSpPr/>
          <p:nvPr/>
        </p:nvSpPr>
        <p:spPr>
          <a:xfrm>
            <a:off x="2982924" y="3258142"/>
            <a:ext cx="1156158" cy="1170774"/>
          </a:xfrm>
          <a:prstGeom prst="round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/>
          <p:cNvSpPr txBox="1"/>
          <p:nvPr/>
        </p:nvSpPr>
        <p:spPr>
          <a:xfrm>
            <a:off x="3047058" y="4090362"/>
            <a:ext cx="2792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53487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Corte de Arestas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conexo não direcionado G = (V, E) e um subconjunto de seus vértice 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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V, 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corte de arestas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pode ser construído selecionando-as as arestas com um extremo em S e o outro não:</a:t>
            </a:r>
          </a:p>
          <a:p>
            <a:pPr algn="ctr"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corte(S) = { {v, w}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 | v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S, w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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 }.</a:t>
            </a:r>
          </a:p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conjunto de vértices S não pode ser vazio nem conter todos os vértices.</a:t>
            </a:r>
          </a:p>
        </p:txBody>
      </p:sp>
      <p:sp>
        <p:nvSpPr>
          <p:cNvPr id="4" name="Retângulo 3"/>
          <p:cNvSpPr/>
          <p:nvPr/>
        </p:nvSpPr>
        <p:spPr>
          <a:xfrm>
            <a:off x="681022" y="3584942"/>
            <a:ext cx="20291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remoção das arestas do corte(S) elimina os todos caminhos entre os vértices pertencentes a S e os demais.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4114740" y="3081164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9" name="Conector de seta reta 8"/>
          <p:cNvCxnSpPr>
            <a:stCxn id="17" idx="4"/>
            <a:endCxn id="18" idx="0"/>
          </p:cNvCxnSpPr>
          <p:nvPr/>
        </p:nvCxnSpPr>
        <p:spPr>
          <a:xfrm>
            <a:off x="4728746" y="3575130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16" idx="2"/>
            <a:endCxn id="20" idx="7"/>
          </p:cNvCxnSpPr>
          <p:nvPr/>
        </p:nvCxnSpPr>
        <p:spPr>
          <a:xfrm flipH="1">
            <a:off x="3301863" y="3467642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15" idx="2"/>
            <a:endCxn id="20" idx="5"/>
          </p:cNvCxnSpPr>
          <p:nvPr/>
        </p:nvCxnSpPr>
        <p:spPr>
          <a:xfrm flipH="1" flipV="1">
            <a:off x="3301863" y="3913270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17" idx="6"/>
            <a:endCxn id="19" idx="1"/>
          </p:cNvCxnSpPr>
          <p:nvPr/>
        </p:nvCxnSpPr>
        <p:spPr>
          <a:xfrm>
            <a:off x="4843794" y="3462648"/>
            <a:ext cx="393124" cy="2882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8" idx="6"/>
            <a:endCxn id="19" idx="3"/>
          </p:cNvCxnSpPr>
          <p:nvPr/>
        </p:nvCxnSpPr>
        <p:spPr>
          <a:xfrm flipV="1">
            <a:off x="4849845" y="3909974"/>
            <a:ext cx="387073" cy="29484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684706" y="409526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6" name="Elipse 15"/>
          <p:cNvSpPr/>
          <p:nvPr/>
        </p:nvSpPr>
        <p:spPr>
          <a:xfrm>
            <a:off x="3688522" y="335515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" name="Elipse 16"/>
          <p:cNvSpPr/>
          <p:nvPr/>
        </p:nvSpPr>
        <p:spPr>
          <a:xfrm>
            <a:off x="4613697" y="335016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8" name="Elipse 17"/>
          <p:cNvSpPr/>
          <p:nvPr/>
        </p:nvSpPr>
        <p:spPr>
          <a:xfrm>
            <a:off x="4619748" y="409233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9" name="Elipse 18"/>
          <p:cNvSpPr/>
          <p:nvPr/>
        </p:nvSpPr>
        <p:spPr>
          <a:xfrm>
            <a:off x="5203221" y="371795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ipse 19"/>
          <p:cNvSpPr/>
          <p:nvPr/>
        </p:nvSpPr>
        <p:spPr>
          <a:xfrm>
            <a:off x="3105463" y="372125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590294" y="3282986"/>
            <a:ext cx="3302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Seja S = {a, c, e}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Então corte(S) = {{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a,b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},{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a,f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},{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e,b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},{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e,f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}}</a:t>
            </a:r>
          </a:p>
        </p:txBody>
      </p:sp>
      <p:sp>
        <p:nvSpPr>
          <p:cNvPr id="23" name="Retângulo de cantos arredondados 22"/>
          <p:cNvSpPr/>
          <p:nvPr/>
        </p:nvSpPr>
        <p:spPr>
          <a:xfrm>
            <a:off x="2982924" y="3258142"/>
            <a:ext cx="1156158" cy="1170774"/>
          </a:xfrm>
          <a:prstGeom prst="round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/>
          <p:cNvSpPr txBox="1"/>
          <p:nvPr/>
        </p:nvSpPr>
        <p:spPr>
          <a:xfrm>
            <a:off x="3047058" y="4090362"/>
            <a:ext cx="2792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62719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Conectividade de Vértices e Arestas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Denomina-se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conectividade de vértices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G ou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(G)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à cardinalidade do menor corte de vértices de G. </a:t>
            </a:r>
          </a:p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Analogamente, 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conectividade de arestas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G ou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(G)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é igual à cardinalidade do menor corte de arestas de G.</a:t>
            </a:r>
          </a:p>
        </p:txBody>
      </p:sp>
      <p:sp>
        <p:nvSpPr>
          <p:cNvPr id="4" name="Elipse 3"/>
          <p:cNvSpPr/>
          <p:nvPr/>
        </p:nvSpPr>
        <p:spPr>
          <a:xfrm>
            <a:off x="1030780" y="281672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1815568" y="281672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600356" y="281672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" name="Elipse 7"/>
          <p:cNvSpPr/>
          <p:nvPr/>
        </p:nvSpPr>
        <p:spPr>
          <a:xfrm>
            <a:off x="1030780" y="346478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9" name="Elipse 8"/>
          <p:cNvSpPr/>
          <p:nvPr/>
        </p:nvSpPr>
        <p:spPr>
          <a:xfrm>
            <a:off x="1815568" y="346478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2600356" y="34647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Elipse 10"/>
          <p:cNvSpPr/>
          <p:nvPr/>
        </p:nvSpPr>
        <p:spPr>
          <a:xfrm>
            <a:off x="1030780" y="411283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1815568" y="411283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3" name="Elipse 12"/>
          <p:cNvSpPr/>
          <p:nvPr/>
        </p:nvSpPr>
        <p:spPr>
          <a:xfrm>
            <a:off x="2600356" y="411283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i</a:t>
            </a:r>
          </a:p>
        </p:txBody>
      </p:sp>
      <p:cxnSp>
        <p:nvCxnSpPr>
          <p:cNvPr id="14" name="Conector reto 13"/>
          <p:cNvCxnSpPr>
            <a:stCxn id="4" idx="4"/>
            <a:endCxn id="8" idx="0"/>
          </p:cNvCxnSpPr>
          <p:nvPr/>
        </p:nvCxnSpPr>
        <p:spPr>
          <a:xfrm>
            <a:off x="1145829" y="3041690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5" idx="3"/>
            <a:endCxn id="8" idx="7"/>
          </p:cNvCxnSpPr>
          <p:nvPr/>
        </p:nvCxnSpPr>
        <p:spPr>
          <a:xfrm flipH="1">
            <a:off x="1227180" y="3008744"/>
            <a:ext cx="622085" cy="488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>
            <a:stCxn id="5" idx="2"/>
            <a:endCxn id="4" idx="6"/>
          </p:cNvCxnSpPr>
          <p:nvPr/>
        </p:nvCxnSpPr>
        <p:spPr>
          <a:xfrm flipH="1">
            <a:off x="1260877" y="2929207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7" idx="2"/>
            <a:endCxn id="5" idx="6"/>
          </p:cNvCxnSpPr>
          <p:nvPr/>
        </p:nvCxnSpPr>
        <p:spPr>
          <a:xfrm flipH="1">
            <a:off x="2045665" y="2929206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7" idx="4"/>
            <a:endCxn id="10" idx="0"/>
          </p:cNvCxnSpPr>
          <p:nvPr/>
        </p:nvCxnSpPr>
        <p:spPr>
          <a:xfrm>
            <a:off x="2715405" y="3041688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5" idx="5"/>
            <a:endCxn id="10" idx="1"/>
          </p:cNvCxnSpPr>
          <p:nvPr/>
        </p:nvCxnSpPr>
        <p:spPr>
          <a:xfrm>
            <a:off x="2011968" y="3008744"/>
            <a:ext cx="622085" cy="4889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5" idx="4"/>
            <a:endCxn id="9" idx="0"/>
          </p:cNvCxnSpPr>
          <p:nvPr/>
        </p:nvCxnSpPr>
        <p:spPr>
          <a:xfrm>
            <a:off x="1930617" y="3041689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9" idx="4"/>
            <a:endCxn id="12" idx="0"/>
          </p:cNvCxnSpPr>
          <p:nvPr/>
        </p:nvCxnSpPr>
        <p:spPr>
          <a:xfrm>
            <a:off x="1930617" y="3689745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9" idx="5"/>
            <a:endCxn id="13" idx="1"/>
          </p:cNvCxnSpPr>
          <p:nvPr/>
        </p:nvCxnSpPr>
        <p:spPr>
          <a:xfrm>
            <a:off x="2011968" y="3656800"/>
            <a:ext cx="622085" cy="4889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13" idx="2"/>
            <a:endCxn id="12" idx="6"/>
          </p:cNvCxnSpPr>
          <p:nvPr/>
        </p:nvCxnSpPr>
        <p:spPr>
          <a:xfrm flipH="1">
            <a:off x="2045665" y="4225318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/>
          <p:cNvCxnSpPr>
            <a:stCxn id="9" idx="3"/>
            <a:endCxn id="11" idx="7"/>
          </p:cNvCxnSpPr>
          <p:nvPr/>
        </p:nvCxnSpPr>
        <p:spPr>
          <a:xfrm flipH="1">
            <a:off x="1227180" y="3656800"/>
            <a:ext cx="622085" cy="488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>
            <a:stCxn id="12" idx="2"/>
            <a:endCxn id="11" idx="6"/>
          </p:cNvCxnSpPr>
          <p:nvPr/>
        </p:nvCxnSpPr>
        <p:spPr>
          <a:xfrm flipH="1">
            <a:off x="1260877" y="4225319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>
            <a:stCxn id="10" idx="4"/>
            <a:endCxn id="13" idx="0"/>
          </p:cNvCxnSpPr>
          <p:nvPr/>
        </p:nvCxnSpPr>
        <p:spPr>
          <a:xfrm>
            <a:off x="2715405" y="3689744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tângulo 51"/>
          <p:cNvSpPr/>
          <p:nvPr/>
        </p:nvSpPr>
        <p:spPr>
          <a:xfrm>
            <a:off x="3222441" y="3169457"/>
            <a:ext cx="1053494" cy="815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(G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1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) = 2</a:t>
            </a:r>
          </a:p>
          <a:p>
            <a:endParaRPr lang="pt-BR" sz="1100" dirty="0">
              <a:solidFill>
                <a:schemeClr val="tx1">
                  <a:lumMod val="65000"/>
                  <a:lumOff val="35000"/>
                </a:schemeClr>
              </a:solidFill>
              <a:sym typeface="Symbol" panose="05050102010706020507" pitchFamily="18" charset="2"/>
            </a:endParaRP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(G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1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) = 2</a:t>
            </a:r>
            <a:endParaRPr lang="pt-BR" dirty="0"/>
          </a:p>
        </p:txBody>
      </p:sp>
      <p:cxnSp>
        <p:nvCxnSpPr>
          <p:cNvPr id="28" name="Conector reto 27"/>
          <p:cNvCxnSpPr>
            <a:stCxn id="9" idx="2"/>
            <a:endCxn id="8" idx="6"/>
          </p:cNvCxnSpPr>
          <p:nvPr/>
        </p:nvCxnSpPr>
        <p:spPr>
          <a:xfrm flipH="1">
            <a:off x="1260877" y="3577263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615428" y="2681288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14734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2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Conectividade de Vértices e Arestas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Denomina-se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conectividade de vértices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G ou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(G)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à cardinalidade do menor corte de vértices de G. </a:t>
            </a:r>
          </a:p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Analogamente, 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conectividade de arestas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G ou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(G)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é igual à cardinalidade do menor corte de arestas de G.</a:t>
            </a:r>
          </a:p>
        </p:txBody>
      </p:sp>
      <p:sp>
        <p:nvSpPr>
          <p:cNvPr id="4" name="Elipse 3"/>
          <p:cNvSpPr/>
          <p:nvPr/>
        </p:nvSpPr>
        <p:spPr>
          <a:xfrm>
            <a:off x="1030780" y="281672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1815568" y="281672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600356" y="281672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" name="Elipse 7"/>
          <p:cNvSpPr/>
          <p:nvPr/>
        </p:nvSpPr>
        <p:spPr>
          <a:xfrm>
            <a:off x="1030780" y="346478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9" name="Elipse 8"/>
          <p:cNvSpPr/>
          <p:nvPr/>
        </p:nvSpPr>
        <p:spPr>
          <a:xfrm>
            <a:off x="1815568" y="346478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2600356" y="34647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Elipse 10"/>
          <p:cNvSpPr/>
          <p:nvPr/>
        </p:nvSpPr>
        <p:spPr>
          <a:xfrm>
            <a:off x="1030780" y="411283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1815568" y="411283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3" name="Elipse 12"/>
          <p:cNvSpPr/>
          <p:nvPr/>
        </p:nvSpPr>
        <p:spPr>
          <a:xfrm>
            <a:off x="2600356" y="411283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i</a:t>
            </a:r>
          </a:p>
        </p:txBody>
      </p:sp>
      <p:cxnSp>
        <p:nvCxnSpPr>
          <p:cNvPr id="14" name="Conector reto 13"/>
          <p:cNvCxnSpPr>
            <a:stCxn id="4" idx="4"/>
            <a:endCxn id="8" idx="0"/>
          </p:cNvCxnSpPr>
          <p:nvPr/>
        </p:nvCxnSpPr>
        <p:spPr>
          <a:xfrm>
            <a:off x="1145829" y="3041690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5" idx="3"/>
            <a:endCxn id="8" idx="7"/>
          </p:cNvCxnSpPr>
          <p:nvPr/>
        </p:nvCxnSpPr>
        <p:spPr>
          <a:xfrm flipH="1">
            <a:off x="1227180" y="3008744"/>
            <a:ext cx="622085" cy="488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>
            <a:stCxn id="5" idx="2"/>
            <a:endCxn id="4" idx="6"/>
          </p:cNvCxnSpPr>
          <p:nvPr/>
        </p:nvCxnSpPr>
        <p:spPr>
          <a:xfrm flipH="1">
            <a:off x="1260877" y="2929207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7" idx="2"/>
            <a:endCxn id="5" idx="6"/>
          </p:cNvCxnSpPr>
          <p:nvPr/>
        </p:nvCxnSpPr>
        <p:spPr>
          <a:xfrm flipH="1">
            <a:off x="2045665" y="2929206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7" idx="4"/>
            <a:endCxn id="10" idx="0"/>
          </p:cNvCxnSpPr>
          <p:nvPr/>
        </p:nvCxnSpPr>
        <p:spPr>
          <a:xfrm>
            <a:off x="2715405" y="3041688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5" idx="5"/>
            <a:endCxn id="10" idx="1"/>
          </p:cNvCxnSpPr>
          <p:nvPr/>
        </p:nvCxnSpPr>
        <p:spPr>
          <a:xfrm>
            <a:off x="2011968" y="3008744"/>
            <a:ext cx="622085" cy="4889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5" idx="4"/>
            <a:endCxn id="9" idx="0"/>
          </p:cNvCxnSpPr>
          <p:nvPr/>
        </p:nvCxnSpPr>
        <p:spPr>
          <a:xfrm>
            <a:off x="1930617" y="3041689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9" idx="4"/>
            <a:endCxn id="12" idx="0"/>
          </p:cNvCxnSpPr>
          <p:nvPr/>
        </p:nvCxnSpPr>
        <p:spPr>
          <a:xfrm>
            <a:off x="1930617" y="3689745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9" idx="5"/>
            <a:endCxn id="13" idx="1"/>
          </p:cNvCxnSpPr>
          <p:nvPr/>
        </p:nvCxnSpPr>
        <p:spPr>
          <a:xfrm>
            <a:off x="2011968" y="3656800"/>
            <a:ext cx="622085" cy="4889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13" idx="2"/>
            <a:endCxn id="12" idx="6"/>
          </p:cNvCxnSpPr>
          <p:nvPr/>
        </p:nvCxnSpPr>
        <p:spPr>
          <a:xfrm flipH="1">
            <a:off x="2045665" y="4225318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/>
          <p:cNvCxnSpPr>
            <a:stCxn id="9" idx="3"/>
            <a:endCxn id="11" idx="7"/>
          </p:cNvCxnSpPr>
          <p:nvPr/>
        </p:nvCxnSpPr>
        <p:spPr>
          <a:xfrm flipH="1">
            <a:off x="1227180" y="3656800"/>
            <a:ext cx="622085" cy="488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>
            <a:stCxn id="12" idx="2"/>
            <a:endCxn id="11" idx="6"/>
          </p:cNvCxnSpPr>
          <p:nvPr/>
        </p:nvCxnSpPr>
        <p:spPr>
          <a:xfrm flipH="1">
            <a:off x="1260877" y="4225319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>
            <a:stCxn id="10" idx="4"/>
            <a:endCxn id="13" idx="0"/>
          </p:cNvCxnSpPr>
          <p:nvPr/>
        </p:nvCxnSpPr>
        <p:spPr>
          <a:xfrm>
            <a:off x="2715405" y="3689744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tângulo 51"/>
          <p:cNvSpPr/>
          <p:nvPr/>
        </p:nvSpPr>
        <p:spPr>
          <a:xfrm>
            <a:off x="3222441" y="3169457"/>
            <a:ext cx="1053494" cy="815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(G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1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) = 2</a:t>
            </a:r>
          </a:p>
          <a:p>
            <a:endParaRPr lang="pt-BR" sz="1100" dirty="0">
              <a:solidFill>
                <a:schemeClr val="tx1">
                  <a:lumMod val="65000"/>
                  <a:lumOff val="35000"/>
                </a:schemeClr>
              </a:solidFill>
              <a:sym typeface="Symbol" panose="05050102010706020507" pitchFamily="18" charset="2"/>
            </a:endParaRP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(G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1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) = 2</a:t>
            </a:r>
            <a:endParaRPr lang="pt-BR" dirty="0"/>
          </a:p>
        </p:txBody>
      </p:sp>
      <p:sp>
        <p:nvSpPr>
          <p:cNvPr id="53" name="Elipse 52"/>
          <p:cNvSpPr/>
          <p:nvPr/>
        </p:nvSpPr>
        <p:spPr>
          <a:xfrm>
            <a:off x="5132762" y="281672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4" name="Elipse 53"/>
          <p:cNvSpPr/>
          <p:nvPr/>
        </p:nvSpPr>
        <p:spPr>
          <a:xfrm>
            <a:off x="5917550" y="281672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5" name="Elipse 54"/>
          <p:cNvSpPr/>
          <p:nvPr/>
        </p:nvSpPr>
        <p:spPr>
          <a:xfrm>
            <a:off x="6702338" y="281672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6" name="Elipse 55"/>
          <p:cNvSpPr/>
          <p:nvPr/>
        </p:nvSpPr>
        <p:spPr>
          <a:xfrm>
            <a:off x="5132762" y="346478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7" name="Elipse 56"/>
          <p:cNvSpPr/>
          <p:nvPr/>
        </p:nvSpPr>
        <p:spPr>
          <a:xfrm>
            <a:off x="5917550" y="34647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8" name="Elipse 57"/>
          <p:cNvSpPr/>
          <p:nvPr/>
        </p:nvSpPr>
        <p:spPr>
          <a:xfrm>
            <a:off x="6702338" y="346477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9" name="Elipse 58"/>
          <p:cNvSpPr/>
          <p:nvPr/>
        </p:nvSpPr>
        <p:spPr>
          <a:xfrm>
            <a:off x="5132762" y="411283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60" name="Elipse 59"/>
          <p:cNvSpPr/>
          <p:nvPr/>
        </p:nvSpPr>
        <p:spPr>
          <a:xfrm>
            <a:off x="5917550" y="411283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61" name="Elipse 60"/>
          <p:cNvSpPr/>
          <p:nvPr/>
        </p:nvSpPr>
        <p:spPr>
          <a:xfrm>
            <a:off x="6702338" y="41128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i</a:t>
            </a:r>
          </a:p>
        </p:txBody>
      </p:sp>
      <p:cxnSp>
        <p:nvCxnSpPr>
          <p:cNvPr id="62" name="Conector reto 61"/>
          <p:cNvCxnSpPr>
            <a:stCxn id="53" idx="4"/>
            <a:endCxn id="56" idx="0"/>
          </p:cNvCxnSpPr>
          <p:nvPr/>
        </p:nvCxnSpPr>
        <p:spPr>
          <a:xfrm>
            <a:off x="5247811" y="3041689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/>
          <p:cNvCxnSpPr>
            <a:stCxn id="54" idx="3"/>
            <a:endCxn id="56" idx="7"/>
          </p:cNvCxnSpPr>
          <p:nvPr/>
        </p:nvCxnSpPr>
        <p:spPr>
          <a:xfrm flipH="1">
            <a:off x="5329162" y="3008743"/>
            <a:ext cx="622085" cy="488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>
            <a:stCxn id="54" idx="2"/>
            <a:endCxn id="53" idx="6"/>
          </p:cNvCxnSpPr>
          <p:nvPr/>
        </p:nvCxnSpPr>
        <p:spPr>
          <a:xfrm flipH="1">
            <a:off x="5362859" y="2929206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/>
          <p:cNvCxnSpPr>
            <a:stCxn id="55" idx="2"/>
            <a:endCxn id="54" idx="6"/>
          </p:cNvCxnSpPr>
          <p:nvPr/>
        </p:nvCxnSpPr>
        <p:spPr>
          <a:xfrm flipH="1">
            <a:off x="6147647" y="2929205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55" idx="4"/>
            <a:endCxn id="58" idx="0"/>
          </p:cNvCxnSpPr>
          <p:nvPr/>
        </p:nvCxnSpPr>
        <p:spPr>
          <a:xfrm>
            <a:off x="6817387" y="3041687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54" idx="5"/>
            <a:endCxn id="58" idx="1"/>
          </p:cNvCxnSpPr>
          <p:nvPr/>
        </p:nvCxnSpPr>
        <p:spPr>
          <a:xfrm>
            <a:off x="6113950" y="3008743"/>
            <a:ext cx="622085" cy="4889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54" idx="4"/>
            <a:endCxn id="57" idx="0"/>
          </p:cNvCxnSpPr>
          <p:nvPr/>
        </p:nvCxnSpPr>
        <p:spPr>
          <a:xfrm>
            <a:off x="6032599" y="3041688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>
            <a:stCxn id="57" idx="4"/>
            <a:endCxn id="60" idx="0"/>
          </p:cNvCxnSpPr>
          <p:nvPr/>
        </p:nvCxnSpPr>
        <p:spPr>
          <a:xfrm>
            <a:off x="6032599" y="3689744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/>
          <p:cNvCxnSpPr>
            <a:stCxn id="57" idx="5"/>
            <a:endCxn id="61" idx="1"/>
          </p:cNvCxnSpPr>
          <p:nvPr/>
        </p:nvCxnSpPr>
        <p:spPr>
          <a:xfrm>
            <a:off x="6113950" y="3656799"/>
            <a:ext cx="622085" cy="4889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>
            <a:stCxn id="61" idx="2"/>
            <a:endCxn id="60" idx="6"/>
          </p:cNvCxnSpPr>
          <p:nvPr/>
        </p:nvCxnSpPr>
        <p:spPr>
          <a:xfrm flipH="1">
            <a:off x="6147647" y="4225317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to 71"/>
          <p:cNvCxnSpPr>
            <a:stCxn id="57" idx="3"/>
            <a:endCxn id="59" idx="7"/>
          </p:cNvCxnSpPr>
          <p:nvPr/>
        </p:nvCxnSpPr>
        <p:spPr>
          <a:xfrm flipH="1">
            <a:off x="5329162" y="3656799"/>
            <a:ext cx="622085" cy="488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/>
          <p:cNvCxnSpPr>
            <a:stCxn id="60" idx="2"/>
            <a:endCxn id="59" idx="6"/>
          </p:cNvCxnSpPr>
          <p:nvPr/>
        </p:nvCxnSpPr>
        <p:spPr>
          <a:xfrm flipH="1">
            <a:off x="5362859" y="4225318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/>
          <p:cNvCxnSpPr>
            <a:stCxn id="57" idx="2"/>
            <a:endCxn id="56" idx="6"/>
          </p:cNvCxnSpPr>
          <p:nvPr/>
        </p:nvCxnSpPr>
        <p:spPr>
          <a:xfrm flipH="1">
            <a:off x="5362859" y="3577262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tângulo 74"/>
          <p:cNvSpPr/>
          <p:nvPr/>
        </p:nvSpPr>
        <p:spPr>
          <a:xfrm>
            <a:off x="7324423" y="3169456"/>
            <a:ext cx="1053494" cy="815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(G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2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) = 1</a:t>
            </a:r>
          </a:p>
          <a:p>
            <a:endParaRPr lang="pt-BR" sz="1100" dirty="0">
              <a:solidFill>
                <a:schemeClr val="tx1">
                  <a:lumMod val="65000"/>
                  <a:lumOff val="35000"/>
                </a:schemeClr>
              </a:solidFill>
              <a:sym typeface="Symbol" panose="05050102010706020507" pitchFamily="18" charset="2"/>
            </a:endParaRP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(G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2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) = 2</a:t>
            </a:r>
            <a:endParaRPr lang="pt-BR" dirty="0"/>
          </a:p>
        </p:txBody>
      </p:sp>
      <p:cxnSp>
        <p:nvCxnSpPr>
          <p:cNvPr id="16" name="Conector reto 15"/>
          <p:cNvCxnSpPr/>
          <p:nvPr/>
        </p:nvCxnSpPr>
        <p:spPr>
          <a:xfrm>
            <a:off x="4606183" y="2929205"/>
            <a:ext cx="0" cy="12961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/>
          <p:cNvCxnSpPr>
            <a:stCxn id="9" idx="2"/>
            <a:endCxn id="8" idx="6"/>
          </p:cNvCxnSpPr>
          <p:nvPr/>
        </p:nvCxnSpPr>
        <p:spPr>
          <a:xfrm flipH="1">
            <a:off x="1260877" y="3577263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aixaDeTexto 75"/>
          <p:cNvSpPr txBox="1"/>
          <p:nvPr/>
        </p:nvSpPr>
        <p:spPr>
          <a:xfrm>
            <a:off x="615428" y="2681288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77" name="CaixaDeTexto 76"/>
          <p:cNvSpPr txBox="1"/>
          <p:nvPr/>
        </p:nvSpPr>
        <p:spPr>
          <a:xfrm>
            <a:off x="4733727" y="2670189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4489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Conectividade de Vértices e Arestas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Denomina-se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conectividade de vértices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G ou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(G)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à cardinalidade do menor corte de vértices de G. </a:t>
            </a:r>
          </a:p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Analogamente, 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conectividade de arestas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G ou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(G)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é igual à cardinalidade do menor corte de arestas de G.</a:t>
            </a:r>
          </a:p>
        </p:txBody>
      </p:sp>
      <p:sp>
        <p:nvSpPr>
          <p:cNvPr id="4" name="Elipse 3"/>
          <p:cNvSpPr/>
          <p:nvPr/>
        </p:nvSpPr>
        <p:spPr>
          <a:xfrm>
            <a:off x="1030780" y="281672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1815568" y="281672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600356" y="281672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" name="Elipse 7"/>
          <p:cNvSpPr/>
          <p:nvPr/>
        </p:nvSpPr>
        <p:spPr>
          <a:xfrm>
            <a:off x="1030780" y="346478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9" name="Elipse 8"/>
          <p:cNvSpPr/>
          <p:nvPr/>
        </p:nvSpPr>
        <p:spPr>
          <a:xfrm>
            <a:off x="1815568" y="346478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2600356" y="34647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Elipse 10"/>
          <p:cNvSpPr/>
          <p:nvPr/>
        </p:nvSpPr>
        <p:spPr>
          <a:xfrm>
            <a:off x="1030780" y="411283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1815568" y="411283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3" name="Elipse 12"/>
          <p:cNvSpPr/>
          <p:nvPr/>
        </p:nvSpPr>
        <p:spPr>
          <a:xfrm>
            <a:off x="2600356" y="411283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i</a:t>
            </a:r>
          </a:p>
        </p:txBody>
      </p:sp>
      <p:cxnSp>
        <p:nvCxnSpPr>
          <p:cNvPr id="14" name="Conector reto 13"/>
          <p:cNvCxnSpPr>
            <a:stCxn id="4" idx="4"/>
            <a:endCxn id="8" idx="0"/>
          </p:cNvCxnSpPr>
          <p:nvPr/>
        </p:nvCxnSpPr>
        <p:spPr>
          <a:xfrm>
            <a:off x="1145829" y="3041690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5" idx="3"/>
            <a:endCxn id="8" idx="7"/>
          </p:cNvCxnSpPr>
          <p:nvPr/>
        </p:nvCxnSpPr>
        <p:spPr>
          <a:xfrm flipH="1">
            <a:off x="1227180" y="3008744"/>
            <a:ext cx="622085" cy="488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>
            <a:stCxn id="5" idx="2"/>
            <a:endCxn id="4" idx="6"/>
          </p:cNvCxnSpPr>
          <p:nvPr/>
        </p:nvCxnSpPr>
        <p:spPr>
          <a:xfrm flipH="1">
            <a:off x="1260877" y="2929207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7" idx="2"/>
            <a:endCxn id="5" idx="6"/>
          </p:cNvCxnSpPr>
          <p:nvPr/>
        </p:nvCxnSpPr>
        <p:spPr>
          <a:xfrm flipH="1">
            <a:off x="2045665" y="2929206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7" idx="4"/>
            <a:endCxn id="10" idx="0"/>
          </p:cNvCxnSpPr>
          <p:nvPr/>
        </p:nvCxnSpPr>
        <p:spPr>
          <a:xfrm>
            <a:off x="2715405" y="3041688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5" idx="5"/>
            <a:endCxn id="10" idx="1"/>
          </p:cNvCxnSpPr>
          <p:nvPr/>
        </p:nvCxnSpPr>
        <p:spPr>
          <a:xfrm>
            <a:off x="2011968" y="3008744"/>
            <a:ext cx="622085" cy="4889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5" idx="4"/>
            <a:endCxn id="9" idx="0"/>
          </p:cNvCxnSpPr>
          <p:nvPr/>
        </p:nvCxnSpPr>
        <p:spPr>
          <a:xfrm>
            <a:off x="1930617" y="3041689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9" idx="4"/>
            <a:endCxn id="12" idx="0"/>
          </p:cNvCxnSpPr>
          <p:nvPr/>
        </p:nvCxnSpPr>
        <p:spPr>
          <a:xfrm>
            <a:off x="1930617" y="3689745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9" idx="5"/>
            <a:endCxn id="13" idx="1"/>
          </p:cNvCxnSpPr>
          <p:nvPr/>
        </p:nvCxnSpPr>
        <p:spPr>
          <a:xfrm>
            <a:off x="2011968" y="3656800"/>
            <a:ext cx="622085" cy="4889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13" idx="2"/>
            <a:endCxn id="12" idx="6"/>
          </p:cNvCxnSpPr>
          <p:nvPr/>
        </p:nvCxnSpPr>
        <p:spPr>
          <a:xfrm flipH="1">
            <a:off x="2045665" y="4225318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/>
          <p:cNvCxnSpPr>
            <a:stCxn id="9" idx="3"/>
            <a:endCxn id="11" idx="7"/>
          </p:cNvCxnSpPr>
          <p:nvPr/>
        </p:nvCxnSpPr>
        <p:spPr>
          <a:xfrm flipH="1">
            <a:off x="1227180" y="3656800"/>
            <a:ext cx="622085" cy="488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>
            <a:stCxn id="12" idx="2"/>
            <a:endCxn id="11" idx="6"/>
          </p:cNvCxnSpPr>
          <p:nvPr/>
        </p:nvCxnSpPr>
        <p:spPr>
          <a:xfrm flipH="1">
            <a:off x="1260877" y="4225319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>
            <a:stCxn id="10" idx="4"/>
            <a:endCxn id="13" idx="0"/>
          </p:cNvCxnSpPr>
          <p:nvPr/>
        </p:nvCxnSpPr>
        <p:spPr>
          <a:xfrm>
            <a:off x="2715405" y="3689744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tângulo 51"/>
          <p:cNvSpPr/>
          <p:nvPr/>
        </p:nvSpPr>
        <p:spPr>
          <a:xfrm>
            <a:off x="3222441" y="3169457"/>
            <a:ext cx="1053494" cy="815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(G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1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) = 2</a:t>
            </a:r>
          </a:p>
          <a:p>
            <a:endParaRPr lang="pt-BR" sz="1100" dirty="0">
              <a:solidFill>
                <a:schemeClr val="tx1">
                  <a:lumMod val="65000"/>
                  <a:lumOff val="35000"/>
                </a:schemeClr>
              </a:solidFill>
              <a:sym typeface="Symbol" panose="05050102010706020507" pitchFamily="18" charset="2"/>
            </a:endParaRP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(G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1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) = 2</a:t>
            </a:r>
            <a:endParaRPr lang="pt-BR" dirty="0"/>
          </a:p>
        </p:txBody>
      </p:sp>
      <p:sp>
        <p:nvSpPr>
          <p:cNvPr id="53" name="Elipse 52"/>
          <p:cNvSpPr/>
          <p:nvPr/>
        </p:nvSpPr>
        <p:spPr>
          <a:xfrm>
            <a:off x="5132762" y="281672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4" name="Elipse 53"/>
          <p:cNvSpPr/>
          <p:nvPr/>
        </p:nvSpPr>
        <p:spPr>
          <a:xfrm>
            <a:off x="5917550" y="281672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5" name="Elipse 54"/>
          <p:cNvSpPr/>
          <p:nvPr/>
        </p:nvSpPr>
        <p:spPr>
          <a:xfrm>
            <a:off x="6702338" y="281672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6" name="Elipse 55"/>
          <p:cNvSpPr/>
          <p:nvPr/>
        </p:nvSpPr>
        <p:spPr>
          <a:xfrm>
            <a:off x="5132762" y="346478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7" name="Elipse 56"/>
          <p:cNvSpPr/>
          <p:nvPr/>
        </p:nvSpPr>
        <p:spPr>
          <a:xfrm>
            <a:off x="5917550" y="34647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8" name="Elipse 57"/>
          <p:cNvSpPr/>
          <p:nvPr/>
        </p:nvSpPr>
        <p:spPr>
          <a:xfrm>
            <a:off x="6702338" y="346477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9" name="Elipse 58"/>
          <p:cNvSpPr/>
          <p:nvPr/>
        </p:nvSpPr>
        <p:spPr>
          <a:xfrm>
            <a:off x="5132762" y="411283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60" name="Elipse 59"/>
          <p:cNvSpPr/>
          <p:nvPr/>
        </p:nvSpPr>
        <p:spPr>
          <a:xfrm>
            <a:off x="5917550" y="411283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61" name="Elipse 60"/>
          <p:cNvSpPr/>
          <p:nvPr/>
        </p:nvSpPr>
        <p:spPr>
          <a:xfrm>
            <a:off x="6702338" y="41128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i</a:t>
            </a:r>
          </a:p>
        </p:txBody>
      </p:sp>
      <p:cxnSp>
        <p:nvCxnSpPr>
          <p:cNvPr id="62" name="Conector reto 61"/>
          <p:cNvCxnSpPr>
            <a:stCxn id="53" idx="4"/>
            <a:endCxn id="56" idx="0"/>
          </p:cNvCxnSpPr>
          <p:nvPr/>
        </p:nvCxnSpPr>
        <p:spPr>
          <a:xfrm>
            <a:off x="5247811" y="3041689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/>
          <p:cNvCxnSpPr>
            <a:stCxn id="54" idx="3"/>
            <a:endCxn id="56" idx="7"/>
          </p:cNvCxnSpPr>
          <p:nvPr/>
        </p:nvCxnSpPr>
        <p:spPr>
          <a:xfrm flipH="1">
            <a:off x="5329162" y="3008743"/>
            <a:ext cx="622085" cy="488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>
            <a:stCxn id="54" idx="2"/>
            <a:endCxn id="53" idx="6"/>
          </p:cNvCxnSpPr>
          <p:nvPr/>
        </p:nvCxnSpPr>
        <p:spPr>
          <a:xfrm flipH="1">
            <a:off x="5362859" y="2929206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/>
          <p:cNvCxnSpPr>
            <a:stCxn id="55" idx="2"/>
            <a:endCxn id="54" idx="6"/>
          </p:cNvCxnSpPr>
          <p:nvPr/>
        </p:nvCxnSpPr>
        <p:spPr>
          <a:xfrm flipH="1">
            <a:off x="6147647" y="2929205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55" idx="4"/>
            <a:endCxn id="58" idx="0"/>
          </p:cNvCxnSpPr>
          <p:nvPr/>
        </p:nvCxnSpPr>
        <p:spPr>
          <a:xfrm>
            <a:off x="6817387" y="3041687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54" idx="5"/>
            <a:endCxn id="58" idx="1"/>
          </p:cNvCxnSpPr>
          <p:nvPr/>
        </p:nvCxnSpPr>
        <p:spPr>
          <a:xfrm>
            <a:off x="6113950" y="3008743"/>
            <a:ext cx="622085" cy="4889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54" idx="4"/>
            <a:endCxn id="57" idx="0"/>
          </p:cNvCxnSpPr>
          <p:nvPr/>
        </p:nvCxnSpPr>
        <p:spPr>
          <a:xfrm>
            <a:off x="6032599" y="3041688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>
            <a:stCxn id="57" idx="4"/>
            <a:endCxn id="60" idx="0"/>
          </p:cNvCxnSpPr>
          <p:nvPr/>
        </p:nvCxnSpPr>
        <p:spPr>
          <a:xfrm>
            <a:off x="6032599" y="3689744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/>
          <p:cNvCxnSpPr>
            <a:stCxn id="57" idx="5"/>
            <a:endCxn id="61" idx="1"/>
          </p:cNvCxnSpPr>
          <p:nvPr/>
        </p:nvCxnSpPr>
        <p:spPr>
          <a:xfrm>
            <a:off x="6113950" y="3656799"/>
            <a:ext cx="622085" cy="4889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>
            <a:stCxn id="61" idx="2"/>
            <a:endCxn id="60" idx="6"/>
          </p:cNvCxnSpPr>
          <p:nvPr/>
        </p:nvCxnSpPr>
        <p:spPr>
          <a:xfrm flipH="1">
            <a:off x="6147647" y="4225317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to 71"/>
          <p:cNvCxnSpPr>
            <a:stCxn id="57" idx="3"/>
            <a:endCxn id="59" idx="7"/>
          </p:cNvCxnSpPr>
          <p:nvPr/>
        </p:nvCxnSpPr>
        <p:spPr>
          <a:xfrm flipH="1">
            <a:off x="5329162" y="3656799"/>
            <a:ext cx="622085" cy="488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/>
          <p:cNvCxnSpPr>
            <a:stCxn id="60" idx="2"/>
            <a:endCxn id="59" idx="6"/>
          </p:cNvCxnSpPr>
          <p:nvPr/>
        </p:nvCxnSpPr>
        <p:spPr>
          <a:xfrm flipH="1">
            <a:off x="5362859" y="4225318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/>
          <p:cNvCxnSpPr>
            <a:stCxn id="57" idx="2"/>
            <a:endCxn id="56" idx="6"/>
          </p:cNvCxnSpPr>
          <p:nvPr/>
        </p:nvCxnSpPr>
        <p:spPr>
          <a:xfrm flipH="1">
            <a:off x="5362859" y="3577262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tângulo 74"/>
          <p:cNvSpPr/>
          <p:nvPr/>
        </p:nvSpPr>
        <p:spPr>
          <a:xfrm>
            <a:off x="7324423" y="3169456"/>
            <a:ext cx="1053494" cy="815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(G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2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) = 1</a:t>
            </a:r>
          </a:p>
          <a:p>
            <a:endParaRPr lang="pt-BR" sz="1100" dirty="0">
              <a:solidFill>
                <a:schemeClr val="tx1">
                  <a:lumMod val="65000"/>
                  <a:lumOff val="35000"/>
                </a:schemeClr>
              </a:solidFill>
              <a:sym typeface="Symbol" panose="05050102010706020507" pitchFamily="18" charset="2"/>
            </a:endParaRP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(G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2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) = 2</a:t>
            </a:r>
            <a:endParaRPr lang="pt-BR" dirty="0"/>
          </a:p>
        </p:txBody>
      </p:sp>
      <p:cxnSp>
        <p:nvCxnSpPr>
          <p:cNvPr id="16" name="Conector reto 15"/>
          <p:cNvCxnSpPr/>
          <p:nvPr/>
        </p:nvCxnSpPr>
        <p:spPr>
          <a:xfrm>
            <a:off x="4606183" y="2929205"/>
            <a:ext cx="0" cy="12961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/>
          <p:cNvCxnSpPr>
            <a:stCxn id="9" idx="2"/>
            <a:endCxn id="8" idx="6"/>
          </p:cNvCxnSpPr>
          <p:nvPr/>
        </p:nvCxnSpPr>
        <p:spPr>
          <a:xfrm flipH="1">
            <a:off x="1260877" y="3577263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de cantos arredondados 2"/>
          <p:cNvSpPr/>
          <p:nvPr/>
        </p:nvSpPr>
        <p:spPr>
          <a:xfrm>
            <a:off x="2011968" y="1657578"/>
            <a:ext cx="5153114" cy="155175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1800"/>
              </a:spcAft>
            </a:pPr>
            <a:r>
              <a:rPr lang="pt-BR" sz="2400" dirty="0">
                <a:solidFill>
                  <a:schemeClr val="bg1"/>
                </a:solidFill>
              </a:rPr>
              <a:t>Para todo grafo: </a:t>
            </a:r>
            <a:r>
              <a:rPr lang="pt-BR" sz="2400" dirty="0">
                <a:solidFill>
                  <a:schemeClr val="bg1"/>
                </a:solidFill>
                <a:sym typeface="Symbol" panose="05050102010706020507" pitchFamily="18" charset="2"/>
              </a:rPr>
              <a:t>(G)  (G)  (G),   </a:t>
            </a:r>
            <a:r>
              <a:rPr lang="pt-BR" dirty="0">
                <a:solidFill>
                  <a:schemeClr val="bg1"/>
                </a:solidFill>
                <a:sym typeface="Symbol" panose="05050102010706020507" pitchFamily="18" charset="2"/>
              </a:rPr>
              <a:t>em que (G) = min{ </a:t>
            </a:r>
            <a:r>
              <a:rPr lang="pt-BR" i="1" dirty="0">
                <a:solidFill>
                  <a:schemeClr val="bg1"/>
                </a:solidFill>
                <a:sym typeface="Symbol" panose="05050102010706020507" pitchFamily="18" charset="2"/>
              </a:rPr>
              <a:t>d</a:t>
            </a:r>
            <a:r>
              <a:rPr lang="pt-BR" dirty="0">
                <a:solidFill>
                  <a:schemeClr val="bg1"/>
                </a:solidFill>
                <a:sym typeface="Symbol" panose="05050102010706020507" pitchFamily="18" charset="2"/>
              </a:rPr>
              <a:t>(</a:t>
            </a:r>
            <a:r>
              <a:rPr lang="pt-BR" i="1" dirty="0">
                <a:solidFill>
                  <a:schemeClr val="bg1"/>
                </a:solidFill>
                <a:sym typeface="Symbol" panose="05050102010706020507" pitchFamily="18" charset="2"/>
              </a:rPr>
              <a:t>v</a:t>
            </a:r>
            <a:r>
              <a:rPr lang="pt-BR" dirty="0">
                <a:solidFill>
                  <a:schemeClr val="bg1"/>
                </a:solidFill>
                <a:sym typeface="Symbol" panose="05050102010706020507" pitchFamily="18" charset="2"/>
              </a:rPr>
              <a:t>) | </a:t>
            </a:r>
            <a:r>
              <a:rPr lang="pt-BR" i="1" dirty="0">
                <a:solidFill>
                  <a:schemeClr val="bg1"/>
                </a:solidFill>
                <a:sym typeface="Symbol" panose="05050102010706020507" pitchFamily="18" charset="2"/>
              </a:rPr>
              <a:t>v</a:t>
            </a:r>
            <a:r>
              <a:rPr lang="pt-BR" dirty="0">
                <a:solidFill>
                  <a:schemeClr val="bg1"/>
                </a:solidFill>
                <a:sym typeface="Symbol" panose="05050102010706020507" pitchFamily="18" charset="2"/>
              </a:rPr>
              <a:t>  V(G)}</a:t>
            </a:r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76" name="CaixaDeTexto 75"/>
          <p:cNvSpPr txBox="1"/>
          <p:nvPr/>
        </p:nvSpPr>
        <p:spPr>
          <a:xfrm>
            <a:off x="615428" y="2681288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97851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Separável / Grafo </a:t>
            </a:r>
            <a:r>
              <a:rPr lang="pt-BR" i="1" dirty="0"/>
              <a:t>k</a:t>
            </a:r>
            <a:r>
              <a:rPr lang="pt-BR" dirty="0"/>
              <a:t>-Conexo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grafo conexo G é separável se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(G)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é igual a 1.</a:t>
            </a:r>
          </a:p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grafo G é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-conexo em arestas (ou vértices) quando sua conectividade de arestas (ou vértices) é maior ou igual a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Por exemplo, como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3,3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possui conectividade de vértices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(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3,3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)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3, então ele é 1-conexo, 2-conexo 3-conexo. Porém, ele não é 4-conexo.</a:t>
            </a:r>
          </a:p>
        </p:txBody>
      </p:sp>
      <p:sp>
        <p:nvSpPr>
          <p:cNvPr id="19" name="Elipse 18"/>
          <p:cNvSpPr/>
          <p:nvPr/>
        </p:nvSpPr>
        <p:spPr>
          <a:xfrm>
            <a:off x="3645794" y="327839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0" name="Elipse 19"/>
          <p:cNvSpPr/>
          <p:nvPr/>
        </p:nvSpPr>
        <p:spPr>
          <a:xfrm>
            <a:off x="4430582" y="327838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1" name="Elipse 20"/>
          <p:cNvSpPr/>
          <p:nvPr/>
        </p:nvSpPr>
        <p:spPr>
          <a:xfrm>
            <a:off x="5215370" y="327838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2" name="Elipse 21"/>
          <p:cNvSpPr/>
          <p:nvPr/>
        </p:nvSpPr>
        <p:spPr>
          <a:xfrm>
            <a:off x="3645794" y="408027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3" name="Elipse 22"/>
          <p:cNvSpPr/>
          <p:nvPr/>
        </p:nvSpPr>
        <p:spPr>
          <a:xfrm>
            <a:off x="4430582" y="408027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4" name="Elipse 23"/>
          <p:cNvSpPr/>
          <p:nvPr/>
        </p:nvSpPr>
        <p:spPr>
          <a:xfrm>
            <a:off x="5215370" y="408026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25" name="Conector reto 24"/>
          <p:cNvCxnSpPr>
            <a:stCxn id="19" idx="4"/>
            <a:endCxn id="22" idx="0"/>
          </p:cNvCxnSpPr>
          <p:nvPr/>
        </p:nvCxnSpPr>
        <p:spPr>
          <a:xfrm>
            <a:off x="3760843" y="3503355"/>
            <a:ext cx="0" cy="5769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20" idx="3"/>
            <a:endCxn id="22" idx="7"/>
          </p:cNvCxnSpPr>
          <p:nvPr/>
        </p:nvCxnSpPr>
        <p:spPr>
          <a:xfrm flipH="1">
            <a:off x="3842194" y="3470409"/>
            <a:ext cx="622085" cy="6428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24" idx="2"/>
            <a:endCxn id="19" idx="6"/>
          </p:cNvCxnSpPr>
          <p:nvPr/>
        </p:nvCxnSpPr>
        <p:spPr>
          <a:xfrm flipH="1" flipV="1">
            <a:off x="3875891" y="3390873"/>
            <a:ext cx="1339479" cy="80187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21" idx="2"/>
            <a:endCxn id="22" idx="6"/>
          </p:cNvCxnSpPr>
          <p:nvPr/>
        </p:nvCxnSpPr>
        <p:spPr>
          <a:xfrm flipH="1">
            <a:off x="3875891" y="3390871"/>
            <a:ext cx="1339479" cy="8018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/>
          <p:cNvCxnSpPr>
            <a:stCxn id="21" idx="4"/>
            <a:endCxn id="24" idx="0"/>
          </p:cNvCxnSpPr>
          <p:nvPr/>
        </p:nvCxnSpPr>
        <p:spPr>
          <a:xfrm>
            <a:off x="5330419" y="3503353"/>
            <a:ext cx="0" cy="5769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20" idx="5"/>
            <a:endCxn id="24" idx="1"/>
          </p:cNvCxnSpPr>
          <p:nvPr/>
        </p:nvCxnSpPr>
        <p:spPr>
          <a:xfrm>
            <a:off x="4626982" y="3470409"/>
            <a:ext cx="622085" cy="64280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/>
          <p:cNvCxnSpPr>
            <a:stCxn id="20" idx="4"/>
            <a:endCxn id="23" idx="0"/>
          </p:cNvCxnSpPr>
          <p:nvPr/>
        </p:nvCxnSpPr>
        <p:spPr>
          <a:xfrm>
            <a:off x="4545631" y="3503354"/>
            <a:ext cx="0" cy="5769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21" idx="3"/>
            <a:endCxn id="23" idx="7"/>
          </p:cNvCxnSpPr>
          <p:nvPr/>
        </p:nvCxnSpPr>
        <p:spPr>
          <a:xfrm flipH="1">
            <a:off x="4626982" y="3470408"/>
            <a:ext cx="622085" cy="6428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1"/>
            <a:endCxn id="19" idx="5"/>
          </p:cNvCxnSpPr>
          <p:nvPr/>
        </p:nvCxnSpPr>
        <p:spPr>
          <a:xfrm flipH="1" flipV="1">
            <a:off x="3842194" y="3470410"/>
            <a:ext cx="622085" cy="64280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tângulo 51"/>
          <p:cNvSpPr/>
          <p:nvPr/>
        </p:nvSpPr>
        <p:spPr>
          <a:xfrm>
            <a:off x="2976998" y="3607145"/>
            <a:ext cx="5225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3,3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6486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52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Articulação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conexo G = (V, E),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é denominado articulação, se a remoção do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tornar G desconexo.</a:t>
            </a:r>
          </a:p>
        </p:txBody>
      </p:sp>
      <p:sp>
        <p:nvSpPr>
          <p:cNvPr id="5" name="Elipse 4"/>
          <p:cNvSpPr/>
          <p:nvPr/>
        </p:nvSpPr>
        <p:spPr>
          <a:xfrm>
            <a:off x="2182891" y="24500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182891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" name="Elipse 7"/>
          <p:cNvSpPr/>
          <p:nvPr/>
        </p:nvSpPr>
        <p:spPr>
          <a:xfrm>
            <a:off x="2967679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9" name="Elipse 8"/>
          <p:cNvSpPr/>
          <p:nvPr/>
        </p:nvSpPr>
        <p:spPr>
          <a:xfrm>
            <a:off x="1398103" y="3746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2182891" y="374613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Elipse 10"/>
          <p:cNvSpPr/>
          <p:nvPr/>
        </p:nvSpPr>
        <p:spPr>
          <a:xfrm>
            <a:off x="2967679" y="374613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1398103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3" name="Conector reto 12"/>
          <p:cNvCxnSpPr>
            <a:stCxn id="8" idx="2"/>
            <a:endCxn id="7" idx="6"/>
          </p:cNvCxnSpPr>
          <p:nvPr/>
        </p:nvCxnSpPr>
        <p:spPr>
          <a:xfrm flipH="1">
            <a:off x="2412988" y="3210559"/>
            <a:ext cx="5546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7" idx="2"/>
            <a:endCxn id="12" idx="6"/>
          </p:cNvCxnSpPr>
          <p:nvPr/>
        </p:nvCxnSpPr>
        <p:spPr>
          <a:xfrm flipH="1">
            <a:off x="1628200" y="3210559"/>
            <a:ext cx="5546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>
            <a:stCxn id="11" idx="2"/>
            <a:endCxn id="10" idx="6"/>
          </p:cNvCxnSpPr>
          <p:nvPr/>
        </p:nvCxnSpPr>
        <p:spPr>
          <a:xfrm flipH="1">
            <a:off x="2412988" y="3858615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8" idx="3"/>
            <a:endCxn id="10" idx="7"/>
          </p:cNvCxnSpPr>
          <p:nvPr/>
        </p:nvCxnSpPr>
        <p:spPr>
          <a:xfrm flipH="1">
            <a:off x="2379291" y="3290096"/>
            <a:ext cx="622085" cy="488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8" idx="4"/>
            <a:endCxn id="11" idx="0"/>
          </p:cNvCxnSpPr>
          <p:nvPr/>
        </p:nvCxnSpPr>
        <p:spPr>
          <a:xfrm>
            <a:off x="3082728" y="3323041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4"/>
            <a:endCxn id="10" idx="0"/>
          </p:cNvCxnSpPr>
          <p:nvPr/>
        </p:nvCxnSpPr>
        <p:spPr>
          <a:xfrm>
            <a:off x="2297940" y="3323041"/>
            <a:ext cx="0" cy="4230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12" idx="4"/>
            <a:endCxn id="9" idx="0"/>
          </p:cNvCxnSpPr>
          <p:nvPr/>
        </p:nvCxnSpPr>
        <p:spPr>
          <a:xfrm>
            <a:off x="1513152" y="3323041"/>
            <a:ext cx="0" cy="4230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5" idx="4"/>
            <a:endCxn id="7" idx="0"/>
          </p:cNvCxnSpPr>
          <p:nvPr/>
        </p:nvCxnSpPr>
        <p:spPr>
          <a:xfrm>
            <a:off x="2297940" y="2674986"/>
            <a:ext cx="0" cy="4230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5" idx="3"/>
            <a:endCxn id="12" idx="7"/>
          </p:cNvCxnSpPr>
          <p:nvPr/>
        </p:nvCxnSpPr>
        <p:spPr>
          <a:xfrm flipH="1">
            <a:off x="1594503" y="2642041"/>
            <a:ext cx="622085" cy="4889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1355896" y="2351294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511679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39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Articulação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conexo G = (V, E),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é denominado articulação, se a remoção do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tornar G desconexo.</a:t>
            </a:r>
          </a:p>
        </p:txBody>
      </p:sp>
      <p:sp>
        <p:nvSpPr>
          <p:cNvPr id="5" name="Elipse 4"/>
          <p:cNvSpPr/>
          <p:nvPr/>
        </p:nvSpPr>
        <p:spPr>
          <a:xfrm>
            <a:off x="2182891" y="24500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182891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" name="Elipse 7"/>
          <p:cNvSpPr/>
          <p:nvPr/>
        </p:nvSpPr>
        <p:spPr>
          <a:xfrm>
            <a:off x="2967679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9" name="Elipse 8"/>
          <p:cNvSpPr/>
          <p:nvPr/>
        </p:nvSpPr>
        <p:spPr>
          <a:xfrm>
            <a:off x="1398103" y="3746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2182891" y="374613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Elipse 10"/>
          <p:cNvSpPr/>
          <p:nvPr/>
        </p:nvSpPr>
        <p:spPr>
          <a:xfrm>
            <a:off x="2967679" y="374613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1398103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3" name="Conector reto 12"/>
          <p:cNvCxnSpPr>
            <a:stCxn id="8" idx="2"/>
            <a:endCxn id="7" idx="6"/>
          </p:cNvCxnSpPr>
          <p:nvPr/>
        </p:nvCxnSpPr>
        <p:spPr>
          <a:xfrm flipH="1">
            <a:off x="2412988" y="3210559"/>
            <a:ext cx="5546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7" idx="2"/>
            <a:endCxn id="12" idx="6"/>
          </p:cNvCxnSpPr>
          <p:nvPr/>
        </p:nvCxnSpPr>
        <p:spPr>
          <a:xfrm flipH="1">
            <a:off x="1628200" y="3210559"/>
            <a:ext cx="5546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>
            <a:stCxn id="11" idx="2"/>
            <a:endCxn id="10" idx="6"/>
          </p:cNvCxnSpPr>
          <p:nvPr/>
        </p:nvCxnSpPr>
        <p:spPr>
          <a:xfrm flipH="1">
            <a:off x="2412988" y="3858615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8" idx="3"/>
            <a:endCxn id="10" idx="7"/>
          </p:cNvCxnSpPr>
          <p:nvPr/>
        </p:nvCxnSpPr>
        <p:spPr>
          <a:xfrm flipH="1">
            <a:off x="2379291" y="3290096"/>
            <a:ext cx="622085" cy="488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8" idx="4"/>
            <a:endCxn id="11" idx="0"/>
          </p:cNvCxnSpPr>
          <p:nvPr/>
        </p:nvCxnSpPr>
        <p:spPr>
          <a:xfrm>
            <a:off x="3082728" y="3323041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4"/>
            <a:endCxn id="10" idx="0"/>
          </p:cNvCxnSpPr>
          <p:nvPr/>
        </p:nvCxnSpPr>
        <p:spPr>
          <a:xfrm>
            <a:off x="2297940" y="3323041"/>
            <a:ext cx="0" cy="4230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12" idx="4"/>
            <a:endCxn id="9" idx="0"/>
          </p:cNvCxnSpPr>
          <p:nvPr/>
        </p:nvCxnSpPr>
        <p:spPr>
          <a:xfrm>
            <a:off x="1513152" y="3323041"/>
            <a:ext cx="0" cy="4230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5" idx="4"/>
            <a:endCxn id="7" idx="0"/>
          </p:cNvCxnSpPr>
          <p:nvPr/>
        </p:nvCxnSpPr>
        <p:spPr>
          <a:xfrm>
            <a:off x="2297940" y="2674986"/>
            <a:ext cx="0" cy="4230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5" idx="3"/>
            <a:endCxn id="12" idx="7"/>
          </p:cNvCxnSpPr>
          <p:nvPr/>
        </p:nvCxnSpPr>
        <p:spPr>
          <a:xfrm flipH="1">
            <a:off x="1594503" y="2642041"/>
            <a:ext cx="622085" cy="4889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1355896" y="2351294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2670028" y="2719945"/>
            <a:ext cx="1007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Articulação</a:t>
            </a:r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2431207" y="2922508"/>
            <a:ext cx="246075" cy="142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183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Articulação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conexo G = (V, E),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é denominado articulação, se a remoção do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tornar G desconexo.</a:t>
            </a:r>
          </a:p>
        </p:txBody>
      </p:sp>
      <p:sp>
        <p:nvSpPr>
          <p:cNvPr id="5" name="Elipse 4"/>
          <p:cNvSpPr/>
          <p:nvPr/>
        </p:nvSpPr>
        <p:spPr>
          <a:xfrm>
            <a:off x="2182891" y="24500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182891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" name="Elipse 7"/>
          <p:cNvSpPr/>
          <p:nvPr/>
        </p:nvSpPr>
        <p:spPr>
          <a:xfrm>
            <a:off x="2967679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9" name="Elipse 8"/>
          <p:cNvSpPr/>
          <p:nvPr/>
        </p:nvSpPr>
        <p:spPr>
          <a:xfrm>
            <a:off x="1398103" y="3746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2182891" y="374613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Elipse 10"/>
          <p:cNvSpPr/>
          <p:nvPr/>
        </p:nvSpPr>
        <p:spPr>
          <a:xfrm>
            <a:off x="2967679" y="374613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1398103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3" name="Conector reto 12"/>
          <p:cNvCxnSpPr>
            <a:stCxn id="8" idx="2"/>
            <a:endCxn id="7" idx="6"/>
          </p:cNvCxnSpPr>
          <p:nvPr/>
        </p:nvCxnSpPr>
        <p:spPr>
          <a:xfrm flipH="1">
            <a:off x="2412988" y="3210559"/>
            <a:ext cx="5546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7" idx="2"/>
            <a:endCxn id="12" idx="6"/>
          </p:cNvCxnSpPr>
          <p:nvPr/>
        </p:nvCxnSpPr>
        <p:spPr>
          <a:xfrm flipH="1">
            <a:off x="1628200" y="3210559"/>
            <a:ext cx="5546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>
            <a:stCxn id="11" idx="2"/>
            <a:endCxn id="10" idx="6"/>
          </p:cNvCxnSpPr>
          <p:nvPr/>
        </p:nvCxnSpPr>
        <p:spPr>
          <a:xfrm flipH="1">
            <a:off x="2412988" y="3858615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8" idx="3"/>
            <a:endCxn id="10" idx="7"/>
          </p:cNvCxnSpPr>
          <p:nvPr/>
        </p:nvCxnSpPr>
        <p:spPr>
          <a:xfrm flipH="1">
            <a:off x="2379291" y="3290096"/>
            <a:ext cx="622085" cy="488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8" idx="4"/>
            <a:endCxn id="11" idx="0"/>
          </p:cNvCxnSpPr>
          <p:nvPr/>
        </p:nvCxnSpPr>
        <p:spPr>
          <a:xfrm>
            <a:off x="3082728" y="3323041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4"/>
            <a:endCxn id="10" idx="0"/>
          </p:cNvCxnSpPr>
          <p:nvPr/>
        </p:nvCxnSpPr>
        <p:spPr>
          <a:xfrm>
            <a:off x="2297940" y="3323041"/>
            <a:ext cx="0" cy="4230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12" idx="4"/>
            <a:endCxn id="9" idx="0"/>
          </p:cNvCxnSpPr>
          <p:nvPr/>
        </p:nvCxnSpPr>
        <p:spPr>
          <a:xfrm>
            <a:off x="1513152" y="3323041"/>
            <a:ext cx="0" cy="4230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5" idx="4"/>
            <a:endCxn id="7" idx="0"/>
          </p:cNvCxnSpPr>
          <p:nvPr/>
        </p:nvCxnSpPr>
        <p:spPr>
          <a:xfrm>
            <a:off x="2297940" y="2674986"/>
            <a:ext cx="0" cy="4230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5" idx="3"/>
            <a:endCxn id="12" idx="7"/>
          </p:cNvCxnSpPr>
          <p:nvPr/>
        </p:nvCxnSpPr>
        <p:spPr>
          <a:xfrm flipH="1">
            <a:off x="1594503" y="2642041"/>
            <a:ext cx="622085" cy="4889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1355896" y="2351294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2670028" y="2719945"/>
            <a:ext cx="1007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Articulação</a:t>
            </a:r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2431207" y="2922508"/>
            <a:ext cx="246075" cy="142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/>
          <p:nvPr/>
        </p:nvSpPr>
        <p:spPr>
          <a:xfrm>
            <a:off x="6113956" y="24500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8" name="Elipse 27"/>
          <p:cNvSpPr/>
          <p:nvPr/>
        </p:nvSpPr>
        <p:spPr>
          <a:xfrm>
            <a:off x="6898744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9" name="Elipse 28"/>
          <p:cNvSpPr/>
          <p:nvPr/>
        </p:nvSpPr>
        <p:spPr>
          <a:xfrm>
            <a:off x="5329168" y="3746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1" name="Elipse 30"/>
          <p:cNvSpPr/>
          <p:nvPr/>
        </p:nvSpPr>
        <p:spPr>
          <a:xfrm>
            <a:off x="6113956" y="374613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32" name="Elipse 31"/>
          <p:cNvSpPr/>
          <p:nvPr/>
        </p:nvSpPr>
        <p:spPr>
          <a:xfrm>
            <a:off x="6898744" y="374613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34" name="Elipse 33"/>
          <p:cNvSpPr/>
          <p:nvPr/>
        </p:nvSpPr>
        <p:spPr>
          <a:xfrm>
            <a:off x="5329168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38" name="Conector reto 37"/>
          <p:cNvCxnSpPr>
            <a:stCxn id="32" idx="2"/>
            <a:endCxn id="31" idx="6"/>
          </p:cNvCxnSpPr>
          <p:nvPr/>
        </p:nvCxnSpPr>
        <p:spPr>
          <a:xfrm flipH="1">
            <a:off x="6344053" y="3858615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/>
          <p:cNvCxnSpPr>
            <a:stCxn id="28" idx="3"/>
            <a:endCxn id="31" idx="7"/>
          </p:cNvCxnSpPr>
          <p:nvPr/>
        </p:nvCxnSpPr>
        <p:spPr>
          <a:xfrm flipH="1">
            <a:off x="6310356" y="3290096"/>
            <a:ext cx="622085" cy="488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8" idx="4"/>
            <a:endCxn id="32" idx="0"/>
          </p:cNvCxnSpPr>
          <p:nvPr/>
        </p:nvCxnSpPr>
        <p:spPr>
          <a:xfrm>
            <a:off x="7013793" y="3323041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34" idx="4"/>
            <a:endCxn id="29" idx="0"/>
          </p:cNvCxnSpPr>
          <p:nvPr/>
        </p:nvCxnSpPr>
        <p:spPr>
          <a:xfrm>
            <a:off x="5444217" y="3323041"/>
            <a:ext cx="0" cy="4230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>
            <a:stCxn id="25" idx="3"/>
            <a:endCxn id="34" idx="7"/>
          </p:cNvCxnSpPr>
          <p:nvPr/>
        </p:nvCxnSpPr>
        <p:spPr>
          <a:xfrm flipH="1">
            <a:off x="5525568" y="2642041"/>
            <a:ext cx="622085" cy="4889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/>
          <p:cNvSpPr txBox="1"/>
          <p:nvPr/>
        </p:nvSpPr>
        <p:spPr>
          <a:xfrm>
            <a:off x="5141089" y="2351294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 c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17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Articulação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conexo G = (V, E),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é denominado articulação, se a remoção do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tornar G desconexo.</a:t>
            </a:r>
          </a:p>
        </p:txBody>
      </p:sp>
      <p:sp>
        <p:nvSpPr>
          <p:cNvPr id="5" name="Elipse 4"/>
          <p:cNvSpPr/>
          <p:nvPr/>
        </p:nvSpPr>
        <p:spPr>
          <a:xfrm>
            <a:off x="2182891" y="24500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182891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" name="Elipse 7"/>
          <p:cNvSpPr/>
          <p:nvPr/>
        </p:nvSpPr>
        <p:spPr>
          <a:xfrm>
            <a:off x="2967679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9" name="Elipse 8"/>
          <p:cNvSpPr/>
          <p:nvPr/>
        </p:nvSpPr>
        <p:spPr>
          <a:xfrm>
            <a:off x="1398103" y="3746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2182891" y="374613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Elipse 10"/>
          <p:cNvSpPr/>
          <p:nvPr/>
        </p:nvSpPr>
        <p:spPr>
          <a:xfrm>
            <a:off x="2967679" y="374613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1398103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3" name="Conector reto 12"/>
          <p:cNvCxnSpPr>
            <a:stCxn id="8" idx="2"/>
            <a:endCxn id="7" idx="6"/>
          </p:cNvCxnSpPr>
          <p:nvPr/>
        </p:nvCxnSpPr>
        <p:spPr>
          <a:xfrm flipH="1">
            <a:off x="2412988" y="3210559"/>
            <a:ext cx="5546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7" idx="2"/>
            <a:endCxn id="12" idx="6"/>
          </p:cNvCxnSpPr>
          <p:nvPr/>
        </p:nvCxnSpPr>
        <p:spPr>
          <a:xfrm flipH="1">
            <a:off x="1628200" y="3210559"/>
            <a:ext cx="5546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>
            <a:stCxn id="11" idx="2"/>
            <a:endCxn id="10" idx="6"/>
          </p:cNvCxnSpPr>
          <p:nvPr/>
        </p:nvCxnSpPr>
        <p:spPr>
          <a:xfrm flipH="1">
            <a:off x="2412988" y="3858615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8" idx="3"/>
            <a:endCxn id="10" idx="7"/>
          </p:cNvCxnSpPr>
          <p:nvPr/>
        </p:nvCxnSpPr>
        <p:spPr>
          <a:xfrm flipH="1">
            <a:off x="2379291" y="3290096"/>
            <a:ext cx="622085" cy="488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8" idx="4"/>
            <a:endCxn id="11" idx="0"/>
          </p:cNvCxnSpPr>
          <p:nvPr/>
        </p:nvCxnSpPr>
        <p:spPr>
          <a:xfrm>
            <a:off x="3082728" y="3323041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4"/>
            <a:endCxn id="10" idx="0"/>
          </p:cNvCxnSpPr>
          <p:nvPr/>
        </p:nvCxnSpPr>
        <p:spPr>
          <a:xfrm>
            <a:off x="2297940" y="3323041"/>
            <a:ext cx="0" cy="4230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12" idx="4"/>
            <a:endCxn id="9" idx="0"/>
          </p:cNvCxnSpPr>
          <p:nvPr/>
        </p:nvCxnSpPr>
        <p:spPr>
          <a:xfrm>
            <a:off x="1513152" y="3323041"/>
            <a:ext cx="0" cy="4230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5" idx="4"/>
            <a:endCxn id="7" idx="0"/>
          </p:cNvCxnSpPr>
          <p:nvPr/>
        </p:nvCxnSpPr>
        <p:spPr>
          <a:xfrm>
            <a:off x="2297940" y="2674986"/>
            <a:ext cx="0" cy="4230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5" idx="3"/>
            <a:endCxn id="12" idx="7"/>
          </p:cNvCxnSpPr>
          <p:nvPr/>
        </p:nvCxnSpPr>
        <p:spPr>
          <a:xfrm flipH="1">
            <a:off x="1594503" y="2642041"/>
            <a:ext cx="622085" cy="4889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1355896" y="2351294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2588878" y="4086411"/>
            <a:ext cx="14559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Não é articulação</a:t>
            </a:r>
          </a:p>
        </p:txBody>
      </p:sp>
      <p:cxnSp>
        <p:nvCxnSpPr>
          <p:cNvPr id="23" name="Conector de seta reta 22"/>
          <p:cNvCxnSpPr/>
          <p:nvPr/>
        </p:nvCxnSpPr>
        <p:spPr>
          <a:xfrm flipH="1" flipV="1">
            <a:off x="2379291" y="4030941"/>
            <a:ext cx="246075" cy="142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/>
          <p:nvPr/>
        </p:nvSpPr>
        <p:spPr>
          <a:xfrm>
            <a:off x="6113956" y="24500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6" name="Elipse 25"/>
          <p:cNvSpPr/>
          <p:nvPr/>
        </p:nvSpPr>
        <p:spPr>
          <a:xfrm>
            <a:off x="6113956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8" name="Elipse 27"/>
          <p:cNvSpPr/>
          <p:nvPr/>
        </p:nvSpPr>
        <p:spPr>
          <a:xfrm>
            <a:off x="6898744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9" name="Elipse 28"/>
          <p:cNvSpPr/>
          <p:nvPr/>
        </p:nvSpPr>
        <p:spPr>
          <a:xfrm>
            <a:off x="5329168" y="3746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2" name="Elipse 31"/>
          <p:cNvSpPr/>
          <p:nvPr/>
        </p:nvSpPr>
        <p:spPr>
          <a:xfrm>
            <a:off x="6898744" y="374613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34" name="Elipse 33"/>
          <p:cNvSpPr/>
          <p:nvPr/>
        </p:nvSpPr>
        <p:spPr>
          <a:xfrm>
            <a:off x="5329168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35" name="Conector reto 34"/>
          <p:cNvCxnSpPr>
            <a:stCxn id="28" idx="2"/>
            <a:endCxn id="26" idx="6"/>
          </p:cNvCxnSpPr>
          <p:nvPr/>
        </p:nvCxnSpPr>
        <p:spPr>
          <a:xfrm flipH="1">
            <a:off x="6344053" y="3210559"/>
            <a:ext cx="5546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>
            <a:stCxn id="26" idx="2"/>
            <a:endCxn id="34" idx="6"/>
          </p:cNvCxnSpPr>
          <p:nvPr/>
        </p:nvCxnSpPr>
        <p:spPr>
          <a:xfrm flipH="1">
            <a:off x="5559265" y="3210559"/>
            <a:ext cx="5546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8" idx="4"/>
            <a:endCxn id="32" idx="0"/>
          </p:cNvCxnSpPr>
          <p:nvPr/>
        </p:nvCxnSpPr>
        <p:spPr>
          <a:xfrm>
            <a:off x="7013793" y="3323041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34" idx="4"/>
            <a:endCxn id="29" idx="0"/>
          </p:cNvCxnSpPr>
          <p:nvPr/>
        </p:nvCxnSpPr>
        <p:spPr>
          <a:xfrm>
            <a:off x="5444217" y="3323041"/>
            <a:ext cx="0" cy="4230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>
            <a:stCxn id="25" idx="4"/>
            <a:endCxn id="26" idx="0"/>
          </p:cNvCxnSpPr>
          <p:nvPr/>
        </p:nvCxnSpPr>
        <p:spPr>
          <a:xfrm>
            <a:off x="6229005" y="2674986"/>
            <a:ext cx="0" cy="4230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>
            <a:stCxn id="25" idx="3"/>
            <a:endCxn id="34" idx="7"/>
          </p:cNvCxnSpPr>
          <p:nvPr/>
        </p:nvCxnSpPr>
        <p:spPr>
          <a:xfrm flipH="1">
            <a:off x="5525568" y="2642041"/>
            <a:ext cx="622085" cy="4889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/>
          <p:cNvSpPr txBox="1"/>
          <p:nvPr/>
        </p:nvSpPr>
        <p:spPr>
          <a:xfrm>
            <a:off x="5153111" y="2351294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 f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875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Ponte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conexo G = (V, E), uma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é chamada ponte, se a remoção da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tornar G desconexo.</a:t>
            </a:r>
          </a:p>
        </p:txBody>
      </p:sp>
      <p:sp>
        <p:nvSpPr>
          <p:cNvPr id="5" name="Elipse 4"/>
          <p:cNvSpPr/>
          <p:nvPr/>
        </p:nvSpPr>
        <p:spPr>
          <a:xfrm>
            <a:off x="2182891" y="24500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182891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" name="Elipse 7"/>
          <p:cNvSpPr/>
          <p:nvPr/>
        </p:nvSpPr>
        <p:spPr>
          <a:xfrm>
            <a:off x="2967679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9" name="Elipse 8"/>
          <p:cNvSpPr/>
          <p:nvPr/>
        </p:nvSpPr>
        <p:spPr>
          <a:xfrm>
            <a:off x="1398103" y="3746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2182891" y="374613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Elipse 10"/>
          <p:cNvSpPr/>
          <p:nvPr/>
        </p:nvSpPr>
        <p:spPr>
          <a:xfrm>
            <a:off x="2967679" y="374613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1398103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3" name="Conector reto 12"/>
          <p:cNvCxnSpPr>
            <a:stCxn id="8" idx="2"/>
            <a:endCxn id="7" idx="6"/>
          </p:cNvCxnSpPr>
          <p:nvPr/>
        </p:nvCxnSpPr>
        <p:spPr>
          <a:xfrm flipH="1">
            <a:off x="2412988" y="3210559"/>
            <a:ext cx="5546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7" idx="2"/>
            <a:endCxn id="12" idx="6"/>
          </p:cNvCxnSpPr>
          <p:nvPr/>
        </p:nvCxnSpPr>
        <p:spPr>
          <a:xfrm flipH="1">
            <a:off x="1628200" y="3210559"/>
            <a:ext cx="5546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11" idx="2"/>
            <a:endCxn id="10" idx="6"/>
          </p:cNvCxnSpPr>
          <p:nvPr/>
        </p:nvCxnSpPr>
        <p:spPr>
          <a:xfrm flipH="1">
            <a:off x="2412988" y="3858615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8" idx="3"/>
            <a:endCxn id="10" idx="7"/>
          </p:cNvCxnSpPr>
          <p:nvPr/>
        </p:nvCxnSpPr>
        <p:spPr>
          <a:xfrm flipH="1">
            <a:off x="2379291" y="3290096"/>
            <a:ext cx="622085" cy="488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8" idx="4"/>
            <a:endCxn id="11" idx="0"/>
          </p:cNvCxnSpPr>
          <p:nvPr/>
        </p:nvCxnSpPr>
        <p:spPr>
          <a:xfrm>
            <a:off x="3082728" y="3323041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>
            <a:stCxn id="7" idx="4"/>
            <a:endCxn id="10" idx="0"/>
          </p:cNvCxnSpPr>
          <p:nvPr/>
        </p:nvCxnSpPr>
        <p:spPr>
          <a:xfrm>
            <a:off x="2297940" y="3323041"/>
            <a:ext cx="0" cy="4230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12" idx="4"/>
            <a:endCxn id="9" idx="0"/>
          </p:cNvCxnSpPr>
          <p:nvPr/>
        </p:nvCxnSpPr>
        <p:spPr>
          <a:xfrm>
            <a:off x="1513152" y="3323041"/>
            <a:ext cx="0" cy="4230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5" idx="4"/>
            <a:endCxn id="7" idx="0"/>
          </p:cNvCxnSpPr>
          <p:nvPr/>
        </p:nvCxnSpPr>
        <p:spPr>
          <a:xfrm>
            <a:off x="2297940" y="2674986"/>
            <a:ext cx="0" cy="4230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12" idx="7"/>
          </p:cNvCxnSpPr>
          <p:nvPr/>
        </p:nvCxnSpPr>
        <p:spPr>
          <a:xfrm flipH="1">
            <a:off x="1594503" y="2642041"/>
            <a:ext cx="622085" cy="4889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1355896" y="2351294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82107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2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Ponte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conexo G = (V, E), uma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é chamada ponte, se a remoção da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tornar G desconexo.</a:t>
            </a:r>
          </a:p>
        </p:txBody>
      </p:sp>
      <p:sp>
        <p:nvSpPr>
          <p:cNvPr id="5" name="Elipse 4"/>
          <p:cNvSpPr/>
          <p:nvPr/>
        </p:nvSpPr>
        <p:spPr>
          <a:xfrm>
            <a:off x="2182891" y="24500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182891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" name="Elipse 7"/>
          <p:cNvSpPr/>
          <p:nvPr/>
        </p:nvSpPr>
        <p:spPr>
          <a:xfrm>
            <a:off x="2967679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9" name="Elipse 8"/>
          <p:cNvSpPr/>
          <p:nvPr/>
        </p:nvSpPr>
        <p:spPr>
          <a:xfrm>
            <a:off x="1398103" y="3746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2182891" y="374613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Elipse 10"/>
          <p:cNvSpPr/>
          <p:nvPr/>
        </p:nvSpPr>
        <p:spPr>
          <a:xfrm>
            <a:off x="2967679" y="374613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1398103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3" name="Conector reto 12"/>
          <p:cNvCxnSpPr>
            <a:stCxn id="8" idx="2"/>
            <a:endCxn id="7" idx="6"/>
          </p:cNvCxnSpPr>
          <p:nvPr/>
        </p:nvCxnSpPr>
        <p:spPr>
          <a:xfrm flipH="1">
            <a:off x="2412988" y="3210559"/>
            <a:ext cx="5546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7" idx="2"/>
            <a:endCxn id="12" idx="6"/>
          </p:cNvCxnSpPr>
          <p:nvPr/>
        </p:nvCxnSpPr>
        <p:spPr>
          <a:xfrm flipH="1">
            <a:off x="1628200" y="3210559"/>
            <a:ext cx="5546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11" idx="2"/>
            <a:endCxn id="10" idx="6"/>
          </p:cNvCxnSpPr>
          <p:nvPr/>
        </p:nvCxnSpPr>
        <p:spPr>
          <a:xfrm flipH="1">
            <a:off x="2412988" y="3858615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8" idx="3"/>
            <a:endCxn id="10" idx="7"/>
          </p:cNvCxnSpPr>
          <p:nvPr/>
        </p:nvCxnSpPr>
        <p:spPr>
          <a:xfrm flipH="1">
            <a:off x="2379291" y="3290096"/>
            <a:ext cx="622085" cy="488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8" idx="4"/>
            <a:endCxn id="11" idx="0"/>
          </p:cNvCxnSpPr>
          <p:nvPr/>
        </p:nvCxnSpPr>
        <p:spPr>
          <a:xfrm>
            <a:off x="3082728" y="3323041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>
            <a:stCxn id="7" idx="4"/>
            <a:endCxn id="10" idx="0"/>
          </p:cNvCxnSpPr>
          <p:nvPr/>
        </p:nvCxnSpPr>
        <p:spPr>
          <a:xfrm>
            <a:off x="2297940" y="3323041"/>
            <a:ext cx="0" cy="4230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12" idx="4"/>
            <a:endCxn id="9" idx="0"/>
          </p:cNvCxnSpPr>
          <p:nvPr/>
        </p:nvCxnSpPr>
        <p:spPr>
          <a:xfrm>
            <a:off x="1513152" y="3323041"/>
            <a:ext cx="0" cy="4230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5" idx="4"/>
            <a:endCxn id="7" idx="0"/>
          </p:cNvCxnSpPr>
          <p:nvPr/>
        </p:nvCxnSpPr>
        <p:spPr>
          <a:xfrm>
            <a:off x="2297940" y="2674986"/>
            <a:ext cx="0" cy="4230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12" idx="7"/>
          </p:cNvCxnSpPr>
          <p:nvPr/>
        </p:nvCxnSpPr>
        <p:spPr>
          <a:xfrm flipH="1">
            <a:off x="1594503" y="2642041"/>
            <a:ext cx="622085" cy="4889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1355896" y="2351294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53685" y="3296843"/>
            <a:ext cx="610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Ponte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1117194" y="3450732"/>
            <a:ext cx="314606" cy="92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60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Ponte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conexo G = (V, E), uma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é chamada ponte, se a remoção da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tornar G desconexo.</a:t>
            </a:r>
          </a:p>
        </p:txBody>
      </p:sp>
      <p:sp>
        <p:nvSpPr>
          <p:cNvPr id="5" name="Elipse 4"/>
          <p:cNvSpPr/>
          <p:nvPr/>
        </p:nvSpPr>
        <p:spPr>
          <a:xfrm>
            <a:off x="2182891" y="24500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182891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" name="Elipse 7"/>
          <p:cNvSpPr/>
          <p:nvPr/>
        </p:nvSpPr>
        <p:spPr>
          <a:xfrm>
            <a:off x="2967679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9" name="Elipse 8"/>
          <p:cNvSpPr/>
          <p:nvPr/>
        </p:nvSpPr>
        <p:spPr>
          <a:xfrm>
            <a:off x="1398103" y="3746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2182891" y="374613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Elipse 10"/>
          <p:cNvSpPr/>
          <p:nvPr/>
        </p:nvSpPr>
        <p:spPr>
          <a:xfrm>
            <a:off x="2967679" y="374613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1398103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3" name="Conector reto 12"/>
          <p:cNvCxnSpPr>
            <a:stCxn id="8" idx="2"/>
            <a:endCxn id="7" idx="6"/>
          </p:cNvCxnSpPr>
          <p:nvPr/>
        </p:nvCxnSpPr>
        <p:spPr>
          <a:xfrm flipH="1">
            <a:off x="2412988" y="3210559"/>
            <a:ext cx="5546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7" idx="2"/>
            <a:endCxn id="12" idx="6"/>
          </p:cNvCxnSpPr>
          <p:nvPr/>
        </p:nvCxnSpPr>
        <p:spPr>
          <a:xfrm flipH="1">
            <a:off x="1628200" y="3210559"/>
            <a:ext cx="5546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11" idx="2"/>
            <a:endCxn id="10" idx="6"/>
          </p:cNvCxnSpPr>
          <p:nvPr/>
        </p:nvCxnSpPr>
        <p:spPr>
          <a:xfrm flipH="1">
            <a:off x="2412988" y="3858615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8" idx="3"/>
            <a:endCxn id="10" idx="7"/>
          </p:cNvCxnSpPr>
          <p:nvPr/>
        </p:nvCxnSpPr>
        <p:spPr>
          <a:xfrm flipH="1">
            <a:off x="2379291" y="3290096"/>
            <a:ext cx="622085" cy="488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8" idx="4"/>
            <a:endCxn id="11" idx="0"/>
          </p:cNvCxnSpPr>
          <p:nvPr/>
        </p:nvCxnSpPr>
        <p:spPr>
          <a:xfrm>
            <a:off x="3082728" y="3323041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>
            <a:stCxn id="7" idx="4"/>
            <a:endCxn id="10" idx="0"/>
          </p:cNvCxnSpPr>
          <p:nvPr/>
        </p:nvCxnSpPr>
        <p:spPr>
          <a:xfrm>
            <a:off x="2297940" y="3323041"/>
            <a:ext cx="0" cy="4230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12" idx="4"/>
            <a:endCxn id="9" idx="0"/>
          </p:cNvCxnSpPr>
          <p:nvPr/>
        </p:nvCxnSpPr>
        <p:spPr>
          <a:xfrm>
            <a:off x="1513152" y="3323041"/>
            <a:ext cx="0" cy="4230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5" idx="4"/>
            <a:endCxn id="7" idx="0"/>
          </p:cNvCxnSpPr>
          <p:nvPr/>
        </p:nvCxnSpPr>
        <p:spPr>
          <a:xfrm>
            <a:off x="2297940" y="2674986"/>
            <a:ext cx="0" cy="4230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12" idx="7"/>
          </p:cNvCxnSpPr>
          <p:nvPr/>
        </p:nvCxnSpPr>
        <p:spPr>
          <a:xfrm flipH="1">
            <a:off x="1594503" y="2642041"/>
            <a:ext cx="622085" cy="4889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1355896" y="2351294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53685" y="3296843"/>
            <a:ext cx="610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Ponte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1117194" y="3450732"/>
            <a:ext cx="314606" cy="92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/>
          <p:nvPr/>
        </p:nvSpPr>
        <p:spPr>
          <a:xfrm>
            <a:off x="6113956" y="24500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6" name="Elipse 25"/>
          <p:cNvSpPr/>
          <p:nvPr/>
        </p:nvSpPr>
        <p:spPr>
          <a:xfrm>
            <a:off x="6898744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7" name="Elipse 26"/>
          <p:cNvSpPr/>
          <p:nvPr/>
        </p:nvSpPr>
        <p:spPr>
          <a:xfrm>
            <a:off x="5329168" y="3746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8" name="Elipse 27"/>
          <p:cNvSpPr/>
          <p:nvPr/>
        </p:nvSpPr>
        <p:spPr>
          <a:xfrm>
            <a:off x="6113956" y="374613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9" name="Elipse 28"/>
          <p:cNvSpPr/>
          <p:nvPr/>
        </p:nvSpPr>
        <p:spPr>
          <a:xfrm>
            <a:off x="6898744" y="374613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30" name="Elipse 29"/>
          <p:cNvSpPr/>
          <p:nvPr/>
        </p:nvSpPr>
        <p:spPr>
          <a:xfrm>
            <a:off x="5329168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31" name="Conector reto 30"/>
          <p:cNvCxnSpPr>
            <a:stCxn id="29" idx="2"/>
            <a:endCxn id="28" idx="6"/>
          </p:cNvCxnSpPr>
          <p:nvPr/>
        </p:nvCxnSpPr>
        <p:spPr>
          <a:xfrm flipH="1">
            <a:off x="6344053" y="3858615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26" idx="3"/>
            <a:endCxn id="28" idx="7"/>
          </p:cNvCxnSpPr>
          <p:nvPr/>
        </p:nvCxnSpPr>
        <p:spPr>
          <a:xfrm flipH="1">
            <a:off x="6310356" y="3290096"/>
            <a:ext cx="622085" cy="488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26" idx="4"/>
            <a:endCxn id="29" idx="0"/>
          </p:cNvCxnSpPr>
          <p:nvPr/>
        </p:nvCxnSpPr>
        <p:spPr>
          <a:xfrm>
            <a:off x="7013793" y="3323041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/>
          <p:cNvCxnSpPr>
            <a:stCxn id="25" idx="3"/>
            <a:endCxn id="30" idx="7"/>
          </p:cNvCxnSpPr>
          <p:nvPr/>
        </p:nvCxnSpPr>
        <p:spPr>
          <a:xfrm flipH="1">
            <a:off x="5525568" y="2642041"/>
            <a:ext cx="622085" cy="4889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4989606" y="2351294"/>
            <a:ext cx="909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 {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b,e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}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Elipse 36"/>
          <p:cNvSpPr/>
          <p:nvPr/>
        </p:nvSpPr>
        <p:spPr>
          <a:xfrm>
            <a:off x="6113956" y="30980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38" name="Conector reto 37"/>
          <p:cNvCxnSpPr>
            <a:stCxn id="26" idx="2"/>
            <a:endCxn id="37" idx="6"/>
          </p:cNvCxnSpPr>
          <p:nvPr/>
        </p:nvCxnSpPr>
        <p:spPr>
          <a:xfrm flipH="1" flipV="1">
            <a:off x="6344053" y="3210558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37" idx="2"/>
            <a:endCxn id="30" idx="6"/>
          </p:cNvCxnSpPr>
          <p:nvPr/>
        </p:nvCxnSpPr>
        <p:spPr>
          <a:xfrm flipH="1">
            <a:off x="5559265" y="3210558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/>
          <p:cNvCxnSpPr>
            <a:stCxn id="37" idx="4"/>
            <a:endCxn id="28" idx="0"/>
          </p:cNvCxnSpPr>
          <p:nvPr/>
        </p:nvCxnSpPr>
        <p:spPr>
          <a:xfrm>
            <a:off x="6229005" y="3323040"/>
            <a:ext cx="0" cy="4230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5" idx="4"/>
            <a:endCxn id="37" idx="0"/>
          </p:cNvCxnSpPr>
          <p:nvPr/>
        </p:nvCxnSpPr>
        <p:spPr>
          <a:xfrm>
            <a:off x="6229005" y="2674986"/>
            <a:ext cx="0" cy="42308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06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Ponte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conexo G = (V, E), uma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é chamada ponte, se a remoção da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tornar G desconexo.</a:t>
            </a:r>
          </a:p>
        </p:txBody>
      </p:sp>
      <p:sp>
        <p:nvSpPr>
          <p:cNvPr id="5" name="Elipse 4"/>
          <p:cNvSpPr/>
          <p:nvPr/>
        </p:nvSpPr>
        <p:spPr>
          <a:xfrm>
            <a:off x="2182891" y="24500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2182891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" name="Elipse 7"/>
          <p:cNvSpPr/>
          <p:nvPr/>
        </p:nvSpPr>
        <p:spPr>
          <a:xfrm>
            <a:off x="2967679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9" name="Elipse 8"/>
          <p:cNvSpPr/>
          <p:nvPr/>
        </p:nvSpPr>
        <p:spPr>
          <a:xfrm>
            <a:off x="1398103" y="3746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2182891" y="374613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Elipse 10"/>
          <p:cNvSpPr/>
          <p:nvPr/>
        </p:nvSpPr>
        <p:spPr>
          <a:xfrm>
            <a:off x="2967679" y="374613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1398103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3" name="Conector reto 12"/>
          <p:cNvCxnSpPr>
            <a:stCxn id="8" idx="2"/>
            <a:endCxn id="7" idx="6"/>
          </p:cNvCxnSpPr>
          <p:nvPr/>
        </p:nvCxnSpPr>
        <p:spPr>
          <a:xfrm flipH="1">
            <a:off x="2412988" y="3210559"/>
            <a:ext cx="5546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7" idx="2"/>
            <a:endCxn id="12" idx="6"/>
          </p:cNvCxnSpPr>
          <p:nvPr/>
        </p:nvCxnSpPr>
        <p:spPr>
          <a:xfrm flipH="1">
            <a:off x="1628200" y="3210559"/>
            <a:ext cx="5546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11" idx="2"/>
            <a:endCxn id="10" idx="6"/>
          </p:cNvCxnSpPr>
          <p:nvPr/>
        </p:nvCxnSpPr>
        <p:spPr>
          <a:xfrm flipH="1">
            <a:off x="2412988" y="3858615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8" idx="3"/>
            <a:endCxn id="10" idx="7"/>
          </p:cNvCxnSpPr>
          <p:nvPr/>
        </p:nvCxnSpPr>
        <p:spPr>
          <a:xfrm flipH="1">
            <a:off x="2379291" y="3290096"/>
            <a:ext cx="622085" cy="488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8" idx="4"/>
            <a:endCxn id="11" idx="0"/>
          </p:cNvCxnSpPr>
          <p:nvPr/>
        </p:nvCxnSpPr>
        <p:spPr>
          <a:xfrm>
            <a:off x="3082728" y="3323041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>
            <a:stCxn id="7" idx="4"/>
            <a:endCxn id="10" idx="0"/>
          </p:cNvCxnSpPr>
          <p:nvPr/>
        </p:nvCxnSpPr>
        <p:spPr>
          <a:xfrm>
            <a:off x="2297940" y="3323041"/>
            <a:ext cx="0" cy="4230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12" idx="4"/>
            <a:endCxn id="9" idx="0"/>
          </p:cNvCxnSpPr>
          <p:nvPr/>
        </p:nvCxnSpPr>
        <p:spPr>
          <a:xfrm>
            <a:off x="1513152" y="3323041"/>
            <a:ext cx="0" cy="4230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5" idx="4"/>
            <a:endCxn id="7" idx="0"/>
          </p:cNvCxnSpPr>
          <p:nvPr/>
        </p:nvCxnSpPr>
        <p:spPr>
          <a:xfrm>
            <a:off x="2297940" y="2674986"/>
            <a:ext cx="0" cy="4230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12" idx="7"/>
          </p:cNvCxnSpPr>
          <p:nvPr/>
        </p:nvCxnSpPr>
        <p:spPr>
          <a:xfrm flipH="1">
            <a:off x="1594503" y="2642041"/>
            <a:ext cx="622085" cy="4889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1355896" y="2351294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651779" y="2578753"/>
            <a:ext cx="10819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Não é ponte</a:t>
            </a:r>
          </a:p>
        </p:txBody>
      </p:sp>
      <p:cxnSp>
        <p:nvCxnSpPr>
          <p:cNvPr id="24" name="Conector de seta reta 23"/>
          <p:cNvCxnSpPr/>
          <p:nvPr/>
        </p:nvCxnSpPr>
        <p:spPr>
          <a:xfrm flipH="1">
            <a:off x="2431207" y="2766123"/>
            <a:ext cx="246075" cy="142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/>
          <p:nvPr/>
        </p:nvSpPr>
        <p:spPr>
          <a:xfrm>
            <a:off x="6113956" y="24500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6" name="Elipse 25"/>
          <p:cNvSpPr/>
          <p:nvPr/>
        </p:nvSpPr>
        <p:spPr>
          <a:xfrm>
            <a:off x="6898744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7" name="Elipse 26"/>
          <p:cNvSpPr/>
          <p:nvPr/>
        </p:nvSpPr>
        <p:spPr>
          <a:xfrm>
            <a:off x="5329168" y="3746134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8" name="Elipse 27"/>
          <p:cNvSpPr/>
          <p:nvPr/>
        </p:nvSpPr>
        <p:spPr>
          <a:xfrm>
            <a:off x="6113956" y="3746133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9" name="Elipse 28"/>
          <p:cNvSpPr/>
          <p:nvPr/>
        </p:nvSpPr>
        <p:spPr>
          <a:xfrm>
            <a:off x="6898744" y="374613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30" name="Elipse 29"/>
          <p:cNvSpPr/>
          <p:nvPr/>
        </p:nvSpPr>
        <p:spPr>
          <a:xfrm>
            <a:off x="5329168" y="309807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31" name="Conector reto 30"/>
          <p:cNvCxnSpPr>
            <a:stCxn id="29" idx="2"/>
            <a:endCxn id="28" idx="6"/>
          </p:cNvCxnSpPr>
          <p:nvPr/>
        </p:nvCxnSpPr>
        <p:spPr>
          <a:xfrm flipH="1">
            <a:off x="6344053" y="3858615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26" idx="3"/>
            <a:endCxn id="28" idx="7"/>
          </p:cNvCxnSpPr>
          <p:nvPr/>
        </p:nvCxnSpPr>
        <p:spPr>
          <a:xfrm flipH="1">
            <a:off x="6310356" y="3290096"/>
            <a:ext cx="622085" cy="4889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26" idx="4"/>
            <a:endCxn id="29" idx="0"/>
          </p:cNvCxnSpPr>
          <p:nvPr/>
        </p:nvCxnSpPr>
        <p:spPr>
          <a:xfrm>
            <a:off x="7013793" y="3323041"/>
            <a:ext cx="0" cy="4230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>
            <a:stCxn id="30" idx="4"/>
            <a:endCxn id="27" idx="0"/>
          </p:cNvCxnSpPr>
          <p:nvPr/>
        </p:nvCxnSpPr>
        <p:spPr>
          <a:xfrm>
            <a:off x="5444217" y="3323041"/>
            <a:ext cx="0" cy="4230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/>
          <p:cNvCxnSpPr>
            <a:stCxn id="25" idx="3"/>
            <a:endCxn id="30" idx="7"/>
          </p:cNvCxnSpPr>
          <p:nvPr/>
        </p:nvCxnSpPr>
        <p:spPr>
          <a:xfrm flipH="1">
            <a:off x="5525568" y="2642041"/>
            <a:ext cx="622085" cy="4889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5002430" y="2351294"/>
            <a:ext cx="8835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 {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a,c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}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Elipse 36"/>
          <p:cNvSpPr/>
          <p:nvPr/>
        </p:nvSpPr>
        <p:spPr>
          <a:xfrm>
            <a:off x="6113956" y="30980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38" name="Conector reto 37"/>
          <p:cNvCxnSpPr>
            <a:stCxn id="26" idx="2"/>
            <a:endCxn id="37" idx="6"/>
          </p:cNvCxnSpPr>
          <p:nvPr/>
        </p:nvCxnSpPr>
        <p:spPr>
          <a:xfrm flipH="1" flipV="1">
            <a:off x="6344053" y="3210558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37" idx="2"/>
            <a:endCxn id="30" idx="6"/>
          </p:cNvCxnSpPr>
          <p:nvPr/>
        </p:nvCxnSpPr>
        <p:spPr>
          <a:xfrm flipH="1">
            <a:off x="5559265" y="3210558"/>
            <a:ext cx="55469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/>
          <p:cNvCxnSpPr>
            <a:stCxn id="37" idx="4"/>
            <a:endCxn id="28" idx="0"/>
          </p:cNvCxnSpPr>
          <p:nvPr/>
        </p:nvCxnSpPr>
        <p:spPr>
          <a:xfrm>
            <a:off x="6229005" y="3323040"/>
            <a:ext cx="0" cy="4230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1806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3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AP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ubtítul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penas texto corrid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ítulo e texto corrid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It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ítulo, 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Apenas imagens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abel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Encerrament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1733</TotalTime>
  <Words>6322</Words>
  <Application>Microsoft Office PowerPoint</Application>
  <PresentationFormat>Apresentação na tela (16:9)</PresentationFormat>
  <Paragraphs>1621</Paragraphs>
  <Slides>99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10</vt:i4>
      </vt:variant>
      <vt:variant>
        <vt:lpstr>Títulos de slides</vt:lpstr>
      </vt:variant>
      <vt:variant>
        <vt:i4>99</vt:i4>
      </vt:variant>
    </vt:vector>
  </HeadingPairs>
  <TitlesOfParts>
    <vt:vector size="113" baseType="lpstr">
      <vt:lpstr>Arial</vt:lpstr>
      <vt:lpstr>Calibri</vt:lpstr>
      <vt:lpstr>Cambria Math</vt:lpstr>
      <vt:lpstr>Symbol</vt:lpstr>
      <vt:lpstr>CAPA</vt:lpstr>
      <vt:lpstr>Subtítulo</vt:lpstr>
      <vt:lpstr>Apenas texto corrido</vt:lpstr>
      <vt:lpstr>Título e texto corrido</vt:lpstr>
      <vt:lpstr>Item</vt:lpstr>
      <vt:lpstr>Título, texto e imagem</vt:lpstr>
      <vt:lpstr>Texto e imagem</vt:lpstr>
      <vt:lpstr>Apenas imagens</vt:lpstr>
      <vt:lpstr>Tabela</vt:lpstr>
      <vt:lpstr>Encerramento</vt:lpstr>
      <vt:lpstr>Conectividade - Separabilidade</vt:lpstr>
      <vt:lpstr>Fecho Transitivo</vt:lpstr>
      <vt:lpstr>Alcançabilidade</vt:lpstr>
      <vt:lpstr>Alcançabilidade – Transitividade</vt:lpstr>
      <vt:lpstr>Alcançabilidade – Transitividade</vt:lpstr>
      <vt:lpstr>Fecho Transitivo – Grafo Não Direcionado</vt:lpstr>
      <vt:lpstr>Fecho Transitivo – Grafo Não Direcionado</vt:lpstr>
      <vt:lpstr>Fecho Transitivo – Grafo Não Direcionado</vt:lpstr>
      <vt:lpstr>Fecho Transitivo – Grafo Não Direcionado</vt:lpstr>
      <vt:lpstr>Fecho Transitivo – Grafo Não Direcionado</vt:lpstr>
      <vt:lpstr>Fecho Transitivo – Grafo Não Direcionado</vt:lpstr>
      <vt:lpstr>Fecho Transitivo – Grafo Não Direcionado</vt:lpstr>
      <vt:lpstr>Fecho Transitivo – Grafo Não Direcionado</vt:lpstr>
      <vt:lpstr>Fecho Transitivo – Grafo Não Direcionado</vt:lpstr>
      <vt:lpstr>Fecho Transitivo Direto – Grafo Direcionado</vt:lpstr>
      <vt:lpstr>Fecho Transitivo Direto – Grafo Direcionado</vt:lpstr>
      <vt:lpstr>Fecho Transitivo Direto – Grafo Direcionado</vt:lpstr>
      <vt:lpstr>Fecho Transitivo Direto – Grafo Direcionado</vt:lpstr>
      <vt:lpstr>Fecho Transitivo Direto – Grafo Direcionado</vt:lpstr>
      <vt:lpstr>Fecho Transitivo Direto – Grafo Direcionado</vt:lpstr>
      <vt:lpstr>Fecho Transitivo Direto – Grafo Direcionado</vt:lpstr>
      <vt:lpstr>Fecho Transitivo Direto – Grafo Direcionado</vt:lpstr>
      <vt:lpstr>Fecho Transitivo Direto – Grafo Direcionado</vt:lpstr>
      <vt:lpstr>Fecho Transitivo Inverso – Grafo Direcionado</vt:lpstr>
      <vt:lpstr>Fecho Transitivo Inverso – Grafo Direcionado</vt:lpstr>
      <vt:lpstr>Fecho Transitivo Inverso – Grafo Direcionado</vt:lpstr>
      <vt:lpstr>Fecho Transitivo Inverso – Grafo Direcionado</vt:lpstr>
      <vt:lpstr>Fecho Transitivo Inverso – Grafo Direcionado</vt:lpstr>
      <vt:lpstr>Fecho Transitivo Inverso – Grafo Direcionado</vt:lpstr>
      <vt:lpstr>Fecho Transitivo Inverso – Grafo Direcionado</vt:lpstr>
      <vt:lpstr>Fecho Transitivo Inverso – Grafo Direcionado</vt:lpstr>
      <vt:lpstr>Fecho Transitivo Inverso – Grafo Direcionado</vt:lpstr>
      <vt:lpstr>Base</vt:lpstr>
      <vt:lpstr>Base</vt:lpstr>
      <vt:lpstr>Base</vt:lpstr>
      <vt:lpstr>Antibase</vt:lpstr>
      <vt:lpstr>Antibase</vt:lpstr>
      <vt:lpstr>Antibase</vt:lpstr>
      <vt:lpstr>Raiz / Antirraiz</vt:lpstr>
      <vt:lpstr>Raiz / Antirraiz</vt:lpstr>
      <vt:lpstr>Raiz / Antirraiz</vt:lpstr>
      <vt:lpstr>Raiz / Antirraiz</vt:lpstr>
      <vt:lpstr>Conectividade</vt:lpstr>
      <vt:lpstr>Conectividade – Grafo Não Direcionado</vt:lpstr>
      <vt:lpstr>Conectividade – Grafo Não Direcionado</vt:lpstr>
      <vt:lpstr>Conectividade – Grafo Não Direcionado</vt:lpstr>
      <vt:lpstr>Componente Conexo</vt:lpstr>
      <vt:lpstr>Componente Conexo</vt:lpstr>
      <vt:lpstr>Componente Conexo</vt:lpstr>
      <vt:lpstr>Componente Conexo</vt:lpstr>
      <vt:lpstr>Grafo Subjacente</vt:lpstr>
      <vt:lpstr>Conectividade – Grafo Direcionado</vt:lpstr>
      <vt:lpstr>Conectividade – Grafo Direcionado</vt:lpstr>
      <vt:lpstr>Conectividade – Grafo Direcionado</vt:lpstr>
      <vt:lpstr>Conectividade – Grafo Direcionado</vt:lpstr>
      <vt:lpstr>Conectividade – Grafo Direcionado</vt:lpstr>
      <vt:lpstr>Conectividade – Grafo Direcionado</vt:lpstr>
      <vt:lpstr>Componente Fortemente Conexo</vt:lpstr>
      <vt:lpstr>Grafo Reverso (ou Transposto) </vt:lpstr>
      <vt:lpstr>Método de Kosaraju – Algoritmo </vt:lpstr>
      <vt:lpstr>Método de Kosaraju – Algoritmo </vt:lpstr>
      <vt:lpstr>Método de Kosaraju – Exemplo </vt:lpstr>
      <vt:lpstr>Método de Kosaraju – Exemplo </vt:lpstr>
      <vt:lpstr>Método de Kosaraju – Exemplo </vt:lpstr>
      <vt:lpstr>Método de Kosaraju – Exemplo </vt:lpstr>
      <vt:lpstr>Método de Kosaraju – Exemplo </vt:lpstr>
      <vt:lpstr>Método de Kosaraju – Exemplo </vt:lpstr>
      <vt:lpstr>Método de Kosaraju – Exemplo </vt:lpstr>
      <vt:lpstr>Método de Kosaraju – Exemplo </vt:lpstr>
      <vt:lpstr>Método de Kosaraju – Exemplo </vt:lpstr>
      <vt:lpstr>Método de Kosaraju – Exemplo </vt:lpstr>
      <vt:lpstr>Separabilidade</vt:lpstr>
      <vt:lpstr>Corte de Vértices</vt:lpstr>
      <vt:lpstr>Corte de Vértices</vt:lpstr>
      <vt:lpstr>Corte de Vértices</vt:lpstr>
      <vt:lpstr>Corte de Vértices</vt:lpstr>
      <vt:lpstr>Corte de Arestas</vt:lpstr>
      <vt:lpstr>Corte de Arestas</vt:lpstr>
      <vt:lpstr>Corte de Arestas</vt:lpstr>
      <vt:lpstr>Corte de Arestas</vt:lpstr>
      <vt:lpstr>Corte de Arestas</vt:lpstr>
      <vt:lpstr>Corte de Arestas</vt:lpstr>
      <vt:lpstr>Corte de Arestas</vt:lpstr>
      <vt:lpstr>Corte de Arestas</vt:lpstr>
      <vt:lpstr>Corte de Arestas</vt:lpstr>
      <vt:lpstr>Corte de Arestas</vt:lpstr>
      <vt:lpstr>Conectividade de Vértices e Arestas</vt:lpstr>
      <vt:lpstr>Conectividade de Vértices e Arestas</vt:lpstr>
      <vt:lpstr>Conectividade de Vértices e Arestas</vt:lpstr>
      <vt:lpstr>Grafo Separável / Grafo k-Conexo</vt:lpstr>
      <vt:lpstr>Articulação</vt:lpstr>
      <vt:lpstr>Articulação</vt:lpstr>
      <vt:lpstr>Articulação</vt:lpstr>
      <vt:lpstr>Articulação</vt:lpstr>
      <vt:lpstr>Ponte</vt:lpstr>
      <vt:lpstr>Ponte</vt:lpstr>
      <vt:lpstr>Ponte</vt:lpstr>
      <vt:lpstr>Ponte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Kelen da Silva Miranda</dc:creator>
  <cp:lastModifiedBy>Leonardo</cp:lastModifiedBy>
  <cp:revision>181</cp:revision>
  <dcterms:created xsi:type="dcterms:W3CDTF">2018-04-05T14:34:00Z</dcterms:created>
  <dcterms:modified xsi:type="dcterms:W3CDTF">2022-07-30T22:58:46Z</dcterms:modified>
</cp:coreProperties>
</file>