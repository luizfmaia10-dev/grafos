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114"/>
  </p:notesMasterIdLst>
  <p:handoutMasterIdLst>
    <p:handoutMasterId r:id="rId115"/>
  </p:handoutMasterIdLst>
  <p:sldIdLst>
    <p:sldId id="256" r:id="rId11"/>
    <p:sldId id="368" r:id="rId12"/>
    <p:sldId id="272" r:id="rId13"/>
    <p:sldId id="347" r:id="rId14"/>
    <p:sldId id="346" r:id="rId15"/>
    <p:sldId id="345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48" r:id="rId24"/>
    <p:sldId id="343" r:id="rId25"/>
    <p:sldId id="358" r:id="rId26"/>
    <p:sldId id="357" r:id="rId27"/>
    <p:sldId id="356" r:id="rId28"/>
    <p:sldId id="360" r:id="rId29"/>
    <p:sldId id="361" r:id="rId30"/>
    <p:sldId id="362" r:id="rId31"/>
    <p:sldId id="363" r:id="rId32"/>
    <p:sldId id="364" r:id="rId33"/>
    <p:sldId id="365" r:id="rId34"/>
    <p:sldId id="359" r:id="rId35"/>
    <p:sldId id="366" r:id="rId36"/>
    <p:sldId id="344" r:id="rId37"/>
    <p:sldId id="421" r:id="rId38"/>
    <p:sldId id="369" r:id="rId39"/>
    <p:sldId id="370" r:id="rId40"/>
    <p:sldId id="371" r:id="rId41"/>
    <p:sldId id="372" r:id="rId42"/>
    <p:sldId id="37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2" r:id="rId52"/>
    <p:sldId id="383" r:id="rId53"/>
    <p:sldId id="384" r:id="rId54"/>
    <p:sldId id="385" r:id="rId55"/>
    <p:sldId id="386" r:id="rId56"/>
    <p:sldId id="387" r:id="rId57"/>
    <p:sldId id="388" r:id="rId58"/>
    <p:sldId id="389" r:id="rId59"/>
    <p:sldId id="422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3" r:id="rId74"/>
    <p:sldId id="404" r:id="rId75"/>
    <p:sldId id="405" r:id="rId76"/>
    <p:sldId id="406" r:id="rId77"/>
    <p:sldId id="407" r:id="rId78"/>
    <p:sldId id="408" r:id="rId79"/>
    <p:sldId id="409" r:id="rId80"/>
    <p:sldId id="410" r:id="rId81"/>
    <p:sldId id="411" r:id="rId82"/>
    <p:sldId id="412" r:id="rId83"/>
    <p:sldId id="413" r:id="rId84"/>
    <p:sldId id="414" r:id="rId85"/>
    <p:sldId id="415" r:id="rId86"/>
    <p:sldId id="416" r:id="rId87"/>
    <p:sldId id="417" r:id="rId88"/>
    <p:sldId id="418" r:id="rId89"/>
    <p:sldId id="419" r:id="rId90"/>
    <p:sldId id="420" r:id="rId91"/>
    <p:sldId id="423" r:id="rId92"/>
    <p:sldId id="426" r:id="rId93"/>
    <p:sldId id="424" r:id="rId94"/>
    <p:sldId id="427" r:id="rId95"/>
    <p:sldId id="429" r:id="rId96"/>
    <p:sldId id="425" r:id="rId97"/>
    <p:sldId id="433" r:id="rId98"/>
    <p:sldId id="432" r:id="rId99"/>
    <p:sldId id="431" r:id="rId100"/>
    <p:sldId id="430" r:id="rId101"/>
    <p:sldId id="434" r:id="rId102"/>
    <p:sldId id="435" r:id="rId103"/>
    <p:sldId id="436" r:id="rId104"/>
    <p:sldId id="437" r:id="rId105"/>
    <p:sldId id="438" r:id="rId106"/>
    <p:sldId id="440" r:id="rId107"/>
    <p:sldId id="441" r:id="rId108"/>
    <p:sldId id="442" r:id="rId109"/>
    <p:sldId id="443" r:id="rId110"/>
    <p:sldId id="444" r:id="rId111"/>
    <p:sldId id="439" r:id="rId112"/>
    <p:sldId id="270" r:id="rId113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070C0"/>
    <a:srgbClr val="9900CC"/>
    <a:srgbClr val="00B050"/>
    <a:srgbClr val="FF0000"/>
    <a:srgbClr val="FFC000"/>
    <a:srgbClr val="61789A"/>
    <a:srgbClr val="CC00FF"/>
    <a:srgbClr val="474748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117" Type="http://schemas.openxmlformats.org/officeDocument/2006/relationships/viewProps" Target="viewProps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12" Type="http://schemas.openxmlformats.org/officeDocument/2006/relationships/slide" Target="slides/slide102.xml"/><Relationship Id="rId16" Type="http://schemas.openxmlformats.org/officeDocument/2006/relationships/slide" Target="slides/slide6.xml"/><Relationship Id="rId107" Type="http://schemas.openxmlformats.org/officeDocument/2006/relationships/slide" Target="slides/slide97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102" Type="http://schemas.openxmlformats.org/officeDocument/2006/relationships/slide" Target="slides/slide92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0.xml"/><Relationship Id="rId95" Type="http://schemas.openxmlformats.org/officeDocument/2006/relationships/slide" Target="slides/slide85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113" Type="http://schemas.openxmlformats.org/officeDocument/2006/relationships/slide" Target="slides/slide103.xml"/><Relationship Id="rId118" Type="http://schemas.openxmlformats.org/officeDocument/2006/relationships/theme" Target="theme/theme1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59" Type="http://schemas.openxmlformats.org/officeDocument/2006/relationships/slide" Target="slides/slide49.xml"/><Relationship Id="rId103" Type="http://schemas.openxmlformats.org/officeDocument/2006/relationships/slide" Target="slides/slide93.xml"/><Relationship Id="rId108" Type="http://schemas.openxmlformats.org/officeDocument/2006/relationships/slide" Target="slides/slide98.xml"/><Relationship Id="rId54" Type="http://schemas.openxmlformats.org/officeDocument/2006/relationships/slide" Target="slides/slide44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91" Type="http://schemas.openxmlformats.org/officeDocument/2006/relationships/slide" Target="slides/slide81.xml"/><Relationship Id="rId96" Type="http://schemas.openxmlformats.org/officeDocument/2006/relationships/slide" Target="slides/slide8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49" Type="http://schemas.openxmlformats.org/officeDocument/2006/relationships/slide" Target="slides/slide39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slide" Target="slides/slide84.xml"/><Relationship Id="rId99" Type="http://schemas.openxmlformats.org/officeDocument/2006/relationships/slide" Target="slides/slide89.xml"/><Relationship Id="rId101" Type="http://schemas.openxmlformats.org/officeDocument/2006/relationships/slide" Target="slides/slide9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109" Type="http://schemas.openxmlformats.org/officeDocument/2006/relationships/slide" Target="slides/slide9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slide" Target="slides/slide87.xml"/><Relationship Id="rId104" Type="http://schemas.openxmlformats.org/officeDocument/2006/relationships/slide" Target="slides/slide9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110" Type="http://schemas.openxmlformats.org/officeDocument/2006/relationships/slide" Target="slides/slide100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100" Type="http://schemas.openxmlformats.org/officeDocument/2006/relationships/slide" Target="slides/slide90.xml"/><Relationship Id="rId105" Type="http://schemas.openxmlformats.org/officeDocument/2006/relationships/slide" Target="slides/slide95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slide" Target="slides/slide8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5.xml"/><Relationship Id="rId46" Type="http://schemas.openxmlformats.org/officeDocument/2006/relationships/slide" Target="slides/slide36.xml"/><Relationship Id="rId67" Type="http://schemas.openxmlformats.org/officeDocument/2006/relationships/slide" Target="slides/slide57.xml"/><Relationship Id="rId116" Type="http://schemas.openxmlformats.org/officeDocument/2006/relationships/presProps" Target="presProp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62" Type="http://schemas.openxmlformats.org/officeDocument/2006/relationships/slide" Target="slides/slide52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111" Type="http://schemas.openxmlformats.org/officeDocument/2006/relationships/slide" Target="slides/slide101.xml"/><Relationship Id="rId15" Type="http://schemas.openxmlformats.org/officeDocument/2006/relationships/slide" Target="slides/slide5.xml"/><Relationship Id="rId36" Type="http://schemas.openxmlformats.org/officeDocument/2006/relationships/slide" Target="slides/slide26.xml"/><Relationship Id="rId57" Type="http://schemas.openxmlformats.org/officeDocument/2006/relationships/slide" Target="slides/slide47.xml"/><Relationship Id="rId106" Type="http://schemas.openxmlformats.org/officeDocument/2006/relationships/slide" Target="slides/slide9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18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393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996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04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220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624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97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3270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907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6F4808-22E8-406A-932F-9218A9615E7A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6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1" Type="http://schemas.openxmlformats.org/officeDocument/2006/relationships/slideLayout" Target="../slideLayouts/slideLayout6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800" dirty="0"/>
              <a:t>Representação de Grafo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DF0C5821-4945-4628-B124-2EC1717FC5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Incidência</a:t>
            </a:r>
          </a:p>
        </p:txBody>
      </p:sp>
    </p:spTree>
    <p:extLst>
      <p:ext uri="{BB962C8B-B14F-4D97-AF65-F5344CB8AC3E}">
        <p14:creationId xmlns:p14="http://schemas.microsoft.com/office/powerpoint/2010/main" val="1644215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0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54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53941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5112470" y="3264634"/>
            <a:ext cx="3160991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8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5536092" y="3264634"/>
            <a:ext cx="2737369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6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6015207" y="3264634"/>
            <a:ext cx="2258255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62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6464774" y="3264634"/>
            <a:ext cx="1808688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40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6948344" y="3264634"/>
            <a:ext cx="1325118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135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7374478" y="3264634"/>
            <a:ext cx="898984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2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18" name="Retângulo 17"/>
          <p:cNvSpPr/>
          <p:nvPr/>
        </p:nvSpPr>
        <p:spPr>
          <a:xfrm>
            <a:off x="7907982" y="3264634"/>
            <a:ext cx="365480" cy="1159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30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37354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uma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1302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 sz="160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m:rPr>
                                  <m:nor/>
                                </m:rPr>
                                <a:rPr lang="pt-BR" sz="1600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58" y="2160627"/>
                <a:ext cx="3640484" cy="8784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70" y="3195525"/>
                <a:ext cx="4020203" cy="12287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373628" y="32946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500090" y="329814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500090" y="397009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373629" y="396658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730187" y="340711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730187" y="407907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615139" y="352310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488677" y="351959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037850" y="322811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244026" y="329463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603725" y="340711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696490" y="348665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570029" y="348665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798173" y="363387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8366915" y="316979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8361304" y="341278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8372525" y="365578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8362907" y="389877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8362907" y="414177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100997" y="295685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1872672" y="310792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27" name="Retângulo 26"/>
          <p:cNvSpPr/>
          <p:nvPr/>
        </p:nvSpPr>
        <p:spPr>
          <a:xfrm>
            <a:off x="1316419" y="354872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28" name="Retângulo 27"/>
          <p:cNvSpPr/>
          <p:nvPr/>
        </p:nvSpPr>
        <p:spPr>
          <a:xfrm>
            <a:off x="2233879" y="354924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29" name="Retângulo 28"/>
          <p:cNvSpPr/>
          <p:nvPr/>
        </p:nvSpPr>
        <p:spPr>
          <a:xfrm>
            <a:off x="2728670" y="3100210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0" name="Retângulo 29"/>
          <p:cNvSpPr/>
          <p:nvPr/>
        </p:nvSpPr>
        <p:spPr>
          <a:xfrm>
            <a:off x="1784313" y="348665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1" name="Retângulo 30"/>
          <p:cNvSpPr/>
          <p:nvPr/>
        </p:nvSpPr>
        <p:spPr>
          <a:xfrm>
            <a:off x="1866357" y="4037664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2844558" y="3660911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12824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0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82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5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6128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5109271" y="3248741"/>
            <a:ext cx="2678819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86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5440675" y="3248741"/>
            <a:ext cx="2347415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93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5869637" y="3248741"/>
            <a:ext cx="1918453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38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6287288" y="3248741"/>
            <a:ext cx="1500802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65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6637410" y="3248741"/>
            <a:ext cx="1150680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54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7037726" y="3248741"/>
            <a:ext cx="750363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27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7529611" y="3248741"/>
            <a:ext cx="258478" cy="1165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55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3826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arestas, permite </a:t>
                </a:r>
                <a:r>
                  <a:rPr lang="pt-BR" sz="20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representação por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(uma para cada vértice)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aresta)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r="-57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tângulo 2"/>
              <p:cNvSpPr/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𝕀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incide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rtice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Retâ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214" y="2210551"/>
                <a:ext cx="4007572" cy="7101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eta para a direita 14"/>
          <p:cNvSpPr/>
          <p:nvPr/>
        </p:nvSpPr>
        <p:spPr>
          <a:xfrm>
            <a:off x="3798173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1 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474" y="3189219"/>
                <a:ext cx="3520066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Elipse 20"/>
          <p:cNvSpPr/>
          <p:nvPr/>
        </p:nvSpPr>
        <p:spPr>
          <a:xfrm>
            <a:off x="2373628" y="325049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1500090" y="325399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23" name="Elipse 22"/>
          <p:cNvSpPr/>
          <p:nvPr/>
        </p:nvSpPr>
        <p:spPr>
          <a:xfrm>
            <a:off x="1500090" y="39259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24" name="Elipse 23"/>
          <p:cNvSpPr/>
          <p:nvPr/>
        </p:nvSpPr>
        <p:spPr>
          <a:xfrm>
            <a:off x="2373629" y="39224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25" name="Conector de seta reta 24"/>
          <p:cNvCxnSpPr>
            <a:stCxn id="22" idx="6"/>
            <a:endCxn id="21" idx="2"/>
          </p:cNvCxnSpPr>
          <p:nvPr/>
        </p:nvCxnSpPr>
        <p:spPr>
          <a:xfrm flipV="1">
            <a:off x="1730187" y="3362973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>
            <a:stCxn id="23" idx="6"/>
            <a:endCxn id="24" idx="2"/>
          </p:cNvCxnSpPr>
          <p:nvPr/>
        </p:nvCxnSpPr>
        <p:spPr>
          <a:xfrm flipV="1">
            <a:off x="1730187" y="4034929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>
            <a:stCxn id="22" idx="4"/>
            <a:endCxn id="23" idx="0"/>
          </p:cNvCxnSpPr>
          <p:nvPr/>
        </p:nvCxnSpPr>
        <p:spPr>
          <a:xfrm>
            <a:off x="1615139" y="3478963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>
            <a:stCxn id="21" idx="4"/>
            <a:endCxn id="24" idx="0"/>
          </p:cNvCxnSpPr>
          <p:nvPr/>
        </p:nvCxnSpPr>
        <p:spPr>
          <a:xfrm>
            <a:off x="2488677" y="3475455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1037850" y="318397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30" name="Elipse 29"/>
          <p:cNvSpPr/>
          <p:nvPr/>
        </p:nvSpPr>
        <p:spPr>
          <a:xfrm>
            <a:off x="3244026" y="3250489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31" name="Conector de seta reta 30"/>
          <p:cNvCxnSpPr>
            <a:stCxn id="21" idx="6"/>
            <a:endCxn id="30" idx="2"/>
          </p:cNvCxnSpPr>
          <p:nvPr/>
        </p:nvCxnSpPr>
        <p:spPr>
          <a:xfrm flipV="1">
            <a:off x="2603725" y="3362972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23" idx="7"/>
            <a:endCxn id="21" idx="3"/>
          </p:cNvCxnSpPr>
          <p:nvPr/>
        </p:nvCxnSpPr>
        <p:spPr>
          <a:xfrm flipV="1">
            <a:off x="1696490" y="3442510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24" idx="7"/>
            <a:endCxn id="30" idx="3"/>
          </p:cNvCxnSpPr>
          <p:nvPr/>
        </p:nvCxnSpPr>
        <p:spPr>
          <a:xfrm flipV="1">
            <a:off x="2570029" y="3442509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/>
          <p:cNvSpPr/>
          <p:nvPr/>
        </p:nvSpPr>
        <p:spPr>
          <a:xfrm>
            <a:off x="1872672" y="306377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endParaRPr lang="pt-BR" sz="1400" dirty="0"/>
          </a:p>
        </p:txBody>
      </p:sp>
      <p:sp>
        <p:nvSpPr>
          <p:cNvPr id="35" name="Retângulo 34"/>
          <p:cNvSpPr/>
          <p:nvPr/>
        </p:nvSpPr>
        <p:spPr>
          <a:xfrm>
            <a:off x="1316419" y="3504587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endParaRPr lang="pt-BR" sz="1400" dirty="0"/>
          </a:p>
        </p:txBody>
      </p:sp>
      <p:sp>
        <p:nvSpPr>
          <p:cNvPr id="36" name="Retângulo 35"/>
          <p:cNvSpPr/>
          <p:nvPr/>
        </p:nvSpPr>
        <p:spPr>
          <a:xfrm>
            <a:off x="2233879" y="350510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endParaRPr lang="pt-BR" sz="1400" dirty="0"/>
          </a:p>
        </p:txBody>
      </p:sp>
      <p:sp>
        <p:nvSpPr>
          <p:cNvPr id="37" name="Retângulo 36"/>
          <p:cNvSpPr/>
          <p:nvPr/>
        </p:nvSpPr>
        <p:spPr>
          <a:xfrm>
            <a:off x="2728670" y="3056068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endParaRPr lang="pt-BR" sz="1400" dirty="0"/>
          </a:p>
        </p:txBody>
      </p:sp>
      <p:sp>
        <p:nvSpPr>
          <p:cNvPr id="38" name="Retângulo 37"/>
          <p:cNvSpPr/>
          <p:nvPr/>
        </p:nvSpPr>
        <p:spPr>
          <a:xfrm>
            <a:off x="1784313" y="344250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endParaRPr lang="pt-BR" sz="1400" dirty="0"/>
          </a:p>
        </p:txBody>
      </p:sp>
      <p:sp>
        <p:nvSpPr>
          <p:cNvPr id="39" name="Retângulo 38"/>
          <p:cNvSpPr/>
          <p:nvPr/>
        </p:nvSpPr>
        <p:spPr>
          <a:xfrm>
            <a:off x="1866357" y="3993522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endParaRPr lang="pt-BR" sz="1400" dirty="0"/>
          </a:p>
        </p:txBody>
      </p:sp>
      <p:sp>
        <p:nvSpPr>
          <p:cNvPr id="40" name="Retângulo 39"/>
          <p:cNvSpPr/>
          <p:nvPr/>
        </p:nvSpPr>
        <p:spPr>
          <a:xfrm>
            <a:off x="2844558" y="3616769"/>
            <a:ext cx="330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endParaRPr lang="pt-BR" sz="1400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7919176" y="3188708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913565" y="343170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924786" y="367469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915168" y="391769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915168" y="4160688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059155" y="2955196"/>
            <a:ext cx="3256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1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2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3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4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5</a:t>
            </a:r>
            <a:r>
              <a:rPr lang="pt-BR" sz="1400" dirty="0">
                <a:solidFill>
                  <a:srgbClr val="0070C0"/>
                </a:solidFill>
              </a:rPr>
              <a:t> 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6</a:t>
            </a:r>
            <a:r>
              <a:rPr lang="pt-BR" sz="1400" dirty="0">
                <a:solidFill>
                  <a:srgbClr val="0070C0"/>
                </a:solidFill>
              </a:rPr>
              <a:t>      </a:t>
            </a:r>
            <a:r>
              <a:rPr lang="pt-BR" sz="1400" i="1" dirty="0">
                <a:solidFill>
                  <a:srgbClr val="0070C0"/>
                </a:solidFill>
              </a:rPr>
              <a:t>e</a:t>
            </a:r>
            <a:r>
              <a:rPr lang="pt-BR" sz="1400" baseline="-25000" dirty="0">
                <a:solidFill>
                  <a:srgbClr val="0070C0"/>
                </a:solidFill>
              </a:rPr>
              <a:t>7</a:t>
            </a:r>
            <a:r>
              <a:rPr lang="pt-BR" sz="1400" dirty="0">
                <a:solidFill>
                  <a:srgbClr val="0070C0"/>
                </a:solidFill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1109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Incidência – Propriedades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155681" cy="327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Dada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incidência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pode-se afirmar que: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Uma matriz de incidência representa univocamente um grafo G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G pode ser representado por diferentes matrizes de incidência pois pode-se permutar as linhas (vértices) e/ou colunas (arestas)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Toda coluna da matriz de incidência possui apenas duas posições não nulas (= extremos da aresta)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Ela permite a consulta eficiente à existência de arco incidente a um vértice – tempo constante, isto é, O(1)</a:t>
                </a:r>
              </a:p>
              <a:p>
                <a:pPr marL="800100" lvl="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Ela ocupa um espaço proporcional a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× 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 que pode ser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 para grafos esparsos ou mesmo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3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 para grafos densos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155681" cy="3277820"/>
              </a:xfrm>
              <a:prstGeom prst="rect">
                <a:avLst/>
              </a:prstGeom>
              <a:blipFill rotWithShape="0">
                <a:blip r:embed="rId2"/>
                <a:stretch>
                  <a:fillRect l="-822" t="-1490" r="-673" b="-20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15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Adjacência</a:t>
            </a:r>
          </a:p>
        </p:txBody>
      </p:sp>
    </p:spTree>
    <p:extLst>
      <p:ext uri="{BB962C8B-B14F-4D97-AF65-F5344CB8AC3E}">
        <p14:creationId xmlns:p14="http://schemas.microsoft.com/office/powerpoint/2010/main" val="1458669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707886"/>
              </a:xfrm>
              <a:prstGeom prst="rect">
                <a:avLst/>
              </a:prstGeom>
              <a:blipFill rotWithShape="0">
                <a:blip r:embed="rId2"/>
                <a:stretch>
                  <a:fillRect l="-796" t="-5172" b="-17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007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63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41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5445065" y="3196589"/>
            <a:ext cx="1498069" cy="119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27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5391073" y="3433425"/>
            <a:ext cx="1583592" cy="942652"/>
          </a:xfrm>
          <a:prstGeom prst="rect">
            <a:avLst/>
          </a:prstGeom>
          <a:solidFill>
            <a:schemeClr val="bg1"/>
          </a:solidFill>
          <a:ln w="28575">
            <a:noFill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95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ângulo 2"/>
          <p:cNvSpPr/>
          <p:nvPr/>
        </p:nvSpPr>
        <p:spPr>
          <a:xfrm>
            <a:off x="5384768" y="3670113"/>
            <a:ext cx="1558366" cy="731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2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/>
          <p:cNvSpPr/>
          <p:nvPr/>
        </p:nvSpPr>
        <p:spPr>
          <a:xfrm>
            <a:off x="5384768" y="3906803"/>
            <a:ext cx="1558366" cy="469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200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/>
          <p:cNvSpPr/>
          <p:nvPr/>
        </p:nvSpPr>
        <p:spPr>
          <a:xfrm>
            <a:off x="5384768" y="4141104"/>
            <a:ext cx="1558366" cy="228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61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34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40349"/>
              </a:xfrm>
              <a:prstGeom prst="rect">
                <a:avLst/>
              </a:prstGeom>
              <a:blipFill rotWithShape="0">
                <a:blip r:embed="rId2"/>
                <a:stretch>
                  <a:fillRect l="-796" t="-3529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80448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74837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86058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76440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76440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84767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saindo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entrando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em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294" y="2175364"/>
                <a:ext cx="5485412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04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3946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39460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795" t="-5172" r="-1301" b="-17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09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93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96944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96944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89" t="-3529" r="-57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93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25"/>
          <p:cNvSpPr/>
          <p:nvPr/>
        </p:nvSpPr>
        <p:spPr>
          <a:xfrm>
            <a:off x="5445065" y="3196589"/>
            <a:ext cx="1498069" cy="119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07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25"/>
          <p:cNvSpPr/>
          <p:nvPr/>
        </p:nvSpPr>
        <p:spPr>
          <a:xfrm>
            <a:off x="5445065" y="3433425"/>
            <a:ext cx="1498069" cy="942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004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25"/>
          <p:cNvSpPr/>
          <p:nvPr/>
        </p:nvSpPr>
        <p:spPr>
          <a:xfrm>
            <a:off x="5445065" y="3676419"/>
            <a:ext cx="1498069" cy="687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19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25"/>
          <p:cNvSpPr/>
          <p:nvPr/>
        </p:nvSpPr>
        <p:spPr>
          <a:xfrm>
            <a:off x="5445065" y="3901508"/>
            <a:ext cx="1498069" cy="44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12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tângulo 25"/>
          <p:cNvSpPr/>
          <p:nvPr/>
        </p:nvSpPr>
        <p:spPr>
          <a:xfrm>
            <a:off x="5445065" y="4133870"/>
            <a:ext cx="1498069" cy="198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1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394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</a:t>
            </a:r>
            <a:r>
              <a:rPr lang="pt-BR" sz="3400" dirty="0"/>
              <a:t>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não direcionado G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permite representação por meio de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linhas 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colunas (uma para cada vértice) em que o elemento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𝔸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é dado por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52072" cy="1040349"/>
              </a:xfrm>
              <a:prstGeom prst="rect">
                <a:avLst/>
              </a:prstGeom>
              <a:blipFill rotWithShape="0">
                <a:blip r:embed="rId3"/>
                <a:stretch>
                  <a:fillRect l="-794" t="-3529" r="-1154" b="-76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pt-BR" sz="16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𝔸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pt-BR" sz="1600" b="0" i="1" smtClean="0">
                                    <a:solidFill>
                                      <a:schemeClr val="tx1">
                                        <a:lumMod val="65000"/>
                                        <a:lumOff val="3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pt-BR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574" y="3163995"/>
                <a:ext cx="2490938" cy="12246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480830" y="32631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607292" y="32666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607292" y="393856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480831" y="393505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837389" y="337558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837389" y="404754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722341" y="349157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595879" y="348806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145052" y="3196589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49" name="Elipse 48"/>
          <p:cNvSpPr/>
          <p:nvPr/>
        </p:nvSpPr>
        <p:spPr>
          <a:xfrm>
            <a:off x="3351228" y="326310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50" name="Conector de seta reta 49"/>
          <p:cNvCxnSpPr>
            <a:stCxn id="6" idx="6"/>
            <a:endCxn id="49" idx="2"/>
          </p:cNvCxnSpPr>
          <p:nvPr/>
        </p:nvCxnSpPr>
        <p:spPr>
          <a:xfrm flipV="1">
            <a:off x="2710927" y="337558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stCxn id="8" idx="7"/>
            <a:endCxn id="6" idx="3"/>
          </p:cNvCxnSpPr>
          <p:nvPr/>
        </p:nvCxnSpPr>
        <p:spPr>
          <a:xfrm flipV="1">
            <a:off x="1803692" y="345512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/>
          <p:cNvCxnSpPr>
            <a:stCxn id="9" idx="7"/>
            <a:endCxn id="49" idx="3"/>
          </p:cNvCxnSpPr>
          <p:nvPr/>
        </p:nvCxnSpPr>
        <p:spPr>
          <a:xfrm flipV="1">
            <a:off x="2677231" y="345512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 para a direita 14"/>
          <p:cNvSpPr/>
          <p:nvPr/>
        </p:nvSpPr>
        <p:spPr>
          <a:xfrm>
            <a:off x="3905375" y="360234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093060" y="3138260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7087449" y="338125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098670" y="3624250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089052" y="38672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089052" y="41102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378461" y="2925326"/>
            <a:ext cx="1645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 a      b      c      d     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tângulo 32"/>
              <p:cNvSpPr/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𝔸</m:t>
                          </m:r>
                        </m:e>
                        <m:sub>
                          <m: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existir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aresta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entre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e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  <m:e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caso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contr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á</m:t>
                              </m:r>
                              <m:r>
                                <m:rPr>
                                  <m:nor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rio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Retângulo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827" y="2227109"/>
                <a:ext cx="3805464" cy="7101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Matriz de Adjacência – Propriedades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319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Dada uma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matriz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𝔸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pode-se afirmar que: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Uma matriz de adjacência representa univocamente um grafo G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G pode ser representado por diferentes matrizes de adjacência pois pode-se permutar linhas e/ou colunas (vértices)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matriz de adjacência é simétrica para grafos não direcionados, pois quando o existir aresta entre dois vértices ela vale em ambas as direções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Ela permite a consulta eficiente à existência de arco incidente a um vértice – tempo constante, isto é, O(1)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Ela ocupa um espaço proporcional a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baseline="30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 para grafos esparsos ou densos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3193182"/>
              </a:xfrm>
              <a:prstGeom prst="rect">
                <a:avLst/>
              </a:prstGeom>
              <a:blipFill rotWithShape="0">
                <a:blip r:embed="rId2"/>
                <a:stretch>
                  <a:fillRect l="-796" t="-1530" b="-21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50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Adjacência</a:t>
            </a:r>
          </a:p>
        </p:txBody>
      </p:sp>
    </p:spTree>
    <p:extLst>
      <p:ext uri="{BB962C8B-B14F-4D97-AF65-F5344CB8AC3E}">
        <p14:creationId xmlns:p14="http://schemas.microsoft.com/office/powerpoint/2010/main" val="38309034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grafo não direcionado G = (V, E)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vértices, é possível representá-lo por meio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listas de adjacência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(uma para cada vértice)</a:t>
            </a:r>
          </a:p>
        </p:txBody>
      </p:sp>
    </p:spTree>
    <p:extLst>
      <p:ext uri="{BB962C8B-B14F-4D97-AF65-F5344CB8AC3E}">
        <p14:creationId xmlns:p14="http://schemas.microsoft.com/office/powerpoint/2010/main" val="113940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20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1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94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50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/>
          <p:nvPr/>
        </p:nvCxnSpPr>
        <p:spPr>
          <a:xfrm flipV="1">
            <a:off x="4994518" y="320063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7122946" y="30627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7566460" y="320500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7957507" y="30678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8388315" y="3194018"/>
            <a:ext cx="394696" cy="152567"/>
            <a:chOff x="6937889" y="3194018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37889" y="3194018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204054" y="3303057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224602" y="3325000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42133" y="3346585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3" name="Tabela 72"/>
          <p:cNvGraphicFramePr>
            <a:graphicFrameLocks noGrp="1"/>
          </p:cNvGraphicFramePr>
          <p:nvPr/>
        </p:nvGraphicFramePr>
        <p:xfrm>
          <a:off x="5481473" y="305435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73"/>
          <p:cNvCxnSpPr>
            <a:endCxn id="75" idx="1"/>
          </p:cNvCxnSpPr>
          <p:nvPr/>
        </p:nvCxnSpPr>
        <p:spPr>
          <a:xfrm flipV="1">
            <a:off x="5924987" y="319662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ela 74"/>
          <p:cNvGraphicFramePr>
            <a:graphicFrameLocks noGrp="1"/>
          </p:cNvGraphicFramePr>
          <p:nvPr/>
        </p:nvGraphicFramePr>
        <p:xfrm>
          <a:off x="6316034" y="305946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Conector de seta reta 75"/>
          <p:cNvCxnSpPr/>
          <p:nvPr/>
        </p:nvCxnSpPr>
        <p:spPr>
          <a:xfrm flipV="1">
            <a:off x="6724435" y="319794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01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/>
          <p:nvPr/>
        </p:nvCxnSpPr>
        <p:spPr>
          <a:xfrm flipV="1">
            <a:off x="4994518" y="320063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7122946" y="30627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7566460" y="320500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7957507" y="30678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8388315" y="3194018"/>
            <a:ext cx="394696" cy="152567"/>
            <a:chOff x="6937889" y="3194018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37889" y="3194018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204054" y="3303057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224602" y="3325000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42133" y="3346585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4994518" y="3536465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473853" y="339930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739222" y="354018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7130269" y="340302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561077" y="3529193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73" name="Tabela 72"/>
          <p:cNvGraphicFramePr>
            <a:graphicFrameLocks noGrp="1"/>
          </p:cNvGraphicFramePr>
          <p:nvPr/>
        </p:nvGraphicFramePr>
        <p:xfrm>
          <a:off x="5481473" y="305435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73"/>
          <p:cNvCxnSpPr>
            <a:endCxn id="75" idx="1"/>
          </p:cNvCxnSpPr>
          <p:nvPr/>
        </p:nvCxnSpPr>
        <p:spPr>
          <a:xfrm flipV="1">
            <a:off x="5924987" y="319662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ela 74"/>
          <p:cNvGraphicFramePr>
            <a:graphicFrameLocks noGrp="1"/>
          </p:cNvGraphicFramePr>
          <p:nvPr/>
        </p:nvGraphicFramePr>
        <p:xfrm>
          <a:off x="6316034" y="305946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Conector de seta reta 75"/>
          <p:cNvCxnSpPr/>
          <p:nvPr/>
        </p:nvCxnSpPr>
        <p:spPr>
          <a:xfrm flipV="1">
            <a:off x="6724435" y="319794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endCxn id="78" idx="1"/>
          </p:cNvCxnSpPr>
          <p:nvPr/>
        </p:nvCxnSpPr>
        <p:spPr>
          <a:xfrm flipV="1">
            <a:off x="5929681" y="354221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ela 77"/>
          <p:cNvGraphicFramePr>
            <a:graphicFrameLocks noGrp="1"/>
          </p:cNvGraphicFramePr>
          <p:nvPr/>
        </p:nvGraphicFramePr>
        <p:xfrm>
          <a:off x="6320728" y="340505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00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/>
          <p:nvPr/>
        </p:nvCxnSpPr>
        <p:spPr>
          <a:xfrm flipV="1">
            <a:off x="4994518" y="320063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7122946" y="30627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7566460" y="320500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7957507" y="30678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8388315" y="3194018"/>
            <a:ext cx="394696" cy="152567"/>
            <a:chOff x="6937889" y="3194018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37889" y="3194018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204054" y="3303057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224602" y="3325000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42133" y="3346585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4994518" y="3536465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473853" y="339930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739222" y="354018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7130269" y="340302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561077" y="3529193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003063" y="3872291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483598" y="3733893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ela 72"/>
          <p:cNvGraphicFramePr>
            <a:graphicFrameLocks noGrp="1"/>
          </p:cNvGraphicFramePr>
          <p:nvPr/>
        </p:nvGraphicFramePr>
        <p:xfrm>
          <a:off x="5481473" y="305435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73"/>
          <p:cNvCxnSpPr>
            <a:endCxn id="75" idx="1"/>
          </p:cNvCxnSpPr>
          <p:nvPr/>
        </p:nvCxnSpPr>
        <p:spPr>
          <a:xfrm flipV="1">
            <a:off x="5924987" y="319662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ela 74"/>
          <p:cNvGraphicFramePr>
            <a:graphicFrameLocks noGrp="1"/>
          </p:cNvGraphicFramePr>
          <p:nvPr/>
        </p:nvGraphicFramePr>
        <p:xfrm>
          <a:off x="6316034" y="305946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Conector de seta reta 75"/>
          <p:cNvCxnSpPr/>
          <p:nvPr/>
        </p:nvCxnSpPr>
        <p:spPr>
          <a:xfrm flipV="1">
            <a:off x="6724435" y="319794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endCxn id="78" idx="1"/>
          </p:cNvCxnSpPr>
          <p:nvPr/>
        </p:nvCxnSpPr>
        <p:spPr>
          <a:xfrm flipV="1">
            <a:off x="5929681" y="354221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ela 77"/>
          <p:cNvGraphicFramePr>
            <a:graphicFrameLocks noGrp="1"/>
          </p:cNvGraphicFramePr>
          <p:nvPr/>
        </p:nvGraphicFramePr>
        <p:xfrm>
          <a:off x="6320728" y="340505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Conector de seta reta 78"/>
          <p:cNvCxnSpPr>
            <a:endCxn id="80" idx="1"/>
          </p:cNvCxnSpPr>
          <p:nvPr/>
        </p:nvCxnSpPr>
        <p:spPr>
          <a:xfrm flipV="1">
            <a:off x="6739222" y="386835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ela 79"/>
          <p:cNvGraphicFramePr>
            <a:graphicFrameLocks noGrp="1"/>
          </p:cNvGraphicFramePr>
          <p:nvPr/>
        </p:nvGraphicFramePr>
        <p:xfrm>
          <a:off x="7130269" y="373119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1" name="Grupo 80"/>
          <p:cNvGrpSpPr/>
          <p:nvPr/>
        </p:nvGrpSpPr>
        <p:grpSpPr>
          <a:xfrm>
            <a:off x="7561077" y="3857369"/>
            <a:ext cx="394696" cy="152567"/>
            <a:chOff x="6909487" y="2846199"/>
            <a:chExt cx="394696" cy="152567"/>
          </a:xfrm>
        </p:grpSpPr>
        <p:sp>
          <p:nvSpPr>
            <p:cNvPr id="82" name="Forma livre 81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3" name="Conector reto 82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ector de seta reta 85"/>
          <p:cNvCxnSpPr>
            <a:endCxn id="87" idx="1"/>
          </p:cNvCxnSpPr>
          <p:nvPr/>
        </p:nvCxnSpPr>
        <p:spPr>
          <a:xfrm flipV="1">
            <a:off x="5929681" y="3870390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ela 86"/>
          <p:cNvGraphicFramePr>
            <a:graphicFrameLocks noGrp="1"/>
          </p:cNvGraphicFramePr>
          <p:nvPr/>
        </p:nvGraphicFramePr>
        <p:xfrm>
          <a:off x="6320728" y="373323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17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/>
          <p:nvPr/>
        </p:nvCxnSpPr>
        <p:spPr>
          <a:xfrm flipV="1">
            <a:off x="4994518" y="320063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7122946" y="30627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7566460" y="320500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7957507" y="30678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8388315" y="3194018"/>
            <a:ext cx="394696" cy="152567"/>
            <a:chOff x="6937889" y="3194018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37889" y="3194018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204054" y="3303057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224602" y="3325000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42133" y="3346585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4994518" y="3536465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473853" y="339930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739222" y="354018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7130269" y="340302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561077" y="3529193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003063" y="3872291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483598" y="3733893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ela 72"/>
          <p:cNvGraphicFramePr>
            <a:graphicFrameLocks noGrp="1"/>
          </p:cNvGraphicFramePr>
          <p:nvPr/>
        </p:nvGraphicFramePr>
        <p:xfrm>
          <a:off x="5481473" y="305435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73"/>
          <p:cNvCxnSpPr>
            <a:endCxn id="75" idx="1"/>
          </p:cNvCxnSpPr>
          <p:nvPr/>
        </p:nvCxnSpPr>
        <p:spPr>
          <a:xfrm flipV="1">
            <a:off x="5924987" y="319662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ela 74"/>
          <p:cNvGraphicFramePr>
            <a:graphicFrameLocks noGrp="1"/>
          </p:cNvGraphicFramePr>
          <p:nvPr/>
        </p:nvGraphicFramePr>
        <p:xfrm>
          <a:off x="6316034" y="305946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Conector de seta reta 75"/>
          <p:cNvCxnSpPr/>
          <p:nvPr/>
        </p:nvCxnSpPr>
        <p:spPr>
          <a:xfrm flipV="1">
            <a:off x="6724435" y="319794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endCxn id="78" idx="1"/>
          </p:cNvCxnSpPr>
          <p:nvPr/>
        </p:nvCxnSpPr>
        <p:spPr>
          <a:xfrm flipV="1">
            <a:off x="5929681" y="354221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ela 77"/>
          <p:cNvGraphicFramePr>
            <a:graphicFrameLocks noGrp="1"/>
          </p:cNvGraphicFramePr>
          <p:nvPr/>
        </p:nvGraphicFramePr>
        <p:xfrm>
          <a:off x="6320728" y="340505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Conector de seta reta 78"/>
          <p:cNvCxnSpPr>
            <a:endCxn id="80" idx="1"/>
          </p:cNvCxnSpPr>
          <p:nvPr/>
        </p:nvCxnSpPr>
        <p:spPr>
          <a:xfrm flipV="1">
            <a:off x="6739222" y="386835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ela 79"/>
          <p:cNvGraphicFramePr>
            <a:graphicFrameLocks noGrp="1"/>
          </p:cNvGraphicFramePr>
          <p:nvPr/>
        </p:nvGraphicFramePr>
        <p:xfrm>
          <a:off x="7130269" y="373119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1" name="Grupo 80"/>
          <p:cNvGrpSpPr/>
          <p:nvPr/>
        </p:nvGrpSpPr>
        <p:grpSpPr>
          <a:xfrm>
            <a:off x="7561077" y="3857369"/>
            <a:ext cx="394696" cy="152567"/>
            <a:chOff x="6909487" y="2846199"/>
            <a:chExt cx="394696" cy="152567"/>
          </a:xfrm>
        </p:grpSpPr>
        <p:sp>
          <p:nvSpPr>
            <p:cNvPr id="82" name="Forma livre 81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3" name="Conector reto 82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ector de seta reta 85"/>
          <p:cNvCxnSpPr>
            <a:endCxn id="87" idx="1"/>
          </p:cNvCxnSpPr>
          <p:nvPr/>
        </p:nvCxnSpPr>
        <p:spPr>
          <a:xfrm flipV="1">
            <a:off x="5929681" y="3870390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ela 86"/>
          <p:cNvGraphicFramePr>
            <a:graphicFrameLocks noGrp="1"/>
          </p:cNvGraphicFramePr>
          <p:nvPr/>
        </p:nvGraphicFramePr>
        <p:xfrm>
          <a:off x="6320728" y="373323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" name="Conector de seta reta 87"/>
          <p:cNvCxnSpPr>
            <a:endCxn id="89" idx="1"/>
          </p:cNvCxnSpPr>
          <p:nvPr/>
        </p:nvCxnSpPr>
        <p:spPr>
          <a:xfrm flipV="1">
            <a:off x="5002138" y="421683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ela 88"/>
          <p:cNvGraphicFramePr>
            <a:graphicFrameLocks noGrp="1"/>
          </p:cNvGraphicFramePr>
          <p:nvPr/>
        </p:nvGraphicFramePr>
        <p:xfrm>
          <a:off x="5481473" y="407967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0" name="Conector de seta reta 89"/>
          <p:cNvCxnSpPr>
            <a:endCxn id="91" idx="1"/>
          </p:cNvCxnSpPr>
          <p:nvPr/>
        </p:nvCxnSpPr>
        <p:spPr>
          <a:xfrm flipV="1">
            <a:off x="5924987" y="422193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ela 90"/>
          <p:cNvGraphicFramePr>
            <a:graphicFrameLocks noGrp="1"/>
          </p:cNvGraphicFramePr>
          <p:nvPr/>
        </p:nvGraphicFramePr>
        <p:xfrm>
          <a:off x="6316034" y="408477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2" name="Grupo 91"/>
          <p:cNvGrpSpPr/>
          <p:nvPr/>
        </p:nvGrpSpPr>
        <p:grpSpPr>
          <a:xfrm>
            <a:off x="6746842" y="4210949"/>
            <a:ext cx="394696" cy="152567"/>
            <a:chOff x="6909487" y="2846199"/>
            <a:chExt cx="394696" cy="152567"/>
          </a:xfrm>
        </p:grpSpPr>
        <p:sp>
          <p:nvSpPr>
            <p:cNvPr id="93" name="Forma livre 92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4" name="Conector reto 93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to 94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to 95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72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Não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não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(uma para cada vértice) 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os vértices adjacentes a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 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215972" y="302359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342434" y="302710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342434" y="369905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215973" y="369554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572531" y="3136075"/>
            <a:ext cx="643441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572531" y="3808031"/>
            <a:ext cx="643442" cy="350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457483" y="3252065"/>
            <a:ext cx="0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331021" y="3248557"/>
            <a:ext cx="1" cy="44699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895672" y="2785961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086370" y="3023591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446069" y="3136074"/>
            <a:ext cx="640301" cy="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538834" y="3215612"/>
            <a:ext cx="710835" cy="51638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412373" y="3215611"/>
            <a:ext cx="707694" cy="51288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3634209" y="3362831"/>
            <a:ext cx="574934" cy="389942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  <m:d>
                        <m:dPr>
                          <m:begChr m:val="["/>
                          <m:endChr m:val="]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pt-BR" b="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| {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}∈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797" y="2212446"/>
                <a:ext cx="370883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4830494" y="2696943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541170" y="2714522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535559" y="3047776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546780" y="3381031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37162" y="3714286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537162" y="4047540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4994518" y="285208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473853" y="271492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5917367" y="285718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308414" y="27200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6739222" y="2846199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/>
          <p:nvPr/>
        </p:nvCxnSpPr>
        <p:spPr>
          <a:xfrm flipV="1">
            <a:off x="4994518" y="320063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7122946" y="30627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7566460" y="320500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7957507" y="30678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8388315" y="3194018"/>
            <a:ext cx="394696" cy="152567"/>
            <a:chOff x="6937889" y="3194018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37889" y="3194018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204054" y="3303057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224602" y="3325000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42133" y="3346585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4994518" y="3536465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473853" y="339930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739222" y="354018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7130269" y="340302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561077" y="3529193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003063" y="3872291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483598" y="3733893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Tabela 72"/>
          <p:cNvGraphicFramePr>
            <a:graphicFrameLocks noGrp="1"/>
          </p:cNvGraphicFramePr>
          <p:nvPr/>
        </p:nvGraphicFramePr>
        <p:xfrm>
          <a:off x="5481473" y="305435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4" name="Conector de seta reta 73"/>
          <p:cNvCxnSpPr>
            <a:endCxn id="75" idx="1"/>
          </p:cNvCxnSpPr>
          <p:nvPr/>
        </p:nvCxnSpPr>
        <p:spPr>
          <a:xfrm flipV="1">
            <a:off x="5924987" y="319662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Tabela 74"/>
          <p:cNvGraphicFramePr>
            <a:graphicFrameLocks noGrp="1"/>
          </p:cNvGraphicFramePr>
          <p:nvPr/>
        </p:nvGraphicFramePr>
        <p:xfrm>
          <a:off x="6316034" y="305946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" name="Conector de seta reta 75"/>
          <p:cNvCxnSpPr/>
          <p:nvPr/>
        </p:nvCxnSpPr>
        <p:spPr>
          <a:xfrm flipV="1">
            <a:off x="6724435" y="3197946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>
            <a:endCxn id="78" idx="1"/>
          </p:cNvCxnSpPr>
          <p:nvPr/>
        </p:nvCxnSpPr>
        <p:spPr>
          <a:xfrm flipV="1">
            <a:off x="5929681" y="354221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8" name="Tabela 77"/>
          <p:cNvGraphicFramePr>
            <a:graphicFrameLocks noGrp="1"/>
          </p:cNvGraphicFramePr>
          <p:nvPr/>
        </p:nvGraphicFramePr>
        <p:xfrm>
          <a:off x="6320728" y="340505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9" name="Conector de seta reta 78"/>
          <p:cNvCxnSpPr>
            <a:endCxn id="80" idx="1"/>
          </p:cNvCxnSpPr>
          <p:nvPr/>
        </p:nvCxnSpPr>
        <p:spPr>
          <a:xfrm flipV="1">
            <a:off x="6739222" y="386835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Tabela 79"/>
          <p:cNvGraphicFramePr>
            <a:graphicFrameLocks noGrp="1"/>
          </p:cNvGraphicFramePr>
          <p:nvPr/>
        </p:nvGraphicFramePr>
        <p:xfrm>
          <a:off x="7130269" y="373119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1" name="Grupo 80"/>
          <p:cNvGrpSpPr/>
          <p:nvPr/>
        </p:nvGrpSpPr>
        <p:grpSpPr>
          <a:xfrm>
            <a:off x="7561077" y="3857369"/>
            <a:ext cx="394696" cy="152567"/>
            <a:chOff x="6909487" y="2846199"/>
            <a:chExt cx="394696" cy="152567"/>
          </a:xfrm>
        </p:grpSpPr>
        <p:sp>
          <p:nvSpPr>
            <p:cNvPr id="82" name="Forma livre 81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3" name="Conector reto 82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to 83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to 84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ector de seta reta 85"/>
          <p:cNvCxnSpPr>
            <a:endCxn id="87" idx="1"/>
          </p:cNvCxnSpPr>
          <p:nvPr/>
        </p:nvCxnSpPr>
        <p:spPr>
          <a:xfrm flipV="1">
            <a:off x="5929681" y="3870390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ela 86"/>
          <p:cNvGraphicFramePr>
            <a:graphicFrameLocks noGrp="1"/>
          </p:cNvGraphicFramePr>
          <p:nvPr/>
        </p:nvGraphicFramePr>
        <p:xfrm>
          <a:off x="6320728" y="373323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8" name="Conector de seta reta 87"/>
          <p:cNvCxnSpPr>
            <a:endCxn id="89" idx="1"/>
          </p:cNvCxnSpPr>
          <p:nvPr/>
        </p:nvCxnSpPr>
        <p:spPr>
          <a:xfrm flipV="1">
            <a:off x="5002138" y="421683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ela 88"/>
          <p:cNvGraphicFramePr>
            <a:graphicFrameLocks noGrp="1"/>
          </p:cNvGraphicFramePr>
          <p:nvPr/>
        </p:nvGraphicFramePr>
        <p:xfrm>
          <a:off x="5481473" y="407967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0" name="Conector de seta reta 89"/>
          <p:cNvCxnSpPr>
            <a:endCxn id="91" idx="1"/>
          </p:cNvCxnSpPr>
          <p:nvPr/>
        </p:nvCxnSpPr>
        <p:spPr>
          <a:xfrm flipV="1">
            <a:off x="5924987" y="422193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ela 90"/>
          <p:cNvGraphicFramePr>
            <a:graphicFrameLocks noGrp="1"/>
          </p:cNvGraphicFramePr>
          <p:nvPr/>
        </p:nvGraphicFramePr>
        <p:xfrm>
          <a:off x="6316034" y="408477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2" name="Grupo 91"/>
          <p:cNvGrpSpPr/>
          <p:nvPr/>
        </p:nvGrpSpPr>
        <p:grpSpPr>
          <a:xfrm>
            <a:off x="6746842" y="4210949"/>
            <a:ext cx="394696" cy="152567"/>
            <a:chOff x="6909487" y="2846199"/>
            <a:chExt cx="394696" cy="152567"/>
          </a:xfrm>
        </p:grpSpPr>
        <p:sp>
          <p:nvSpPr>
            <p:cNvPr id="93" name="Forma livre 92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4" name="Conector reto 93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reto 94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to 95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02" y="4157265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7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grafo direcionado G = (V, E) 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vértices, é possível representá-lo por meio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listas de adjacência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55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125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01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91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78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47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5354288" y="320770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5833623" y="30705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6277137" y="321281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6668184" y="307565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" name="Grupo 46"/>
          <p:cNvGrpSpPr/>
          <p:nvPr/>
        </p:nvGrpSpPr>
        <p:grpSpPr>
          <a:xfrm>
            <a:off x="7098992" y="3201823"/>
            <a:ext cx="394696" cy="152567"/>
            <a:chOff x="6909487" y="2846199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6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5354288" y="320770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5833623" y="30705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6277137" y="321281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6668184" y="307565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" name="Grupo 46"/>
          <p:cNvGrpSpPr/>
          <p:nvPr/>
        </p:nvGrpSpPr>
        <p:grpSpPr>
          <a:xfrm>
            <a:off x="7098992" y="3201823"/>
            <a:ext cx="394696" cy="152567"/>
            <a:chOff x="6909487" y="2846199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5351110" y="354427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830445" y="340711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273959" y="354937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6665006" y="341221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095814" y="3538387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6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5354288" y="320770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5833623" y="30705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6277137" y="321281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6668184" y="307565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" name="Grupo 46"/>
          <p:cNvGrpSpPr/>
          <p:nvPr/>
        </p:nvGrpSpPr>
        <p:grpSpPr>
          <a:xfrm>
            <a:off x="7098992" y="3201823"/>
            <a:ext cx="394696" cy="152567"/>
            <a:chOff x="6909487" y="2846199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5351110" y="354427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830445" y="340711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273959" y="354937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6665006" y="341221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095814" y="3538387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359655" y="388009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840190" y="3741698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3" name="Grupo 62"/>
          <p:cNvGrpSpPr/>
          <p:nvPr/>
        </p:nvGrpSpPr>
        <p:grpSpPr>
          <a:xfrm>
            <a:off x="6270998" y="3867870"/>
            <a:ext cx="394696" cy="152567"/>
            <a:chOff x="6909487" y="2846199"/>
            <a:chExt cx="394696" cy="152567"/>
          </a:xfrm>
        </p:grpSpPr>
        <p:sp>
          <p:nvSpPr>
            <p:cNvPr id="64" name="Forma livre 6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5" name="Conector reto 6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to 6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59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5354288" y="320770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5833623" y="30705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6277137" y="321281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6668184" y="307565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" name="Grupo 46"/>
          <p:cNvGrpSpPr/>
          <p:nvPr/>
        </p:nvGrpSpPr>
        <p:grpSpPr>
          <a:xfrm>
            <a:off x="7098992" y="3201823"/>
            <a:ext cx="394696" cy="152567"/>
            <a:chOff x="6909487" y="2846199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5351110" y="354427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830445" y="340711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273959" y="354937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6665006" y="341221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095814" y="3538387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359655" y="388009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840190" y="3741698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3" name="Grupo 62"/>
          <p:cNvGrpSpPr/>
          <p:nvPr/>
        </p:nvGrpSpPr>
        <p:grpSpPr>
          <a:xfrm>
            <a:off x="6270998" y="3867870"/>
            <a:ext cx="394696" cy="152567"/>
            <a:chOff x="6909487" y="2846199"/>
            <a:chExt cx="394696" cy="152567"/>
          </a:xfrm>
        </p:grpSpPr>
        <p:sp>
          <p:nvSpPr>
            <p:cNvPr id="64" name="Forma livre 6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5" name="Conector reto 6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to 6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/>
          <p:cNvGrpSpPr/>
          <p:nvPr/>
        </p:nvGrpSpPr>
        <p:grpSpPr>
          <a:xfrm>
            <a:off x="5351111" y="4214576"/>
            <a:ext cx="683538" cy="152567"/>
            <a:chOff x="5164784" y="4206771"/>
            <a:chExt cx="683538" cy="152567"/>
          </a:xfrm>
        </p:grpSpPr>
        <p:sp>
          <p:nvSpPr>
            <p:cNvPr id="69" name="Forma livre 6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0" name="Conector reto 6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7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to 7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40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52579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79041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79041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52580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2009138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2009138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94090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67628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1236061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5" name="Elipse 14"/>
          <p:cNvSpPr/>
          <p:nvPr/>
        </p:nvSpPr>
        <p:spPr>
          <a:xfrm>
            <a:off x="3522977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82676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75441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48980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098339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sucessores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797" y="2178928"/>
                <a:ext cx="5484835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89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Tabela 27"/>
          <p:cNvGraphicFramePr>
            <a:graphicFrameLocks noGrp="1"/>
          </p:cNvGraphicFramePr>
          <p:nvPr/>
        </p:nvGraphicFramePr>
        <p:xfrm>
          <a:off x="5187086" y="2704748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4897762" y="2722327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892151" y="3055581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4903372" y="3388836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893754" y="372209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893754" y="4055345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34" name="Conector de seta reta 33"/>
          <p:cNvCxnSpPr>
            <a:endCxn id="35" idx="1"/>
          </p:cNvCxnSpPr>
          <p:nvPr/>
        </p:nvCxnSpPr>
        <p:spPr>
          <a:xfrm flipV="1">
            <a:off x="5351110" y="285988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a 34"/>
          <p:cNvGraphicFramePr>
            <a:graphicFrameLocks noGrp="1"/>
          </p:cNvGraphicFramePr>
          <p:nvPr/>
        </p:nvGraphicFramePr>
        <p:xfrm>
          <a:off x="5830445" y="272272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Conector de seta reta 35"/>
          <p:cNvCxnSpPr>
            <a:endCxn id="37" idx="1"/>
          </p:cNvCxnSpPr>
          <p:nvPr/>
        </p:nvCxnSpPr>
        <p:spPr>
          <a:xfrm flipV="1">
            <a:off x="6273959" y="2864992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a 36"/>
          <p:cNvGraphicFramePr>
            <a:graphicFrameLocks noGrp="1"/>
          </p:cNvGraphicFramePr>
          <p:nvPr/>
        </p:nvGraphicFramePr>
        <p:xfrm>
          <a:off x="6665006" y="272783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Grupo 37"/>
          <p:cNvGrpSpPr/>
          <p:nvPr/>
        </p:nvGrpSpPr>
        <p:grpSpPr>
          <a:xfrm>
            <a:off x="7095814" y="2854004"/>
            <a:ext cx="394696" cy="152567"/>
            <a:chOff x="6909487" y="2846199"/>
            <a:chExt cx="394696" cy="152567"/>
          </a:xfrm>
        </p:grpSpPr>
        <p:sp>
          <p:nvSpPr>
            <p:cNvPr id="39" name="Forma livre 3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0" name="Conector reto 3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5354288" y="320770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/>
        </p:nvGraphicFramePr>
        <p:xfrm>
          <a:off x="5833623" y="3070546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44"/>
          <p:cNvCxnSpPr>
            <a:endCxn id="46" idx="1"/>
          </p:cNvCxnSpPr>
          <p:nvPr/>
        </p:nvCxnSpPr>
        <p:spPr>
          <a:xfrm flipV="1">
            <a:off x="6277137" y="3212811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6668184" y="307565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7" name="Grupo 46"/>
          <p:cNvGrpSpPr/>
          <p:nvPr/>
        </p:nvGrpSpPr>
        <p:grpSpPr>
          <a:xfrm>
            <a:off x="7098992" y="3201823"/>
            <a:ext cx="394696" cy="152567"/>
            <a:chOff x="6909487" y="2846199"/>
            <a:chExt cx="394696" cy="152567"/>
          </a:xfrm>
        </p:grpSpPr>
        <p:sp>
          <p:nvSpPr>
            <p:cNvPr id="48" name="Forma livre 4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9" name="Conector reto 4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Conector de seta reta 51"/>
          <p:cNvCxnSpPr>
            <a:endCxn id="53" idx="1"/>
          </p:cNvCxnSpPr>
          <p:nvPr/>
        </p:nvCxnSpPr>
        <p:spPr>
          <a:xfrm flipV="1">
            <a:off x="5351110" y="354427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a 52"/>
          <p:cNvGraphicFramePr>
            <a:graphicFrameLocks noGrp="1"/>
          </p:cNvGraphicFramePr>
          <p:nvPr/>
        </p:nvGraphicFramePr>
        <p:xfrm>
          <a:off x="5830445" y="340711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4" name="Conector de seta reta 53"/>
          <p:cNvCxnSpPr>
            <a:endCxn id="55" idx="1"/>
          </p:cNvCxnSpPr>
          <p:nvPr/>
        </p:nvCxnSpPr>
        <p:spPr>
          <a:xfrm flipV="1">
            <a:off x="6273959" y="354937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Tabela 54"/>
          <p:cNvGraphicFramePr>
            <a:graphicFrameLocks noGrp="1"/>
          </p:cNvGraphicFramePr>
          <p:nvPr/>
        </p:nvGraphicFramePr>
        <p:xfrm>
          <a:off x="6665006" y="341221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6" name="Grupo 55"/>
          <p:cNvGrpSpPr/>
          <p:nvPr/>
        </p:nvGrpSpPr>
        <p:grpSpPr>
          <a:xfrm>
            <a:off x="7095814" y="3538387"/>
            <a:ext cx="394696" cy="152567"/>
            <a:chOff x="6909487" y="2846199"/>
            <a:chExt cx="394696" cy="152567"/>
          </a:xfrm>
        </p:grpSpPr>
        <p:sp>
          <p:nvSpPr>
            <p:cNvPr id="57" name="Forma livre 5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Conector de seta reta 60"/>
          <p:cNvCxnSpPr/>
          <p:nvPr/>
        </p:nvCxnSpPr>
        <p:spPr>
          <a:xfrm flipV="1">
            <a:off x="5359655" y="3880096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ela 61"/>
          <p:cNvGraphicFramePr>
            <a:graphicFrameLocks noGrp="1"/>
          </p:cNvGraphicFramePr>
          <p:nvPr/>
        </p:nvGraphicFramePr>
        <p:xfrm>
          <a:off x="5840190" y="3741698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3" name="Grupo 62"/>
          <p:cNvGrpSpPr/>
          <p:nvPr/>
        </p:nvGrpSpPr>
        <p:grpSpPr>
          <a:xfrm>
            <a:off x="6270998" y="3867870"/>
            <a:ext cx="394696" cy="152567"/>
            <a:chOff x="6909487" y="2846199"/>
            <a:chExt cx="394696" cy="152567"/>
          </a:xfrm>
        </p:grpSpPr>
        <p:sp>
          <p:nvSpPr>
            <p:cNvPr id="64" name="Forma livre 6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5" name="Conector reto 6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to 6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/>
          <p:cNvGrpSpPr/>
          <p:nvPr/>
        </p:nvGrpSpPr>
        <p:grpSpPr>
          <a:xfrm>
            <a:off x="5351111" y="4214576"/>
            <a:ext cx="683538" cy="152567"/>
            <a:chOff x="5164784" y="4206771"/>
            <a:chExt cx="683538" cy="152567"/>
          </a:xfrm>
        </p:grpSpPr>
        <p:sp>
          <p:nvSpPr>
            <p:cNvPr id="69" name="Forma livre 6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0" name="Conector reto 6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7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to 7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tângulo 72"/>
              <p:cNvSpPr/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3" name="Retângulo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761" y="4160892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61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92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6648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63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04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33" name="Conector de seta reta 132"/>
          <p:cNvCxnSpPr>
            <a:endCxn id="134" idx="1"/>
          </p:cNvCxnSpPr>
          <p:nvPr/>
        </p:nvCxnSpPr>
        <p:spPr>
          <a:xfrm flipV="1">
            <a:off x="5506206" y="320780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Tabela 133"/>
          <p:cNvGraphicFramePr>
            <a:graphicFrameLocks noGrp="1"/>
          </p:cNvGraphicFramePr>
          <p:nvPr/>
        </p:nvGraphicFramePr>
        <p:xfrm>
          <a:off x="5985541" y="307064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5" name="Conector de seta reta 134"/>
          <p:cNvCxnSpPr>
            <a:endCxn id="136" idx="1"/>
          </p:cNvCxnSpPr>
          <p:nvPr/>
        </p:nvCxnSpPr>
        <p:spPr>
          <a:xfrm flipV="1">
            <a:off x="6429055" y="321290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Tabela 135"/>
          <p:cNvGraphicFramePr>
            <a:graphicFrameLocks noGrp="1"/>
          </p:cNvGraphicFramePr>
          <p:nvPr/>
        </p:nvGraphicFramePr>
        <p:xfrm>
          <a:off x="6820102" y="307574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7" name="Grupo 136"/>
          <p:cNvGrpSpPr/>
          <p:nvPr/>
        </p:nvGrpSpPr>
        <p:grpSpPr>
          <a:xfrm>
            <a:off x="7250910" y="3201919"/>
            <a:ext cx="394696" cy="152567"/>
            <a:chOff x="6909487" y="2846199"/>
            <a:chExt cx="394696" cy="152567"/>
          </a:xfrm>
        </p:grpSpPr>
        <p:sp>
          <p:nvSpPr>
            <p:cNvPr id="138" name="Forma livre 13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9" name="Conector reto 13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364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33" name="Conector de seta reta 132"/>
          <p:cNvCxnSpPr>
            <a:endCxn id="134" idx="1"/>
          </p:cNvCxnSpPr>
          <p:nvPr/>
        </p:nvCxnSpPr>
        <p:spPr>
          <a:xfrm flipV="1">
            <a:off x="5506206" y="320780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Tabela 133"/>
          <p:cNvGraphicFramePr>
            <a:graphicFrameLocks noGrp="1"/>
          </p:cNvGraphicFramePr>
          <p:nvPr/>
        </p:nvGraphicFramePr>
        <p:xfrm>
          <a:off x="5985541" y="307064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5" name="Conector de seta reta 134"/>
          <p:cNvCxnSpPr>
            <a:endCxn id="136" idx="1"/>
          </p:cNvCxnSpPr>
          <p:nvPr/>
        </p:nvCxnSpPr>
        <p:spPr>
          <a:xfrm flipV="1">
            <a:off x="6429055" y="321290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Tabela 135"/>
          <p:cNvGraphicFramePr>
            <a:graphicFrameLocks noGrp="1"/>
          </p:cNvGraphicFramePr>
          <p:nvPr/>
        </p:nvGraphicFramePr>
        <p:xfrm>
          <a:off x="6820102" y="307574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7" name="Grupo 136"/>
          <p:cNvGrpSpPr/>
          <p:nvPr/>
        </p:nvGrpSpPr>
        <p:grpSpPr>
          <a:xfrm>
            <a:off x="7250910" y="3201919"/>
            <a:ext cx="394696" cy="152567"/>
            <a:chOff x="6909487" y="2846199"/>
            <a:chExt cx="394696" cy="152567"/>
          </a:xfrm>
        </p:grpSpPr>
        <p:sp>
          <p:nvSpPr>
            <p:cNvPr id="138" name="Forma livre 13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9" name="Conector reto 13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Conector de seta reta 150"/>
          <p:cNvCxnSpPr/>
          <p:nvPr/>
        </p:nvCxnSpPr>
        <p:spPr>
          <a:xfrm flipV="1">
            <a:off x="5503315" y="354591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ela 151"/>
          <p:cNvGraphicFramePr>
            <a:graphicFrameLocks noGrp="1"/>
          </p:cNvGraphicFramePr>
          <p:nvPr/>
        </p:nvGraphicFramePr>
        <p:xfrm>
          <a:off x="5983850" y="340751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3" name="Grupo 152"/>
          <p:cNvGrpSpPr/>
          <p:nvPr/>
        </p:nvGrpSpPr>
        <p:grpSpPr>
          <a:xfrm>
            <a:off x="6414658" y="3533691"/>
            <a:ext cx="394696" cy="152567"/>
            <a:chOff x="6909487" y="2846199"/>
            <a:chExt cx="394696" cy="152567"/>
          </a:xfrm>
        </p:grpSpPr>
        <p:sp>
          <p:nvSpPr>
            <p:cNvPr id="154" name="Forma livre 15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5" name="Conector reto 15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to 15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to 15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41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24" name="Conector de seta reta 123"/>
          <p:cNvCxnSpPr>
            <a:endCxn id="125" idx="1"/>
          </p:cNvCxnSpPr>
          <p:nvPr/>
        </p:nvCxnSpPr>
        <p:spPr>
          <a:xfrm flipV="1">
            <a:off x="5503028" y="387559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Tabela 124"/>
          <p:cNvGraphicFramePr>
            <a:graphicFrameLocks noGrp="1"/>
          </p:cNvGraphicFramePr>
          <p:nvPr/>
        </p:nvGraphicFramePr>
        <p:xfrm>
          <a:off x="5982363" y="373843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Conector de seta reta 125"/>
          <p:cNvCxnSpPr>
            <a:endCxn id="127" idx="1"/>
          </p:cNvCxnSpPr>
          <p:nvPr/>
        </p:nvCxnSpPr>
        <p:spPr>
          <a:xfrm flipV="1">
            <a:off x="6425877" y="388070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7" name="Tabela 126"/>
          <p:cNvGraphicFramePr>
            <a:graphicFrameLocks noGrp="1"/>
          </p:cNvGraphicFramePr>
          <p:nvPr/>
        </p:nvGraphicFramePr>
        <p:xfrm>
          <a:off x="6816924" y="374354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8" name="Grupo 127"/>
          <p:cNvGrpSpPr/>
          <p:nvPr/>
        </p:nvGrpSpPr>
        <p:grpSpPr>
          <a:xfrm>
            <a:off x="7247732" y="3869716"/>
            <a:ext cx="394696" cy="152567"/>
            <a:chOff x="6909487" y="2846199"/>
            <a:chExt cx="394696" cy="152567"/>
          </a:xfrm>
        </p:grpSpPr>
        <p:sp>
          <p:nvSpPr>
            <p:cNvPr id="129" name="Forma livre 12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0" name="Conector reto 12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to 13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to 13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" name="Conector de seta reta 132"/>
          <p:cNvCxnSpPr>
            <a:endCxn id="134" idx="1"/>
          </p:cNvCxnSpPr>
          <p:nvPr/>
        </p:nvCxnSpPr>
        <p:spPr>
          <a:xfrm flipV="1">
            <a:off x="5506206" y="320780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Tabela 133"/>
          <p:cNvGraphicFramePr>
            <a:graphicFrameLocks noGrp="1"/>
          </p:cNvGraphicFramePr>
          <p:nvPr/>
        </p:nvGraphicFramePr>
        <p:xfrm>
          <a:off x="5985541" y="307064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5" name="Conector de seta reta 134"/>
          <p:cNvCxnSpPr>
            <a:endCxn id="136" idx="1"/>
          </p:cNvCxnSpPr>
          <p:nvPr/>
        </p:nvCxnSpPr>
        <p:spPr>
          <a:xfrm flipV="1">
            <a:off x="6429055" y="321290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Tabela 135"/>
          <p:cNvGraphicFramePr>
            <a:graphicFrameLocks noGrp="1"/>
          </p:cNvGraphicFramePr>
          <p:nvPr/>
        </p:nvGraphicFramePr>
        <p:xfrm>
          <a:off x="6820102" y="307574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7" name="Grupo 136"/>
          <p:cNvGrpSpPr/>
          <p:nvPr/>
        </p:nvGrpSpPr>
        <p:grpSpPr>
          <a:xfrm>
            <a:off x="7250910" y="3201919"/>
            <a:ext cx="394696" cy="152567"/>
            <a:chOff x="6909487" y="2846199"/>
            <a:chExt cx="394696" cy="152567"/>
          </a:xfrm>
        </p:grpSpPr>
        <p:sp>
          <p:nvSpPr>
            <p:cNvPr id="138" name="Forma livre 13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9" name="Conector reto 13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Conector de seta reta 150"/>
          <p:cNvCxnSpPr/>
          <p:nvPr/>
        </p:nvCxnSpPr>
        <p:spPr>
          <a:xfrm flipV="1">
            <a:off x="5503315" y="354591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ela 151"/>
          <p:cNvGraphicFramePr>
            <a:graphicFrameLocks noGrp="1"/>
          </p:cNvGraphicFramePr>
          <p:nvPr/>
        </p:nvGraphicFramePr>
        <p:xfrm>
          <a:off x="5983850" y="340751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3" name="Grupo 152"/>
          <p:cNvGrpSpPr/>
          <p:nvPr/>
        </p:nvGrpSpPr>
        <p:grpSpPr>
          <a:xfrm>
            <a:off x="6414658" y="3533691"/>
            <a:ext cx="394696" cy="152567"/>
            <a:chOff x="6909487" y="2846199"/>
            <a:chExt cx="394696" cy="152567"/>
          </a:xfrm>
        </p:grpSpPr>
        <p:sp>
          <p:nvSpPr>
            <p:cNvPr id="154" name="Forma livre 15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5" name="Conector reto 15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to 15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to 15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70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  <a:solidFill>
            <a:srgbClr val="FFC000"/>
          </a:solidFill>
          <a:ln>
            <a:solidFill>
              <a:srgbClr val="CC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24" name="Conector de seta reta 123"/>
          <p:cNvCxnSpPr>
            <a:endCxn id="125" idx="1"/>
          </p:cNvCxnSpPr>
          <p:nvPr/>
        </p:nvCxnSpPr>
        <p:spPr>
          <a:xfrm flipV="1">
            <a:off x="5503028" y="387559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Tabela 124"/>
          <p:cNvGraphicFramePr>
            <a:graphicFrameLocks noGrp="1"/>
          </p:cNvGraphicFramePr>
          <p:nvPr/>
        </p:nvGraphicFramePr>
        <p:xfrm>
          <a:off x="5982363" y="373843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Conector de seta reta 125"/>
          <p:cNvCxnSpPr>
            <a:endCxn id="127" idx="1"/>
          </p:cNvCxnSpPr>
          <p:nvPr/>
        </p:nvCxnSpPr>
        <p:spPr>
          <a:xfrm flipV="1">
            <a:off x="6425877" y="388070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7" name="Tabela 126"/>
          <p:cNvGraphicFramePr>
            <a:graphicFrameLocks noGrp="1"/>
          </p:cNvGraphicFramePr>
          <p:nvPr/>
        </p:nvGraphicFramePr>
        <p:xfrm>
          <a:off x="6816924" y="374354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8" name="Grupo 127"/>
          <p:cNvGrpSpPr/>
          <p:nvPr/>
        </p:nvGrpSpPr>
        <p:grpSpPr>
          <a:xfrm>
            <a:off x="7247732" y="3869716"/>
            <a:ext cx="394696" cy="152567"/>
            <a:chOff x="6909487" y="2846199"/>
            <a:chExt cx="394696" cy="152567"/>
          </a:xfrm>
        </p:grpSpPr>
        <p:sp>
          <p:nvSpPr>
            <p:cNvPr id="129" name="Forma livre 12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0" name="Conector reto 12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to 13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to 13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" name="Conector de seta reta 132"/>
          <p:cNvCxnSpPr>
            <a:endCxn id="134" idx="1"/>
          </p:cNvCxnSpPr>
          <p:nvPr/>
        </p:nvCxnSpPr>
        <p:spPr>
          <a:xfrm flipV="1">
            <a:off x="5506206" y="320780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Tabela 133"/>
          <p:cNvGraphicFramePr>
            <a:graphicFrameLocks noGrp="1"/>
          </p:cNvGraphicFramePr>
          <p:nvPr/>
        </p:nvGraphicFramePr>
        <p:xfrm>
          <a:off x="5985541" y="307064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5" name="Conector de seta reta 134"/>
          <p:cNvCxnSpPr>
            <a:endCxn id="136" idx="1"/>
          </p:cNvCxnSpPr>
          <p:nvPr/>
        </p:nvCxnSpPr>
        <p:spPr>
          <a:xfrm flipV="1">
            <a:off x="6429055" y="321290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Tabela 135"/>
          <p:cNvGraphicFramePr>
            <a:graphicFrameLocks noGrp="1"/>
          </p:cNvGraphicFramePr>
          <p:nvPr/>
        </p:nvGraphicFramePr>
        <p:xfrm>
          <a:off x="6820102" y="307574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7" name="Grupo 136"/>
          <p:cNvGrpSpPr/>
          <p:nvPr/>
        </p:nvGrpSpPr>
        <p:grpSpPr>
          <a:xfrm>
            <a:off x="7250910" y="3201919"/>
            <a:ext cx="394696" cy="152567"/>
            <a:chOff x="6909487" y="2846199"/>
            <a:chExt cx="394696" cy="152567"/>
          </a:xfrm>
        </p:grpSpPr>
        <p:sp>
          <p:nvSpPr>
            <p:cNvPr id="138" name="Forma livre 13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9" name="Conector reto 13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Conector de seta reta 141"/>
          <p:cNvCxnSpPr>
            <a:endCxn id="143" idx="1"/>
          </p:cNvCxnSpPr>
          <p:nvPr/>
        </p:nvCxnSpPr>
        <p:spPr>
          <a:xfrm flipV="1">
            <a:off x="5503028" y="421335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Tabela 142"/>
          <p:cNvGraphicFramePr>
            <a:graphicFrameLocks noGrp="1"/>
          </p:cNvGraphicFramePr>
          <p:nvPr/>
        </p:nvGraphicFramePr>
        <p:xfrm>
          <a:off x="5982363" y="407619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4" name="Conector de seta reta 143"/>
          <p:cNvCxnSpPr>
            <a:endCxn id="145" idx="1"/>
          </p:cNvCxnSpPr>
          <p:nvPr/>
        </p:nvCxnSpPr>
        <p:spPr>
          <a:xfrm flipV="1">
            <a:off x="6425877" y="421845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5" name="Tabela 144"/>
          <p:cNvGraphicFramePr>
            <a:graphicFrameLocks noGrp="1"/>
          </p:cNvGraphicFramePr>
          <p:nvPr/>
        </p:nvGraphicFramePr>
        <p:xfrm>
          <a:off x="6816924" y="408129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6" name="Grupo 145"/>
          <p:cNvGrpSpPr/>
          <p:nvPr/>
        </p:nvGrpSpPr>
        <p:grpSpPr>
          <a:xfrm>
            <a:off x="7247732" y="4207467"/>
            <a:ext cx="394696" cy="152567"/>
            <a:chOff x="6909487" y="2846199"/>
            <a:chExt cx="394696" cy="152567"/>
          </a:xfrm>
        </p:grpSpPr>
        <p:sp>
          <p:nvSpPr>
            <p:cNvPr id="147" name="Forma livre 14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8" name="Conector reto 14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to 14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to 14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Conector de seta reta 150"/>
          <p:cNvCxnSpPr/>
          <p:nvPr/>
        </p:nvCxnSpPr>
        <p:spPr>
          <a:xfrm flipV="1">
            <a:off x="5503315" y="354591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ela 151"/>
          <p:cNvGraphicFramePr>
            <a:graphicFrameLocks noGrp="1"/>
          </p:cNvGraphicFramePr>
          <p:nvPr/>
        </p:nvGraphicFramePr>
        <p:xfrm>
          <a:off x="5983850" y="340751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3" name="Grupo 152"/>
          <p:cNvGrpSpPr/>
          <p:nvPr/>
        </p:nvGrpSpPr>
        <p:grpSpPr>
          <a:xfrm>
            <a:off x="6414658" y="3533691"/>
            <a:ext cx="394696" cy="152567"/>
            <a:chOff x="6909487" y="2846199"/>
            <a:chExt cx="394696" cy="152567"/>
          </a:xfrm>
        </p:grpSpPr>
        <p:sp>
          <p:nvSpPr>
            <p:cNvPr id="154" name="Forma livre 15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5" name="Conector reto 15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to 15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to 15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844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aixaDeTexto 118"/>
          <p:cNvSpPr txBox="1"/>
          <p:nvPr/>
        </p:nvSpPr>
        <p:spPr>
          <a:xfrm>
            <a:off x="5049680" y="2722423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20" name="CaixaDeTexto 119"/>
          <p:cNvSpPr txBox="1"/>
          <p:nvPr/>
        </p:nvSpPr>
        <p:spPr>
          <a:xfrm>
            <a:off x="5044069" y="305567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21" name="CaixaDeTexto 120"/>
          <p:cNvSpPr txBox="1"/>
          <p:nvPr/>
        </p:nvSpPr>
        <p:spPr>
          <a:xfrm>
            <a:off x="5055290" y="3388932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22" name="CaixaDeTexto 121"/>
          <p:cNvSpPr txBox="1"/>
          <p:nvPr/>
        </p:nvSpPr>
        <p:spPr>
          <a:xfrm>
            <a:off x="5045672" y="372218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123" name="CaixaDeTexto 122"/>
          <p:cNvSpPr txBox="1"/>
          <p:nvPr/>
        </p:nvSpPr>
        <p:spPr>
          <a:xfrm>
            <a:off x="5045672" y="4055441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Grafo Direcionado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grafo direcionado G = (V, E)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vértices, é possível representá-lo por meio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modo que a lista de adjacência do vértice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v,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ou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contém todos os vértices que são sucessores (ou predecessores) de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</a:t>
                </a:r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015663"/>
              </a:xfrm>
              <a:prstGeom prst="rect">
                <a:avLst/>
              </a:prstGeom>
              <a:blipFill rotWithShape="0">
                <a:blip r:embed="rId2"/>
                <a:stretch>
                  <a:fillRect l="-796" t="-3614" b="-96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2633662" y="303684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b</a:t>
            </a:r>
          </a:p>
        </p:txBody>
      </p:sp>
      <p:sp>
        <p:nvSpPr>
          <p:cNvPr id="7" name="Elipse 6"/>
          <p:cNvSpPr/>
          <p:nvPr/>
        </p:nvSpPr>
        <p:spPr>
          <a:xfrm>
            <a:off x="1760124" y="304035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</a:t>
            </a:r>
          </a:p>
        </p:txBody>
      </p:sp>
      <p:sp>
        <p:nvSpPr>
          <p:cNvPr id="8" name="Elipse 7"/>
          <p:cNvSpPr/>
          <p:nvPr/>
        </p:nvSpPr>
        <p:spPr>
          <a:xfrm>
            <a:off x="1760124" y="3712310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</a:t>
            </a:r>
          </a:p>
        </p:txBody>
      </p:sp>
      <p:sp>
        <p:nvSpPr>
          <p:cNvPr id="9" name="Elipse 8"/>
          <p:cNvSpPr/>
          <p:nvPr/>
        </p:nvSpPr>
        <p:spPr>
          <a:xfrm>
            <a:off x="2633663" y="370880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d</a:t>
            </a:r>
          </a:p>
        </p:txBody>
      </p:sp>
      <p:cxnSp>
        <p:nvCxnSpPr>
          <p:cNvPr id="10" name="Conector de seta reta 9"/>
          <p:cNvCxnSpPr>
            <a:stCxn id="7" idx="6"/>
            <a:endCxn id="6" idx="2"/>
          </p:cNvCxnSpPr>
          <p:nvPr/>
        </p:nvCxnSpPr>
        <p:spPr>
          <a:xfrm flipV="1">
            <a:off x="1990221" y="3149329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8" idx="6"/>
            <a:endCxn id="9" idx="2"/>
          </p:cNvCxnSpPr>
          <p:nvPr/>
        </p:nvCxnSpPr>
        <p:spPr>
          <a:xfrm flipV="1">
            <a:off x="1990221" y="3821285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7" idx="4"/>
            <a:endCxn id="8" idx="0"/>
          </p:cNvCxnSpPr>
          <p:nvPr/>
        </p:nvCxnSpPr>
        <p:spPr>
          <a:xfrm>
            <a:off x="1875173" y="3265319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>
            <a:stCxn id="6" idx="4"/>
            <a:endCxn id="9" idx="0"/>
          </p:cNvCxnSpPr>
          <p:nvPr/>
        </p:nvCxnSpPr>
        <p:spPr>
          <a:xfrm>
            <a:off x="2748711" y="3261811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504060" y="3036845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</a:t>
            </a:r>
          </a:p>
        </p:txBody>
      </p:sp>
      <p:cxnSp>
        <p:nvCxnSpPr>
          <p:cNvPr id="16" name="Conector de seta reta 15"/>
          <p:cNvCxnSpPr>
            <a:stCxn id="6" idx="6"/>
            <a:endCxn id="15" idx="2"/>
          </p:cNvCxnSpPr>
          <p:nvPr/>
        </p:nvCxnSpPr>
        <p:spPr>
          <a:xfrm flipV="1">
            <a:off x="2863759" y="3149328"/>
            <a:ext cx="64030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7"/>
            <a:endCxn id="6" idx="3"/>
          </p:cNvCxnSpPr>
          <p:nvPr/>
        </p:nvCxnSpPr>
        <p:spPr>
          <a:xfrm flipV="1">
            <a:off x="1956524" y="3228866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9" idx="7"/>
            <a:endCxn id="15" idx="3"/>
          </p:cNvCxnSpPr>
          <p:nvPr/>
        </p:nvCxnSpPr>
        <p:spPr>
          <a:xfrm flipV="1">
            <a:off x="2830063" y="3228865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eta para a direita 18"/>
          <p:cNvSpPr/>
          <p:nvPr/>
        </p:nvSpPr>
        <p:spPr>
          <a:xfrm>
            <a:off x="4136175" y="3389936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tângulo 26"/>
              <p:cNvSpPr/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Lista de predecessores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a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t-BR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  <m:d>
                      <m:dPr>
                        <m:begChr m:val="["/>
                        <m:endChr m:val="]"/>
                        <m:ctrlPr>
                          <a:rPr lang="pt-BR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pt-BR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pt-BR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G</m:t>
                            </m:r>
                          </m:e>
                        </m:d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(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)∈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pt-BR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pt-BR" b="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Retângulo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9783" y="2180621"/>
                <a:ext cx="582486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837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8" name="Tabela 117"/>
          <p:cNvGraphicFramePr>
            <a:graphicFrameLocks noGrp="1"/>
          </p:cNvGraphicFramePr>
          <p:nvPr/>
        </p:nvGraphicFramePr>
        <p:xfrm>
          <a:off x="5339004" y="2704844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24" name="Conector de seta reta 123"/>
          <p:cNvCxnSpPr>
            <a:endCxn id="125" idx="1"/>
          </p:cNvCxnSpPr>
          <p:nvPr/>
        </p:nvCxnSpPr>
        <p:spPr>
          <a:xfrm flipV="1">
            <a:off x="5503028" y="387559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Tabela 124"/>
          <p:cNvGraphicFramePr>
            <a:graphicFrameLocks noGrp="1"/>
          </p:cNvGraphicFramePr>
          <p:nvPr/>
        </p:nvGraphicFramePr>
        <p:xfrm>
          <a:off x="5982363" y="373843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Conector de seta reta 125"/>
          <p:cNvCxnSpPr>
            <a:endCxn id="127" idx="1"/>
          </p:cNvCxnSpPr>
          <p:nvPr/>
        </p:nvCxnSpPr>
        <p:spPr>
          <a:xfrm flipV="1">
            <a:off x="6425877" y="388070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7" name="Tabela 126"/>
          <p:cNvGraphicFramePr>
            <a:graphicFrameLocks noGrp="1"/>
          </p:cNvGraphicFramePr>
          <p:nvPr/>
        </p:nvGraphicFramePr>
        <p:xfrm>
          <a:off x="6816924" y="374354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8" name="Grupo 127"/>
          <p:cNvGrpSpPr/>
          <p:nvPr/>
        </p:nvGrpSpPr>
        <p:grpSpPr>
          <a:xfrm>
            <a:off x="7247732" y="3869716"/>
            <a:ext cx="394696" cy="152567"/>
            <a:chOff x="6909487" y="2846199"/>
            <a:chExt cx="394696" cy="152567"/>
          </a:xfrm>
        </p:grpSpPr>
        <p:sp>
          <p:nvSpPr>
            <p:cNvPr id="129" name="Forma livre 128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0" name="Conector reto 129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to 130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to 131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" name="Conector de seta reta 132"/>
          <p:cNvCxnSpPr>
            <a:endCxn id="134" idx="1"/>
          </p:cNvCxnSpPr>
          <p:nvPr/>
        </p:nvCxnSpPr>
        <p:spPr>
          <a:xfrm flipV="1">
            <a:off x="5506206" y="320780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" name="Tabela 133"/>
          <p:cNvGraphicFramePr>
            <a:graphicFrameLocks noGrp="1"/>
          </p:cNvGraphicFramePr>
          <p:nvPr/>
        </p:nvGraphicFramePr>
        <p:xfrm>
          <a:off x="5985541" y="307064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5" name="Conector de seta reta 134"/>
          <p:cNvCxnSpPr>
            <a:endCxn id="136" idx="1"/>
          </p:cNvCxnSpPr>
          <p:nvPr/>
        </p:nvCxnSpPr>
        <p:spPr>
          <a:xfrm flipV="1">
            <a:off x="6429055" y="321290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6" name="Tabela 135"/>
          <p:cNvGraphicFramePr>
            <a:graphicFrameLocks noGrp="1"/>
          </p:cNvGraphicFramePr>
          <p:nvPr/>
        </p:nvGraphicFramePr>
        <p:xfrm>
          <a:off x="6820102" y="307574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37" name="Grupo 136"/>
          <p:cNvGrpSpPr/>
          <p:nvPr/>
        </p:nvGrpSpPr>
        <p:grpSpPr>
          <a:xfrm>
            <a:off x="7250910" y="3201919"/>
            <a:ext cx="394696" cy="152567"/>
            <a:chOff x="6909487" y="2846199"/>
            <a:chExt cx="394696" cy="152567"/>
          </a:xfrm>
        </p:grpSpPr>
        <p:sp>
          <p:nvSpPr>
            <p:cNvPr id="138" name="Forma livre 13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39" name="Conector reto 13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to 13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to 14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2" name="Conector de seta reta 141"/>
          <p:cNvCxnSpPr>
            <a:endCxn id="143" idx="1"/>
          </p:cNvCxnSpPr>
          <p:nvPr/>
        </p:nvCxnSpPr>
        <p:spPr>
          <a:xfrm flipV="1">
            <a:off x="5503028" y="4213350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3" name="Tabela 142"/>
          <p:cNvGraphicFramePr>
            <a:graphicFrameLocks noGrp="1"/>
          </p:cNvGraphicFramePr>
          <p:nvPr/>
        </p:nvGraphicFramePr>
        <p:xfrm>
          <a:off x="5982363" y="407619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4" name="Conector de seta reta 143"/>
          <p:cNvCxnSpPr>
            <a:endCxn id="145" idx="1"/>
          </p:cNvCxnSpPr>
          <p:nvPr/>
        </p:nvCxnSpPr>
        <p:spPr>
          <a:xfrm flipV="1">
            <a:off x="6425877" y="4218455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5" name="Tabela 144"/>
          <p:cNvGraphicFramePr>
            <a:graphicFrameLocks noGrp="1"/>
          </p:cNvGraphicFramePr>
          <p:nvPr/>
        </p:nvGraphicFramePr>
        <p:xfrm>
          <a:off x="6816924" y="4081295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6" name="Grupo 145"/>
          <p:cNvGrpSpPr/>
          <p:nvPr/>
        </p:nvGrpSpPr>
        <p:grpSpPr>
          <a:xfrm>
            <a:off x="7247732" y="4207467"/>
            <a:ext cx="394696" cy="152567"/>
            <a:chOff x="6909487" y="2846199"/>
            <a:chExt cx="394696" cy="152567"/>
          </a:xfrm>
        </p:grpSpPr>
        <p:sp>
          <p:nvSpPr>
            <p:cNvPr id="147" name="Forma livre 14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48" name="Conector reto 14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to 14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to 14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Conector de seta reta 150"/>
          <p:cNvCxnSpPr/>
          <p:nvPr/>
        </p:nvCxnSpPr>
        <p:spPr>
          <a:xfrm flipV="1">
            <a:off x="5503315" y="3545917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2" name="Tabela 151"/>
          <p:cNvGraphicFramePr>
            <a:graphicFrameLocks noGrp="1"/>
          </p:cNvGraphicFramePr>
          <p:nvPr/>
        </p:nvGraphicFramePr>
        <p:xfrm>
          <a:off x="5983850" y="340751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3" name="Grupo 152"/>
          <p:cNvGrpSpPr/>
          <p:nvPr/>
        </p:nvGrpSpPr>
        <p:grpSpPr>
          <a:xfrm>
            <a:off x="6414658" y="3533691"/>
            <a:ext cx="394696" cy="152567"/>
            <a:chOff x="6909487" y="2846199"/>
            <a:chExt cx="394696" cy="152567"/>
          </a:xfrm>
        </p:grpSpPr>
        <p:sp>
          <p:nvSpPr>
            <p:cNvPr id="154" name="Forma livre 15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55" name="Conector reto 15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to 15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to 15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upo 157"/>
          <p:cNvGrpSpPr/>
          <p:nvPr/>
        </p:nvGrpSpPr>
        <p:grpSpPr>
          <a:xfrm>
            <a:off x="5503028" y="2867097"/>
            <a:ext cx="683538" cy="152567"/>
            <a:chOff x="5164784" y="4206771"/>
            <a:chExt cx="683538" cy="152567"/>
          </a:xfrm>
        </p:grpSpPr>
        <p:sp>
          <p:nvSpPr>
            <p:cNvPr id="159" name="Forma livre 158"/>
            <p:cNvSpPr/>
            <p:nvPr/>
          </p:nvSpPr>
          <p:spPr>
            <a:xfrm>
              <a:off x="5164784" y="4206771"/>
              <a:ext cx="617438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0" name="Conector reto 159"/>
            <p:cNvCxnSpPr/>
            <p:nvPr/>
          </p:nvCxnSpPr>
          <p:spPr>
            <a:xfrm>
              <a:off x="5719791" y="4315810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to 160"/>
            <p:cNvCxnSpPr/>
            <p:nvPr/>
          </p:nvCxnSpPr>
          <p:spPr>
            <a:xfrm flipV="1">
              <a:off x="5740339" y="4337753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to 161"/>
            <p:cNvCxnSpPr/>
            <p:nvPr/>
          </p:nvCxnSpPr>
          <p:spPr>
            <a:xfrm>
              <a:off x="5757870" y="4359338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CaixaDeTexto 162"/>
          <p:cNvSpPr txBox="1"/>
          <p:nvPr/>
        </p:nvSpPr>
        <p:spPr>
          <a:xfrm>
            <a:off x="1217144" y="283474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tângulo 63"/>
              <p:cNvSpPr/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4" name="Retângulo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42" y="4165844"/>
                <a:ext cx="37702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463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– Propriedades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319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Dadas as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listas de adjacência </a:t>
                </a:r>
                <a14:m>
                  <m:oMath xmlns:m="http://schemas.openxmlformats.org/officeDocument/2006/math"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𝕃</m:t>
                    </m: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pode-se afirmar que: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 listas de adjacência representam univocamente um grafo G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Um grafo G pode ser representado por diferentes listas de adjacência pois os elementos podem aparecer em qualquer ordem nas listas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Para grafos direcionados, deve-se optar por armazenar os sucessores ou os predecessores dos vértices (ou dobrar o custo de armazenamento)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 consulta é mais cara para se determinar a existência de arco incidente a um vértice – tempo linear no número de vértices, isto é,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 para grafo denso</a:t>
                </a:r>
              </a:p>
              <a:p>
                <a:pPr marL="800100" lvl="1" indent="-342900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Ela ocupa um espaço proporcional a O(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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</a:t>
                </a: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3193182"/>
              </a:xfrm>
              <a:prstGeom prst="rect">
                <a:avLst/>
              </a:prstGeom>
              <a:blipFill rotWithShape="0">
                <a:blip r:embed="rId2"/>
                <a:stretch>
                  <a:fillRect l="-796" t="-1530" b="-210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64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69" name="Elipse 68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0" name="Elipse 69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1" name="Elipse 70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72" name="Elipse 71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3" name="Conector de seta reta 72"/>
          <p:cNvCxnSpPr>
            <a:stCxn id="70" idx="6"/>
            <a:endCxn id="69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>
            <a:stCxn id="71" idx="6"/>
            <a:endCxn id="72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70" idx="4"/>
            <a:endCxn id="71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69" idx="4"/>
            <a:endCxn id="72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aixaDeTexto 76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78" name="Elipse 77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79" name="Conector de seta reta 78"/>
          <p:cNvCxnSpPr>
            <a:stCxn id="69" idx="6"/>
            <a:endCxn id="78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71" idx="7"/>
            <a:endCxn id="69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2" idx="7"/>
            <a:endCxn id="78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4270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530485"/>
              </p:ext>
            </p:extLst>
          </p:nvPr>
        </p:nvGraphicFramePr>
        <p:xfrm>
          <a:off x="5693588" y="1329240"/>
          <a:ext cx="345541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CaixaDeTexto 17"/>
          <p:cNvSpPr txBox="1"/>
          <p:nvPr/>
        </p:nvSpPr>
        <p:spPr>
          <a:xfrm>
            <a:off x="5404264" y="1346819"/>
            <a:ext cx="271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5398653" y="168007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409874" y="2013328"/>
            <a:ext cx="260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400256" y="2346583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d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400256" y="2679837"/>
            <a:ext cx="279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0070C0"/>
                </a:solidFill>
              </a:rPr>
              <a:t>e</a:t>
            </a:r>
          </a:p>
        </p:txBody>
      </p:sp>
      <p:cxnSp>
        <p:nvCxnSpPr>
          <p:cNvPr id="23" name="Conector de seta reta 22"/>
          <p:cNvCxnSpPr>
            <a:endCxn id="24" idx="1"/>
          </p:cNvCxnSpPr>
          <p:nvPr/>
        </p:nvCxnSpPr>
        <p:spPr>
          <a:xfrm flipV="1">
            <a:off x="5857612" y="1484379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e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459163"/>
              </p:ext>
            </p:extLst>
          </p:nvPr>
        </p:nvGraphicFramePr>
        <p:xfrm>
          <a:off x="6336947" y="1347219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Conector de seta reta 24"/>
          <p:cNvCxnSpPr>
            <a:endCxn id="26" idx="1"/>
          </p:cNvCxnSpPr>
          <p:nvPr/>
        </p:nvCxnSpPr>
        <p:spPr>
          <a:xfrm flipV="1">
            <a:off x="6780461" y="1489484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ela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986413"/>
              </p:ext>
            </p:extLst>
          </p:nvPr>
        </p:nvGraphicFramePr>
        <p:xfrm>
          <a:off x="7171508" y="1352324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7" name="Grupo 26"/>
          <p:cNvGrpSpPr/>
          <p:nvPr/>
        </p:nvGrpSpPr>
        <p:grpSpPr>
          <a:xfrm>
            <a:off x="7602316" y="1478496"/>
            <a:ext cx="394696" cy="152567"/>
            <a:chOff x="6909487" y="2846199"/>
            <a:chExt cx="394696" cy="152567"/>
          </a:xfrm>
        </p:grpSpPr>
        <p:sp>
          <p:nvSpPr>
            <p:cNvPr id="28" name="Forma livre 27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Conector reto 28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to 29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to 30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ector de seta reta 31"/>
          <p:cNvCxnSpPr>
            <a:endCxn id="33" idx="1"/>
          </p:cNvCxnSpPr>
          <p:nvPr/>
        </p:nvCxnSpPr>
        <p:spPr>
          <a:xfrm flipV="1">
            <a:off x="5860790" y="1832198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Tabela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002410"/>
              </p:ext>
            </p:extLst>
          </p:nvPr>
        </p:nvGraphicFramePr>
        <p:xfrm>
          <a:off x="6340125" y="1695038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ela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71750"/>
              </p:ext>
            </p:extLst>
          </p:nvPr>
        </p:nvGraphicFramePr>
        <p:xfrm>
          <a:off x="6342595" y="2710441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6" name="Grupo 35"/>
          <p:cNvGrpSpPr/>
          <p:nvPr/>
        </p:nvGrpSpPr>
        <p:grpSpPr>
          <a:xfrm>
            <a:off x="6773403" y="2836613"/>
            <a:ext cx="394696" cy="152567"/>
            <a:chOff x="6909487" y="2846199"/>
            <a:chExt cx="394696" cy="152567"/>
          </a:xfrm>
        </p:grpSpPr>
        <p:sp>
          <p:nvSpPr>
            <p:cNvPr id="37" name="Forma livre 36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8" name="Conector reto 37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ector de seta reta 40"/>
          <p:cNvCxnSpPr>
            <a:endCxn id="42" idx="1"/>
          </p:cNvCxnSpPr>
          <p:nvPr/>
        </p:nvCxnSpPr>
        <p:spPr>
          <a:xfrm flipV="1">
            <a:off x="5857612" y="2168762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ela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778572"/>
              </p:ext>
            </p:extLst>
          </p:nvPr>
        </p:nvGraphicFramePr>
        <p:xfrm>
          <a:off x="6336947" y="2031602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3" name="Conector de seta reta 42"/>
          <p:cNvCxnSpPr>
            <a:endCxn id="44" idx="1"/>
          </p:cNvCxnSpPr>
          <p:nvPr/>
        </p:nvCxnSpPr>
        <p:spPr>
          <a:xfrm flipV="1">
            <a:off x="6780461" y="2173867"/>
            <a:ext cx="391047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ela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524275"/>
              </p:ext>
            </p:extLst>
          </p:nvPr>
        </p:nvGraphicFramePr>
        <p:xfrm>
          <a:off x="7171508" y="2036707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5" name="Grupo 44"/>
          <p:cNvGrpSpPr/>
          <p:nvPr/>
        </p:nvGrpSpPr>
        <p:grpSpPr>
          <a:xfrm>
            <a:off x="7602316" y="2162879"/>
            <a:ext cx="394696" cy="152567"/>
            <a:chOff x="6909487" y="2846199"/>
            <a:chExt cx="394696" cy="152567"/>
          </a:xfrm>
        </p:grpSpPr>
        <p:sp>
          <p:nvSpPr>
            <p:cNvPr id="46" name="Forma livre 45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7" name="Conector reto 46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to 47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to 48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Conector de seta reta 49"/>
          <p:cNvCxnSpPr/>
          <p:nvPr/>
        </p:nvCxnSpPr>
        <p:spPr>
          <a:xfrm flipV="1">
            <a:off x="5866157" y="2504588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ela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506428"/>
              </p:ext>
            </p:extLst>
          </p:nvPr>
        </p:nvGraphicFramePr>
        <p:xfrm>
          <a:off x="6346692" y="2366190"/>
          <a:ext cx="570056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8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200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2" name="Grupo 51"/>
          <p:cNvGrpSpPr/>
          <p:nvPr/>
        </p:nvGrpSpPr>
        <p:grpSpPr>
          <a:xfrm>
            <a:off x="6777500" y="2492362"/>
            <a:ext cx="394696" cy="152567"/>
            <a:chOff x="6909487" y="2846199"/>
            <a:chExt cx="394696" cy="152567"/>
          </a:xfrm>
        </p:grpSpPr>
        <p:sp>
          <p:nvSpPr>
            <p:cNvPr id="53" name="Forma livre 52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4" name="Conector reto 53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tângulo 61"/>
              <p:cNvSpPr/>
              <p:nvPr/>
            </p:nvSpPr>
            <p:spPr>
              <a:xfrm>
                <a:off x="5111263" y="2785384"/>
                <a:ext cx="3770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𝕃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2" name="Retângulo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263" y="2785384"/>
                <a:ext cx="377026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upo 62"/>
          <p:cNvGrpSpPr/>
          <p:nvPr/>
        </p:nvGrpSpPr>
        <p:grpSpPr>
          <a:xfrm>
            <a:off x="6786483" y="1828451"/>
            <a:ext cx="394696" cy="152567"/>
            <a:chOff x="6909487" y="2846199"/>
            <a:chExt cx="394696" cy="152567"/>
          </a:xfrm>
        </p:grpSpPr>
        <p:sp>
          <p:nvSpPr>
            <p:cNvPr id="64" name="Forma livre 63"/>
            <p:cNvSpPr/>
            <p:nvPr/>
          </p:nvSpPr>
          <p:spPr>
            <a:xfrm>
              <a:off x="6909487" y="2846199"/>
              <a:ext cx="328595" cy="110880"/>
            </a:xfrm>
            <a:custGeom>
              <a:avLst/>
              <a:gdLst>
                <a:gd name="connsiteX0" fmla="*/ 0 w 327922"/>
                <a:gd name="connsiteY0" fmla="*/ 0 h 214411"/>
                <a:gd name="connsiteX1" fmla="*/ 315310 w 327922"/>
                <a:gd name="connsiteY1" fmla="*/ 0 h 214411"/>
                <a:gd name="connsiteX2" fmla="*/ 327922 w 327922"/>
                <a:gd name="connsiteY2" fmla="*/ 214411 h 214411"/>
                <a:gd name="connsiteX0" fmla="*/ 0 w 315310"/>
                <a:gd name="connsiteY0" fmla="*/ 0 h 151982"/>
                <a:gd name="connsiteX1" fmla="*/ 315310 w 315310"/>
                <a:gd name="connsiteY1" fmla="*/ 0 h 151982"/>
                <a:gd name="connsiteX2" fmla="*/ 313233 w 315310"/>
                <a:gd name="connsiteY2" fmla="*/ 151982 h 151982"/>
                <a:gd name="connsiteX0" fmla="*/ 0 w 320628"/>
                <a:gd name="connsiteY0" fmla="*/ 0 h 148310"/>
                <a:gd name="connsiteX1" fmla="*/ 315310 w 320628"/>
                <a:gd name="connsiteY1" fmla="*/ 0 h 148310"/>
                <a:gd name="connsiteX2" fmla="*/ 320578 w 320628"/>
                <a:gd name="connsiteY2" fmla="*/ 148310 h 148310"/>
                <a:gd name="connsiteX0" fmla="*/ 0 w 320683"/>
                <a:gd name="connsiteY0" fmla="*/ 3673 h 151983"/>
                <a:gd name="connsiteX1" fmla="*/ 318982 w 320683"/>
                <a:gd name="connsiteY1" fmla="*/ 0 h 151983"/>
                <a:gd name="connsiteX2" fmla="*/ 320578 w 320683"/>
                <a:gd name="connsiteY2" fmla="*/ 151983 h 151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683" h="151983">
                  <a:moveTo>
                    <a:pt x="0" y="3673"/>
                  </a:moveTo>
                  <a:lnTo>
                    <a:pt x="318982" y="0"/>
                  </a:lnTo>
                  <a:cubicBezTo>
                    <a:pt x="318290" y="50661"/>
                    <a:pt x="321270" y="101322"/>
                    <a:pt x="320578" y="151983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5" name="Conector reto 64"/>
            <p:cNvCxnSpPr/>
            <p:nvPr/>
          </p:nvCxnSpPr>
          <p:spPr>
            <a:xfrm>
              <a:off x="7175652" y="2955238"/>
              <a:ext cx="12853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to 65"/>
            <p:cNvCxnSpPr/>
            <p:nvPr/>
          </p:nvCxnSpPr>
          <p:spPr>
            <a:xfrm flipV="1">
              <a:off x="7196200" y="2977181"/>
              <a:ext cx="82627" cy="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to 66"/>
            <p:cNvCxnSpPr/>
            <p:nvPr/>
          </p:nvCxnSpPr>
          <p:spPr>
            <a:xfrm>
              <a:off x="7213731" y="2998766"/>
              <a:ext cx="523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Conector de seta reta 67"/>
          <p:cNvCxnSpPr/>
          <p:nvPr/>
        </p:nvCxnSpPr>
        <p:spPr>
          <a:xfrm flipV="1">
            <a:off x="5865924" y="2847911"/>
            <a:ext cx="479335" cy="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ipse 68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70" name="Elipse 69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71" name="Elipse 70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72" name="Elipse 71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3" name="Conector de seta reta 72"/>
          <p:cNvCxnSpPr>
            <a:stCxn id="70" idx="6"/>
            <a:endCxn id="69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>
            <a:stCxn id="71" idx="6"/>
            <a:endCxn id="72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/>
          <p:cNvCxnSpPr>
            <a:stCxn id="70" idx="4"/>
            <a:endCxn id="71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69" idx="4"/>
            <a:endCxn id="72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aixaDeTexto 76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78" name="Elipse 77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79" name="Conector de seta reta 78"/>
          <p:cNvCxnSpPr>
            <a:stCxn id="69" idx="6"/>
            <a:endCxn id="78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71" idx="7"/>
            <a:endCxn id="69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72" idx="7"/>
            <a:endCxn id="78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Seta para a direita 81"/>
          <p:cNvSpPr/>
          <p:nvPr/>
        </p:nvSpPr>
        <p:spPr>
          <a:xfrm>
            <a:off x="4131382" y="1875189"/>
            <a:ext cx="418994" cy="351811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27935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ta para a direita 15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32640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sp>
        <p:nvSpPr>
          <p:cNvPr id="85" name="CaixaDeTexto 84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31531170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ta para a direita 15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32640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221400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sp>
        <p:nvSpPr>
          <p:cNvPr id="83" name="Seta dobrada para cima 82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CaixaDeTexto 83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17" name="Seta para cima e para baixo 16"/>
          <p:cNvSpPr/>
          <p:nvPr/>
        </p:nvSpPr>
        <p:spPr>
          <a:xfrm>
            <a:off x="8215312" y="2604774"/>
            <a:ext cx="203200" cy="116272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8400204" y="295530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=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37976328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eta para a direita 15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632640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111444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sp>
        <p:nvSpPr>
          <p:cNvPr id="83" name="Seta dobrada para cima 82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CaixaDeTexto 83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215074119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161067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942379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23582607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732441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548183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5838092" y="3467761"/>
            <a:ext cx="320431" cy="3899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32101701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711475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09286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5838092" y="3467761"/>
            <a:ext cx="320431" cy="3899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>
            <a:off x="6226481" y="3467761"/>
            <a:ext cx="320431" cy="38992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28278670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87384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917550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5838092" y="3467761"/>
            <a:ext cx="320431" cy="3899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>
            <a:off x="6226481" y="3467761"/>
            <a:ext cx="320431" cy="38992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/>
          <p:nvPr/>
        </p:nvCxnSpPr>
        <p:spPr>
          <a:xfrm>
            <a:off x="6614870" y="3467761"/>
            <a:ext cx="669068" cy="389928"/>
          </a:xfrm>
          <a:prstGeom prst="straightConnector1">
            <a:avLst/>
          </a:prstGeom>
          <a:ln w="28575"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39739593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51210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66FF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47822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66FF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5838092" y="3467761"/>
            <a:ext cx="320431" cy="3899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>
            <a:off x="6226481" y="3467761"/>
            <a:ext cx="320431" cy="38992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/>
          <p:nvPr/>
        </p:nvCxnSpPr>
        <p:spPr>
          <a:xfrm>
            <a:off x="6614870" y="3467761"/>
            <a:ext cx="669068" cy="389928"/>
          </a:xfrm>
          <a:prstGeom prst="straightConnector1">
            <a:avLst/>
          </a:prstGeom>
          <a:ln w="28575"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/>
          <p:nvPr/>
        </p:nvCxnSpPr>
        <p:spPr>
          <a:xfrm>
            <a:off x="6970469" y="3467761"/>
            <a:ext cx="669068" cy="389928"/>
          </a:xfrm>
          <a:prstGeom prst="straightConnector1">
            <a:avLst/>
          </a:prstGeom>
          <a:ln w="28575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6853208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902740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dirty="0">
                          <a:solidFill>
                            <a:srgbClr val="FF66FF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600951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C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solidFill>
                            <a:srgbClr val="FF66FF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cxnSp>
        <p:nvCxnSpPr>
          <p:cNvPr id="60" name="Conector de seta reta 59"/>
          <p:cNvCxnSpPr/>
          <p:nvPr/>
        </p:nvCxnSpPr>
        <p:spPr>
          <a:xfrm>
            <a:off x="5416062" y="3467761"/>
            <a:ext cx="0" cy="3899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>
            <a:off x="5838092" y="3467761"/>
            <a:ext cx="320431" cy="3899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>
            <a:off x="6226481" y="3467761"/>
            <a:ext cx="320431" cy="38992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/>
          <p:cNvCxnSpPr/>
          <p:nvPr/>
        </p:nvCxnSpPr>
        <p:spPr>
          <a:xfrm>
            <a:off x="6614870" y="3467761"/>
            <a:ext cx="669068" cy="389928"/>
          </a:xfrm>
          <a:prstGeom prst="straightConnector1">
            <a:avLst/>
          </a:prstGeom>
          <a:ln w="28575">
            <a:solidFill>
              <a:srgbClr val="99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/>
          <p:nvPr/>
        </p:nvCxnSpPr>
        <p:spPr>
          <a:xfrm>
            <a:off x="6970469" y="3467761"/>
            <a:ext cx="669068" cy="389928"/>
          </a:xfrm>
          <a:prstGeom prst="straightConnector1">
            <a:avLst/>
          </a:prstGeom>
          <a:ln w="28575">
            <a:solidFill>
              <a:srgbClr val="FF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12886096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659066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773766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714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Pointer</a:t>
            </a:r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843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Arc_Dest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 err="1"/>
              <a:t>forward</a:t>
            </a:r>
            <a:r>
              <a:rPr lang="pt-BR" sz="1400" i="1" dirty="0"/>
              <a:t> star</a:t>
            </a:r>
            <a:r>
              <a:rPr lang="pt-BR" sz="1400" dirty="0"/>
              <a:t>”</a:t>
            </a:r>
          </a:p>
        </p:txBody>
      </p:sp>
      <p:sp>
        <p:nvSpPr>
          <p:cNvPr id="18" name="Texto explicativo em forma de nuvem 17"/>
          <p:cNvSpPr/>
          <p:nvPr/>
        </p:nvSpPr>
        <p:spPr>
          <a:xfrm>
            <a:off x="531622" y="2848652"/>
            <a:ext cx="2070059" cy="1053080"/>
          </a:xfrm>
          <a:prstGeom prst="cloudCallout">
            <a:avLst>
              <a:gd name="adj1" fmla="val 57330"/>
              <a:gd name="adj2" fmla="val 68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Lista de </a:t>
            </a:r>
          </a:p>
          <a:p>
            <a:pPr algn="ctr"/>
            <a:r>
              <a:rPr lang="pt-BR" dirty="0"/>
              <a:t>Sucessores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pela origem</a:t>
            </a:r>
          </a:p>
        </p:txBody>
      </p:sp>
    </p:spTree>
    <p:extLst>
      <p:ext uri="{BB962C8B-B14F-4D97-AF65-F5344CB8AC3E}">
        <p14:creationId xmlns:p14="http://schemas.microsoft.com/office/powerpoint/2010/main" val="26717120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42912367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792757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  <p:sp>
        <p:nvSpPr>
          <p:cNvPr id="28" name="Seta para cima e para baixo 27"/>
          <p:cNvSpPr/>
          <p:nvPr/>
        </p:nvSpPr>
        <p:spPr>
          <a:xfrm>
            <a:off x="8159641" y="1875189"/>
            <a:ext cx="203200" cy="12665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8318223" y="247792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0906162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498728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42184975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40782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22963482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522212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140208354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694027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30761993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46914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34290962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21172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28386818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Lista de Adjacência por meio de Vetores</a:t>
            </a:r>
          </a:p>
        </p:txBody>
      </p:sp>
      <p:sp>
        <p:nvSpPr>
          <p:cNvPr id="3" name="Elipse 2"/>
          <p:cNvSpPr/>
          <p:nvPr/>
        </p:nvSpPr>
        <p:spPr>
          <a:xfrm>
            <a:off x="2371584" y="1520668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2</a:t>
            </a:r>
          </a:p>
        </p:txBody>
      </p:sp>
      <p:sp>
        <p:nvSpPr>
          <p:cNvPr id="4" name="Elipse 3"/>
          <p:cNvSpPr/>
          <p:nvPr/>
        </p:nvSpPr>
        <p:spPr>
          <a:xfrm>
            <a:off x="1498046" y="1524176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1</a:t>
            </a:r>
          </a:p>
        </p:txBody>
      </p:sp>
      <p:sp>
        <p:nvSpPr>
          <p:cNvPr id="5" name="Elipse 4"/>
          <p:cNvSpPr/>
          <p:nvPr/>
        </p:nvSpPr>
        <p:spPr>
          <a:xfrm>
            <a:off x="1498046" y="2196132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2371585" y="2192624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4</a:t>
            </a:r>
          </a:p>
        </p:txBody>
      </p:sp>
      <p:cxnSp>
        <p:nvCxnSpPr>
          <p:cNvPr id="7" name="Conector de seta reta 6"/>
          <p:cNvCxnSpPr>
            <a:stCxn id="4" idx="6"/>
            <a:endCxn id="3" idx="2"/>
          </p:cNvCxnSpPr>
          <p:nvPr/>
        </p:nvCxnSpPr>
        <p:spPr>
          <a:xfrm flipV="1">
            <a:off x="1728143" y="1633151"/>
            <a:ext cx="643441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" idx="6"/>
            <a:endCxn id="6" idx="2"/>
          </p:cNvCxnSpPr>
          <p:nvPr/>
        </p:nvCxnSpPr>
        <p:spPr>
          <a:xfrm flipV="1">
            <a:off x="1728143" y="2305107"/>
            <a:ext cx="643442" cy="3508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>
            <a:stCxn id="4" idx="4"/>
            <a:endCxn id="5" idx="0"/>
          </p:cNvCxnSpPr>
          <p:nvPr/>
        </p:nvCxnSpPr>
        <p:spPr>
          <a:xfrm>
            <a:off x="1613095" y="1749141"/>
            <a:ext cx="0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3" idx="4"/>
            <a:endCxn id="6" idx="0"/>
          </p:cNvCxnSpPr>
          <p:nvPr/>
        </p:nvCxnSpPr>
        <p:spPr>
          <a:xfrm>
            <a:off x="2486633" y="1745633"/>
            <a:ext cx="1" cy="44699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955066" y="1318567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sp>
        <p:nvSpPr>
          <p:cNvPr id="12" name="Elipse 11"/>
          <p:cNvSpPr/>
          <p:nvPr/>
        </p:nvSpPr>
        <p:spPr>
          <a:xfrm>
            <a:off x="3241982" y="1520667"/>
            <a:ext cx="230097" cy="2249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5</a:t>
            </a:r>
          </a:p>
        </p:txBody>
      </p:sp>
      <p:cxnSp>
        <p:nvCxnSpPr>
          <p:cNvPr id="13" name="Conector de seta reta 12"/>
          <p:cNvCxnSpPr>
            <a:stCxn id="3" idx="6"/>
            <a:endCxn id="12" idx="2"/>
          </p:cNvCxnSpPr>
          <p:nvPr/>
        </p:nvCxnSpPr>
        <p:spPr>
          <a:xfrm flipV="1">
            <a:off x="2601681" y="1633150"/>
            <a:ext cx="640301" cy="1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>
            <a:stCxn id="5" idx="7"/>
            <a:endCxn id="3" idx="3"/>
          </p:cNvCxnSpPr>
          <p:nvPr/>
        </p:nvCxnSpPr>
        <p:spPr>
          <a:xfrm flipV="1">
            <a:off x="1694446" y="1712688"/>
            <a:ext cx="710835" cy="51638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6" idx="7"/>
            <a:endCxn id="12" idx="3"/>
          </p:cNvCxnSpPr>
          <p:nvPr/>
        </p:nvCxnSpPr>
        <p:spPr>
          <a:xfrm flipV="1">
            <a:off x="2567985" y="1712687"/>
            <a:ext cx="707694" cy="51288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ela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82029"/>
              </p:ext>
            </p:extLst>
          </p:nvPr>
        </p:nvGraphicFramePr>
        <p:xfrm>
          <a:off x="5214388" y="1216847"/>
          <a:ext cx="2680678" cy="1335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CaixaDeTexto 33"/>
          <p:cNvSpPr txBox="1"/>
          <p:nvPr/>
        </p:nvSpPr>
        <p:spPr>
          <a:xfrm>
            <a:off x="7895066" y="1548174"/>
            <a:ext cx="723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Origem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7895066" y="2206804"/>
            <a:ext cx="745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Destino</a:t>
            </a:r>
          </a:p>
        </p:txBody>
      </p:sp>
      <p:graphicFrame>
        <p:nvGraphicFramePr>
          <p:cNvPr id="71" name="Tabela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5190"/>
              </p:ext>
            </p:extLst>
          </p:nvPr>
        </p:nvGraphicFramePr>
        <p:xfrm>
          <a:off x="5214388" y="2867732"/>
          <a:ext cx="2680678" cy="1664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7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757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4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CaixaDeTexto 71"/>
          <p:cNvSpPr txBox="1"/>
          <p:nvPr/>
        </p:nvSpPr>
        <p:spPr>
          <a:xfrm>
            <a:off x="7895066" y="3199059"/>
            <a:ext cx="1052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Arc_Origem</a:t>
            </a:r>
            <a:endParaRPr lang="pt-BR" sz="1400" dirty="0"/>
          </a:p>
        </p:txBody>
      </p:sp>
      <p:sp>
        <p:nvSpPr>
          <p:cNvPr id="73" name="CaixaDeTexto 72"/>
          <p:cNvSpPr txBox="1"/>
          <p:nvPr/>
        </p:nvSpPr>
        <p:spPr>
          <a:xfrm>
            <a:off x="7895066" y="3857689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Rev_Pointer</a:t>
            </a:r>
            <a:endParaRPr lang="pt-BR" sz="1400" dirty="0"/>
          </a:p>
        </p:txBody>
      </p:sp>
      <p:sp>
        <p:nvSpPr>
          <p:cNvPr id="30" name="Seta para a direita 29"/>
          <p:cNvSpPr/>
          <p:nvPr/>
        </p:nvSpPr>
        <p:spPr>
          <a:xfrm>
            <a:off x="3666853" y="1875189"/>
            <a:ext cx="883524" cy="351811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dobrada para cima 30"/>
          <p:cNvSpPr/>
          <p:nvPr/>
        </p:nvSpPr>
        <p:spPr>
          <a:xfrm rot="5400000">
            <a:off x="3069817" y="2378320"/>
            <a:ext cx="781135" cy="2177603"/>
          </a:xfrm>
          <a:prstGeom prst="bent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801462" y="3882957"/>
            <a:ext cx="1307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Representação </a:t>
            </a:r>
          </a:p>
          <a:p>
            <a:pPr algn="ctr"/>
            <a:r>
              <a:rPr lang="pt-BR" sz="1400" dirty="0"/>
              <a:t>“</a:t>
            </a:r>
            <a:r>
              <a:rPr lang="pt-BR" sz="1400" i="1" dirty="0"/>
              <a:t>reverse star</a:t>
            </a:r>
            <a:r>
              <a:rPr lang="pt-BR" sz="1400" dirty="0"/>
              <a:t>”</a:t>
            </a:r>
          </a:p>
        </p:txBody>
      </p:sp>
      <p:sp>
        <p:nvSpPr>
          <p:cNvPr id="18" name="Texto explicativo em forma de nuvem 17"/>
          <p:cNvSpPr/>
          <p:nvPr/>
        </p:nvSpPr>
        <p:spPr>
          <a:xfrm>
            <a:off x="311950" y="2864580"/>
            <a:ext cx="2345281" cy="1037152"/>
          </a:xfrm>
          <a:prstGeom prst="cloudCallout">
            <a:avLst>
              <a:gd name="adj1" fmla="val 57330"/>
              <a:gd name="adj2" fmla="val 68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Lista de </a:t>
            </a:r>
          </a:p>
          <a:p>
            <a:pPr algn="ctr"/>
            <a:r>
              <a:rPr lang="pt-BR" dirty="0"/>
              <a:t>Predecessores</a:t>
            </a:r>
            <a:endParaRPr lang="pt-BR" sz="16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3218401" y="2240768"/>
            <a:ext cx="17658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Representação</a:t>
            </a:r>
          </a:p>
          <a:p>
            <a:pPr algn="ctr"/>
            <a:r>
              <a:rPr lang="pt-BR" sz="1400" dirty="0"/>
              <a:t>por Arestas ordenada pelo destino</a:t>
            </a:r>
          </a:p>
        </p:txBody>
      </p:sp>
    </p:spTree>
    <p:extLst>
      <p:ext uri="{BB962C8B-B14F-4D97-AF65-F5344CB8AC3E}">
        <p14:creationId xmlns:p14="http://schemas.microsoft.com/office/powerpoint/2010/main" val="229359373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7181</Words>
  <Application>Microsoft Office PowerPoint</Application>
  <PresentationFormat>Apresentação na tela (16:9)</PresentationFormat>
  <Paragraphs>2303</Paragraphs>
  <Slides>103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103</vt:i4>
      </vt:variant>
    </vt:vector>
  </HeadingPairs>
  <TitlesOfParts>
    <vt:vector size="116" baseType="lpstr">
      <vt:lpstr>Arial</vt:lpstr>
      <vt:lpstr>Calibri</vt:lpstr>
      <vt:lpstr>Cambria Math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Representação de Grafo</vt:lpstr>
      <vt:lpstr>Matriz de Incidência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Grafo Não Direcionado</vt:lpstr>
      <vt:lpstr>Matriz de Incidência – Propriedades</vt:lpstr>
      <vt:lpstr>Matriz de Adjacência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Grafo Não Direcionado</vt:lpstr>
      <vt:lpstr>Matriz de Adjacência – Propriedades</vt:lpstr>
      <vt:lpstr>Lista de Adjacência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Não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Grafo Direcionado</vt:lpstr>
      <vt:lpstr>Lista de Adjacência – Propriedades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Lista de Adjacência por meio de Vetores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152</cp:revision>
  <dcterms:created xsi:type="dcterms:W3CDTF">2018-04-05T14:34:00Z</dcterms:created>
  <dcterms:modified xsi:type="dcterms:W3CDTF">2022-07-30T22:53:46Z</dcterms:modified>
</cp:coreProperties>
</file>