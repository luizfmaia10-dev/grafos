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theme/theme5.xml" ContentType="application/vnd.openxmlformats-officedocument.theme+xml"/>
  <Override PartName="/ppt/slideLayouts/slideLayout7.xml" ContentType="application/vnd.openxmlformats-officedocument.presentationml.slideLayout+xml"/>
  <Override PartName="/ppt/theme/theme6.xml" ContentType="application/vnd.openxmlformats-officedocument.theme+xml"/>
  <Override PartName="/ppt/slideLayouts/slideLayout8.xml" ContentType="application/vnd.openxmlformats-officedocument.presentationml.slideLayout+xml"/>
  <Override PartName="/ppt/theme/theme7.xml" ContentType="application/vnd.openxmlformats-officedocument.theme+xml"/>
  <Override PartName="/ppt/slideLayouts/slideLayout9.xml" ContentType="application/vnd.openxmlformats-officedocument.presentationml.slideLayout+xml"/>
  <Override PartName="/ppt/theme/theme8.xml" ContentType="application/vnd.openxmlformats-officedocument.theme+xml"/>
  <Override PartName="/ppt/slideLayouts/slideLayout10.xml" ContentType="application/vnd.openxmlformats-officedocument.presentationml.slideLayout+xml"/>
  <Override PartName="/ppt/theme/theme9.xml" ContentType="application/vnd.openxmlformats-officedocument.theme+xml"/>
  <Override PartName="/ppt/slideLayouts/slideLayout11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0" r:id="rId2"/>
    <p:sldMasterId id="2147483655" r:id="rId3"/>
    <p:sldMasterId id="2147483657" r:id="rId4"/>
    <p:sldMasterId id="2147483670" r:id="rId5"/>
    <p:sldMasterId id="2147483659" r:id="rId6"/>
    <p:sldMasterId id="2147483661" r:id="rId7"/>
    <p:sldMasterId id="2147483663" r:id="rId8"/>
    <p:sldMasterId id="2147483665" r:id="rId9"/>
    <p:sldMasterId id="2147483667" r:id="rId10"/>
  </p:sldMasterIdLst>
  <p:notesMasterIdLst>
    <p:notesMasterId r:id="rId137"/>
  </p:notesMasterIdLst>
  <p:handoutMasterIdLst>
    <p:handoutMasterId r:id="rId138"/>
  </p:handoutMasterIdLst>
  <p:sldIdLst>
    <p:sldId id="256" r:id="rId11"/>
    <p:sldId id="272" r:id="rId12"/>
    <p:sldId id="501" r:id="rId13"/>
    <p:sldId id="500" r:id="rId14"/>
    <p:sldId id="499" r:id="rId15"/>
    <p:sldId id="534" r:id="rId16"/>
    <p:sldId id="502" r:id="rId17"/>
    <p:sldId id="397" r:id="rId18"/>
    <p:sldId id="342" r:id="rId19"/>
    <p:sldId id="455" r:id="rId20"/>
    <p:sldId id="401" r:id="rId21"/>
    <p:sldId id="403" r:id="rId22"/>
    <p:sldId id="402" r:id="rId23"/>
    <p:sldId id="406" r:id="rId24"/>
    <p:sldId id="405" r:id="rId25"/>
    <p:sldId id="407" r:id="rId26"/>
    <p:sldId id="408" r:id="rId27"/>
    <p:sldId id="409" r:id="rId28"/>
    <p:sldId id="410" r:id="rId29"/>
    <p:sldId id="411" r:id="rId30"/>
    <p:sldId id="412" r:id="rId31"/>
    <p:sldId id="413" r:id="rId32"/>
    <p:sldId id="414" r:id="rId33"/>
    <p:sldId id="415" r:id="rId34"/>
    <p:sldId id="416" r:id="rId35"/>
    <p:sldId id="417" r:id="rId36"/>
    <p:sldId id="418" r:id="rId37"/>
    <p:sldId id="419" r:id="rId38"/>
    <p:sldId id="420" r:id="rId39"/>
    <p:sldId id="423" r:id="rId40"/>
    <p:sldId id="421" r:id="rId41"/>
    <p:sldId id="422" r:id="rId42"/>
    <p:sldId id="424" r:id="rId43"/>
    <p:sldId id="425" r:id="rId44"/>
    <p:sldId id="426" r:id="rId45"/>
    <p:sldId id="427" r:id="rId46"/>
    <p:sldId id="428" r:id="rId47"/>
    <p:sldId id="429" r:id="rId48"/>
    <p:sldId id="430" r:id="rId49"/>
    <p:sldId id="431" r:id="rId50"/>
    <p:sldId id="432" r:id="rId51"/>
    <p:sldId id="433" r:id="rId52"/>
    <p:sldId id="434" r:id="rId53"/>
    <p:sldId id="435" r:id="rId54"/>
    <p:sldId id="436" r:id="rId55"/>
    <p:sldId id="437" r:id="rId56"/>
    <p:sldId id="438" r:id="rId57"/>
    <p:sldId id="439" r:id="rId58"/>
    <p:sldId id="440" r:id="rId59"/>
    <p:sldId id="441" r:id="rId60"/>
    <p:sldId id="442" r:id="rId61"/>
    <p:sldId id="443" r:id="rId62"/>
    <p:sldId id="529" r:id="rId63"/>
    <p:sldId id="444" r:id="rId64"/>
    <p:sldId id="445" r:id="rId65"/>
    <p:sldId id="446" r:id="rId66"/>
    <p:sldId id="447" r:id="rId67"/>
    <p:sldId id="448" r:id="rId68"/>
    <p:sldId id="449" r:id="rId69"/>
    <p:sldId id="451" r:id="rId70"/>
    <p:sldId id="450" r:id="rId71"/>
    <p:sldId id="516" r:id="rId72"/>
    <p:sldId id="452" r:id="rId73"/>
    <p:sldId id="505" r:id="rId74"/>
    <p:sldId id="517" r:id="rId75"/>
    <p:sldId id="522" r:id="rId76"/>
    <p:sldId id="521" r:id="rId77"/>
    <p:sldId id="520" r:id="rId78"/>
    <p:sldId id="519" r:id="rId79"/>
    <p:sldId id="518" r:id="rId80"/>
    <p:sldId id="506" r:id="rId81"/>
    <p:sldId id="507" r:id="rId82"/>
    <p:sldId id="454" r:id="rId83"/>
    <p:sldId id="453" r:id="rId84"/>
    <p:sldId id="535" r:id="rId85"/>
    <p:sldId id="458" r:id="rId86"/>
    <p:sldId id="456" r:id="rId87"/>
    <p:sldId id="457" r:id="rId88"/>
    <p:sldId id="504" r:id="rId89"/>
    <p:sldId id="462" r:id="rId90"/>
    <p:sldId id="463" r:id="rId91"/>
    <p:sldId id="464" r:id="rId92"/>
    <p:sldId id="465" r:id="rId93"/>
    <p:sldId id="466" r:id="rId94"/>
    <p:sldId id="468" r:id="rId95"/>
    <p:sldId id="469" r:id="rId96"/>
    <p:sldId id="470" r:id="rId97"/>
    <p:sldId id="471" r:id="rId98"/>
    <p:sldId id="472" r:id="rId99"/>
    <p:sldId id="473" r:id="rId100"/>
    <p:sldId id="474" r:id="rId101"/>
    <p:sldId id="475" r:id="rId102"/>
    <p:sldId id="476" r:id="rId103"/>
    <p:sldId id="477" r:id="rId104"/>
    <p:sldId id="481" r:id="rId105"/>
    <p:sldId id="478" r:id="rId106"/>
    <p:sldId id="482" r:id="rId107"/>
    <p:sldId id="479" r:id="rId108"/>
    <p:sldId id="483" r:id="rId109"/>
    <p:sldId id="480" r:id="rId110"/>
    <p:sldId id="493" r:id="rId111"/>
    <p:sldId id="484" r:id="rId112"/>
    <p:sldId id="486" r:id="rId113"/>
    <p:sldId id="485" r:id="rId114"/>
    <p:sldId id="487" r:id="rId115"/>
    <p:sldId id="488" r:id="rId116"/>
    <p:sldId id="489" r:id="rId117"/>
    <p:sldId id="490" r:id="rId118"/>
    <p:sldId id="491" r:id="rId119"/>
    <p:sldId id="492" r:id="rId120"/>
    <p:sldId id="494" r:id="rId121"/>
    <p:sldId id="495" r:id="rId122"/>
    <p:sldId id="496" r:id="rId123"/>
    <p:sldId id="497" r:id="rId124"/>
    <p:sldId id="508" r:id="rId125"/>
    <p:sldId id="523" r:id="rId126"/>
    <p:sldId id="528" r:id="rId127"/>
    <p:sldId id="527" r:id="rId128"/>
    <p:sldId id="526" r:id="rId129"/>
    <p:sldId id="525" r:id="rId130"/>
    <p:sldId id="524" r:id="rId131"/>
    <p:sldId id="509" r:id="rId132"/>
    <p:sldId id="512" r:id="rId133"/>
    <p:sldId id="510" r:id="rId134"/>
    <p:sldId id="511" r:id="rId135"/>
    <p:sldId id="270" r:id="rId136"/>
  </p:sldIdLst>
  <p:sldSz cx="9144000" cy="5143500" type="screen16x9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1789A"/>
    <a:srgbClr val="FF66FF"/>
    <a:srgbClr val="CC00FF"/>
    <a:srgbClr val="9900CC"/>
    <a:srgbClr val="474748"/>
    <a:srgbClr val="996600"/>
    <a:srgbClr val="17BE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Estilo Mé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8" autoAdjust="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946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85" d="100"/>
          <a:sy n="85" d="100"/>
        </p:scale>
        <p:origin x="-3786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07.xml"/><Relationship Id="rId21" Type="http://schemas.openxmlformats.org/officeDocument/2006/relationships/slide" Target="slides/slide11.xml"/><Relationship Id="rId42" Type="http://schemas.openxmlformats.org/officeDocument/2006/relationships/slide" Target="slides/slide32.xml"/><Relationship Id="rId63" Type="http://schemas.openxmlformats.org/officeDocument/2006/relationships/slide" Target="slides/slide53.xml"/><Relationship Id="rId84" Type="http://schemas.openxmlformats.org/officeDocument/2006/relationships/slide" Target="slides/slide74.xml"/><Relationship Id="rId138" Type="http://schemas.openxmlformats.org/officeDocument/2006/relationships/handoutMaster" Target="handoutMasters/handoutMaster1.xml"/><Relationship Id="rId107" Type="http://schemas.openxmlformats.org/officeDocument/2006/relationships/slide" Target="slides/slide97.xml"/><Relationship Id="rId11" Type="http://schemas.openxmlformats.org/officeDocument/2006/relationships/slide" Target="slides/slide1.xml"/><Relationship Id="rId32" Type="http://schemas.openxmlformats.org/officeDocument/2006/relationships/slide" Target="slides/slide22.xml"/><Relationship Id="rId37" Type="http://schemas.openxmlformats.org/officeDocument/2006/relationships/slide" Target="slides/slide27.xml"/><Relationship Id="rId53" Type="http://schemas.openxmlformats.org/officeDocument/2006/relationships/slide" Target="slides/slide43.xml"/><Relationship Id="rId58" Type="http://schemas.openxmlformats.org/officeDocument/2006/relationships/slide" Target="slides/slide48.xml"/><Relationship Id="rId74" Type="http://schemas.openxmlformats.org/officeDocument/2006/relationships/slide" Target="slides/slide64.xml"/><Relationship Id="rId79" Type="http://schemas.openxmlformats.org/officeDocument/2006/relationships/slide" Target="slides/slide69.xml"/><Relationship Id="rId102" Type="http://schemas.openxmlformats.org/officeDocument/2006/relationships/slide" Target="slides/slide92.xml"/><Relationship Id="rId123" Type="http://schemas.openxmlformats.org/officeDocument/2006/relationships/slide" Target="slides/slide113.xml"/><Relationship Id="rId128" Type="http://schemas.openxmlformats.org/officeDocument/2006/relationships/slide" Target="slides/slide118.xml"/><Relationship Id="rId5" Type="http://schemas.openxmlformats.org/officeDocument/2006/relationships/slideMaster" Target="slideMasters/slideMaster5.xml"/><Relationship Id="rId90" Type="http://schemas.openxmlformats.org/officeDocument/2006/relationships/slide" Target="slides/slide80.xml"/><Relationship Id="rId95" Type="http://schemas.openxmlformats.org/officeDocument/2006/relationships/slide" Target="slides/slide85.xml"/><Relationship Id="rId22" Type="http://schemas.openxmlformats.org/officeDocument/2006/relationships/slide" Target="slides/slide12.xml"/><Relationship Id="rId27" Type="http://schemas.openxmlformats.org/officeDocument/2006/relationships/slide" Target="slides/slide17.xml"/><Relationship Id="rId43" Type="http://schemas.openxmlformats.org/officeDocument/2006/relationships/slide" Target="slides/slide33.xml"/><Relationship Id="rId48" Type="http://schemas.openxmlformats.org/officeDocument/2006/relationships/slide" Target="slides/slide38.xml"/><Relationship Id="rId64" Type="http://schemas.openxmlformats.org/officeDocument/2006/relationships/slide" Target="slides/slide54.xml"/><Relationship Id="rId69" Type="http://schemas.openxmlformats.org/officeDocument/2006/relationships/slide" Target="slides/slide59.xml"/><Relationship Id="rId113" Type="http://schemas.openxmlformats.org/officeDocument/2006/relationships/slide" Target="slides/slide103.xml"/><Relationship Id="rId118" Type="http://schemas.openxmlformats.org/officeDocument/2006/relationships/slide" Target="slides/slide108.xml"/><Relationship Id="rId134" Type="http://schemas.openxmlformats.org/officeDocument/2006/relationships/slide" Target="slides/slide124.xml"/><Relationship Id="rId139" Type="http://schemas.openxmlformats.org/officeDocument/2006/relationships/presProps" Target="presProps.xml"/><Relationship Id="rId80" Type="http://schemas.openxmlformats.org/officeDocument/2006/relationships/slide" Target="slides/slide70.xml"/><Relationship Id="rId85" Type="http://schemas.openxmlformats.org/officeDocument/2006/relationships/slide" Target="slides/slide75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33" Type="http://schemas.openxmlformats.org/officeDocument/2006/relationships/slide" Target="slides/slide23.xml"/><Relationship Id="rId38" Type="http://schemas.openxmlformats.org/officeDocument/2006/relationships/slide" Target="slides/slide28.xml"/><Relationship Id="rId59" Type="http://schemas.openxmlformats.org/officeDocument/2006/relationships/slide" Target="slides/slide49.xml"/><Relationship Id="rId103" Type="http://schemas.openxmlformats.org/officeDocument/2006/relationships/slide" Target="slides/slide93.xml"/><Relationship Id="rId108" Type="http://schemas.openxmlformats.org/officeDocument/2006/relationships/slide" Target="slides/slide98.xml"/><Relationship Id="rId124" Type="http://schemas.openxmlformats.org/officeDocument/2006/relationships/slide" Target="slides/slide114.xml"/><Relationship Id="rId129" Type="http://schemas.openxmlformats.org/officeDocument/2006/relationships/slide" Target="slides/slide119.xml"/><Relationship Id="rId54" Type="http://schemas.openxmlformats.org/officeDocument/2006/relationships/slide" Target="slides/slide44.xml"/><Relationship Id="rId70" Type="http://schemas.openxmlformats.org/officeDocument/2006/relationships/slide" Target="slides/slide60.xml"/><Relationship Id="rId75" Type="http://schemas.openxmlformats.org/officeDocument/2006/relationships/slide" Target="slides/slide65.xml"/><Relationship Id="rId91" Type="http://schemas.openxmlformats.org/officeDocument/2006/relationships/slide" Target="slides/slide81.xml"/><Relationship Id="rId96" Type="http://schemas.openxmlformats.org/officeDocument/2006/relationships/slide" Target="slides/slide86.xml"/><Relationship Id="rId14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23" Type="http://schemas.openxmlformats.org/officeDocument/2006/relationships/slide" Target="slides/slide13.xml"/><Relationship Id="rId28" Type="http://schemas.openxmlformats.org/officeDocument/2006/relationships/slide" Target="slides/slide18.xml"/><Relationship Id="rId49" Type="http://schemas.openxmlformats.org/officeDocument/2006/relationships/slide" Target="slides/slide39.xml"/><Relationship Id="rId114" Type="http://schemas.openxmlformats.org/officeDocument/2006/relationships/slide" Target="slides/slide104.xml"/><Relationship Id="rId119" Type="http://schemas.openxmlformats.org/officeDocument/2006/relationships/slide" Target="slides/slide109.xml"/><Relationship Id="rId44" Type="http://schemas.openxmlformats.org/officeDocument/2006/relationships/slide" Target="slides/slide34.xml"/><Relationship Id="rId60" Type="http://schemas.openxmlformats.org/officeDocument/2006/relationships/slide" Target="slides/slide50.xml"/><Relationship Id="rId65" Type="http://schemas.openxmlformats.org/officeDocument/2006/relationships/slide" Target="slides/slide55.xml"/><Relationship Id="rId81" Type="http://schemas.openxmlformats.org/officeDocument/2006/relationships/slide" Target="slides/slide71.xml"/><Relationship Id="rId86" Type="http://schemas.openxmlformats.org/officeDocument/2006/relationships/slide" Target="slides/slide76.xml"/><Relationship Id="rId130" Type="http://schemas.openxmlformats.org/officeDocument/2006/relationships/slide" Target="slides/slide120.xml"/><Relationship Id="rId135" Type="http://schemas.openxmlformats.org/officeDocument/2006/relationships/slide" Target="slides/slide125.xml"/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39" Type="http://schemas.openxmlformats.org/officeDocument/2006/relationships/slide" Target="slides/slide29.xml"/><Relationship Id="rId109" Type="http://schemas.openxmlformats.org/officeDocument/2006/relationships/slide" Target="slides/slide99.xml"/><Relationship Id="rId34" Type="http://schemas.openxmlformats.org/officeDocument/2006/relationships/slide" Target="slides/slide24.xml"/><Relationship Id="rId50" Type="http://schemas.openxmlformats.org/officeDocument/2006/relationships/slide" Target="slides/slide40.xml"/><Relationship Id="rId55" Type="http://schemas.openxmlformats.org/officeDocument/2006/relationships/slide" Target="slides/slide45.xml"/><Relationship Id="rId76" Type="http://schemas.openxmlformats.org/officeDocument/2006/relationships/slide" Target="slides/slide66.xml"/><Relationship Id="rId97" Type="http://schemas.openxmlformats.org/officeDocument/2006/relationships/slide" Target="slides/slide87.xml"/><Relationship Id="rId104" Type="http://schemas.openxmlformats.org/officeDocument/2006/relationships/slide" Target="slides/slide94.xml"/><Relationship Id="rId120" Type="http://schemas.openxmlformats.org/officeDocument/2006/relationships/slide" Target="slides/slide110.xml"/><Relationship Id="rId125" Type="http://schemas.openxmlformats.org/officeDocument/2006/relationships/slide" Target="slides/slide115.xml"/><Relationship Id="rId141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61.xml"/><Relationship Id="rId92" Type="http://schemas.openxmlformats.org/officeDocument/2006/relationships/slide" Target="slides/slide82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19.xml"/><Relationship Id="rId24" Type="http://schemas.openxmlformats.org/officeDocument/2006/relationships/slide" Target="slides/slide14.xml"/><Relationship Id="rId40" Type="http://schemas.openxmlformats.org/officeDocument/2006/relationships/slide" Target="slides/slide30.xml"/><Relationship Id="rId45" Type="http://schemas.openxmlformats.org/officeDocument/2006/relationships/slide" Target="slides/slide35.xml"/><Relationship Id="rId66" Type="http://schemas.openxmlformats.org/officeDocument/2006/relationships/slide" Target="slides/slide56.xml"/><Relationship Id="rId87" Type="http://schemas.openxmlformats.org/officeDocument/2006/relationships/slide" Target="slides/slide77.xml"/><Relationship Id="rId110" Type="http://schemas.openxmlformats.org/officeDocument/2006/relationships/slide" Target="slides/slide100.xml"/><Relationship Id="rId115" Type="http://schemas.openxmlformats.org/officeDocument/2006/relationships/slide" Target="slides/slide105.xml"/><Relationship Id="rId131" Type="http://schemas.openxmlformats.org/officeDocument/2006/relationships/slide" Target="slides/slide121.xml"/><Relationship Id="rId136" Type="http://schemas.openxmlformats.org/officeDocument/2006/relationships/slide" Target="slides/slide126.xml"/><Relationship Id="rId61" Type="http://schemas.openxmlformats.org/officeDocument/2006/relationships/slide" Target="slides/slide51.xml"/><Relationship Id="rId82" Type="http://schemas.openxmlformats.org/officeDocument/2006/relationships/slide" Target="slides/slide72.xml"/><Relationship Id="rId19" Type="http://schemas.openxmlformats.org/officeDocument/2006/relationships/slide" Target="slides/slide9.xml"/><Relationship Id="rId14" Type="http://schemas.openxmlformats.org/officeDocument/2006/relationships/slide" Target="slides/slide4.xml"/><Relationship Id="rId30" Type="http://schemas.openxmlformats.org/officeDocument/2006/relationships/slide" Target="slides/slide20.xml"/><Relationship Id="rId35" Type="http://schemas.openxmlformats.org/officeDocument/2006/relationships/slide" Target="slides/slide25.xml"/><Relationship Id="rId56" Type="http://schemas.openxmlformats.org/officeDocument/2006/relationships/slide" Target="slides/slide46.xml"/><Relationship Id="rId77" Type="http://schemas.openxmlformats.org/officeDocument/2006/relationships/slide" Target="slides/slide67.xml"/><Relationship Id="rId100" Type="http://schemas.openxmlformats.org/officeDocument/2006/relationships/slide" Target="slides/slide90.xml"/><Relationship Id="rId105" Type="http://schemas.openxmlformats.org/officeDocument/2006/relationships/slide" Target="slides/slide95.xml"/><Relationship Id="rId126" Type="http://schemas.openxmlformats.org/officeDocument/2006/relationships/slide" Target="slides/slide116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41.xml"/><Relationship Id="rId72" Type="http://schemas.openxmlformats.org/officeDocument/2006/relationships/slide" Target="slides/slide62.xml"/><Relationship Id="rId93" Type="http://schemas.openxmlformats.org/officeDocument/2006/relationships/slide" Target="slides/slide83.xml"/><Relationship Id="rId98" Type="http://schemas.openxmlformats.org/officeDocument/2006/relationships/slide" Target="slides/slide88.xml"/><Relationship Id="rId121" Type="http://schemas.openxmlformats.org/officeDocument/2006/relationships/slide" Target="slides/slide111.xml"/><Relationship Id="rId142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15.xml"/><Relationship Id="rId46" Type="http://schemas.openxmlformats.org/officeDocument/2006/relationships/slide" Target="slides/slide36.xml"/><Relationship Id="rId67" Type="http://schemas.openxmlformats.org/officeDocument/2006/relationships/slide" Target="slides/slide57.xml"/><Relationship Id="rId116" Type="http://schemas.openxmlformats.org/officeDocument/2006/relationships/slide" Target="slides/slide106.xml"/><Relationship Id="rId137" Type="http://schemas.openxmlformats.org/officeDocument/2006/relationships/notesMaster" Target="notesMasters/notesMaster1.xml"/><Relationship Id="rId20" Type="http://schemas.openxmlformats.org/officeDocument/2006/relationships/slide" Target="slides/slide10.xml"/><Relationship Id="rId41" Type="http://schemas.openxmlformats.org/officeDocument/2006/relationships/slide" Target="slides/slide31.xml"/><Relationship Id="rId62" Type="http://schemas.openxmlformats.org/officeDocument/2006/relationships/slide" Target="slides/slide52.xml"/><Relationship Id="rId83" Type="http://schemas.openxmlformats.org/officeDocument/2006/relationships/slide" Target="slides/slide73.xml"/><Relationship Id="rId88" Type="http://schemas.openxmlformats.org/officeDocument/2006/relationships/slide" Target="slides/slide78.xml"/><Relationship Id="rId111" Type="http://schemas.openxmlformats.org/officeDocument/2006/relationships/slide" Target="slides/slide101.xml"/><Relationship Id="rId132" Type="http://schemas.openxmlformats.org/officeDocument/2006/relationships/slide" Target="slides/slide122.xml"/><Relationship Id="rId15" Type="http://schemas.openxmlformats.org/officeDocument/2006/relationships/slide" Target="slides/slide5.xml"/><Relationship Id="rId36" Type="http://schemas.openxmlformats.org/officeDocument/2006/relationships/slide" Target="slides/slide26.xml"/><Relationship Id="rId57" Type="http://schemas.openxmlformats.org/officeDocument/2006/relationships/slide" Target="slides/slide47.xml"/><Relationship Id="rId106" Type="http://schemas.openxmlformats.org/officeDocument/2006/relationships/slide" Target="slides/slide96.xml"/><Relationship Id="rId127" Type="http://schemas.openxmlformats.org/officeDocument/2006/relationships/slide" Target="slides/slide117.xml"/><Relationship Id="rId10" Type="http://schemas.openxmlformats.org/officeDocument/2006/relationships/slideMaster" Target="slideMasters/slideMaster10.xml"/><Relationship Id="rId31" Type="http://schemas.openxmlformats.org/officeDocument/2006/relationships/slide" Target="slides/slide21.xml"/><Relationship Id="rId52" Type="http://schemas.openxmlformats.org/officeDocument/2006/relationships/slide" Target="slides/slide42.xml"/><Relationship Id="rId73" Type="http://schemas.openxmlformats.org/officeDocument/2006/relationships/slide" Target="slides/slide63.xml"/><Relationship Id="rId78" Type="http://schemas.openxmlformats.org/officeDocument/2006/relationships/slide" Target="slides/slide68.xml"/><Relationship Id="rId94" Type="http://schemas.openxmlformats.org/officeDocument/2006/relationships/slide" Target="slides/slide84.xml"/><Relationship Id="rId99" Type="http://schemas.openxmlformats.org/officeDocument/2006/relationships/slide" Target="slides/slide89.xml"/><Relationship Id="rId101" Type="http://schemas.openxmlformats.org/officeDocument/2006/relationships/slide" Target="slides/slide91.xml"/><Relationship Id="rId122" Type="http://schemas.openxmlformats.org/officeDocument/2006/relationships/slide" Target="slides/slide112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26" Type="http://schemas.openxmlformats.org/officeDocument/2006/relationships/slide" Target="slides/slide16.xml"/><Relationship Id="rId47" Type="http://schemas.openxmlformats.org/officeDocument/2006/relationships/slide" Target="slides/slide37.xml"/><Relationship Id="rId68" Type="http://schemas.openxmlformats.org/officeDocument/2006/relationships/slide" Target="slides/slide58.xml"/><Relationship Id="rId89" Type="http://schemas.openxmlformats.org/officeDocument/2006/relationships/slide" Target="slides/slide79.xml"/><Relationship Id="rId112" Type="http://schemas.openxmlformats.org/officeDocument/2006/relationships/slide" Target="slides/slide102.xml"/><Relationship Id="rId133" Type="http://schemas.openxmlformats.org/officeDocument/2006/relationships/slide" Target="slides/slide123.xml"/><Relationship Id="rId16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D6A30C-50D2-4409-8C57-B758E4448AF7}" type="datetimeFigureOut">
              <a:rPr lang="pt-BR" smtClean="0"/>
              <a:t>30/07/2022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54CFC7-C996-4863-90E8-DB58BF8229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23489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3CBAFB-72C8-4421-82CF-2C64DCD5A75B}" type="datetimeFigureOut">
              <a:rPr lang="pt-BR" smtClean="0"/>
              <a:t>30/07/2022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6F4808-22E8-406A-932F-9218A9615E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0127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187624" y="1589798"/>
            <a:ext cx="7056784" cy="1261963"/>
          </a:xfrm>
          <a:prstGeom prst="rect">
            <a:avLst/>
          </a:prstGeom>
        </p:spPr>
        <p:txBody>
          <a:bodyPr anchor="ctr"/>
          <a:lstStyle>
            <a:lvl1pPr algn="l">
              <a:defRPr sz="5600" b="1" baseline="0">
                <a:solidFill>
                  <a:srgbClr val="474748"/>
                </a:solidFill>
              </a:defRPr>
            </a:lvl1pPr>
          </a:lstStyle>
          <a:p>
            <a:r>
              <a:rPr lang="pt-BR" dirty="0"/>
              <a:t>Título da Aula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1187624" y="2908593"/>
            <a:ext cx="7056784" cy="56630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000" b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/>
              <a:t>Nome do Professor</a:t>
            </a:r>
          </a:p>
        </p:txBody>
      </p:sp>
    </p:spTree>
    <p:extLst>
      <p:ext uri="{BB962C8B-B14F-4D97-AF65-F5344CB8AC3E}">
        <p14:creationId xmlns:p14="http://schemas.microsoft.com/office/powerpoint/2010/main" val="68919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e texto corr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311950" y="101873"/>
            <a:ext cx="8580530" cy="741685"/>
          </a:xfrm>
          <a:prstGeom prst="rect">
            <a:avLst/>
          </a:prstGeom>
        </p:spPr>
        <p:txBody>
          <a:bodyPr anchor="ctr"/>
          <a:lstStyle>
            <a:lvl1pPr algn="l">
              <a:defRPr sz="3500" b="1" baseline="0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Título texto</a:t>
            </a:r>
          </a:p>
        </p:txBody>
      </p:sp>
    </p:spTree>
    <p:extLst>
      <p:ext uri="{BB962C8B-B14F-4D97-AF65-F5344CB8AC3E}">
        <p14:creationId xmlns:p14="http://schemas.microsoft.com/office/powerpoint/2010/main" val="3707319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0" y="2131862"/>
            <a:ext cx="9144000" cy="857250"/>
          </a:xfrm>
          <a:prstGeom prst="rect">
            <a:avLst/>
          </a:prstGeom>
        </p:spPr>
        <p:txBody>
          <a:bodyPr anchor="ctr"/>
          <a:lstStyle>
            <a:lvl1pPr algn="ctr">
              <a:defRPr sz="4500" b="1" baseline="0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Subtítulo da Apresentação</a:t>
            </a:r>
          </a:p>
        </p:txBody>
      </p:sp>
    </p:spTree>
    <p:extLst>
      <p:ext uri="{BB962C8B-B14F-4D97-AF65-F5344CB8AC3E}">
        <p14:creationId xmlns:p14="http://schemas.microsoft.com/office/powerpoint/2010/main" val="3028343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enas texto corr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4897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texto corr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311950" y="101873"/>
            <a:ext cx="8580530" cy="741685"/>
          </a:xfrm>
          <a:prstGeom prst="rect">
            <a:avLst/>
          </a:prstGeom>
        </p:spPr>
        <p:txBody>
          <a:bodyPr anchor="ctr"/>
          <a:lstStyle>
            <a:lvl1pPr algn="l">
              <a:defRPr sz="3500" b="1" baseline="0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Título texto</a:t>
            </a:r>
          </a:p>
        </p:txBody>
      </p:sp>
    </p:spTree>
    <p:extLst>
      <p:ext uri="{BB962C8B-B14F-4D97-AF65-F5344CB8AC3E}">
        <p14:creationId xmlns:p14="http://schemas.microsoft.com/office/powerpoint/2010/main" val="132371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311950" y="101873"/>
            <a:ext cx="8580530" cy="741685"/>
          </a:xfrm>
          <a:prstGeom prst="rect">
            <a:avLst/>
          </a:prstGeom>
        </p:spPr>
        <p:txBody>
          <a:bodyPr anchor="ctr"/>
          <a:lstStyle>
            <a:lvl1pPr algn="l">
              <a:defRPr sz="3500" b="1" baseline="0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Título texto</a:t>
            </a:r>
          </a:p>
        </p:txBody>
      </p:sp>
    </p:spTree>
    <p:extLst>
      <p:ext uri="{BB962C8B-B14F-4D97-AF65-F5344CB8AC3E}">
        <p14:creationId xmlns:p14="http://schemas.microsoft.com/office/powerpoint/2010/main" val="4015330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313946" y="93385"/>
            <a:ext cx="8506526" cy="750173"/>
          </a:xfrm>
          <a:prstGeom prst="rect">
            <a:avLst/>
          </a:prstGeom>
        </p:spPr>
        <p:txBody>
          <a:bodyPr anchor="ctr"/>
          <a:lstStyle>
            <a:lvl1pPr algn="l">
              <a:defRPr sz="3500" b="1" baseline="0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Título texto</a:t>
            </a:r>
          </a:p>
        </p:txBody>
      </p:sp>
    </p:spTree>
    <p:extLst>
      <p:ext uri="{BB962C8B-B14F-4D97-AF65-F5344CB8AC3E}">
        <p14:creationId xmlns:p14="http://schemas.microsoft.com/office/powerpoint/2010/main" val="3385020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882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enas imag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0" y="195487"/>
            <a:ext cx="9180512" cy="432048"/>
          </a:xfrm>
          <a:prstGeom prst="rect">
            <a:avLst/>
          </a:prstGeom>
        </p:spPr>
        <p:txBody>
          <a:bodyPr anchor="ctr"/>
          <a:lstStyle>
            <a:lvl1pPr>
              <a:defRPr sz="2500" b="1" strike="noStrike" baseline="0">
                <a:solidFill>
                  <a:srgbClr val="17BEBB"/>
                </a:solidFill>
              </a:defRPr>
            </a:lvl1pPr>
          </a:lstStyle>
          <a:p>
            <a:r>
              <a:rPr lang="pt-BR" dirty="0"/>
              <a:t>Exemplo – Slide Com Imagem (Foto)</a:t>
            </a:r>
          </a:p>
        </p:txBody>
      </p:sp>
    </p:spTree>
    <p:extLst>
      <p:ext uri="{BB962C8B-B14F-4D97-AF65-F5344CB8AC3E}">
        <p14:creationId xmlns:p14="http://schemas.microsoft.com/office/powerpoint/2010/main" val="3916719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0" y="195487"/>
            <a:ext cx="9144000" cy="432048"/>
          </a:xfrm>
          <a:prstGeom prst="rect">
            <a:avLst/>
          </a:prstGeom>
        </p:spPr>
        <p:txBody>
          <a:bodyPr anchor="ctr"/>
          <a:lstStyle>
            <a:lvl1pPr>
              <a:defRPr sz="2500" b="1" strike="noStrike" baseline="0">
                <a:solidFill>
                  <a:srgbClr val="17BEBB"/>
                </a:solidFill>
              </a:defRPr>
            </a:lvl1pPr>
          </a:lstStyle>
          <a:p>
            <a:r>
              <a:rPr lang="pt-BR" dirty="0"/>
              <a:t>Exemplo – Tabela</a:t>
            </a:r>
          </a:p>
        </p:txBody>
      </p:sp>
    </p:spTree>
    <p:extLst>
      <p:ext uri="{BB962C8B-B14F-4D97-AF65-F5344CB8AC3E}">
        <p14:creationId xmlns:p14="http://schemas.microsoft.com/office/powerpoint/2010/main" val="137580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2213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9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0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1789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/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58552" y="0"/>
            <a:ext cx="4585447" cy="5143500"/>
          </a:xfrm>
          <a:prstGeom prst="rect">
            <a:avLst/>
          </a:prstGeom>
        </p:spPr>
      </p:pic>
      <p:pic>
        <p:nvPicPr>
          <p:cNvPr id="12" name="Imagem 11"/>
          <p:cNvPicPr>
            <a:picLocks noChangeAspect="1"/>
          </p:cNvPicPr>
          <p:nvPr userDrawn="1"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5738" y="1586205"/>
            <a:ext cx="7464491" cy="1309396"/>
          </a:xfrm>
          <a:prstGeom prst="rect">
            <a:avLst/>
          </a:prstGeom>
        </p:spPr>
      </p:pic>
      <p:pic>
        <p:nvPicPr>
          <p:cNvPr id="13" name="Imagem 12"/>
          <p:cNvPicPr>
            <a:picLocks noChangeAspect="1"/>
          </p:cNvPicPr>
          <p:nvPr userDrawn="1"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24753" y="2796988"/>
            <a:ext cx="7467600" cy="806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481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2" r:id="rId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61789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58552" y="0"/>
            <a:ext cx="4585447" cy="5143500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772653"/>
            <a:ext cx="9144000" cy="161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974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6463" y="176462"/>
            <a:ext cx="8799096" cy="4403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67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034716"/>
            <a:ext cx="9144000" cy="3529263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 userDrawn="1"/>
        </p:nvPicPr>
        <p:blipFill rotWithShape="1">
          <a:blip r:embed="rId5" cstate="email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1034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715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034716"/>
            <a:ext cx="9144000" cy="3529263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 userDrawn="1"/>
        </p:nvPicPr>
        <p:blipFill rotWithShape="1">
          <a:blip r:embed="rId5" cstate="email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1034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802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 userDrawn="1"/>
        </p:nvPicPr>
        <p:blipFill rotWithShape="1">
          <a:blip r:embed="rId4" cstate="email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1034716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 userDrawn="1"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034716"/>
            <a:ext cx="4812632" cy="3601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818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764505" cy="4748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710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099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444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61789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061411" cy="5143500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7088469" y="-4496"/>
            <a:ext cx="206141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285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1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sz="4800" dirty="0"/>
              <a:t>Busca em Profundidade</a:t>
            </a:r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208DDB1D-B24C-44AD-A836-8B88355DBCB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000" b="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Leonardo Vilela Cardoso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89746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Introdução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Uma busca é dita em profundidade quando o critério de escolha de vértice marcado for:</a:t>
            </a:r>
          </a:p>
          <a:p>
            <a:pPr algn="ctr"/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“dentre todos os vértices marcados e incidentes a alguma aresta ainda não explorada, escolher aquele </a:t>
            </a:r>
            <a:r>
              <a:rPr lang="pt-BR" sz="2000" b="1" dirty="0">
                <a:solidFill>
                  <a:srgbClr val="FF0000"/>
                </a:solidFill>
              </a:rPr>
              <a:t>mais recentemente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alcançado na busca”.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 escolha de vértice marcado torna-se única e sem ambiguidade.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Porém ainda são arbitrárias a escolha da raiz da busca, bem como a escolha da aresta a ser explorada a partir do vértice marcado. </a:t>
            </a:r>
          </a:p>
        </p:txBody>
      </p:sp>
    </p:spTree>
    <p:extLst>
      <p:ext uri="{BB962C8B-B14F-4D97-AF65-F5344CB8AC3E}">
        <p14:creationId xmlns:p14="http://schemas.microsoft.com/office/powerpoint/2010/main" val="2094708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1308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Durante a busca, diversos atributos são definidos para os vértices: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Cada vértice é inicialmente desmarcado (ou </a:t>
            </a:r>
            <a:r>
              <a:rPr lang="pt-BR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branco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), ele se torna marcado (ou </a:t>
            </a:r>
            <a:r>
              <a:rPr lang="pt-BR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cinza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quando for descoberto e se torna explorado (ou </a:t>
            </a:r>
            <a:r>
              <a:rPr lang="pt-BR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preto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quando sua lista de adjacências for completamente examinada).</a:t>
            </a:r>
          </a:p>
        </p:txBody>
      </p:sp>
      <p:sp>
        <p:nvSpPr>
          <p:cNvPr id="4" name="Elipse 3"/>
          <p:cNvSpPr>
            <a:spLocks noChangeAspect="1"/>
          </p:cNvSpPr>
          <p:nvPr/>
        </p:nvSpPr>
        <p:spPr>
          <a:xfrm>
            <a:off x="2897989" y="3039287"/>
            <a:ext cx="276117" cy="278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6" name="Elipse 5"/>
          <p:cNvSpPr>
            <a:spLocks noChangeAspect="1"/>
          </p:cNvSpPr>
          <p:nvPr/>
        </p:nvSpPr>
        <p:spPr>
          <a:xfrm>
            <a:off x="5132173" y="3039285"/>
            <a:ext cx="276117" cy="278079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7" name="Elipse 6"/>
          <p:cNvSpPr>
            <a:spLocks noChangeAspect="1"/>
          </p:cNvSpPr>
          <p:nvPr/>
        </p:nvSpPr>
        <p:spPr>
          <a:xfrm>
            <a:off x="7366359" y="3039287"/>
            <a:ext cx="276117" cy="27808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8" name="CaixaDeTexto 7"/>
          <p:cNvSpPr txBox="1"/>
          <p:nvPr/>
        </p:nvSpPr>
        <p:spPr>
          <a:xfrm>
            <a:off x="2508947" y="3445803"/>
            <a:ext cx="10541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</a:t>
            </a:r>
          </a:p>
          <a:p>
            <a:pPr algn="ctr"/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explorado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4858547" y="3445803"/>
            <a:ext cx="8233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</a:t>
            </a:r>
          </a:p>
          <a:p>
            <a:pPr algn="ctr"/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marcado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7046567" y="3445803"/>
            <a:ext cx="9157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</a:t>
            </a:r>
          </a:p>
          <a:p>
            <a:pPr algn="ctr"/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explorado</a:t>
            </a:r>
          </a:p>
        </p:txBody>
      </p:sp>
      <p:sp>
        <p:nvSpPr>
          <p:cNvPr id="3" name="Seta para a direita 2"/>
          <p:cNvSpPr/>
          <p:nvPr/>
        </p:nvSpPr>
        <p:spPr>
          <a:xfrm>
            <a:off x="1522943" y="2955663"/>
            <a:ext cx="792025" cy="418914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>
                <a:latin typeface="Arial" panose="020B0604020202020204" pitchFamily="34" charset="0"/>
                <a:cs typeface="Arial" panose="020B0604020202020204" pitchFamily="34" charset="0"/>
              </a:rPr>
              <a:t>Início</a:t>
            </a:r>
            <a:endParaRPr lang="pt-BR" sz="1100" dirty="0"/>
          </a:p>
        </p:txBody>
      </p:sp>
      <p:sp>
        <p:nvSpPr>
          <p:cNvPr id="11" name="Seta para a direita 10"/>
          <p:cNvSpPr/>
          <p:nvPr/>
        </p:nvSpPr>
        <p:spPr>
          <a:xfrm>
            <a:off x="3757127" y="2951853"/>
            <a:ext cx="792025" cy="418914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dirty="0">
                <a:latin typeface="Arial" panose="020B0604020202020204" pitchFamily="34" charset="0"/>
                <a:cs typeface="Arial" panose="020B0604020202020204" pitchFamily="34" charset="0"/>
              </a:rPr>
              <a:t>1ª Visita</a:t>
            </a:r>
          </a:p>
        </p:txBody>
      </p:sp>
      <p:sp>
        <p:nvSpPr>
          <p:cNvPr id="12" name="Seta para a direita 11"/>
          <p:cNvSpPr/>
          <p:nvPr/>
        </p:nvSpPr>
        <p:spPr>
          <a:xfrm>
            <a:off x="5991311" y="2949357"/>
            <a:ext cx="792025" cy="418914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>
                <a:latin typeface="Arial" panose="020B0604020202020204" pitchFamily="34" charset="0"/>
                <a:cs typeface="Arial" panose="020B0604020202020204" pitchFamily="34" charset="0"/>
              </a:rPr>
              <a:t>Final</a:t>
            </a:r>
          </a:p>
        </p:txBody>
      </p:sp>
    </p:spTree>
    <p:extLst>
      <p:ext uri="{BB962C8B-B14F-4D97-AF65-F5344CB8AC3E}">
        <p14:creationId xmlns:p14="http://schemas.microsoft.com/office/powerpoint/2010/main" val="2902309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/>
      <p:bldP spid="10" grpId="0"/>
      <p:bldP spid="11" grpId="0" animBg="1"/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32085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Durante a busca, diversos atributos são definidos para os vértices: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Cada vértice tem dois valores associados a ele: </a:t>
            </a:r>
            <a:r>
              <a:rPr lang="pt-BR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tempo de descoberta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(indica quando ele é visitado pela primeira vez) e </a:t>
            </a:r>
            <a:r>
              <a:rPr lang="pt-BR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tempo de término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(indica quando ele foi completamente explorado).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pt-BR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pt-BR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pt-BR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pt-BR" sz="10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Necessita-se de um </a:t>
            </a:r>
            <a:r>
              <a:rPr lang="pt-BR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contador global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que seja incrementado cada vez que um novo vértice é descoberto e quando algum vértice é completamente explorado.</a:t>
            </a:r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9824673"/>
              </p:ext>
            </p:extLst>
          </p:nvPr>
        </p:nvGraphicFramePr>
        <p:xfrm>
          <a:off x="2672516" y="2618311"/>
          <a:ext cx="3859398" cy="9144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38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4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34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34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34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34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342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Tempo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i="1" dirty="0"/>
                        <a:t>v</a:t>
                      </a:r>
                      <a:r>
                        <a:rPr lang="pt-BR" sz="1400" baseline="-250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i="1" dirty="0"/>
                        <a:t>v</a:t>
                      </a:r>
                      <a:r>
                        <a:rPr lang="pt-BR" sz="1400" baseline="-25000" dirty="0"/>
                        <a:t>2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i="1" dirty="0"/>
                        <a:t>v</a:t>
                      </a:r>
                      <a:r>
                        <a:rPr lang="pt-BR" sz="1400" baseline="-25000" dirty="0"/>
                        <a:t>2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. . 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i="1" dirty="0"/>
                        <a:t>v</a:t>
                      </a:r>
                      <a:r>
                        <a:rPr lang="pt-BR" sz="1400" baseline="-25000" dirty="0"/>
                        <a:t>n-1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i="1" dirty="0" err="1"/>
                        <a:t>v</a:t>
                      </a:r>
                      <a:r>
                        <a:rPr lang="pt-BR" sz="1400" baseline="-25000" dirty="0" err="1"/>
                        <a:t>n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Descoberta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Término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6148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1031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Durante a busca, diversos atributos são definidos para os vértices: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Quando um </a:t>
            </a:r>
            <a:r>
              <a:rPr lang="pt-BR" dirty="0">
                <a:solidFill>
                  <a:srgbClr val="FF0000"/>
                </a:solidFill>
              </a:rPr>
              <a:t>vértice </a:t>
            </a:r>
            <a:r>
              <a:rPr lang="pt-BR" i="1" dirty="0">
                <a:solidFill>
                  <a:srgbClr val="FF0000"/>
                </a:solidFill>
              </a:rPr>
              <a:t>w</a:t>
            </a:r>
            <a:r>
              <a:rPr lang="pt-BR" dirty="0">
                <a:solidFill>
                  <a:srgbClr val="FF0000"/>
                </a:solidFill>
              </a:rPr>
              <a:t> for descoberto a partir de um vértice </a:t>
            </a:r>
            <a:r>
              <a:rPr lang="pt-BR" i="1" dirty="0">
                <a:solidFill>
                  <a:srgbClr val="FF0000"/>
                </a:solidFill>
              </a:rPr>
              <a:t>v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o predecessor (ou pai) do vértice </a:t>
            </a:r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na busca será o vértice </a:t>
            </a:r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ou ainda, </a:t>
            </a:r>
            <a:r>
              <a:rPr lang="pt-BR" dirty="0">
                <a:solidFill>
                  <a:srgbClr val="FF0000"/>
                </a:solidFill>
              </a:rPr>
              <a:t>pai[</a:t>
            </a:r>
            <a:r>
              <a:rPr lang="pt-BR" i="1" dirty="0">
                <a:solidFill>
                  <a:srgbClr val="FF0000"/>
                </a:solidFill>
              </a:rPr>
              <a:t>w</a:t>
            </a:r>
            <a:r>
              <a:rPr lang="pt-BR" dirty="0">
                <a:solidFill>
                  <a:srgbClr val="FF0000"/>
                </a:solidFill>
              </a:rPr>
              <a:t>] </a:t>
            </a:r>
            <a:r>
              <a:rPr lang="pt-BR" dirty="0">
                <a:solidFill>
                  <a:srgbClr val="FF0000"/>
                </a:solidFill>
                <a:sym typeface="Symbol" panose="05050102010706020507" pitchFamily="18" charset="2"/>
              </a:rPr>
              <a:t>= </a:t>
            </a:r>
            <a:r>
              <a:rPr lang="pt-BR" i="1" dirty="0">
                <a:solidFill>
                  <a:srgbClr val="FF0000"/>
                </a:solidFill>
              </a:rPr>
              <a:t>v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</p:txBody>
      </p:sp>
      <p:sp>
        <p:nvSpPr>
          <p:cNvPr id="4" name="Elipse 3"/>
          <p:cNvSpPr>
            <a:spLocks noChangeAspect="1"/>
          </p:cNvSpPr>
          <p:nvPr/>
        </p:nvSpPr>
        <p:spPr>
          <a:xfrm>
            <a:off x="2262282" y="3235359"/>
            <a:ext cx="276117" cy="278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i="1" dirty="0">
                <a:solidFill>
                  <a:schemeClr val="tx1"/>
                </a:solidFill>
              </a:rPr>
              <a:t>w</a:t>
            </a:r>
          </a:p>
        </p:txBody>
      </p:sp>
      <p:sp>
        <p:nvSpPr>
          <p:cNvPr id="6" name="Elipse 5"/>
          <p:cNvSpPr>
            <a:spLocks noChangeAspect="1"/>
          </p:cNvSpPr>
          <p:nvPr/>
        </p:nvSpPr>
        <p:spPr>
          <a:xfrm>
            <a:off x="889315" y="3235357"/>
            <a:ext cx="276117" cy="278079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i="1" dirty="0">
                <a:solidFill>
                  <a:schemeClr val="tx1"/>
                </a:solidFill>
              </a:rPr>
              <a:t>v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1873240" y="3641875"/>
            <a:ext cx="10541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</a:t>
            </a:r>
          </a:p>
          <a:p>
            <a:pPr algn="ctr"/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explorado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615689" y="3641875"/>
            <a:ext cx="8233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</a:t>
            </a:r>
          </a:p>
          <a:p>
            <a:pPr algn="ctr"/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marcado</a:t>
            </a:r>
          </a:p>
        </p:txBody>
      </p:sp>
      <p:cxnSp>
        <p:nvCxnSpPr>
          <p:cNvPr id="9" name="Conector reto 8"/>
          <p:cNvCxnSpPr>
            <a:stCxn id="6" idx="6"/>
            <a:endCxn id="4" idx="2"/>
          </p:cNvCxnSpPr>
          <p:nvPr/>
        </p:nvCxnSpPr>
        <p:spPr>
          <a:xfrm>
            <a:off x="1165432" y="3374397"/>
            <a:ext cx="1096850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eta para a direita 12"/>
          <p:cNvSpPr/>
          <p:nvPr/>
        </p:nvSpPr>
        <p:spPr>
          <a:xfrm>
            <a:off x="2906619" y="3164939"/>
            <a:ext cx="792025" cy="418914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dirty="0">
                <a:latin typeface="Arial" panose="020B0604020202020204" pitchFamily="34" charset="0"/>
                <a:cs typeface="Arial" panose="020B0604020202020204" pitchFamily="34" charset="0"/>
              </a:rPr>
              <a:t>1ª Visita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5121268" y="3641873"/>
            <a:ext cx="8233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</a:t>
            </a:r>
          </a:p>
          <a:p>
            <a:pPr algn="ctr"/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marcado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3748301" y="3641873"/>
            <a:ext cx="8233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</a:t>
            </a:r>
          </a:p>
          <a:p>
            <a:pPr algn="ctr"/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marcado</a:t>
            </a:r>
          </a:p>
        </p:txBody>
      </p:sp>
      <p:cxnSp>
        <p:nvCxnSpPr>
          <p:cNvPr id="18" name="Conector reto 17"/>
          <p:cNvCxnSpPr>
            <a:stCxn id="15" idx="6"/>
            <a:endCxn id="14" idx="2"/>
          </p:cNvCxnSpPr>
          <p:nvPr/>
        </p:nvCxnSpPr>
        <p:spPr>
          <a:xfrm>
            <a:off x="4298044" y="3374395"/>
            <a:ext cx="1096850" cy="1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Elipse 13"/>
          <p:cNvSpPr>
            <a:spLocks noChangeAspect="1"/>
          </p:cNvSpPr>
          <p:nvPr/>
        </p:nvSpPr>
        <p:spPr>
          <a:xfrm>
            <a:off x="5394894" y="3235357"/>
            <a:ext cx="276117" cy="27807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i="1" dirty="0">
                <a:solidFill>
                  <a:schemeClr val="tx1"/>
                </a:solidFill>
              </a:rPr>
              <a:t>w</a:t>
            </a:r>
          </a:p>
        </p:txBody>
      </p:sp>
      <p:sp>
        <p:nvSpPr>
          <p:cNvPr id="15" name="Elipse 14"/>
          <p:cNvSpPr>
            <a:spLocks noChangeAspect="1"/>
          </p:cNvSpPr>
          <p:nvPr/>
        </p:nvSpPr>
        <p:spPr>
          <a:xfrm>
            <a:off x="4021927" y="3235355"/>
            <a:ext cx="276117" cy="278079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i="1" dirty="0">
                <a:solidFill>
                  <a:schemeClr val="tx1"/>
                </a:solidFill>
              </a:rPr>
              <a:t>v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615689" y="2437470"/>
            <a:ext cx="9774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Aresta não explorada</a:t>
            </a:r>
          </a:p>
        </p:txBody>
      </p:sp>
      <p:cxnSp>
        <p:nvCxnSpPr>
          <p:cNvPr id="21" name="Conector de seta reta 20"/>
          <p:cNvCxnSpPr/>
          <p:nvPr/>
        </p:nvCxnSpPr>
        <p:spPr>
          <a:xfrm>
            <a:off x="1388585" y="2904227"/>
            <a:ext cx="195492" cy="411819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/>
          <p:cNvSpPr txBox="1"/>
          <p:nvPr/>
        </p:nvSpPr>
        <p:spPr>
          <a:xfrm>
            <a:off x="3745533" y="2406831"/>
            <a:ext cx="9774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Aresta explorada</a:t>
            </a:r>
          </a:p>
        </p:txBody>
      </p:sp>
      <p:cxnSp>
        <p:nvCxnSpPr>
          <p:cNvPr id="23" name="Conector de seta reta 22"/>
          <p:cNvCxnSpPr/>
          <p:nvPr/>
        </p:nvCxnSpPr>
        <p:spPr>
          <a:xfrm>
            <a:off x="4518429" y="2873588"/>
            <a:ext cx="195492" cy="411819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tângulo de cantos arredondados 23"/>
          <p:cNvSpPr/>
          <p:nvPr/>
        </p:nvSpPr>
        <p:spPr>
          <a:xfrm>
            <a:off x="7063182" y="3010333"/>
            <a:ext cx="1394781" cy="728123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pt-BR" dirty="0">
                <a:solidFill>
                  <a:schemeClr val="bg1"/>
                </a:solidFill>
              </a:rPr>
              <a:t>pai[</a:t>
            </a:r>
            <a:r>
              <a:rPr lang="pt-BR" i="1" dirty="0">
                <a:solidFill>
                  <a:schemeClr val="bg1"/>
                </a:solidFill>
              </a:rPr>
              <a:t>w</a:t>
            </a:r>
            <a:r>
              <a:rPr lang="pt-BR" dirty="0">
                <a:solidFill>
                  <a:schemeClr val="bg1"/>
                </a:solidFill>
              </a:rPr>
              <a:t>] </a:t>
            </a:r>
            <a:r>
              <a:rPr lang="pt-BR" dirty="0">
                <a:solidFill>
                  <a:schemeClr val="bg1"/>
                </a:solidFill>
                <a:sym typeface="Symbol" panose="05050102010706020507" pitchFamily="18" charset="2"/>
              </a:rPr>
              <a:t>=</a:t>
            </a:r>
            <a:r>
              <a:rPr lang="pt-BR" dirty="0">
                <a:solidFill>
                  <a:schemeClr val="bg1"/>
                </a:solidFill>
              </a:rPr>
              <a:t> </a:t>
            </a:r>
            <a:r>
              <a:rPr lang="pt-BR" i="1" dirty="0">
                <a:solidFill>
                  <a:schemeClr val="bg1"/>
                </a:solidFill>
              </a:rPr>
              <a:t>v</a:t>
            </a:r>
          </a:p>
        </p:txBody>
      </p:sp>
      <p:sp>
        <p:nvSpPr>
          <p:cNvPr id="25" name="Seta para a direita 24"/>
          <p:cNvSpPr/>
          <p:nvPr/>
        </p:nvSpPr>
        <p:spPr>
          <a:xfrm>
            <a:off x="5975836" y="3164937"/>
            <a:ext cx="792025" cy="418914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3598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6" grpId="0"/>
      <p:bldP spid="17" grpId="0"/>
      <p:bldP spid="14" grpId="0" animBg="1"/>
      <p:bldP spid="15" grpId="0" animBg="1"/>
      <p:bldP spid="22" grpId="0"/>
      <p:bldP spid="24" grpId="0" animBg="1"/>
      <p:bldP spid="2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000" dirty="0"/>
              <a:t>Busca em Profundidade </a:t>
            </a:r>
            <a:br>
              <a:rPr lang="pt-BR" sz="4000" dirty="0"/>
            </a:br>
            <a:r>
              <a:rPr lang="pt-BR" sz="4000" dirty="0"/>
              <a:t>em Grafo Não Direcionado</a:t>
            </a:r>
          </a:p>
        </p:txBody>
      </p:sp>
    </p:spTree>
    <p:extLst>
      <p:ext uri="{BB962C8B-B14F-4D97-AF65-F5344CB8AC3E}">
        <p14:creationId xmlns:p14="http://schemas.microsoft.com/office/powerpoint/2010/main" val="20007375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sz="3200" dirty="0"/>
              <a:t>Busca em Profundidade – Grafo Não Direcionado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175700"/>
            <a:ext cx="8424936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Durante uma busca em profundidade em um grafo não direcionado, uma aresta {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2000" i="1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>
                <a:solidFill>
                  <a:schemeClr val="tx1">
                    <a:lumMod val="65000"/>
                    <a:lumOff val="35000"/>
                  </a:schemeClr>
                </a:solidFill>
              </a:rPr>
              <a:t>}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pode ser rotulada de uma das duas seguintes formas: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</a:t>
            </a:r>
            <a:r>
              <a:rPr lang="pt-BR" dirty="0">
                <a:solidFill>
                  <a:srgbClr val="00B0F0"/>
                </a:solidFill>
              </a:rPr>
              <a:t>árvore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quando a aresta {v, w} é usada para visitar w pela 1ª vez; e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</a:t>
            </a:r>
            <a:r>
              <a:rPr lang="pt-BR" dirty="0">
                <a:solidFill>
                  <a:srgbClr val="FF0000"/>
                </a:solidFill>
              </a:rPr>
              <a:t>retorno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quando w já tiver sido marcado (descoberto), porém w não seja predecessor (ou pai) de v na busca.</a:t>
            </a:r>
          </a:p>
        </p:txBody>
      </p:sp>
      <p:sp>
        <p:nvSpPr>
          <p:cNvPr id="26" name="Elipse 25"/>
          <p:cNvSpPr>
            <a:spLocks noChangeAspect="1"/>
          </p:cNvSpPr>
          <p:nvPr/>
        </p:nvSpPr>
        <p:spPr>
          <a:xfrm>
            <a:off x="1590564" y="3725259"/>
            <a:ext cx="276117" cy="2780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i="1" dirty="0">
                <a:solidFill>
                  <a:schemeClr val="tx1"/>
                </a:solidFill>
              </a:rPr>
              <a:t>w</a:t>
            </a:r>
          </a:p>
        </p:txBody>
      </p:sp>
      <p:sp>
        <p:nvSpPr>
          <p:cNvPr id="27" name="Elipse 26"/>
          <p:cNvSpPr>
            <a:spLocks noChangeAspect="1"/>
          </p:cNvSpPr>
          <p:nvPr/>
        </p:nvSpPr>
        <p:spPr>
          <a:xfrm>
            <a:off x="669162" y="3725257"/>
            <a:ext cx="276117" cy="278079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i="1" dirty="0">
                <a:solidFill>
                  <a:schemeClr val="tx1"/>
                </a:solidFill>
              </a:rPr>
              <a:t>v</a:t>
            </a:r>
          </a:p>
        </p:txBody>
      </p:sp>
      <p:cxnSp>
        <p:nvCxnSpPr>
          <p:cNvPr id="30" name="Conector reto 29"/>
          <p:cNvCxnSpPr>
            <a:stCxn id="27" idx="6"/>
            <a:endCxn id="26" idx="2"/>
          </p:cNvCxnSpPr>
          <p:nvPr/>
        </p:nvCxnSpPr>
        <p:spPr>
          <a:xfrm>
            <a:off x="945279" y="3864297"/>
            <a:ext cx="64528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Seta para a direita 30"/>
          <p:cNvSpPr/>
          <p:nvPr/>
        </p:nvSpPr>
        <p:spPr>
          <a:xfrm>
            <a:off x="2042129" y="3654839"/>
            <a:ext cx="792025" cy="418914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dirty="0">
                <a:latin typeface="Arial" panose="020B0604020202020204" pitchFamily="34" charset="0"/>
                <a:cs typeface="Arial" panose="020B0604020202020204" pitchFamily="34" charset="0"/>
              </a:rPr>
              <a:t>1ª Visita</a:t>
            </a:r>
          </a:p>
        </p:txBody>
      </p:sp>
      <p:cxnSp>
        <p:nvCxnSpPr>
          <p:cNvPr id="34" name="Conector reto 33"/>
          <p:cNvCxnSpPr>
            <a:stCxn id="36" idx="6"/>
            <a:endCxn id="35" idx="2"/>
          </p:cNvCxnSpPr>
          <p:nvPr/>
        </p:nvCxnSpPr>
        <p:spPr>
          <a:xfrm>
            <a:off x="3285719" y="3864295"/>
            <a:ext cx="645285" cy="1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ipse 34"/>
          <p:cNvSpPr>
            <a:spLocks noChangeAspect="1"/>
          </p:cNvSpPr>
          <p:nvPr/>
        </p:nvSpPr>
        <p:spPr>
          <a:xfrm>
            <a:off x="3931004" y="3725257"/>
            <a:ext cx="276117" cy="27807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i="1" dirty="0">
                <a:solidFill>
                  <a:schemeClr val="tx1"/>
                </a:solidFill>
              </a:rPr>
              <a:t>w</a:t>
            </a:r>
          </a:p>
        </p:txBody>
      </p:sp>
      <p:sp>
        <p:nvSpPr>
          <p:cNvPr id="36" name="Elipse 35"/>
          <p:cNvSpPr>
            <a:spLocks noChangeAspect="1"/>
          </p:cNvSpPr>
          <p:nvPr/>
        </p:nvSpPr>
        <p:spPr>
          <a:xfrm>
            <a:off x="3009602" y="3725255"/>
            <a:ext cx="276117" cy="278079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i="1" dirty="0">
                <a:solidFill>
                  <a:schemeClr val="tx1"/>
                </a:solidFill>
              </a:rPr>
              <a:t>v</a:t>
            </a:r>
          </a:p>
        </p:txBody>
      </p:sp>
      <p:sp>
        <p:nvSpPr>
          <p:cNvPr id="37" name="CaixaDeTexto 36"/>
          <p:cNvSpPr txBox="1"/>
          <p:nvPr/>
        </p:nvSpPr>
        <p:spPr>
          <a:xfrm>
            <a:off x="395536" y="2927370"/>
            <a:ext cx="9774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Aresta não explorada</a:t>
            </a:r>
          </a:p>
        </p:txBody>
      </p:sp>
      <p:cxnSp>
        <p:nvCxnSpPr>
          <p:cNvPr id="38" name="Conector de seta reta 37"/>
          <p:cNvCxnSpPr/>
          <p:nvPr/>
        </p:nvCxnSpPr>
        <p:spPr>
          <a:xfrm>
            <a:off x="1084297" y="3398172"/>
            <a:ext cx="195492" cy="411819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aixaDeTexto 38"/>
          <p:cNvSpPr txBox="1"/>
          <p:nvPr/>
        </p:nvSpPr>
        <p:spPr>
          <a:xfrm>
            <a:off x="2619032" y="2889551"/>
            <a:ext cx="9774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Aresta de </a:t>
            </a:r>
            <a:r>
              <a:rPr lang="pt-BR" sz="1400" dirty="0">
                <a:solidFill>
                  <a:srgbClr val="00B0F0"/>
                </a:solidFill>
              </a:rPr>
              <a:t>árvore</a:t>
            </a:r>
          </a:p>
        </p:txBody>
      </p:sp>
      <p:cxnSp>
        <p:nvCxnSpPr>
          <p:cNvPr id="40" name="Conector de seta reta 39"/>
          <p:cNvCxnSpPr/>
          <p:nvPr/>
        </p:nvCxnSpPr>
        <p:spPr>
          <a:xfrm>
            <a:off x="3391928" y="3356308"/>
            <a:ext cx="195492" cy="411819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Elipse 40"/>
          <p:cNvSpPr>
            <a:spLocks noChangeAspect="1"/>
          </p:cNvSpPr>
          <p:nvPr/>
        </p:nvSpPr>
        <p:spPr>
          <a:xfrm>
            <a:off x="5898928" y="3731332"/>
            <a:ext cx="276117" cy="27807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i="1" dirty="0">
                <a:solidFill>
                  <a:schemeClr val="tx1"/>
                </a:solidFill>
              </a:rPr>
              <a:t>w</a:t>
            </a:r>
          </a:p>
        </p:txBody>
      </p:sp>
      <p:sp>
        <p:nvSpPr>
          <p:cNvPr id="42" name="Elipse 41"/>
          <p:cNvSpPr>
            <a:spLocks noChangeAspect="1"/>
          </p:cNvSpPr>
          <p:nvPr/>
        </p:nvSpPr>
        <p:spPr>
          <a:xfrm>
            <a:off x="4977526" y="3731330"/>
            <a:ext cx="276117" cy="278079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i="1" dirty="0">
                <a:solidFill>
                  <a:schemeClr val="tx1"/>
                </a:solidFill>
              </a:rPr>
              <a:t>v</a:t>
            </a:r>
          </a:p>
        </p:txBody>
      </p:sp>
      <p:cxnSp>
        <p:nvCxnSpPr>
          <p:cNvPr id="43" name="Conector reto 42"/>
          <p:cNvCxnSpPr>
            <a:stCxn id="42" idx="6"/>
            <a:endCxn id="41" idx="2"/>
          </p:cNvCxnSpPr>
          <p:nvPr/>
        </p:nvCxnSpPr>
        <p:spPr>
          <a:xfrm>
            <a:off x="5253643" y="3870370"/>
            <a:ext cx="64528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Seta para a direita 43"/>
          <p:cNvSpPr/>
          <p:nvPr/>
        </p:nvSpPr>
        <p:spPr>
          <a:xfrm>
            <a:off x="6350493" y="3660912"/>
            <a:ext cx="792025" cy="418914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dirty="0">
                <a:latin typeface="Arial" panose="020B0604020202020204" pitchFamily="34" charset="0"/>
                <a:cs typeface="Arial" panose="020B0604020202020204" pitchFamily="34" charset="0"/>
              </a:rPr>
              <a:t>Visita</a:t>
            </a:r>
          </a:p>
        </p:txBody>
      </p:sp>
      <p:cxnSp>
        <p:nvCxnSpPr>
          <p:cNvPr id="45" name="Conector reto 44"/>
          <p:cNvCxnSpPr>
            <a:stCxn id="47" idx="6"/>
            <a:endCxn id="46" idx="2"/>
          </p:cNvCxnSpPr>
          <p:nvPr/>
        </p:nvCxnSpPr>
        <p:spPr>
          <a:xfrm>
            <a:off x="7594083" y="3870368"/>
            <a:ext cx="645285" cy="1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lipse 45"/>
          <p:cNvSpPr>
            <a:spLocks noChangeAspect="1"/>
          </p:cNvSpPr>
          <p:nvPr/>
        </p:nvSpPr>
        <p:spPr>
          <a:xfrm>
            <a:off x="8239368" y="3731330"/>
            <a:ext cx="276117" cy="27807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i="1" dirty="0">
                <a:solidFill>
                  <a:schemeClr val="tx1"/>
                </a:solidFill>
              </a:rPr>
              <a:t>w</a:t>
            </a:r>
          </a:p>
        </p:txBody>
      </p:sp>
      <p:sp>
        <p:nvSpPr>
          <p:cNvPr id="47" name="Elipse 46"/>
          <p:cNvSpPr>
            <a:spLocks noChangeAspect="1"/>
          </p:cNvSpPr>
          <p:nvPr/>
        </p:nvSpPr>
        <p:spPr>
          <a:xfrm>
            <a:off x="7317966" y="3731328"/>
            <a:ext cx="276117" cy="278079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i="1" dirty="0">
                <a:solidFill>
                  <a:schemeClr val="tx1"/>
                </a:solidFill>
              </a:rPr>
              <a:t>v</a:t>
            </a:r>
          </a:p>
        </p:txBody>
      </p:sp>
      <p:sp>
        <p:nvSpPr>
          <p:cNvPr id="48" name="CaixaDeTexto 47"/>
          <p:cNvSpPr txBox="1"/>
          <p:nvPr/>
        </p:nvSpPr>
        <p:spPr>
          <a:xfrm>
            <a:off x="4703900" y="2933443"/>
            <a:ext cx="9774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Aresta não explorada</a:t>
            </a:r>
          </a:p>
        </p:txBody>
      </p:sp>
      <p:cxnSp>
        <p:nvCxnSpPr>
          <p:cNvPr id="49" name="Conector de seta reta 48"/>
          <p:cNvCxnSpPr/>
          <p:nvPr/>
        </p:nvCxnSpPr>
        <p:spPr>
          <a:xfrm>
            <a:off x="5392661" y="3404245"/>
            <a:ext cx="195492" cy="411819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CaixaDeTexto 49"/>
          <p:cNvSpPr txBox="1"/>
          <p:nvPr/>
        </p:nvSpPr>
        <p:spPr>
          <a:xfrm>
            <a:off x="6927396" y="2895624"/>
            <a:ext cx="9774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Aresta de </a:t>
            </a:r>
            <a:r>
              <a:rPr lang="pt-BR" sz="1400" dirty="0">
                <a:solidFill>
                  <a:srgbClr val="FF0000"/>
                </a:solidFill>
              </a:rPr>
              <a:t>retorno</a:t>
            </a:r>
          </a:p>
        </p:txBody>
      </p:sp>
      <p:cxnSp>
        <p:nvCxnSpPr>
          <p:cNvPr id="51" name="Conector de seta reta 50"/>
          <p:cNvCxnSpPr/>
          <p:nvPr/>
        </p:nvCxnSpPr>
        <p:spPr>
          <a:xfrm>
            <a:off x="7700292" y="3362381"/>
            <a:ext cx="195492" cy="411819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to 52"/>
          <p:cNvCxnSpPr/>
          <p:nvPr/>
        </p:nvCxnSpPr>
        <p:spPr>
          <a:xfrm>
            <a:off x="4572000" y="3027763"/>
            <a:ext cx="0" cy="122971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22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31" grpId="0" animBg="1"/>
      <p:bldP spid="35" grpId="0" animBg="1"/>
      <p:bldP spid="36" grpId="0" animBg="1"/>
      <p:bldP spid="37" grpId="0"/>
      <p:bldP spid="39" grpId="0"/>
      <p:bldP spid="41" grpId="0" animBg="1"/>
      <p:bldP spid="42" grpId="0" animBg="1"/>
      <p:bldP spid="44" grpId="0" animBg="1"/>
      <p:bldP spid="46" grpId="0" animBg="1"/>
      <p:bldP spid="47" grpId="0" animBg="1"/>
      <p:bldP spid="48" grpId="0"/>
      <p:bldP spid="5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Algoritmo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89746" y="1203959"/>
            <a:ext cx="8502733" cy="31316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9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Inicialização / Chamada inicial</a:t>
            </a: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 0; 					</a:t>
            </a:r>
            <a:r>
              <a:rPr lang="pt-BR" sz="1600" dirty="0">
                <a:solidFill>
                  <a:srgbClr val="0070C0"/>
                </a:solidFill>
                <a:sym typeface="Symbol" panose="05050102010706020507" pitchFamily="18" charset="2"/>
              </a:rPr>
              <a:t>// Inicializar tempo global</a:t>
            </a:r>
            <a:endParaRPr lang="pt-BR" sz="2000" dirty="0">
              <a:solidFill>
                <a:srgbClr val="0070C0"/>
              </a:solidFill>
            </a:endParaRP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pt-BR" sz="20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para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todo vértice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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V(G) </a:t>
            </a:r>
            <a:r>
              <a:rPr lang="pt-BR" sz="20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faça</a:t>
            </a:r>
          </a:p>
          <a:p>
            <a:pPr marL="914400" lvl="1" indent="-457200">
              <a:spcAft>
                <a:spcPts val="600"/>
              </a:spcAft>
              <a:buFont typeface="+mj-lt"/>
              <a:buAutoNum type="alphaLcPeriod"/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TD[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 </a:t>
            </a:r>
            <a:r>
              <a:rPr lang="pt-B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 0; 				</a:t>
            </a:r>
            <a:r>
              <a:rPr lang="pt-BR" sz="1600" dirty="0">
                <a:solidFill>
                  <a:srgbClr val="0070C0"/>
                </a:solidFill>
                <a:sym typeface="Symbol" panose="05050102010706020507" pitchFamily="18" charset="2"/>
              </a:rPr>
              <a:t>// Inicializar tempo de descoberta</a:t>
            </a:r>
            <a:endParaRPr lang="pt-BR" sz="2000" dirty="0">
              <a:solidFill>
                <a:srgbClr val="0070C0"/>
              </a:solidFill>
              <a:sym typeface="Symbol" panose="05050102010706020507" pitchFamily="18" charset="2"/>
            </a:endParaRPr>
          </a:p>
          <a:p>
            <a:pPr marL="914400" lvl="1" indent="-457200">
              <a:spcAft>
                <a:spcPts val="600"/>
              </a:spcAft>
              <a:buFont typeface="+mj-lt"/>
              <a:buAutoNum type="alphaLcPeriod"/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TT[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]   0;				</a:t>
            </a:r>
            <a:r>
              <a:rPr lang="pt-BR" sz="1600" dirty="0">
                <a:solidFill>
                  <a:srgbClr val="0070C0"/>
                </a:solidFill>
                <a:sym typeface="Symbol" panose="05050102010706020507" pitchFamily="18" charset="2"/>
              </a:rPr>
              <a:t>// Inicializar tempo de término</a:t>
            </a:r>
            <a:endParaRPr lang="pt-BR" sz="2000" dirty="0">
              <a:solidFill>
                <a:srgbClr val="0070C0"/>
              </a:solidFill>
            </a:endParaRPr>
          </a:p>
          <a:p>
            <a:pPr marL="914400" lvl="1" indent="-457200">
              <a:spcAft>
                <a:spcPts val="600"/>
              </a:spcAft>
              <a:buFont typeface="+mj-lt"/>
              <a:buAutoNum type="alphaLcPeriod"/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pai[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 </a:t>
            </a:r>
            <a:r>
              <a:rPr lang="pt-BR" sz="2000" dirty="0" err="1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null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;				</a:t>
            </a:r>
            <a:r>
              <a:rPr lang="pt-BR" sz="1600" dirty="0">
                <a:solidFill>
                  <a:srgbClr val="0070C0"/>
                </a:solidFill>
                <a:sym typeface="Symbol" panose="05050102010706020507" pitchFamily="18" charset="2"/>
              </a:rPr>
              <a:t>// Inicializar predecessor ou pai</a:t>
            </a:r>
            <a:endParaRPr lang="pt-BR" sz="2000" dirty="0">
              <a:solidFill>
                <a:srgbClr val="0070C0"/>
              </a:solidFill>
            </a:endParaRP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pt-BR" sz="20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enquanto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existir algum vértice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tal que TD[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 = 0 </a:t>
            </a:r>
            <a:r>
              <a:rPr lang="pt-BR" sz="20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efetuar</a:t>
            </a:r>
          </a:p>
          <a:p>
            <a:pPr marL="914400" lvl="1" indent="-457200">
              <a:spcAft>
                <a:spcPts val="600"/>
              </a:spcAft>
              <a:buFont typeface="+mj-lt"/>
              <a:buAutoNum type="alphaLcPeriod"/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Executar </a:t>
            </a:r>
            <a:r>
              <a:rPr lang="pt-BR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Busca_Profundidade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);		</a:t>
            </a:r>
            <a:r>
              <a:rPr lang="pt-BR" sz="1600" dirty="0">
                <a:solidFill>
                  <a:srgbClr val="0070C0"/>
                </a:solidFill>
              </a:rPr>
              <a:t>// Executar busca para raiz </a:t>
            </a:r>
            <a:r>
              <a:rPr lang="pt-BR" sz="1600" i="1" dirty="0">
                <a:solidFill>
                  <a:srgbClr val="0070C0"/>
                </a:solidFill>
              </a:rPr>
              <a:t>v</a:t>
            </a:r>
            <a:endParaRPr lang="pt-BR" sz="2000" i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3537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Algoritmo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89747" y="1153511"/>
            <a:ext cx="8424936" cy="3375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500"/>
              </a:spcAft>
            </a:pPr>
            <a:r>
              <a:rPr lang="pt-BR" sz="20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Busca_Profundidade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</a:p>
          <a:p>
            <a:pPr marL="457200" indent="-457200">
              <a:spcAft>
                <a:spcPts val="500"/>
              </a:spcAft>
              <a:buFont typeface="+mj-lt"/>
              <a:buAutoNum type="arabicPeriod"/>
            </a:pP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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t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+ 1; 	TD[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]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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t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;			</a:t>
            </a:r>
            <a:r>
              <a:rPr lang="pt-BR" sz="1600" dirty="0">
                <a:solidFill>
                  <a:srgbClr val="0070C0"/>
                </a:solidFill>
                <a:sym typeface="Symbol" panose="05050102010706020507" pitchFamily="18" charset="2"/>
              </a:rPr>
              <a:t>// Definir tempo de descoberta</a:t>
            </a:r>
            <a:endParaRPr lang="pt-BR" sz="2000" dirty="0">
              <a:solidFill>
                <a:srgbClr val="0070C0"/>
              </a:solidFill>
            </a:endParaRPr>
          </a:p>
          <a:p>
            <a:pPr marL="457200" indent="-457200">
              <a:spcAft>
                <a:spcPts val="500"/>
              </a:spcAft>
              <a:buFont typeface="+mj-lt"/>
              <a:buAutoNum type="arabicPeriod"/>
            </a:pPr>
            <a:r>
              <a:rPr lang="pt-BR" sz="20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para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todo vértice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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</a:t>
            </a:r>
            <a:r>
              <a:rPr lang="pt-BR" sz="20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faça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		</a:t>
            </a:r>
            <a:r>
              <a:rPr lang="pt-BR" sz="1600" dirty="0">
                <a:solidFill>
                  <a:srgbClr val="0070C0"/>
                </a:solidFill>
              </a:rPr>
              <a:t>// Para toda a vizinhança de v</a:t>
            </a:r>
            <a:endParaRPr lang="pt-BR" sz="2000" dirty="0">
              <a:solidFill>
                <a:srgbClr val="0070C0"/>
              </a:solidFill>
            </a:endParaRPr>
          </a:p>
          <a:p>
            <a:pPr marL="914400" lvl="1" indent="-457200">
              <a:spcAft>
                <a:spcPts val="500"/>
              </a:spcAft>
              <a:buFont typeface="+mj-lt"/>
              <a:buAutoNum type="alphaLcPeriod"/>
            </a:pPr>
            <a:r>
              <a:rPr lang="pt-BR" sz="2000" u="sng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se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TD[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] = 0 </a:t>
            </a:r>
            <a:r>
              <a:rPr lang="pt-BR" sz="2000" u="sng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então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			</a:t>
            </a:r>
            <a:r>
              <a:rPr lang="pt-BR" sz="1600" dirty="0">
                <a:solidFill>
                  <a:srgbClr val="0070C0"/>
                </a:solidFill>
                <a:sym typeface="Symbol" panose="05050102010706020507" pitchFamily="18" charset="2"/>
              </a:rPr>
              <a:t>// Se w é visitado pela 1ª vez</a:t>
            </a:r>
            <a:endParaRPr lang="pt-BR" sz="2000" dirty="0">
              <a:solidFill>
                <a:srgbClr val="0070C0"/>
              </a:solidFill>
              <a:sym typeface="Symbol" panose="05050102010706020507" pitchFamily="18" charset="2"/>
            </a:endParaRPr>
          </a:p>
          <a:p>
            <a:pPr lvl="3">
              <a:spcAft>
                <a:spcPts val="5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Visitar aresta {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,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}; 	pai[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]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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;	</a:t>
            </a:r>
            <a:r>
              <a:rPr lang="pt-BR" sz="1600" dirty="0">
                <a:solidFill>
                  <a:srgbClr val="0070C0"/>
                </a:solidFill>
                <a:sym typeface="Symbol" panose="05050102010706020507" pitchFamily="18" charset="2"/>
              </a:rPr>
              <a:t>// {v, w} é aresta de </a:t>
            </a:r>
            <a:r>
              <a:rPr lang="pt-BR" sz="1600" b="1" u="sng" dirty="0">
                <a:solidFill>
                  <a:srgbClr val="0070C0"/>
                </a:solidFill>
                <a:sym typeface="Symbol" panose="05050102010706020507" pitchFamily="18" charset="2"/>
              </a:rPr>
              <a:t>árvore</a:t>
            </a:r>
            <a:endParaRPr lang="pt-BR" sz="2000" b="1" u="sng" dirty="0">
              <a:solidFill>
                <a:srgbClr val="0070C0"/>
              </a:solidFill>
            </a:endParaRPr>
          </a:p>
          <a:p>
            <a:pPr lvl="3">
              <a:spcAft>
                <a:spcPts val="5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Executar </a:t>
            </a:r>
            <a:r>
              <a:rPr lang="pt-BR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Busca_Profundidade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(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);</a:t>
            </a:r>
          </a:p>
          <a:p>
            <a:pPr marL="914400" lvl="1" indent="-457200">
              <a:spcAft>
                <a:spcPts val="500"/>
              </a:spcAft>
              <a:buFont typeface="+mj-lt"/>
              <a:buAutoNum type="alphaLcPeriod"/>
            </a:pPr>
            <a:r>
              <a:rPr lang="pt-BR" sz="20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senão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TT[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 = 0 </a:t>
            </a:r>
            <a:r>
              <a:rPr lang="pt-BR" sz="20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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pai[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 </a:t>
            </a:r>
            <a:r>
              <a:rPr lang="pt-BR" sz="20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então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	</a:t>
            </a:r>
            <a:r>
              <a:rPr lang="pt-BR" sz="1600" dirty="0">
                <a:solidFill>
                  <a:srgbClr val="0070C0"/>
                </a:solidFill>
              </a:rPr>
              <a:t>// Se w for ancestral mas não pai</a:t>
            </a:r>
            <a:endParaRPr lang="pt-BR" sz="2000" dirty="0">
              <a:solidFill>
                <a:srgbClr val="0070C0"/>
              </a:solidFill>
            </a:endParaRPr>
          </a:p>
          <a:p>
            <a:pPr lvl="3">
              <a:spcAft>
                <a:spcPts val="5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Visitar aresta {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};			</a:t>
            </a:r>
            <a:r>
              <a:rPr lang="pt-BR" sz="1600" dirty="0">
                <a:solidFill>
                  <a:srgbClr val="0070C0"/>
                </a:solidFill>
              </a:rPr>
              <a:t>// {v, w} é aresta de </a:t>
            </a:r>
            <a:r>
              <a:rPr lang="pt-BR" sz="1600" b="1" u="sng" dirty="0">
                <a:solidFill>
                  <a:srgbClr val="FF0000"/>
                </a:solidFill>
              </a:rPr>
              <a:t>retorno</a:t>
            </a:r>
            <a:endParaRPr lang="pt-BR" sz="2000" b="1" u="sng" dirty="0">
              <a:solidFill>
                <a:srgbClr val="FF0000"/>
              </a:solidFill>
            </a:endParaRPr>
          </a:p>
          <a:p>
            <a:pPr marL="457200" indent="-457200">
              <a:spcAft>
                <a:spcPts val="500"/>
              </a:spcAft>
              <a:buFont typeface="+mj-lt"/>
              <a:buAutoNum type="arabicPeriod"/>
            </a:pP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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t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+ 1; 	TT[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]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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t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;			</a:t>
            </a:r>
            <a:r>
              <a:rPr lang="pt-BR" sz="1600" dirty="0">
                <a:solidFill>
                  <a:srgbClr val="0070C0"/>
                </a:solidFill>
                <a:sym typeface="Symbol" panose="05050102010706020507" pitchFamily="18" charset="2"/>
              </a:rPr>
              <a:t>// Definir tempo de término</a:t>
            </a:r>
            <a:endParaRPr lang="pt-BR" sz="2000" u="sng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0748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Algoritmo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89747" y="1153511"/>
            <a:ext cx="8424936" cy="3375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500"/>
              </a:spcAft>
            </a:pPr>
            <a:r>
              <a:rPr lang="pt-BR" sz="20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Busca_Profundidade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</a:p>
          <a:p>
            <a:pPr marL="457200" indent="-457200">
              <a:spcAft>
                <a:spcPts val="500"/>
              </a:spcAft>
              <a:buFont typeface="+mj-lt"/>
              <a:buAutoNum type="arabicPeriod"/>
            </a:pP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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t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+ 1; 	TD[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]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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t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;			</a:t>
            </a:r>
            <a:r>
              <a:rPr lang="pt-BR" sz="1600" dirty="0">
                <a:solidFill>
                  <a:srgbClr val="0070C0"/>
                </a:solidFill>
                <a:sym typeface="Symbol" panose="05050102010706020507" pitchFamily="18" charset="2"/>
              </a:rPr>
              <a:t>// Definir tempo de descoberta</a:t>
            </a:r>
            <a:endParaRPr lang="pt-BR" sz="2000" dirty="0">
              <a:solidFill>
                <a:srgbClr val="0070C0"/>
              </a:solidFill>
            </a:endParaRPr>
          </a:p>
          <a:p>
            <a:pPr marL="457200" indent="-457200">
              <a:spcAft>
                <a:spcPts val="500"/>
              </a:spcAft>
              <a:buFont typeface="+mj-lt"/>
              <a:buAutoNum type="arabicPeriod"/>
            </a:pPr>
            <a:r>
              <a:rPr lang="pt-BR" sz="20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para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todo vértice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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</a:t>
            </a:r>
            <a:r>
              <a:rPr lang="pt-BR" sz="20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faça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		</a:t>
            </a:r>
            <a:r>
              <a:rPr lang="pt-BR" sz="1600" dirty="0">
                <a:solidFill>
                  <a:srgbClr val="0070C0"/>
                </a:solidFill>
              </a:rPr>
              <a:t>// Para toda a vizinhança de v</a:t>
            </a:r>
            <a:endParaRPr lang="pt-BR" sz="2000" dirty="0">
              <a:solidFill>
                <a:srgbClr val="0070C0"/>
              </a:solidFill>
            </a:endParaRPr>
          </a:p>
          <a:p>
            <a:pPr marL="914400" lvl="1" indent="-457200">
              <a:spcAft>
                <a:spcPts val="500"/>
              </a:spcAft>
              <a:buFont typeface="+mj-lt"/>
              <a:buAutoNum type="alphaLcPeriod"/>
            </a:pPr>
            <a:r>
              <a:rPr lang="pt-BR" sz="2000" u="sng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se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TD[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] = 0 </a:t>
            </a:r>
            <a:r>
              <a:rPr lang="pt-BR" sz="2000" u="sng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então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			</a:t>
            </a:r>
            <a:r>
              <a:rPr lang="pt-BR" sz="1600" dirty="0">
                <a:solidFill>
                  <a:srgbClr val="0070C0"/>
                </a:solidFill>
                <a:sym typeface="Symbol" panose="05050102010706020507" pitchFamily="18" charset="2"/>
              </a:rPr>
              <a:t>// Se w é visitado pela 1ª vez</a:t>
            </a:r>
            <a:endParaRPr lang="pt-BR" sz="2000" dirty="0">
              <a:solidFill>
                <a:srgbClr val="0070C0"/>
              </a:solidFill>
              <a:sym typeface="Symbol" panose="05050102010706020507" pitchFamily="18" charset="2"/>
            </a:endParaRPr>
          </a:p>
          <a:p>
            <a:pPr lvl="3">
              <a:spcAft>
                <a:spcPts val="5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Visitar aresta {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,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}; 	pai[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]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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;	</a:t>
            </a:r>
            <a:r>
              <a:rPr lang="pt-BR" sz="1600" dirty="0">
                <a:solidFill>
                  <a:srgbClr val="0070C0"/>
                </a:solidFill>
                <a:sym typeface="Symbol" panose="05050102010706020507" pitchFamily="18" charset="2"/>
              </a:rPr>
              <a:t>// {v, w} é aresta de </a:t>
            </a:r>
            <a:r>
              <a:rPr lang="pt-BR" sz="1600" b="1" u="sng" dirty="0">
                <a:solidFill>
                  <a:srgbClr val="0070C0"/>
                </a:solidFill>
                <a:sym typeface="Symbol" panose="05050102010706020507" pitchFamily="18" charset="2"/>
              </a:rPr>
              <a:t>árvore</a:t>
            </a:r>
            <a:endParaRPr lang="pt-BR" sz="2000" b="1" u="sng" dirty="0">
              <a:solidFill>
                <a:srgbClr val="0070C0"/>
              </a:solidFill>
            </a:endParaRPr>
          </a:p>
          <a:p>
            <a:pPr lvl="3">
              <a:spcAft>
                <a:spcPts val="5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Executar </a:t>
            </a:r>
            <a:r>
              <a:rPr lang="pt-BR" sz="2000" dirty="0" err="1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Busca_Profundidade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(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);</a:t>
            </a:r>
          </a:p>
          <a:p>
            <a:pPr marL="914400" lvl="1" indent="-457200">
              <a:spcAft>
                <a:spcPts val="500"/>
              </a:spcAft>
              <a:buFont typeface="+mj-lt"/>
              <a:buAutoNum type="alphaLcPeriod"/>
            </a:pPr>
            <a:r>
              <a:rPr lang="pt-BR" sz="20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senão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TT[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 = 0 </a:t>
            </a:r>
            <a:r>
              <a:rPr lang="pt-BR" sz="20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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pai[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 </a:t>
            </a:r>
            <a:r>
              <a:rPr lang="pt-BR" sz="20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então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	</a:t>
            </a:r>
            <a:r>
              <a:rPr lang="pt-BR" sz="1600" dirty="0">
                <a:solidFill>
                  <a:srgbClr val="0070C0"/>
                </a:solidFill>
              </a:rPr>
              <a:t>// Se w for ancestral mas não pai</a:t>
            </a:r>
            <a:endParaRPr lang="pt-BR" sz="2000" dirty="0">
              <a:solidFill>
                <a:srgbClr val="0070C0"/>
              </a:solidFill>
            </a:endParaRPr>
          </a:p>
          <a:p>
            <a:pPr lvl="3">
              <a:spcAft>
                <a:spcPts val="5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Visitar aresta {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};			</a:t>
            </a:r>
            <a:r>
              <a:rPr lang="pt-BR" sz="1600" dirty="0">
                <a:solidFill>
                  <a:srgbClr val="0070C0"/>
                </a:solidFill>
              </a:rPr>
              <a:t>// {v, w} é aresta de </a:t>
            </a:r>
            <a:r>
              <a:rPr lang="pt-BR" sz="1600" b="1" u="sng" dirty="0">
                <a:solidFill>
                  <a:srgbClr val="FF0000"/>
                </a:solidFill>
              </a:rPr>
              <a:t>retorno</a:t>
            </a:r>
            <a:endParaRPr lang="pt-BR" sz="2000" b="1" u="sng" dirty="0">
              <a:solidFill>
                <a:srgbClr val="FF0000"/>
              </a:solidFill>
            </a:endParaRPr>
          </a:p>
          <a:p>
            <a:pPr marL="457200" indent="-457200">
              <a:spcAft>
                <a:spcPts val="500"/>
              </a:spcAft>
              <a:buFont typeface="+mj-lt"/>
              <a:buAutoNum type="arabicPeriod"/>
            </a:pP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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t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+ 1; 	TT[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]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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t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;			</a:t>
            </a:r>
            <a:r>
              <a:rPr lang="pt-BR" sz="1600" dirty="0">
                <a:solidFill>
                  <a:srgbClr val="0070C0"/>
                </a:solidFill>
                <a:sym typeface="Symbol" panose="05050102010706020507" pitchFamily="18" charset="2"/>
              </a:rPr>
              <a:t>// Definir tempo de término</a:t>
            </a:r>
            <a:endParaRPr lang="pt-BR" sz="2000" u="sng" dirty="0">
              <a:solidFill>
                <a:srgbClr val="0070C0"/>
              </a:solidFill>
            </a:endParaRPr>
          </a:p>
        </p:txBody>
      </p:sp>
      <p:sp>
        <p:nvSpPr>
          <p:cNvPr id="7" name="Retângulo de cantos arredondados 6"/>
          <p:cNvSpPr/>
          <p:nvPr/>
        </p:nvSpPr>
        <p:spPr>
          <a:xfrm>
            <a:off x="1860331" y="1901527"/>
            <a:ext cx="5215233" cy="1866637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pt-BR" sz="2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Custo da busca é O(</a:t>
            </a:r>
            <a:r>
              <a:rPr lang="pt-BR" sz="2400" b="1" i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n</a:t>
            </a:r>
            <a:r>
              <a:rPr lang="pt-BR" sz="2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+ </a:t>
            </a:r>
            <a:r>
              <a:rPr lang="pt-BR" sz="2400" b="1" i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m</a:t>
            </a:r>
            <a:r>
              <a:rPr lang="pt-BR" sz="2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), </a:t>
            </a:r>
          </a:p>
          <a:p>
            <a:pPr algn="ctr">
              <a:spcAft>
                <a:spcPts val="600"/>
              </a:spcAft>
            </a:pPr>
            <a:r>
              <a:rPr lang="pt-BR" sz="2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em que </a:t>
            </a:r>
            <a:r>
              <a:rPr lang="pt-BR" sz="2400" b="1" i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n</a:t>
            </a:r>
            <a:r>
              <a:rPr lang="pt-BR" sz="2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= |V(G)| e </a:t>
            </a:r>
            <a:r>
              <a:rPr lang="pt-BR" sz="2400" b="1" i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m</a:t>
            </a:r>
            <a:r>
              <a:rPr lang="pt-BR" sz="2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= |E(G)|</a:t>
            </a:r>
          </a:p>
        </p:txBody>
      </p:sp>
    </p:spTree>
    <p:extLst>
      <p:ext uri="{BB962C8B-B14F-4D97-AF65-F5344CB8AC3E}">
        <p14:creationId xmlns:p14="http://schemas.microsoft.com/office/powerpoint/2010/main" val="1357708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Exemplo</a:t>
            </a:r>
          </a:p>
        </p:txBody>
      </p: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9" name="Elipse 8"/>
          <p:cNvSpPr/>
          <p:nvPr/>
        </p:nvSpPr>
        <p:spPr>
          <a:xfrm>
            <a:off x="2669035" y="1816410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487030" y="3951361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33" name="Conector de seta reta 32"/>
          <p:cNvCxnSpPr/>
          <p:nvPr/>
        </p:nvCxnSpPr>
        <p:spPr>
          <a:xfrm flipH="1">
            <a:off x="447829" y="4327960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>
            <a:spLocks noChangeAspect="1"/>
          </p:cNvSpPr>
          <p:nvPr/>
        </p:nvSpPr>
        <p:spPr>
          <a:xfrm>
            <a:off x="2614391" y="3951360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37" name="Conector de seta reta 36"/>
          <p:cNvCxnSpPr/>
          <p:nvPr/>
        </p:nvCxnSpPr>
        <p:spPr>
          <a:xfrm flipH="1">
            <a:off x="2565126" y="4327960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>
            <a:spLocks noChangeAspect="1"/>
          </p:cNvSpPr>
          <p:nvPr/>
        </p:nvSpPr>
        <p:spPr>
          <a:xfrm>
            <a:off x="4373413" y="3951360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39" name="CaixaDeTexto 38"/>
          <p:cNvSpPr txBox="1"/>
          <p:nvPr/>
        </p:nvSpPr>
        <p:spPr>
          <a:xfrm>
            <a:off x="725501" y="3890165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725501" y="4174072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2848900" y="3890165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4616688" y="3890165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616688" y="4174072"/>
            <a:ext cx="1471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retorno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2848900" y="4174072"/>
            <a:ext cx="139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árvore</a:t>
            </a:r>
          </a:p>
        </p:txBody>
      </p: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de seta reta 103"/>
          <p:cNvCxnSpPr>
            <a:stCxn id="7" idx="6"/>
            <a:endCxn id="9" idx="1"/>
          </p:cNvCxnSpPr>
          <p:nvPr/>
        </p:nvCxnSpPr>
        <p:spPr>
          <a:xfrm>
            <a:off x="2309608" y="1561104"/>
            <a:ext cx="393124" cy="28825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106"/>
          <p:cNvCxnSpPr>
            <a:stCxn id="8" idx="6"/>
            <a:endCxn id="9" idx="3"/>
          </p:cNvCxnSpPr>
          <p:nvPr/>
        </p:nvCxnSpPr>
        <p:spPr>
          <a:xfrm flipV="1">
            <a:off x="2315659" y="2008430"/>
            <a:ext cx="387073" cy="29484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/>
          <p:cNvCxnSpPr/>
          <p:nvPr/>
        </p:nvCxnSpPr>
        <p:spPr>
          <a:xfrm flipH="1">
            <a:off x="4334212" y="4327960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33905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Exemplo</a:t>
            </a:r>
          </a:p>
        </p:txBody>
      </p: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9" name="Elipse 8"/>
          <p:cNvSpPr/>
          <p:nvPr/>
        </p:nvSpPr>
        <p:spPr>
          <a:xfrm>
            <a:off x="2669035" y="1816410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487030" y="3951361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33" name="Conector de seta reta 32"/>
          <p:cNvCxnSpPr/>
          <p:nvPr/>
        </p:nvCxnSpPr>
        <p:spPr>
          <a:xfrm flipH="1">
            <a:off x="447829" y="4327960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>
            <a:spLocks noChangeAspect="1"/>
          </p:cNvSpPr>
          <p:nvPr/>
        </p:nvSpPr>
        <p:spPr>
          <a:xfrm>
            <a:off x="2614391" y="3951360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37" name="Conector de seta reta 36"/>
          <p:cNvCxnSpPr/>
          <p:nvPr/>
        </p:nvCxnSpPr>
        <p:spPr>
          <a:xfrm flipH="1">
            <a:off x="2565126" y="4327960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>
            <a:spLocks noChangeAspect="1"/>
          </p:cNvSpPr>
          <p:nvPr/>
        </p:nvSpPr>
        <p:spPr>
          <a:xfrm>
            <a:off x="4373413" y="3951360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39" name="CaixaDeTexto 38"/>
          <p:cNvSpPr txBox="1"/>
          <p:nvPr/>
        </p:nvSpPr>
        <p:spPr>
          <a:xfrm>
            <a:off x="725501" y="3890165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725501" y="4174072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2848900" y="3890165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4616688" y="3890165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616688" y="4174072"/>
            <a:ext cx="1471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retorno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2848900" y="4174072"/>
            <a:ext cx="139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árvore</a:t>
            </a:r>
          </a:p>
        </p:txBody>
      </p: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de seta reta 103"/>
          <p:cNvCxnSpPr>
            <a:stCxn id="7" idx="6"/>
            <a:endCxn id="9" idx="1"/>
          </p:cNvCxnSpPr>
          <p:nvPr/>
        </p:nvCxnSpPr>
        <p:spPr>
          <a:xfrm>
            <a:off x="2309608" y="1561104"/>
            <a:ext cx="393124" cy="28825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106"/>
          <p:cNvCxnSpPr>
            <a:stCxn id="8" idx="6"/>
            <a:endCxn id="9" idx="3"/>
          </p:cNvCxnSpPr>
          <p:nvPr/>
        </p:nvCxnSpPr>
        <p:spPr>
          <a:xfrm flipV="1">
            <a:off x="2315659" y="2008430"/>
            <a:ext cx="387073" cy="29484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ela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8288507"/>
              </p:ext>
            </p:extLst>
          </p:nvPr>
        </p:nvGraphicFramePr>
        <p:xfrm>
          <a:off x="3353072" y="1312958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35" name="Conector de seta reta 34"/>
          <p:cNvCxnSpPr/>
          <p:nvPr/>
        </p:nvCxnSpPr>
        <p:spPr>
          <a:xfrm flipH="1">
            <a:off x="4334212" y="4327960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62727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Exemplo</a:t>
            </a:r>
          </a:p>
        </p:txBody>
      </p: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9" name="Elipse 8"/>
          <p:cNvSpPr/>
          <p:nvPr/>
        </p:nvSpPr>
        <p:spPr>
          <a:xfrm>
            <a:off x="2669035" y="1816410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487030" y="3951361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33" name="Conector de seta reta 32"/>
          <p:cNvCxnSpPr/>
          <p:nvPr/>
        </p:nvCxnSpPr>
        <p:spPr>
          <a:xfrm flipH="1">
            <a:off x="447829" y="4327960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>
            <a:spLocks noChangeAspect="1"/>
          </p:cNvSpPr>
          <p:nvPr/>
        </p:nvSpPr>
        <p:spPr>
          <a:xfrm>
            <a:off x="2614391" y="3951360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37" name="Conector de seta reta 36"/>
          <p:cNvCxnSpPr/>
          <p:nvPr/>
        </p:nvCxnSpPr>
        <p:spPr>
          <a:xfrm flipH="1">
            <a:off x="2565126" y="4327960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>
            <a:spLocks noChangeAspect="1"/>
          </p:cNvSpPr>
          <p:nvPr/>
        </p:nvSpPr>
        <p:spPr>
          <a:xfrm>
            <a:off x="4373413" y="3951360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39" name="CaixaDeTexto 38"/>
          <p:cNvSpPr txBox="1"/>
          <p:nvPr/>
        </p:nvSpPr>
        <p:spPr>
          <a:xfrm>
            <a:off x="725501" y="3890165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725501" y="4174072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2848900" y="3890165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4616688" y="3890165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616688" y="4174072"/>
            <a:ext cx="1471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retorno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2848900" y="4174072"/>
            <a:ext cx="139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árvore</a:t>
            </a:r>
          </a:p>
        </p:txBody>
      </p: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CaixaDeTexto 70"/>
          <p:cNvSpPr txBox="1"/>
          <p:nvPr/>
        </p:nvSpPr>
        <p:spPr>
          <a:xfrm>
            <a:off x="332985" y="2365105"/>
            <a:ext cx="6270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Raiz da</a:t>
            </a:r>
          </a:p>
          <a:p>
            <a:pPr algn="ctr"/>
            <a:r>
              <a:rPr lang="pt-BR" sz="1200" dirty="0"/>
              <a:t>busca</a:t>
            </a:r>
          </a:p>
        </p:txBody>
      </p:sp>
      <p:cxnSp>
        <p:nvCxnSpPr>
          <p:cNvPr id="76" name="Conector de seta reta 75"/>
          <p:cNvCxnSpPr/>
          <p:nvPr/>
        </p:nvCxnSpPr>
        <p:spPr>
          <a:xfrm flipV="1">
            <a:off x="910921" y="2452144"/>
            <a:ext cx="230097" cy="156871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de seta reta 103"/>
          <p:cNvCxnSpPr>
            <a:stCxn id="7" idx="6"/>
            <a:endCxn id="9" idx="1"/>
          </p:cNvCxnSpPr>
          <p:nvPr/>
        </p:nvCxnSpPr>
        <p:spPr>
          <a:xfrm>
            <a:off x="2309608" y="1561104"/>
            <a:ext cx="393124" cy="28825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106"/>
          <p:cNvCxnSpPr>
            <a:stCxn id="8" idx="6"/>
            <a:endCxn id="9" idx="3"/>
          </p:cNvCxnSpPr>
          <p:nvPr/>
        </p:nvCxnSpPr>
        <p:spPr>
          <a:xfrm flipV="1">
            <a:off x="2315659" y="2008430"/>
            <a:ext cx="387073" cy="29484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ela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8288507"/>
              </p:ext>
            </p:extLst>
          </p:nvPr>
        </p:nvGraphicFramePr>
        <p:xfrm>
          <a:off x="3353072" y="1312958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35" name="Conector de seta reta 34"/>
          <p:cNvCxnSpPr/>
          <p:nvPr/>
        </p:nvCxnSpPr>
        <p:spPr>
          <a:xfrm flipH="1">
            <a:off x="4334212" y="4327960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26434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Exemplo</a:t>
            </a:r>
          </a:p>
        </p:txBody>
      </p: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9" name="Elipse 8"/>
          <p:cNvSpPr/>
          <p:nvPr/>
        </p:nvSpPr>
        <p:spPr>
          <a:xfrm>
            <a:off x="2669035" y="1816410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487030" y="3951361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3" name="Conector de seta reta 32"/>
          <p:cNvCxnSpPr/>
          <p:nvPr/>
        </p:nvCxnSpPr>
        <p:spPr>
          <a:xfrm flipH="1">
            <a:off x="447829" y="4327960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>
            <a:spLocks noChangeAspect="1"/>
          </p:cNvSpPr>
          <p:nvPr/>
        </p:nvSpPr>
        <p:spPr>
          <a:xfrm>
            <a:off x="2614391" y="3951360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7" name="Conector de seta reta 36"/>
          <p:cNvCxnSpPr/>
          <p:nvPr/>
        </p:nvCxnSpPr>
        <p:spPr>
          <a:xfrm flipH="1">
            <a:off x="2565126" y="4327960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>
            <a:spLocks noChangeAspect="1"/>
          </p:cNvSpPr>
          <p:nvPr/>
        </p:nvSpPr>
        <p:spPr>
          <a:xfrm>
            <a:off x="4373413" y="3951360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725501" y="3890165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725501" y="4174072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2848900" y="3890165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4616688" y="3890165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616688" y="4174072"/>
            <a:ext cx="1471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retorno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2848900" y="4174072"/>
            <a:ext cx="139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árvore</a:t>
            </a:r>
          </a:p>
        </p:txBody>
      </p: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de seta reta 103"/>
          <p:cNvCxnSpPr>
            <a:stCxn id="7" idx="6"/>
            <a:endCxn id="9" idx="1"/>
          </p:cNvCxnSpPr>
          <p:nvPr/>
        </p:nvCxnSpPr>
        <p:spPr>
          <a:xfrm>
            <a:off x="2309608" y="1561104"/>
            <a:ext cx="393124" cy="28825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106"/>
          <p:cNvCxnSpPr>
            <a:stCxn id="8" idx="6"/>
            <a:endCxn id="9" idx="3"/>
          </p:cNvCxnSpPr>
          <p:nvPr/>
        </p:nvCxnSpPr>
        <p:spPr>
          <a:xfrm flipV="1">
            <a:off x="2315659" y="2008430"/>
            <a:ext cx="387073" cy="29484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ela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7922896"/>
              </p:ext>
            </p:extLst>
          </p:nvPr>
        </p:nvGraphicFramePr>
        <p:xfrm>
          <a:off x="3353072" y="1312958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3" name="CaixaDeTexto 162"/>
          <p:cNvSpPr txBox="1"/>
          <p:nvPr/>
        </p:nvSpPr>
        <p:spPr>
          <a:xfrm>
            <a:off x="957676" y="2774208"/>
            <a:ext cx="6303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BP(e)</a:t>
            </a:r>
            <a:endParaRPr lang="pt-BR" sz="1600" dirty="0"/>
          </a:p>
        </p:txBody>
      </p:sp>
      <p:sp>
        <p:nvSpPr>
          <p:cNvPr id="169" name="Elipse 168"/>
          <p:cNvSpPr/>
          <p:nvPr/>
        </p:nvSpPr>
        <p:spPr>
          <a:xfrm>
            <a:off x="7144577" y="156609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332985" y="2365105"/>
            <a:ext cx="6270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Raiz da</a:t>
            </a:r>
          </a:p>
          <a:p>
            <a:pPr algn="ctr"/>
            <a:r>
              <a:rPr lang="pt-BR" sz="1200" dirty="0"/>
              <a:t>busca</a:t>
            </a:r>
          </a:p>
        </p:txBody>
      </p:sp>
      <p:cxnSp>
        <p:nvCxnSpPr>
          <p:cNvPr id="43" name="Conector de seta reta 42"/>
          <p:cNvCxnSpPr/>
          <p:nvPr/>
        </p:nvCxnSpPr>
        <p:spPr>
          <a:xfrm flipV="1">
            <a:off x="910921" y="2452144"/>
            <a:ext cx="230097" cy="156871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aixaDeTexto 45"/>
          <p:cNvSpPr txBox="1"/>
          <p:nvPr/>
        </p:nvSpPr>
        <p:spPr>
          <a:xfrm>
            <a:off x="6510772" y="4166243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47" name="Conector reto 46"/>
          <p:cNvCxnSpPr/>
          <p:nvPr/>
        </p:nvCxnSpPr>
        <p:spPr>
          <a:xfrm>
            <a:off x="6447710" y="1393377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de seta reta 48"/>
          <p:cNvCxnSpPr/>
          <p:nvPr/>
        </p:nvCxnSpPr>
        <p:spPr>
          <a:xfrm flipH="1">
            <a:off x="4334212" y="4327960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02150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Exemplo</a:t>
            </a:r>
          </a:p>
        </p:txBody>
      </p: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9" name="Elipse 8"/>
          <p:cNvSpPr/>
          <p:nvPr/>
        </p:nvSpPr>
        <p:spPr>
          <a:xfrm>
            <a:off x="2669035" y="1816410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487030" y="3951361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3" name="Conector de seta reta 32"/>
          <p:cNvCxnSpPr/>
          <p:nvPr/>
        </p:nvCxnSpPr>
        <p:spPr>
          <a:xfrm flipH="1">
            <a:off x="447829" y="4327960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>
            <a:spLocks noChangeAspect="1"/>
          </p:cNvSpPr>
          <p:nvPr/>
        </p:nvSpPr>
        <p:spPr>
          <a:xfrm>
            <a:off x="2614391" y="3951360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7" name="Conector de seta reta 36"/>
          <p:cNvCxnSpPr/>
          <p:nvPr/>
        </p:nvCxnSpPr>
        <p:spPr>
          <a:xfrm flipH="1">
            <a:off x="2565126" y="4327960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>
            <a:spLocks noChangeAspect="1"/>
          </p:cNvSpPr>
          <p:nvPr/>
        </p:nvSpPr>
        <p:spPr>
          <a:xfrm>
            <a:off x="4373413" y="3951360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725501" y="3890165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725501" y="4174072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2848900" y="3890165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4616688" y="3890165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616688" y="4174072"/>
            <a:ext cx="1471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retorno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2848900" y="4174072"/>
            <a:ext cx="139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árvore</a:t>
            </a:r>
          </a:p>
        </p:txBody>
      </p: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de seta reta 103"/>
          <p:cNvCxnSpPr>
            <a:stCxn id="7" idx="6"/>
            <a:endCxn id="9" idx="1"/>
          </p:cNvCxnSpPr>
          <p:nvPr/>
        </p:nvCxnSpPr>
        <p:spPr>
          <a:xfrm>
            <a:off x="2309608" y="1561104"/>
            <a:ext cx="393124" cy="28825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106"/>
          <p:cNvCxnSpPr>
            <a:stCxn id="8" idx="6"/>
            <a:endCxn id="9" idx="3"/>
          </p:cNvCxnSpPr>
          <p:nvPr/>
        </p:nvCxnSpPr>
        <p:spPr>
          <a:xfrm flipV="1">
            <a:off x="2315659" y="2008430"/>
            <a:ext cx="387073" cy="29484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ela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7922896"/>
              </p:ext>
            </p:extLst>
          </p:nvPr>
        </p:nvGraphicFramePr>
        <p:xfrm>
          <a:off x="3353072" y="1312958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9" name="Elipse 168"/>
          <p:cNvSpPr/>
          <p:nvPr/>
        </p:nvSpPr>
        <p:spPr>
          <a:xfrm>
            <a:off x="7144577" y="156609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957676" y="2774208"/>
            <a:ext cx="23280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BP(e)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f, b, a, c }</a:t>
            </a:r>
            <a:endParaRPr lang="pt-BR" sz="1600" dirty="0"/>
          </a:p>
        </p:txBody>
      </p:sp>
      <p:sp>
        <p:nvSpPr>
          <p:cNvPr id="43" name="CaixaDeTexto 42"/>
          <p:cNvSpPr txBox="1"/>
          <p:nvPr/>
        </p:nvSpPr>
        <p:spPr>
          <a:xfrm>
            <a:off x="6510772" y="4166243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46" name="Conector reto 45"/>
          <p:cNvCxnSpPr/>
          <p:nvPr/>
        </p:nvCxnSpPr>
        <p:spPr>
          <a:xfrm>
            <a:off x="6447710" y="1393377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de seta reta 46"/>
          <p:cNvCxnSpPr/>
          <p:nvPr/>
        </p:nvCxnSpPr>
        <p:spPr>
          <a:xfrm flipH="1">
            <a:off x="4334212" y="4327960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32358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Exemplo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487030" y="3951361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3" name="Conector de seta reta 32"/>
          <p:cNvCxnSpPr/>
          <p:nvPr/>
        </p:nvCxnSpPr>
        <p:spPr>
          <a:xfrm flipH="1">
            <a:off x="447829" y="4327960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>
            <a:spLocks noChangeAspect="1"/>
          </p:cNvSpPr>
          <p:nvPr/>
        </p:nvSpPr>
        <p:spPr>
          <a:xfrm>
            <a:off x="2614391" y="3951360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7" name="Conector de seta reta 36"/>
          <p:cNvCxnSpPr/>
          <p:nvPr/>
        </p:nvCxnSpPr>
        <p:spPr>
          <a:xfrm flipH="1">
            <a:off x="2565126" y="4327960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>
            <a:spLocks noChangeAspect="1"/>
          </p:cNvSpPr>
          <p:nvPr/>
        </p:nvSpPr>
        <p:spPr>
          <a:xfrm>
            <a:off x="4373413" y="3951360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725501" y="3890165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725501" y="4174072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2848900" y="3890165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4616688" y="3890165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616688" y="4174072"/>
            <a:ext cx="1471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retorno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2848900" y="4174072"/>
            <a:ext cx="139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árvore</a:t>
            </a:r>
          </a:p>
        </p:txBody>
      </p: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de seta reta 103"/>
          <p:cNvCxnSpPr>
            <a:stCxn id="7" idx="6"/>
            <a:endCxn id="9" idx="1"/>
          </p:cNvCxnSpPr>
          <p:nvPr/>
        </p:nvCxnSpPr>
        <p:spPr>
          <a:xfrm>
            <a:off x="2309608" y="1561104"/>
            <a:ext cx="393124" cy="28825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106"/>
          <p:cNvCxnSpPr>
            <a:stCxn id="8" idx="6"/>
            <a:endCxn id="9" idx="3"/>
          </p:cNvCxnSpPr>
          <p:nvPr/>
        </p:nvCxnSpPr>
        <p:spPr>
          <a:xfrm flipV="1">
            <a:off x="2315659" y="2008430"/>
            <a:ext cx="387073" cy="29484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ela 116"/>
          <p:cNvGraphicFramePr>
            <a:graphicFrameLocks noGrp="1"/>
          </p:cNvGraphicFramePr>
          <p:nvPr/>
        </p:nvGraphicFramePr>
        <p:xfrm>
          <a:off x="3353072" y="1312958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9" name="Elipse 168"/>
          <p:cNvSpPr/>
          <p:nvPr/>
        </p:nvSpPr>
        <p:spPr>
          <a:xfrm>
            <a:off x="7144577" y="156609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957676" y="2774208"/>
            <a:ext cx="23903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BP(e)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</a:t>
            </a:r>
            <a:r>
              <a:rPr lang="pt-BR" sz="1600" b="1" dirty="0">
                <a:solidFill>
                  <a:srgbClr val="00B0F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b, a, c }</a:t>
            </a:r>
            <a:endParaRPr lang="pt-BR" sz="1600" dirty="0"/>
          </a:p>
        </p:txBody>
      </p: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9" name="Elipse 8"/>
          <p:cNvSpPr/>
          <p:nvPr/>
        </p:nvSpPr>
        <p:spPr>
          <a:xfrm>
            <a:off x="2669035" y="1816410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43" name="CaixaDeTexto 42"/>
          <p:cNvSpPr txBox="1"/>
          <p:nvPr/>
        </p:nvSpPr>
        <p:spPr>
          <a:xfrm>
            <a:off x="6510772" y="4166243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46" name="Conector reto 45"/>
          <p:cNvCxnSpPr/>
          <p:nvPr/>
        </p:nvCxnSpPr>
        <p:spPr>
          <a:xfrm>
            <a:off x="6447710" y="1393377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de seta reta 46"/>
          <p:cNvCxnSpPr/>
          <p:nvPr/>
        </p:nvCxnSpPr>
        <p:spPr>
          <a:xfrm flipH="1">
            <a:off x="4334212" y="4327960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13698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Exemplo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487030" y="3951361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3" name="Conector de seta reta 32"/>
          <p:cNvCxnSpPr/>
          <p:nvPr/>
        </p:nvCxnSpPr>
        <p:spPr>
          <a:xfrm flipH="1">
            <a:off x="447829" y="4327960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>
            <a:spLocks noChangeAspect="1"/>
          </p:cNvSpPr>
          <p:nvPr/>
        </p:nvSpPr>
        <p:spPr>
          <a:xfrm>
            <a:off x="2614391" y="3951360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7" name="Conector de seta reta 36"/>
          <p:cNvCxnSpPr/>
          <p:nvPr/>
        </p:nvCxnSpPr>
        <p:spPr>
          <a:xfrm flipH="1">
            <a:off x="2565126" y="4327960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>
            <a:spLocks noChangeAspect="1"/>
          </p:cNvSpPr>
          <p:nvPr/>
        </p:nvSpPr>
        <p:spPr>
          <a:xfrm>
            <a:off x="4373413" y="3951360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725501" y="3890165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725501" y="4174072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2848900" y="3890165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4616688" y="3890165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616688" y="4174072"/>
            <a:ext cx="1471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retorno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2848900" y="4174072"/>
            <a:ext cx="139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árvore</a:t>
            </a:r>
          </a:p>
        </p:txBody>
      </p: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de seta reta 103"/>
          <p:cNvCxnSpPr>
            <a:stCxn id="7" idx="6"/>
            <a:endCxn id="9" idx="1"/>
          </p:cNvCxnSpPr>
          <p:nvPr/>
        </p:nvCxnSpPr>
        <p:spPr>
          <a:xfrm>
            <a:off x="2309608" y="1561104"/>
            <a:ext cx="393124" cy="28825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106"/>
          <p:cNvCxnSpPr>
            <a:stCxn id="8" idx="6"/>
            <a:endCxn id="9" idx="3"/>
          </p:cNvCxnSpPr>
          <p:nvPr/>
        </p:nvCxnSpPr>
        <p:spPr>
          <a:xfrm flipV="1">
            <a:off x="2315659" y="2008430"/>
            <a:ext cx="387073" cy="29484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ela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2773528"/>
              </p:ext>
            </p:extLst>
          </p:nvPr>
        </p:nvGraphicFramePr>
        <p:xfrm>
          <a:off x="3353072" y="1312958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e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5" name="CaixaDeTexto 34"/>
          <p:cNvSpPr txBox="1"/>
          <p:nvPr/>
        </p:nvSpPr>
        <p:spPr>
          <a:xfrm>
            <a:off x="957676" y="2774208"/>
            <a:ext cx="23903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BP(e)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</a:t>
            </a:r>
            <a:r>
              <a:rPr lang="pt-BR" sz="1600" b="1" dirty="0">
                <a:solidFill>
                  <a:srgbClr val="00B0F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b, a, c }</a:t>
            </a:r>
            <a:endParaRPr lang="pt-BR" sz="1600" dirty="0"/>
          </a:p>
        </p:txBody>
      </p: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9" name="Elipse 8"/>
          <p:cNvSpPr/>
          <p:nvPr/>
        </p:nvSpPr>
        <p:spPr>
          <a:xfrm>
            <a:off x="2669035" y="1816410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43" name="Conector de seta reta 42"/>
          <p:cNvCxnSpPr>
            <a:stCxn id="46" idx="0"/>
          </p:cNvCxnSpPr>
          <p:nvPr/>
        </p:nvCxnSpPr>
        <p:spPr>
          <a:xfrm flipH="1" flipV="1">
            <a:off x="7259626" y="1791063"/>
            <a:ext cx="1" cy="37113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/>
          <p:cNvSpPr txBox="1"/>
          <p:nvPr/>
        </p:nvSpPr>
        <p:spPr>
          <a:xfrm>
            <a:off x="6510772" y="4166243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48" name="Conector reto 47"/>
          <p:cNvCxnSpPr/>
          <p:nvPr/>
        </p:nvCxnSpPr>
        <p:spPr>
          <a:xfrm>
            <a:off x="6447710" y="1393377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Elipse 168"/>
          <p:cNvSpPr/>
          <p:nvPr/>
        </p:nvSpPr>
        <p:spPr>
          <a:xfrm>
            <a:off x="7144577" y="156609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46" name="Elipse 45"/>
          <p:cNvSpPr/>
          <p:nvPr/>
        </p:nvSpPr>
        <p:spPr>
          <a:xfrm>
            <a:off x="7144578" y="2162193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49" name="Conector de seta reta 48"/>
          <p:cNvCxnSpPr/>
          <p:nvPr/>
        </p:nvCxnSpPr>
        <p:spPr>
          <a:xfrm flipH="1">
            <a:off x="4334212" y="4327960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30938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Exemplo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487030" y="3951361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3" name="Conector de seta reta 32"/>
          <p:cNvCxnSpPr/>
          <p:nvPr/>
        </p:nvCxnSpPr>
        <p:spPr>
          <a:xfrm flipH="1">
            <a:off x="447829" y="4327960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>
            <a:spLocks noChangeAspect="1"/>
          </p:cNvSpPr>
          <p:nvPr/>
        </p:nvSpPr>
        <p:spPr>
          <a:xfrm>
            <a:off x="2614391" y="3951360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7" name="Conector de seta reta 36"/>
          <p:cNvCxnSpPr/>
          <p:nvPr/>
        </p:nvCxnSpPr>
        <p:spPr>
          <a:xfrm flipH="1">
            <a:off x="2565126" y="4327960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>
            <a:spLocks noChangeAspect="1"/>
          </p:cNvSpPr>
          <p:nvPr/>
        </p:nvSpPr>
        <p:spPr>
          <a:xfrm>
            <a:off x="4373413" y="3951360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725501" y="3890165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725501" y="4174072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2848900" y="3890165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4616688" y="3890165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616688" y="4174072"/>
            <a:ext cx="1471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retorno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2848900" y="4174072"/>
            <a:ext cx="139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árvore</a:t>
            </a:r>
          </a:p>
        </p:txBody>
      </p: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de seta reta 103"/>
          <p:cNvCxnSpPr>
            <a:stCxn id="7" idx="6"/>
            <a:endCxn id="9" idx="1"/>
          </p:cNvCxnSpPr>
          <p:nvPr/>
        </p:nvCxnSpPr>
        <p:spPr>
          <a:xfrm>
            <a:off x="2309608" y="1561104"/>
            <a:ext cx="393124" cy="28825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106"/>
          <p:cNvCxnSpPr>
            <a:stCxn id="8" idx="6"/>
            <a:endCxn id="9" idx="3"/>
          </p:cNvCxnSpPr>
          <p:nvPr/>
        </p:nvCxnSpPr>
        <p:spPr>
          <a:xfrm flipV="1">
            <a:off x="2315659" y="2008430"/>
            <a:ext cx="387073" cy="29484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ela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4075254"/>
              </p:ext>
            </p:extLst>
          </p:nvPr>
        </p:nvGraphicFramePr>
        <p:xfrm>
          <a:off x="3353072" y="1312958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e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5" name="CaixaDeTexto 34"/>
          <p:cNvSpPr txBox="1"/>
          <p:nvPr/>
        </p:nvSpPr>
        <p:spPr>
          <a:xfrm>
            <a:off x="957676" y="2774208"/>
            <a:ext cx="23439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BP(e)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</a:t>
            </a:r>
            <a:r>
              <a:rPr lang="pt-BR" sz="1600" b="1" dirty="0">
                <a:solidFill>
                  <a:srgbClr val="00B0F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b, a, c }</a:t>
            </a:r>
            <a:endParaRPr lang="pt-BR" sz="1600" dirty="0"/>
          </a:p>
        </p:txBody>
      </p: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9" name="Elipse 8"/>
          <p:cNvSpPr/>
          <p:nvPr/>
        </p:nvSpPr>
        <p:spPr>
          <a:xfrm>
            <a:off x="2669035" y="1816410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43" name="Conector de seta reta 42"/>
          <p:cNvCxnSpPr>
            <a:stCxn id="46" idx="0"/>
          </p:cNvCxnSpPr>
          <p:nvPr/>
        </p:nvCxnSpPr>
        <p:spPr>
          <a:xfrm flipH="1" flipV="1">
            <a:off x="7259626" y="1791063"/>
            <a:ext cx="1" cy="37113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/>
          <p:cNvSpPr txBox="1"/>
          <p:nvPr/>
        </p:nvSpPr>
        <p:spPr>
          <a:xfrm>
            <a:off x="957676" y="3077091"/>
            <a:ext cx="5932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BP(f)</a:t>
            </a:r>
            <a:endParaRPr lang="pt-BR" sz="1600" dirty="0"/>
          </a:p>
        </p:txBody>
      </p:sp>
      <p:sp>
        <p:nvSpPr>
          <p:cNvPr id="48" name="CaixaDeTexto 47"/>
          <p:cNvSpPr txBox="1"/>
          <p:nvPr/>
        </p:nvSpPr>
        <p:spPr>
          <a:xfrm>
            <a:off x="6510772" y="4166243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49" name="Conector reto 48"/>
          <p:cNvCxnSpPr/>
          <p:nvPr/>
        </p:nvCxnSpPr>
        <p:spPr>
          <a:xfrm>
            <a:off x="6447710" y="1393377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Elipse 168"/>
          <p:cNvSpPr/>
          <p:nvPr/>
        </p:nvSpPr>
        <p:spPr>
          <a:xfrm>
            <a:off x="7144577" y="156609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46" name="Elipse 45"/>
          <p:cNvSpPr/>
          <p:nvPr/>
        </p:nvSpPr>
        <p:spPr>
          <a:xfrm>
            <a:off x="7144578" y="2162193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50" name="Conector de seta reta 49"/>
          <p:cNvCxnSpPr/>
          <p:nvPr/>
        </p:nvCxnSpPr>
        <p:spPr>
          <a:xfrm flipH="1">
            <a:off x="4334212" y="4327960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52539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Exemplo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487030" y="3951361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3" name="Conector de seta reta 32"/>
          <p:cNvCxnSpPr/>
          <p:nvPr/>
        </p:nvCxnSpPr>
        <p:spPr>
          <a:xfrm flipH="1">
            <a:off x="447829" y="4327960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>
            <a:spLocks noChangeAspect="1"/>
          </p:cNvSpPr>
          <p:nvPr/>
        </p:nvSpPr>
        <p:spPr>
          <a:xfrm>
            <a:off x="2614391" y="3951360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7" name="Conector de seta reta 36"/>
          <p:cNvCxnSpPr/>
          <p:nvPr/>
        </p:nvCxnSpPr>
        <p:spPr>
          <a:xfrm flipH="1">
            <a:off x="2565126" y="4327960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>
            <a:spLocks noChangeAspect="1"/>
          </p:cNvSpPr>
          <p:nvPr/>
        </p:nvSpPr>
        <p:spPr>
          <a:xfrm>
            <a:off x="4373413" y="3951360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725501" y="3890165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725501" y="4174072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2848900" y="3890165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4616688" y="3890165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616688" y="4174072"/>
            <a:ext cx="1471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retorno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2848900" y="4174072"/>
            <a:ext cx="139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árvore</a:t>
            </a:r>
          </a:p>
        </p:txBody>
      </p: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de seta reta 103"/>
          <p:cNvCxnSpPr>
            <a:stCxn id="7" idx="6"/>
            <a:endCxn id="9" idx="1"/>
          </p:cNvCxnSpPr>
          <p:nvPr/>
        </p:nvCxnSpPr>
        <p:spPr>
          <a:xfrm>
            <a:off x="2309608" y="1561104"/>
            <a:ext cx="393124" cy="28825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106"/>
          <p:cNvCxnSpPr>
            <a:stCxn id="8" idx="6"/>
            <a:endCxn id="9" idx="3"/>
          </p:cNvCxnSpPr>
          <p:nvPr/>
        </p:nvCxnSpPr>
        <p:spPr>
          <a:xfrm flipV="1">
            <a:off x="2315659" y="2008430"/>
            <a:ext cx="387073" cy="29484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ela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4075254"/>
              </p:ext>
            </p:extLst>
          </p:nvPr>
        </p:nvGraphicFramePr>
        <p:xfrm>
          <a:off x="3353072" y="1312958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e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5" name="CaixaDeTexto 34"/>
          <p:cNvSpPr txBox="1"/>
          <p:nvPr/>
        </p:nvSpPr>
        <p:spPr>
          <a:xfrm>
            <a:off x="957676" y="2774208"/>
            <a:ext cx="23439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BP(e)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</a:t>
            </a:r>
            <a:r>
              <a:rPr lang="pt-BR" sz="1600" b="1" dirty="0">
                <a:solidFill>
                  <a:srgbClr val="00B0F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b, a, c }</a:t>
            </a:r>
            <a:endParaRPr lang="pt-BR" sz="1600" dirty="0"/>
          </a:p>
        </p:txBody>
      </p: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9" name="Elipse 8"/>
          <p:cNvSpPr/>
          <p:nvPr/>
        </p:nvSpPr>
        <p:spPr>
          <a:xfrm>
            <a:off x="2669035" y="1816410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43" name="Conector de seta reta 42"/>
          <p:cNvCxnSpPr>
            <a:stCxn id="46" idx="0"/>
          </p:cNvCxnSpPr>
          <p:nvPr/>
        </p:nvCxnSpPr>
        <p:spPr>
          <a:xfrm flipH="1" flipV="1">
            <a:off x="7259626" y="1791063"/>
            <a:ext cx="1" cy="37113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/>
          <p:cNvSpPr txBox="1"/>
          <p:nvPr/>
        </p:nvSpPr>
        <p:spPr>
          <a:xfrm>
            <a:off x="957676" y="3077091"/>
            <a:ext cx="22249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BP(f) 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(f)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b, d, e }</a:t>
            </a:r>
            <a:endParaRPr lang="pt-BR" sz="1600" dirty="0"/>
          </a:p>
        </p:txBody>
      </p:sp>
      <p:sp>
        <p:nvSpPr>
          <p:cNvPr id="47" name="CaixaDeTexto 46"/>
          <p:cNvSpPr txBox="1"/>
          <p:nvPr/>
        </p:nvSpPr>
        <p:spPr>
          <a:xfrm>
            <a:off x="6510772" y="4166243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49" name="Conector reto 48"/>
          <p:cNvCxnSpPr/>
          <p:nvPr/>
        </p:nvCxnSpPr>
        <p:spPr>
          <a:xfrm>
            <a:off x="6447710" y="1393377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Elipse 168"/>
          <p:cNvSpPr/>
          <p:nvPr/>
        </p:nvSpPr>
        <p:spPr>
          <a:xfrm>
            <a:off x="7144577" y="156609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46" name="Elipse 45"/>
          <p:cNvSpPr/>
          <p:nvPr/>
        </p:nvSpPr>
        <p:spPr>
          <a:xfrm>
            <a:off x="7144578" y="2162193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50" name="Conector de seta reta 49"/>
          <p:cNvCxnSpPr/>
          <p:nvPr/>
        </p:nvCxnSpPr>
        <p:spPr>
          <a:xfrm flipH="1">
            <a:off x="4334212" y="4327960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05930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Exemplo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487030" y="3951361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3" name="Conector de seta reta 32"/>
          <p:cNvCxnSpPr/>
          <p:nvPr/>
        </p:nvCxnSpPr>
        <p:spPr>
          <a:xfrm flipH="1">
            <a:off x="447829" y="4327960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>
            <a:spLocks noChangeAspect="1"/>
          </p:cNvSpPr>
          <p:nvPr/>
        </p:nvSpPr>
        <p:spPr>
          <a:xfrm>
            <a:off x="2614391" y="3951360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7" name="Conector de seta reta 36"/>
          <p:cNvCxnSpPr/>
          <p:nvPr/>
        </p:nvCxnSpPr>
        <p:spPr>
          <a:xfrm flipH="1">
            <a:off x="2565126" y="4327960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>
            <a:spLocks noChangeAspect="1"/>
          </p:cNvSpPr>
          <p:nvPr/>
        </p:nvSpPr>
        <p:spPr>
          <a:xfrm>
            <a:off x="4373413" y="3951360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725501" y="3890165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725501" y="4174072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2848900" y="3890165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4616688" y="3890165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616688" y="4174072"/>
            <a:ext cx="1471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retorno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2848900" y="4174072"/>
            <a:ext cx="139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árvore</a:t>
            </a:r>
          </a:p>
        </p:txBody>
      </p: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de seta reta 103"/>
          <p:cNvCxnSpPr>
            <a:stCxn id="7" idx="6"/>
            <a:endCxn id="9" idx="1"/>
          </p:cNvCxnSpPr>
          <p:nvPr/>
        </p:nvCxnSpPr>
        <p:spPr>
          <a:xfrm>
            <a:off x="2309608" y="1561104"/>
            <a:ext cx="393124" cy="28825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106"/>
          <p:cNvCxnSpPr>
            <a:stCxn id="8" idx="6"/>
            <a:endCxn id="9" idx="3"/>
          </p:cNvCxnSpPr>
          <p:nvPr/>
        </p:nvCxnSpPr>
        <p:spPr>
          <a:xfrm flipV="1">
            <a:off x="2315659" y="2008430"/>
            <a:ext cx="387073" cy="29484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ela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4075254"/>
              </p:ext>
            </p:extLst>
          </p:nvPr>
        </p:nvGraphicFramePr>
        <p:xfrm>
          <a:off x="3353072" y="1312958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e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5" name="CaixaDeTexto 34"/>
          <p:cNvSpPr txBox="1"/>
          <p:nvPr/>
        </p:nvSpPr>
        <p:spPr>
          <a:xfrm>
            <a:off x="957676" y="2774208"/>
            <a:ext cx="23439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BP(e)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</a:t>
            </a:r>
            <a:r>
              <a:rPr lang="pt-BR" sz="1600" b="1" dirty="0">
                <a:solidFill>
                  <a:srgbClr val="00B0F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b, a, c }</a:t>
            </a:r>
            <a:endParaRPr lang="pt-BR" sz="1600" dirty="0"/>
          </a:p>
        </p:txBody>
      </p: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9" name="Elipse 8"/>
          <p:cNvSpPr/>
          <p:nvPr/>
        </p:nvSpPr>
        <p:spPr>
          <a:xfrm>
            <a:off x="2669035" y="1816410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43" name="Conector de seta reta 42"/>
          <p:cNvCxnSpPr>
            <a:stCxn id="46" idx="0"/>
          </p:cNvCxnSpPr>
          <p:nvPr/>
        </p:nvCxnSpPr>
        <p:spPr>
          <a:xfrm flipH="1" flipV="1">
            <a:off x="7259626" y="1791063"/>
            <a:ext cx="1" cy="37113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/>
          <p:cNvSpPr txBox="1"/>
          <p:nvPr/>
        </p:nvSpPr>
        <p:spPr>
          <a:xfrm>
            <a:off x="957676" y="3077091"/>
            <a:ext cx="22281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BP(f) 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(f) </a:t>
            </a:r>
            <a:r>
              <a:rPr lang="pt-B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d, e }</a:t>
            </a:r>
            <a:endParaRPr lang="pt-BR" sz="1600" dirty="0"/>
          </a:p>
        </p:txBody>
      </p:sp>
      <p:sp>
        <p:nvSpPr>
          <p:cNvPr id="47" name="CaixaDeTexto 46"/>
          <p:cNvSpPr txBox="1"/>
          <p:nvPr/>
        </p:nvSpPr>
        <p:spPr>
          <a:xfrm>
            <a:off x="6510772" y="4166243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49" name="Conector reto 48"/>
          <p:cNvCxnSpPr/>
          <p:nvPr/>
        </p:nvCxnSpPr>
        <p:spPr>
          <a:xfrm>
            <a:off x="6447710" y="1393377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Elipse 168"/>
          <p:cNvSpPr/>
          <p:nvPr/>
        </p:nvSpPr>
        <p:spPr>
          <a:xfrm>
            <a:off x="7144577" y="156609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46" name="Elipse 45"/>
          <p:cNvSpPr/>
          <p:nvPr/>
        </p:nvSpPr>
        <p:spPr>
          <a:xfrm>
            <a:off x="7144578" y="2162193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50" name="Conector de seta reta 49"/>
          <p:cNvCxnSpPr/>
          <p:nvPr/>
        </p:nvCxnSpPr>
        <p:spPr>
          <a:xfrm flipH="1">
            <a:off x="4334212" y="4327960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30603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Exemplo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487030" y="3951361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3" name="Conector de seta reta 32"/>
          <p:cNvCxnSpPr/>
          <p:nvPr/>
        </p:nvCxnSpPr>
        <p:spPr>
          <a:xfrm flipH="1">
            <a:off x="447829" y="4327960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>
            <a:spLocks noChangeAspect="1"/>
          </p:cNvSpPr>
          <p:nvPr/>
        </p:nvSpPr>
        <p:spPr>
          <a:xfrm>
            <a:off x="2614391" y="3951360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7" name="Conector de seta reta 36"/>
          <p:cNvCxnSpPr/>
          <p:nvPr/>
        </p:nvCxnSpPr>
        <p:spPr>
          <a:xfrm flipH="1">
            <a:off x="2565126" y="4327960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>
            <a:spLocks noChangeAspect="1"/>
          </p:cNvSpPr>
          <p:nvPr/>
        </p:nvSpPr>
        <p:spPr>
          <a:xfrm>
            <a:off x="4373413" y="3951360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725501" y="3890165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725501" y="4174072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2848900" y="3890165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4616688" y="3890165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616688" y="4174072"/>
            <a:ext cx="1471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retorno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2848900" y="4174072"/>
            <a:ext cx="139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árvore</a:t>
            </a:r>
          </a:p>
        </p:txBody>
      </p: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de seta reta 103"/>
          <p:cNvCxnSpPr>
            <a:stCxn id="7" idx="6"/>
            <a:endCxn id="9" idx="1"/>
          </p:cNvCxnSpPr>
          <p:nvPr/>
        </p:nvCxnSpPr>
        <p:spPr>
          <a:xfrm>
            <a:off x="2309608" y="1561104"/>
            <a:ext cx="393124" cy="28825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106"/>
          <p:cNvCxnSpPr>
            <a:stCxn id="8" idx="6"/>
            <a:endCxn id="9" idx="3"/>
          </p:cNvCxnSpPr>
          <p:nvPr/>
        </p:nvCxnSpPr>
        <p:spPr>
          <a:xfrm flipV="1">
            <a:off x="2315659" y="2008430"/>
            <a:ext cx="387073" cy="29484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ela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3179661"/>
              </p:ext>
            </p:extLst>
          </p:nvPr>
        </p:nvGraphicFramePr>
        <p:xfrm>
          <a:off x="3353072" y="1312958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f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e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5" name="CaixaDeTexto 34"/>
          <p:cNvSpPr txBox="1"/>
          <p:nvPr/>
        </p:nvSpPr>
        <p:spPr>
          <a:xfrm>
            <a:off x="957676" y="2774208"/>
            <a:ext cx="23439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BP(e)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</a:t>
            </a:r>
            <a:r>
              <a:rPr lang="pt-BR" sz="1600" b="1" dirty="0">
                <a:solidFill>
                  <a:srgbClr val="00B0F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b, a, c }</a:t>
            </a:r>
            <a:endParaRPr lang="pt-BR" sz="1600" dirty="0"/>
          </a:p>
        </p:txBody>
      </p: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9" name="Elipse 8"/>
          <p:cNvSpPr/>
          <p:nvPr/>
        </p:nvSpPr>
        <p:spPr>
          <a:xfrm>
            <a:off x="2669035" y="1816410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43" name="Conector de seta reta 42"/>
          <p:cNvCxnSpPr>
            <a:stCxn id="46" idx="0"/>
          </p:cNvCxnSpPr>
          <p:nvPr/>
        </p:nvCxnSpPr>
        <p:spPr>
          <a:xfrm flipH="1" flipV="1">
            <a:off x="7259626" y="1791063"/>
            <a:ext cx="1" cy="37113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/>
          <p:cNvSpPr txBox="1"/>
          <p:nvPr/>
        </p:nvSpPr>
        <p:spPr>
          <a:xfrm>
            <a:off x="957676" y="3077091"/>
            <a:ext cx="22281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BP(f) 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(f)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d, e }</a:t>
            </a:r>
            <a:endParaRPr lang="pt-BR" sz="1600" dirty="0"/>
          </a:p>
        </p:txBody>
      </p:sp>
      <p:cxnSp>
        <p:nvCxnSpPr>
          <p:cNvPr id="47" name="Conector de seta reta 46"/>
          <p:cNvCxnSpPr>
            <a:stCxn id="49" idx="0"/>
          </p:cNvCxnSpPr>
          <p:nvPr/>
        </p:nvCxnSpPr>
        <p:spPr>
          <a:xfrm flipV="1">
            <a:off x="7259627" y="2387158"/>
            <a:ext cx="0" cy="37087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CaixaDeTexto 49"/>
          <p:cNvSpPr txBox="1"/>
          <p:nvPr/>
        </p:nvSpPr>
        <p:spPr>
          <a:xfrm>
            <a:off x="6510772" y="4166243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51" name="Conector reto 50"/>
          <p:cNvCxnSpPr/>
          <p:nvPr/>
        </p:nvCxnSpPr>
        <p:spPr>
          <a:xfrm>
            <a:off x="6447710" y="1393377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Elipse 168"/>
          <p:cNvSpPr/>
          <p:nvPr/>
        </p:nvSpPr>
        <p:spPr>
          <a:xfrm>
            <a:off x="7144577" y="156609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46" name="Elipse 45"/>
          <p:cNvSpPr/>
          <p:nvPr/>
        </p:nvSpPr>
        <p:spPr>
          <a:xfrm>
            <a:off x="7144578" y="2162193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49" name="Elipse 48"/>
          <p:cNvSpPr/>
          <p:nvPr/>
        </p:nvSpPr>
        <p:spPr>
          <a:xfrm>
            <a:off x="7144578" y="275802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52" name="Conector de seta reta 51"/>
          <p:cNvCxnSpPr/>
          <p:nvPr/>
        </p:nvCxnSpPr>
        <p:spPr>
          <a:xfrm flipH="1">
            <a:off x="4334212" y="4327960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84155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Exemplo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487030" y="3951361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3" name="Conector de seta reta 32"/>
          <p:cNvCxnSpPr/>
          <p:nvPr/>
        </p:nvCxnSpPr>
        <p:spPr>
          <a:xfrm flipH="1">
            <a:off x="447829" y="4327960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>
            <a:spLocks noChangeAspect="1"/>
          </p:cNvSpPr>
          <p:nvPr/>
        </p:nvSpPr>
        <p:spPr>
          <a:xfrm>
            <a:off x="2614391" y="3951360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7" name="Conector de seta reta 36"/>
          <p:cNvCxnSpPr/>
          <p:nvPr/>
        </p:nvCxnSpPr>
        <p:spPr>
          <a:xfrm flipH="1">
            <a:off x="2565126" y="4327960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>
            <a:spLocks noChangeAspect="1"/>
          </p:cNvSpPr>
          <p:nvPr/>
        </p:nvSpPr>
        <p:spPr>
          <a:xfrm>
            <a:off x="4373413" y="3951360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725501" y="3890165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725501" y="4174072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2848900" y="3890165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4616688" y="3890165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616688" y="4174072"/>
            <a:ext cx="1471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retorno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2848900" y="4174072"/>
            <a:ext cx="139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árvore</a:t>
            </a:r>
          </a:p>
        </p:txBody>
      </p: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de seta reta 103"/>
          <p:cNvCxnSpPr>
            <a:stCxn id="7" idx="6"/>
            <a:endCxn id="9" idx="1"/>
          </p:cNvCxnSpPr>
          <p:nvPr/>
        </p:nvCxnSpPr>
        <p:spPr>
          <a:xfrm>
            <a:off x="2309608" y="1561104"/>
            <a:ext cx="393124" cy="28825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106"/>
          <p:cNvCxnSpPr>
            <a:stCxn id="8" idx="6"/>
            <a:endCxn id="9" idx="3"/>
          </p:cNvCxnSpPr>
          <p:nvPr/>
        </p:nvCxnSpPr>
        <p:spPr>
          <a:xfrm flipV="1">
            <a:off x="2315659" y="2008430"/>
            <a:ext cx="387073" cy="29484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ela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6269964"/>
              </p:ext>
            </p:extLst>
          </p:nvPr>
        </p:nvGraphicFramePr>
        <p:xfrm>
          <a:off x="3353072" y="1312958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f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e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5" name="CaixaDeTexto 34"/>
          <p:cNvSpPr txBox="1"/>
          <p:nvPr/>
        </p:nvSpPr>
        <p:spPr>
          <a:xfrm>
            <a:off x="957676" y="2774208"/>
            <a:ext cx="23439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BP(e)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</a:t>
            </a:r>
            <a:r>
              <a:rPr lang="pt-BR" sz="1600" b="1" dirty="0">
                <a:solidFill>
                  <a:srgbClr val="00B0F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b, a, c }</a:t>
            </a:r>
            <a:endParaRPr lang="pt-BR" sz="1600" dirty="0"/>
          </a:p>
        </p:txBody>
      </p: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9" name="Elipse 8"/>
          <p:cNvSpPr/>
          <p:nvPr/>
        </p:nvSpPr>
        <p:spPr>
          <a:xfrm>
            <a:off x="2669035" y="1816410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43" name="Conector de seta reta 42"/>
          <p:cNvCxnSpPr>
            <a:stCxn id="46" idx="0"/>
          </p:cNvCxnSpPr>
          <p:nvPr/>
        </p:nvCxnSpPr>
        <p:spPr>
          <a:xfrm flipH="1" flipV="1">
            <a:off x="7259626" y="1791063"/>
            <a:ext cx="1" cy="37113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/>
          <p:cNvSpPr txBox="1"/>
          <p:nvPr/>
        </p:nvSpPr>
        <p:spPr>
          <a:xfrm>
            <a:off x="957676" y="3077091"/>
            <a:ext cx="22281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BP(f) 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(f)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d, e }</a:t>
            </a:r>
            <a:endParaRPr lang="pt-BR" sz="1600" dirty="0"/>
          </a:p>
        </p:txBody>
      </p:sp>
      <p:cxnSp>
        <p:nvCxnSpPr>
          <p:cNvPr id="47" name="Conector de seta reta 46"/>
          <p:cNvCxnSpPr>
            <a:stCxn id="49" idx="0"/>
          </p:cNvCxnSpPr>
          <p:nvPr/>
        </p:nvCxnSpPr>
        <p:spPr>
          <a:xfrm flipV="1">
            <a:off x="7259627" y="2387158"/>
            <a:ext cx="0" cy="37087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CaixaDeTexto 49"/>
          <p:cNvSpPr txBox="1"/>
          <p:nvPr/>
        </p:nvSpPr>
        <p:spPr>
          <a:xfrm>
            <a:off x="957676" y="3379974"/>
            <a:ext cx="6351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BP(b)</a:t>
            </a:r>
            <a:endParaRPr lang="pt-BR" sz="1600" dirty="0"/>
          </a:p>
        </p:txBody>
      </p:sp>
      <p:sp>
        <p:nvSpPr>
          <p:cNvPr id="51" name="CaixaDeTexto 50"/>
          <p:cNvSpPr txBox="1"/>
          <p:nvPr/>
        </p:nvSpPr>
        <p:spPr>
          <a:xfrm>
            <a:off x="6510772" y="4166243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52" name="Conector reto 51"/>
          <p:cNvCxnSpPr/>
          <p:nvPr/>
        </p:nvCxnSpPr>
        <p:spPr>
          <a:xfrm>
            <a:off x="6447710" y="1393377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Elipse 168"/>
          <p:cNvSpPr/>
          <p:nvPr/>
        </p:nvSpPr>
        <p:spPr>
          <a:xfrm>
            <a:off x="7144577" y="156609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46" name="Elipse 45"/>
          <p:cNvSpPr/>
          <p:nvPr/>
        </p:nvSpPr>
        <p:spPr>
          <a:xfrm>
            <a:off x="7144578" y="2162193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49" name="Elipse 48"/>
          <p:cNvSpPr/>
          <p:nvPr/>
        </p:nvSpPr>
        <p:spPr>
          <a:xfrm>
            <a:off x="7144578" y="275802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53" name="Conector de seta reta 52"/>
          <p:cNvCxnSpPr/>
          <p:nvPr/>
        </p:nvCxnSpPr>
        <p:spPr>
          <a:xfrm flipH="1">
            <a:off x="4334212" y="4327960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6105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Exemplo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487030" y="3951361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3" name="Conector de seta reta 32"/>
          <p:cNvCxnSpPr/>
          <p:nvPr/>
        </p:nvCxnSpPr>
        <p:spPr>
          <a:xfrm flipH="1">
            <a:off x="447829" y="4327960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>
            <a:spLocks noChangeAspect="1"/>
          </p:cNvSpPr>
          <p:nvPr/>
        </p:nvSpPr>
        <p:spPr>
          <a:xfrm>
            <a:off x="2614391" y="3951360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7" name="Conector de seta reta 36"/>
          <p:cNvCxnSpPr/>
          <p:nvPr/>
        </p:nvCxnSpPr>
        <p:spPr>
          <a:xfrm flipH="1">
            <a:off x="2565126" y="4327960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>
            <a:spLocks noChangeAspect="1"/>
          </p:cNvSpPr>
          <p:nvPr/>
        </p:nvSpPr>
        <p:spPr>
          <a:xfrm>
            <a:off x="4373413" y="3951360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725501" y="3890165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725501" y="4174072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2848900" y="3890165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4616688" y="3890165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616688" y="4174072"/>
            <a:ext cx="1471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retorno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2848900" y="4174072"/>
            <a:ext cx="139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árvore</a:t>
            </a:r>
          </a:p>
        </p:txBody>
      </p: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de seta reta 103"/>
          <p:cNvCxnSpPr>
            <a:stCxn id="7" idx="6"/>
            <a:endCxn id="9" idx="1"/>
          </p:cNvCxnSpPr>
          <p:nvPr/>
        </p:nvCxnSpPr>
        <p:spPr>
          <a:xfrm>
            <a:off x="2309608" y="1561104"/>
            <a:ext cx="393124" cy="28825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106"/>
          <p:cNvCxnSpPr>
            <a:stCxn id="8" idx="6"/>
            <a:endCxn id="9" idx="3"/>
          </p:cNvCxnSpPr>
          <p:nvPr/>
        </p:nvCxnSpPr>
        <p:spPr>
          <a:xfrm flipV="1">
            <a:off x="2315659" y="2008430"/>
            <a:ext cx="387073" cy="29484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ela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6269964"/>
              </p:ext>
            </p:extLst>
          </p:nvPr>
        </p:nvGraphicFramePr>
        <p:xfrm>
          <a:off x="3353072" y="1312958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f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e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5" name="CaixaDeTexto 34"/>
          <p:cNvSpPr txBox="1"/>
          <p:nvPr/>
        </p:nvSpPr>
        <p:spPr>
          <a:xfrm>
            <a:off x="957676" y="2774208"/>
            <a:ext cx="23439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BP(e)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</a:t>
            </a:r>
            <a:r>
              <a:rPr lang="pt-BR" sz="1600" b="1" dirty="0">
                <a:solidFill>
                  <a:srgbClr val="00B0F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b, a, c }</a:t>
            </a:r>
            <a:endParaRPr lang="pt-BR" sz="1600" dirty="0"/>
          </a:p>
        </p:txBody>
      </p: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9" name="Elipse 8"/>
          <p:cNvSpPr/>
          <p:nvPr/>
        </p:nvSpPr>
        <p:spPr>
          <a:xfrm>
            <a:off x="2669035" y="1816410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43" name="Conector de seta reta 42"/>
          <p:cNvCxnSpPr>
            <a:stCxn id="46" idx="0"/>
          </p:cNvCxnSpPr>
          <p:nvPr/>
        </p:nvCxnSpPr>
        <p:spPr>
          <a:xfrm flipH="1" flipV="1">
            <a:off x="7259626" y="1791063"/>
            <a:ext cx="1" cy="37113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/>
          <p:cNvSpPr txBox="1"/>
          <p:nvPr/>
        </p:nvSpPr>
        <p:spPr>
          <a:xfrm>
            <a:off x="957676" y="3077091"/>
            <a:ext cx="22281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BP(f) 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(f)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d, e }</a:t>
            </a:r>
            <a:endParaRPr lang="pt-BR" sz="1600" dirty="0"/>
          </a:p>
        </p:txBody>
      </p:sp>
      <p:cxnSp>
        <p:nvCxnSpPr>
          <p:cNvPr id="47" name="Conector de seta reta 46"/>
          <p:cNvCxnSpPr>
            <a:stCxn id="49" idx="0"/>
          </p:cNvCxnSpPr>
          <p:nvPr/>
        </p:nvCxnSpPr>
        <p:spPr>
          <a:xfrm flipV="1">
            <a:off x="7259627" y="2387158"/>
            <a:ext cx="0" cy="37087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CaixaDeTexto 50"/>
          <p:cNvSpPr txBox="1"/>
          <p:nvPr/>
        </p:nvSpPr>
        <p:spPr>
          <a:xfrm>
            <a:off x="957676" y="3379974"/>
            <a:ext cx="23663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BP(b)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= { d, e, a, f }</a:t>
            </a:r>
            <a:endParaRPr lang="pt-BR" sz="1600" dirty="0"/>
          </a:p>
        </p:txBody>
      </p:sp>
      <p:sp>
        <p:nvSpPr>
          <p:cNvPr id="50" name="CaixaDeTexto 49"/>
          <p:cNvSpPr txBox="1"/>
          <p:nvPr/>
        </p:nvSpPr>
        <p:spPr>
          <a:xfrm>
            <a:off x="6510772" y="4166243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52" name="Conector reto 51"/>
          <p:cNvCxnSpPr/>
          <p:nvPr/>
        </p:nvCxnSpPr>
        <p:spPr>
          <a:xfrm>
            <a:off x="6447710" y="1393377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Elipse 168"/>
          <p:cNvSpPr/>
          <p:nvPr/>
        </p:nvSpPr>
        <p:spPr>
          <a:xfrm>
            <a:off x="7144577" y="156609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46" name="Elipse 45"/>
          <p:cNvSpPr/>
          <p:nvPr/>
        </p:nvSpPr>
        <p:spPr>
          <a:xfrm>
            <a:off x="7144578" y="2162193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49" name="Elipse 48"/>
          <p:cNvSpPr/>
          <p:nvPr/>
        </p:nvSpPr>
        <p:spPr>
          <a:xfrm>
            <a:off x="7144578" y="275802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53" name="Conector de seta reta 52"/>
          <p:cNvCxnSpPr/>
          <p:nvPr/>
        </p:nvCxnSpPr>
        <p:spPr>
          <a:xfrm flipH="1">
            <a:off x="4334212" y="4327960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73779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Exemplo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487030" y="3951361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3" name="Conector de seta reta 32"/>
          <p:cNvCxnSpPr/>
          <p:nvPr/>
        </p:nvCxnSpPr>
        <p:spPr>
          <a:xfrm flipH="1">
            <a:off x="447829" y="4327960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>
            <a:spLocks noChangeAspect="1"/>
          </p:cNvSpPr>
          <p:nvPr/>
        </p:nvSpPr>
        <p:spPr>
          <a:xfrm>
            <a:off x="2614391" y="3951360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7" name="Conector de seta reta 36"/>
          <p:cNvCxnSpPr/>
          <p:nvPr/>
        </p:nvCxnSpPr>
        <p:spPr>
          <a:xfrm flipH="1">
            <a:off x="2565126" y="4327960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>
            <a:spLocks noChangeAspect="1"/>
          </p:cNvSpPr>
          <p:nvPr/>
        </p:nvSpPr>
        <p:spPr>
          <a:xfrm>
            <a:off x="4373413" y="3951360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725501" y="3890165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725501" y="4174072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2848900" y="3890165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4616688" y="3890165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616688" y="4174072"/>
            <a:ext cx="1471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retorno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2848900" y="4174072"/>
            <a:ext cx="139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árvore</a:t>
            </a:r>
          </a:p>
        </p:txBody>
      </p: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de seta reta 103"/>
          <p:cNvCxnSpPr>
            <a:stCxn id="7" idx="6"/>
            <a:endCxn id="9" idx="1"/>
          </p:cNvCxnSpPr>
          <p:nvPr/>
        </p:nvCxnSpPr>
        <p:spPr>
          <a:xfrm>
            <a:off x="2309608" y="1561104"/>
            <a:ext cx="393124" cy="28825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106"/>
          <p:cNvCxnSpPr>
            <a:stCxn id="8" idx="6"/>
            <a:endCxn id="9" idx="3"/>
          </p:cNvCxnSpPr>
          <p:nvPr/>
        </p:nvCxnSpPr>
        <p:spPr>
          <a:xfrm flipV="1">
            <a:off x="2315659" y="2008430"/>
            <a:ext cx="387073" cy="29484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ela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6269964"/>
              </p:ext>
            </p:extLst>
          </p:nvPr>
        </p:nvGraphicFramePr>
        <p:xfrm>
          <a:off x="3353072" y="1312958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f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e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5" name="CaixaDeTexto 34"/>
          <p:cNvSpPr txBox="1"/>
          <p:nvPr/>
        </p:nvSpPr>
        <p:spPr>
          <a:xfrm>
            <a:off x="957676" y="2774208"/>
            <a:ext cx="23439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BP(e)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</a:t>
            </a:r>
            <a:r>
              <a:rPr lang="pt-BR" sz="1600" b="1" dirty="0">
                <a:solidFill>
                  <a:srgbClr val="00B0F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b, a, c }</a:t>
            </a:r>
            <a:endParaRPr lang="pt-BR" sz="1600" dirty="0"/>
          </a:p>
        </p:txBody>
      </p: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9" name="Elipse 8"/>
          <p:cNvSpPr/>
          <p:nvPr/>
        </p:nvSpPr>
        <p:spPr>
          <a:xfrm>
            <a:off x="2669035" y="1816410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43" name="Conector de seta reta 42"/>
          <p:cNvCxnSpPr>
            <a:stCxn id="46" idx="0"/>
          </p:cNvCxnSpPr>
          <p:nvPr/>
        </p:nvCxnSpPr>
        <p:spPr>
          <a:xfrm flipH="1" flipV="1">
            <a:off x="7259626" y="1791063"/>
            <a:ext cx="1" cy="37113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/>
          <p:cNvSpPr txBox="1"/>
          <p:nvPr/>
        </p:nvSpPr>
        <p:spPr>
          <a:xfrm>
            <a:off x="957676" y="3077091"/>
            <a:ext cx="22281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BP(f) 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(f)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d, e }</a:t>
            </a:r>
            <a:endParaRPr lang="pt-BR" sz="1600" dirty="0"/>
          </a:p>
        </p:txBody>
      </p:sp>
      <p:cxnSp>
        <p:nvCxnSpPr>
          <p:cNvPr id="47" name="Conector de seta reta 46"/>
          <p:cNvCxnSpPr>
            <a:stCxn id="49" idx="0"/>
          </p:cNvCxnSpPr>
          <p:nvPr/>
        </p:nvCxnSpPr>
        <p:spPr>
          <a:xfrm flipV="1">
            <a:off x="7259627" y="2387158"/>
            <a:ext cx="0" cy="37087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CaixaDeTexto 50"/>
          <p:cNvSpPr txBox="1"/>
          <p:nvPr/>
        </p:nvSpPr>
        <p:spPr>
          <a:xfrm>
            <a:off x="957676" y="3379974"/>
            <a:ext cx="23695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BP(b)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= { </a:t>
            </a:r>
            <a:r>
              <a:rPr lang="pt-BR" sz="1600" b="1" dirty="0">
                <a:solidFill>
                  <a:srgbClr val="00B0F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e, a, f }</a:t>
            </a:r>
            <a:endParaRPr lang="pt-BR" sz="1600" dirty="0"/>
          </a:p>
        </p:txBody>
      </p:sp>
      <p:sp>
        <p:nvSpPr>
          <p:cNvPr id="50" name="CaixaDeTexto 49"/>
          <p:cNvSpPr txBox="1"/>
          <p:nvPr/>
        </p:nvSpPr>
        <p:spPr>
          <a:xfrm>
            <a:off x="6510772" y="4166243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52" name="Conector reto 51"/>
          <p:cNvCxnSpPr/>
          <p:nvPr/>
        </p:nvCxnSpPr>
        <p:spPr>
          <a:xfrm>
            <a:off x="6447710" y="1393377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Elipse 168"/>
          <p:cNvSpPr/>
          <p:nvPr/>
        </p:nvSpPr>
        <p:spPr>
          <a:xfrm>
            <a:off x="7144577" y="156609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46" name="Elipse 45"/>
          <p:cNvSpPr/>
          <p:nvPr/>
        </p:nvSpPr>
        <p:spPr>
          <a:xfrm>
            <a:off x="7144578" y="2162193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49" name="Elipse 48"/>
          <p:cNvSpPr/>
          <p:nvPr/>
        </p:nvSpPr>
        <p:spPr>
          <a:xfrm>
            <a:off x="7144578" y="275802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53" name="Conector de seta reta 52"/>
          <p:cNvCxnSpPr/>
          <p:nvPr/>
        </p:nvCxnSpPr>
        <p:spPr>
          <a:xfrm flipH="1">
            <a:off x="4334212" y="4327960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43802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Exemplo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487030" y="3951361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3" name="Conector de seta reta 32"/>
          <p:cNvCxnSpPr/>
          <p:nvPr/>
        </p:nvCxnSpPr>
        <p:spPr>
          <a:xfrm flipH="1">
            <a:off x="447829" y="4327960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>
            <a:spLocks noChangeAspect="1"/>
          </p:cNvSpPr>
          <p:nvPr/>
        </p:nvSpPr>
        <p:spPr>
          <a:xfrm>
            <a:off x="2614391" y="3951360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7" name="Conector de seta reta 36"/>
          <p:cNvCxnSpPr/>
          <p:nvPr/>
        </p:nvCxnSpPr>
        <p:spPr>
          <a:xfrm flipH="1">
            <a:off x="2565126" y="4327960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>
            <a:spLocks noChangeAspect="1"/>
          </p:cNvSpPr>
          <p:nvPr/>
        </p:nvSpPr>
        <p:spPr>
          <a:xfrm>
            <a:off x="4373413" y="3951360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725501" y="3890165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725501" y="4174072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2848900" y="3890165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4616688" y="3890165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616688" y="4174072"/>
            <a:ext cx="1471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retorno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2848900" y="4174072"/>
            <a:ext cx="139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árvore</a:t>
            </a:r>
          </a:p>
        </p:txBody>
      </p: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de seta reta 103"/>
          <p:cNvCxnSpPr>
            <a:stCxn id="7" idx="6"/>
            <a:endCxn id="9" idx="1"/>
          </p:cNvCxnSpPr>
          <p:nvPr/>
        </p:nvCxnSpPr>
        <p:spPr>
          <a:xfrm>
            <a:off x="2309608" y="1561104"/>
            <a:ext cx="393124" cy="28825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106"/>
          <p:cNvCxnSpPr>
            <a:stCxn id="8" idx="6"/>
            <a:endCxn id="9" idx="3"/>
          </p:cNvCxnSpPr>
          <p:nvPr/>
        </p:nvCxnSpPr>
        <p:spPr>
          <a:xfrm flipV="1">
            <a:off x="2315659" y="2008430"/>
            <a:ext cx="387073" cy="29484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ela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0942139"/>
              </p:ext>
            </p:extLst>
          </p:nvPr>
        </p:nvGraphicFramePr>
        <p:xfrm>
          <a:off x="3353072" y="1312958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f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e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5" name="CaixaDeTexto 34"/>
          <p:cNvSpPr txBox="1"/>
          <p:nvPr/>
        </p:nvSpPr>
        <p:spPr>
          <a:xfrm>
            <a:off x="957676" y="2774208"/>
            <a:ext cx="23439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BP(e)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</a:t>
            </a:r>
            <a:r>
              <a:rPr lang="pt-BR" sz="1600" b="1" dirty="0">
                <a:solidFill>
                  <a:srgbClr val="00B0F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b, a, c }</a:t>
            </a:r>
            <a:endParaRPr lang="pt-BR" sz="1600" dirty="0"/>
          </a:p>
        </p:txBody>
      </p: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9" name="Elipse 8"/>
          <p:cNvSpPr/>
          <p:nvPr/>
        </p:nvSpPr>
        <p:spPr>
          <a:xfrm>
            <a:off x="2669035" y="1816410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43" name="Conector de seta reta 42"/>
          <p:cNvCxnSpPr>
            <a:stCxn id="46" idx="0"/>
          </p:cNvCxnSpPr>
          <p:nvPr/>
        </p:nvCxnSpPr>
        <p:spPr>
          <a:xfrm flipH="1" flipV="1">
            <a:off x="7259626" y="1791063"/>
            <a:ext cx="1" cy="37113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/>
          <p:cNvSpPr txBox="1"/>
          <p:nvPr/>
        </p:nvSpPr>
        <p:spPr>
          <a:xfrm>
            <a:off x="957676" y="3077091"/>
            <a:ext cx="22281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BP(f) 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(f)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d, e }</a:t>
            </a:r>
            <a:endParaRPr lang="pt-BR" sz="1600" dirty="0"/>
          </a:p>
        </p:txBody>
      </p:sp>
      <p:cxnSp>
        <p:nvCxnSpPr>
          <p:cNvPr id="47" name="Conector de seta reta 46"/>
          <p:cNvCxnSpPr>
            <a:stCxn id="49" idx="0"/>
          </p:cNvCxnSpPr>
          <p:nvPr/>
        </p:nvCxnSpPr>
        <p:spPr>
          <a:xfrm flipV="1">
            <a:off x="7259627" y="2387158"/>
            <a:ext cx="0" cy="37087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CaixaDeTexto 50"/>
          <p:cNvSpPr txBox="1"/>
          <p:nvPr/>
        </p:nvSpPr>
        <p:spPr>
          <a:xfrm>
            <a:off x="957676" y="3379974"/>
            <a:ext cx="23695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BP(b)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= { </a:t>
            </a:r>
            <a:r>
              <a:rPr lang="pt-BR" sz="1600" b="1" dirty="0">
                <a:solidFill>
                  <a:srgbClr val="00B0F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e, a, f }</a:t>
            </a:r>
            <a:endParaRPr lang="pt-BR" sz="1600" dirty="0"/>
          </a:p>
        </p:txBody>
      </p:sp>
      <p:cxnSp>
        <p:nvCxnSpPr>
          <p:cNvPr id="50" name="Conector de seta reta 49"/>
          <p:cNvCxnSpPr>
            <a:stCxn id="52" idx="7"/>
          </p:cNvCxnSpPr>
          <p:nvPr/>
        </p:nvCxnSpPr>
        <p:spPr>
          <a:xfrm flipV="1">
            <a:off x="6862311" y="2950048"/>
            <a:ext cx="315964" cy="33170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CaixaDeTexto 52"/>
          <p:cNvSpPr txBox="1"/>
          <p:nvPr/>
        </p:nvSpPr>
        <p:spPr>
          <a:xfrm>
            <a:off x="6510772" y="4166243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55" name="Conector reto 54"/>
          <p:cNvCxnSpPr/>
          <p:nvPr/>
        </p:nvCxnSpPr>
        <p:spPr>
          <a:xfrm>
            <a:off x="6447710" y="1393377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Elipse 168"/>
          <p:cNvSpPr/>
          <p:nvPr/>
        </p:nvSpPr>
        <p:spPr>
          <a:xfrm>
            <a:off x="7144577" y="156609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46" name="Elipse 45"/>
          <p:cNvSpPr/>
          <p:nvPr/>
        </p:nvSpPr>
        <p:spPr>
          <a:xfrm>
            <a:off x="7144578" y="2162193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49" name="Elipse 48"/>
          <p:cNvSpPr/>
          <p:nvPr/>
        </p:nvSpPr>
        <p:spPr>
          <a:xfrm>
            <a:off x="7144578" y="275802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52" name="Elipse 51"/>
          <p:cNvSpPr/>
          <p:nvPr/>
        </p:nvSpPr>
        <p:spPr>
          <a:xfrm>
            <a:off x="6665911" y="324880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56" name="Conector de seta reta 55"/>
          <p:cNvCxnSpPr/>
          <p:nvPr/>
        </p:nvCxnSpPr>
        <p:spPr>
          <a:xfrm flipH="1">
            <a:off x="4334212" y="4327960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41451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Exemplo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487030" y="3951361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3" name="Conector de seta reta 32"/>
          <p:cNvCxnSpPr/>
          <p:nvPr/>
        </p:nvCxnSpPr>
        <p:spPr>
          <a:xfrm flipH="1">
            <a:off x="447829" y="4327960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>
            <a:spLocks noChangeAspect="1"/>
          </p:cNvSpPr>
          <p:nvPr/>
        </p:nvSpPr>
        <p:spPr>
          <a:xfrm>
            <a:off x="2614391" y="3951360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7" name="Conector de seta reta 36"/>
          <p:cNvCxnSpPr/>
          <p:nvPr/>
        </p:nvCxnSpPr>
        <p:spPr>
          <a:xfrm flipH="1">
            <a:off x="2565126" y="4327960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>
            <a:spLocks noChangeAspect="1"/>
          </p:cNvSpPr>
          <p:nvPr/>
        </p:nvSpPr>
        <p:spPr>
          <a:xfrm>
            <a:off x="4373413" y="3951360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725501" y="3890165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725501" y="4174072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2848900" y="3890165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4616688" y="3890165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616688" y="4174072"/>
            <a:ext cx="1471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retorno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2848900" y="4174072"/>
            <a:ext cx="139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árvore</a:t>
            </a:r>
          </a:p>
        </p:txBody>
      </p: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de seta reta 103"/>
          <p:cNvCxnSpPr>
            <a:stCxn id="7" idx="6"/>
            <a:endCxn id="9" idx="1"/>
          </p:cNvCxnSpPr>
          <p:nvPr/>
        </p:nvCxnSpPr>
        <p:spPr>
          <a:xfrm>
            <a:off x="2309608" y="1561104"/>
            <a:ext cx="393124" cy="28825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106"/>
          <p:cNvCxnSpPr>
            <a:stCxn id="8" idx="6"/>
            <a:endCxn id="9" idx="3"/>
          </p:cNvCxnSpPr>
          <p:nvPr/>
        </p:nvCxnSpPr>
        <p:spPr>
          <a:xfrm flipV="1">
            <a:off x="2315659" y="2008430"/>
            <a:ext cx="387073" cy="29484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ela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1976733"/>
              </p:ext>
            </p:extLst>
          </p:nvPr>
        </p:nvGraphicFramePr>
        <p:xfrm>
          <a:off x="3353072" y="1312958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f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e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5" name="CaixaDeTexto 34"/>
          <p:cNvSpPr txBox="1"/>
          <p:nvPr/>
        </p:nvSpPr>
        <p:spPr>
          <a:xfrm>
            <a:off x="957676" y="2774208"/>
            <a:ext cx="23439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BP(e)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</a:t>
            </a:r>
            <a:r>
              <a:rPr lang="pt-BR" sz="1600" b="1" dirty="0">
                <a:solidFill>
                  <a:srgbClr val="00B0F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b, a, c }</a:t>
            </a:r>
            <a:endParaRPr lang="pt-BR" sz="1600" dirty="0"/>
          </a:p>
        </p:txBody>
      </p: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9" name="Elipse 8"/>
          <p:cNvSpPr/>
          <p:nvPr/>
        </p:nvSpPr>
        <p:spPr>
          <a:xfrm>
            <a:off x="2669035" y="1816410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43" name="Conector de seta reta 42"/>
          <p:cNvCxnSpPr>
            <a:stCxn id="46" idx="0"/>
          </p:cNvCxnSpPr>
          <p:nvPr/>
        </p:nvCxnSpPr>
        <p:spPr>
          <a:xfrm flipH="1" flipV="1">
            <a:off x="7259626" y="1791063"/>
            <a:ext cx="1" cy="37113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/>
          <p:cNvSpPr txBox="1"/>
          <p:nvPr/>
        </p:nvSpPr>
        <p:spPr>
          <a:xfrm>
            <a:off x="957676" y="3077091"/>
            <a:ext cx="22281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BP(f) 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(f)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d, e }</a:t>
            </a:r>
            <a:endParaRPr lang="pt-BR" sz="1600" dirty="0"/>
          </a:p>
        </p:txBody>
      </p:sp>
      <p:cxnSp>
        <p:nvCxnSpPr>
          <p:cNvPr id="47" name="Conector de seta reta 46"/>
          <p:cNvCxnSpPr>
            <a:stCxn id="49" idx="0"/>
          </p:cNvCxnSpPr>
          <p:nvPr/>
        </p:nvCxnSpPr>
        <p:spPr>
          <a:xfrm flipV="1">
            <a:off x="7259627" y="2387158"/>
            <a:ext cx="0" cy="37087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CaixaDeTexto 50"/>
          <p:cNvSpPr txBox="1"/>
          <p:nvPr/>
        </p:nvSpPr>
        <p:spPr>
          <a:xfrm>
            <a:off x="957676" y="3379974"/>
            <a:ext cx="23695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BP(b)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= { </a:t>
            </a:r>
            <a:r>
              <a:rPr lang="pt-BR" sz="1600" b="1" dirty="0">
                <a:solidFill>
                  <a:srgbClr val="00B0F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e, a, f }</a:t>
            </a:r>
            <a:endParaRPr lang="pt-BR" sz="1600" dirty="0"/>
          </a:p>
        </p:txBody>
      </p:sp>
      <p:cxnSp>
        <p:nvCxnSpPr>
          <p:cNvPr id="50" name="Conector de seta reta 49"/>
          <p:cNvCxnSpPr>
            <a:stCxn id="52" idx="7"/>
          </p:cNvCxnSpPr>
          <p:nvPr/>
        </p:nvCxnSpPr>
        <p:spPr>
          <a:xfrm flipV="1">
            <a:off x="6862311" y="2950048"/>
            <a:ext cx="315964" cy="33170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CaixaDeTexto 52"/>
          <p:cNvSpPr txBox="1"/>
          <p:nvPr/>
        </p:nvSpPr>
        <p:spPr>
          <a:xfrm>
            <a:off x="3248258" y="2769501"/>
            <a:ext cx="6351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BP(d)</a:t>
            </a:r>
            <a:endParaRPr lang="pt-BR" sz="1600" dirty="0"/>
          </a:p>
        </p:txBody>
      </p:sp>
      <p:sp>
        <p:nvSpPr>
          <p:cNvPr id="55" name="CaixaDeTexto 54"/>
          <p:cNvSpPr txBox="1"/>
          <p:nvPr/>
        </p:nvSpPr>
        <p:spPr>
          <a:xfrm>
            <a:off x="6510772" y="4166243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56" name="Conector reto 55"/>
          <p:cNvCxnSpPr/>
          <p:nvPr/>
        </p:nvCxnSpPr>
        <p:spPr>
          <a:xfrm>
            <a:off x="6447710" y="1393377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Elipse 168"/>
          <p:cNvSpPr/>
          <p:nvPr/>
        </p:nvSpPr>
        <p:spPr>
          <a:xfrm>
            <a:off x="7144577" y="156609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46" name="Elipse 45"/>
          <p:cNvSpPr/>
          <p:nvPr/>
        </p:nvSpPr>
        <p:spPr>
          <a:xfrm>
            <a:off x="7144578" y="2162193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49" name="Elipse 48"/>
          <p:cNvSpPr/>
          <p:nvPr/>
        </p:nvSpPr>
        <p:spPr>
          <a:xfrm>
            <a:off x="7144578" y="275802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52" name="Elipse 51"/>
          <p:cNvSpPr/>
          <p:nvPr/>
        </p:nvSpPr>
        <p:spPr>
          <a:xfrm>
            <a:off x="6665911" y="324880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57" name="Conector de seta reta 56"/>
          <p:cNvCxnSpPr/>
          <p:nvPr/>
        </p:nvCxnSpPr>
        <p:spPr>
          <a:xfrm flipH="1">
            <a:off x="4334212" y="4327960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46104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Exemplo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487030" y="3951361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3" name="Conector de seta reta 32"/>
          <p:cNvCxnSpPr/>
          <p:nvPr/>
        </p:nvCxnSpPr>
        <p:spPr>
          <a:xfrm flipH="1">
            <a:off x="447829" y="4327960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>
            <a:spLocks noChangeAspect="1"/>
          </p:cNvSpPr>
          <p:nvPr/>
        </p:nvSpPr>
        <p:spPr>
          <a:xfrm>
            <a:off x="2614391" y="3951360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7" name="Conector de seta reta 36"/>
          <p:cNvCxnSpPr/>
          <p:nvPr/>
        </p:nvCxnSpPr>
        <p:spPr>
          <a:xfrm flipH="1">
            <a:off x="2565126" y="4327960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>
            <a:spLocks noChangeAspect="1"/>
          </p:cNvSpPr>
          <p:nvPr/>
        </p:nvSpPr>
        <p:spPr>
          <a:xfrm>
            <a:off x="4373413" y="3951360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725501" y="3890165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725501" y="4174072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2848900" y="3890165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4616688" y="3890165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616688" y="4174072"/>
            <a:ext cx="1471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retorno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2848900" y="4174072"/>
            <a:ext cx="139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árvore</a:t>
            </a:r>
          </a:p>
        </p:txBody>
      </p: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de seta reta 103"/>
          <p:cNvCxnSpPr>
            <a:stCxn id="7" idx="6"/>
            <a:endCxn id="9" idx="1"/>
          </p:cNvCxnSpPr>
          <p:nvPr/>
        </p:nvCxnSpPr>
        <p:spPr>
          <a:xfrm>
            <a:off x="2309608" y="1561104"/>
            <a:ext cx="393124" cy="28825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106"/>
          <p:cNvCxnSpPr>
            <a:stCxn id="8" idx="6"/>
            <a:endCxn id="9" idx="3"/>
          </p:cNvCxnSpPr>
          <p:nvPr/>
        </p:nvCxnSpPr>
        <p:spPr>
          <a:xfrm flipV="1">
            <a:off x="2315659" y="2008430"/>
            <a:ext cx="387073" cy="29484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ela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1976733"/>
              </p:ext>
            </p:extLst>
          </p:nvPr>
        </p:nvGraphicFramePr>
        <p:xfrm>
          <a:off x="3353072" y="1312958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f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e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5" name="CaixaDeTexto 34"/>
          <p:cNvSpPr txBox="1"/>
          <p:nvPr/>
        </p:nvSpPr>
        <p:spPr>
          <a:xfrm>
            <a:off x="957676" y="2774208"/>
            <a:ext cx="23439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BP(e)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</a:t>
            </a:r>
            <a:r>
              <a:rPr lang="pt-BR" sz="1600" b="1" dirty="0">
                <a:solidFill>
                  <a:srgbClr val="00B0F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b, a, c }</a:t>
            </a:r>
            <a:endParaRPr lang="pt-BR" sz="1600" dirty="0"/>
          </a:p>
        </p:txBody>
      </p: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9" name="Elipse 8"/>
          <p:cNvSpPr/>
          <p:nvPr/>
        </p:nvSpPr>
        <p:spPr>
          <a:xfrm>
            <a:off x="2669035" y="1816410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43" name="Conector de seta reta 42"/>
          <p:cNvCxnSpPr>
            <a:stCxn id="46" idx="0"/>
          </p:cNvCxnSpPr>
          <p:nvPr/>
        </p:nvCxnSpPr>
        <p:spPr>
          <a:xfrm flipH="1" flipV="1">
            <a:off x="7259626" y="1791063"/>
            <a:ext cx="1" cy="37113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/>
          <p:cNvSpPr txBox="1"/>
          <p:nvPr/>
        </p:nvSpPr>
        <p:spPr>
          <a:xfrm>
            <a:off x="957676" y="3077091"/>
            <a:ext cx="22281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BP(f) 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(f)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d, e }</a:t>
            </a:r>
            <a:endParaRPr lang="pt-BR" sz="1600" dirty="0"/>
          </a:p>
        </p:txBody>
      </p:sp>
      <p:cxnSp>
        <p:nvCxnSpPr>
          <p:cNvPr id="47" name="Conector de seta reta 46"/>
          <p:cNvCxnSpPr>
            <a:stCxn id="49" idx="0"/>
          </p:cNvCxnSpPr>
          <p:nvPr/>
        </p:nvCxnSpPr>
        <p:spPr>
          <a:xfrm flipV="1">
            <a:off x="7259627" y="2387158"/>
            <a:ext cx="0" cy="37087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CaixaDeTexto 50"/>
          <p:cNvSpPr txBox="1"/>
          <p:nvPr/>
        </p:nvSpPr>
        <p:spPr>
          <a:xfrm>
            <a:off x="957676" y="3379974"/>
            <a:ext cx="23695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BP(b)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= { </a:t>
            </a:r>
            <a:r>
              <a:rPr lang="pt-BR" sz="1600" b="1" dirty="0">
                <a:solidFill>
                  <a:srgbClr val="00B0F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e, a, f }</a:t>
            </a:r>
            <a:endParaRPr lang="pt-BR" sz="1600" dirty="0"/>
          </a:p>
        </p:txBody>
      </p:sp>
      <p:cxnSp>
        <p:nvCxnSpPr>
          <p:cNvPr id="50" name="Conector de seta reta 49"/>
          <p:cNvCxnSpPr>
            <a:stCxn id="52" idx="7"/>
          </p:cNvCxnSpPr>
          <p:nvPr/>
        </p:nvCxnSpPr>
        <p:spPr>
          <a:xfrm flipV="1">
            <a:off x="6862311" y="2950048"/>
            <a:ext cx="315964" cy="33170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CaixaDeTexto 54"/>
          <p:cNvSpPr txBox="1"/>
          <p:nvPr/>
        </p:nvSpPr>
        <p:spPr>
          <a:xfrm>
            <a:off x="3248258" y="2769501"/>
            <a:ext cx="19704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BP(d)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b, f }</a:t>
            </a:r>
            <a:endParaRPr lang="pt-BR" sz="1600" dirty="0"/>
          </a:p>
        </p:txBody>
      </p:sp>
      <p:sp>
        <p:nvSpPr>
          <p:cNvPr id="53" name="CaixaDeTexto 52"/>
          <p:cNvSpPr txBox="1"/>
          <p:nvPr/>
        </p:nvSpPr>
        <p:spPr>
          <a:xfrm>
            <a:off x="6510772" y="4166243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56" name="Conector reto 55"/>
          <p:cNvCxnSpPr/>
          <p:nvPr/>
        </p:nvCxnSpPr>
        <p:spPr>
          <a:xfrm>
            <a:off x="6447710" y="1393377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Elipse 168"/>
          <p:cNvSpPr/>
          <p:nvPr/>
        </p:nvSpPr>
        <p:spPr>
          <a:xfrm>
            <a:off x="7144577" y="156609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46" name="Elipse 45"/>
          <p:cNvSpPr/>
          <p:nvPr/>
        </p:nvSpPr>
        <p:spPr>
          <a:xfrm>
            <a:off x="7144578" y="2162193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49" name="Elipse 48"/>
          <p:cNvSpPr/>
          <p:nvPr/>
        </p:nvSpPr>
        <p:spPr>
          <a:xfrm>
            <a:off x="7144578" y="275802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52" name="Elipse 51"/>
          <p:cNvSpPr/>
          <p:nvPr/>
        </p:nvSpPr>
        <p:spPr>
          <a:xfrm>
            <a:off x="6665911" y="324880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57" name="Conector de seta reta 56"/>
          <p:cNvCxnSpPr/>
          <p:nvPr/>
        </p:nvCxnSpPr>
        <p:spPr>
          <a:xfrm flipH="1">
            <a:off x="4334212" y="4327960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30081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Exemplo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487030" y="3951361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3" name="Conector de seta reta 32"/>
          <p:cNvCxnSpPr/>
          <p:nvPr/>
        </p:nvCxnSpPr>
        <p:spPr>
          <a:xfrm flipH="1">
            <a:off x="447829" y="4327960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>
            <a:spLocks noChangeAspect="1"/>
          </p:cNvSpPr>
          <p:nvPr/>
        </p:nvSpPr>
        <p:spPr>
          <a:xfrm>
            <a:off x="2614391" y="3951360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7" name="Conector de seta reta 36"/>
          <p:cNvCxnSpPr/>
          <p:nvPr/>
        </p:nvCxnSpPr>
        <p:spPr>
          <a:xfrm flipH="1">
            <a:off x="2565126" y="4327960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>
            <a:spLocks noChangeAspect="1"/>
          </p:cNvSpPr>
          <p:nvPr/>
        </p:nvSpPr>
        <p:spPr>
          <a:xfrm>
            <a:off x="4373413" y="3951360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725501" y="3890165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725501" y="4174072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2848900" y="3890165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4616688" y="3890165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616688" y="4174072"/>
            <a:ext cx="1471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retorno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2848900" y="4174072"/>
            <a:ext cx="139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árvore</a:t>
            </a:r>
          </a:p>
        </p:txBody>
      </p: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de seta reta 103"/>
          <p:cNvCxnSpPr>
            <a:stCxn id="7" idx="6"/>
            <a:endCxn id="9" idx="1"/>
          </p:cNvCxnSpPr>
          <p:nvPr/>
        </p:nvCxnSpPr>
        <p:spPr>
          <a:xfrm>
            <a:off x="2309608" y="1561104"/>
            <a:ext cx="393124" cy="28825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106"/>
          <p:cNvCxnSpPr>
            <a:stCxn id="8" idx="6"/>
            <a:endCxn id="9" idx="3"/>
          </p:cNvCxnSpPr>
          <p:nvPr/>
        </p:nvCxnSpPr>
        <p:spPr>
          <a:xfrm flipV="1">
            <a:off x="2315659" y="2008430"/>
            <a:ext cx="387073" cy="29484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ela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1976733"/>
              </p:ext>
            </p:extLst>
          </p:nvPr>
        </p:nvGraphicFramePr>
        <p:xfrm>
          <a:off x="3353072" y="1312958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f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e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5" name="CaixaDeTexto 34"/>
          <p:cNvSpPr txBox="1"/>
          <p:nvPr/>
        </p:nvSpPr>
        <p:spPr>
          <a:xfrm>
            <a:off x="957676" y="2774208"/>
            <a:ext cx="23439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BP(e)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</a:t>
            </a:r>
            <a:r>
              <a:rPr lang="pt-BR" sz="1600" b="1" dirty="0">
                <a:solidFill>
                  <a:srgbClr val="00B0F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b, a, c }</a:t>
            </a:r>
            <a:endParaRPr lang="pt-BR" sz="1600" dirty="0"/>
          </a:p>
        </p:txBody>
      </p: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9" name="Elipse 8"/>
          <p:cNvSpPr/>
          <p:nvPr/>
        </p:nvSpPr>
        <p:spPr>
          <a:xfrm>
            <a:off x="2669035" y="1816410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43" name="Conector de seta reta 42"/>
          <p:cNvCxnSpPr>
            <a:stCxn id="46" idx="0"/>
          </p:cNvCxnSpPr>
          <p:nvPr/>
        </p:nvCxnSpPr>
        <p:spPr>
          <a:xfrm flipH="1" flipV="1">
            <a:off x="7259626" y="1791063"/>
            <a:ext cx="1" cy="37113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/>
          <p:cNvSpPr txBox="1"/>
          <p:nvPr/>
        </p:nvSpPr>
        <p:spPr>
          <a:xfrm>
            <a:off x="957676" y="3077091"/>
            <a:ext cx="22281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BP(f) 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(f)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d, e }</a:t>
            </a:r>
            <a:endParaRPr lang="pt-BR" sz="1600" dirty="0"/>
          </a:p>
        </p:txBody>
      </p:sp>
      <p:cxnSp>
        <p:nvCxnSpPr>
          <p:cNvPr id="47" name="Conector de seta reta 46"/>
          <p:cNvCxnSpPr>
            <a:stCxn id="49" idx="0"/>
          </p:cNvCxnSpPr>
          <p:nvPr/>
        </p:nvCxnSpPr>
        <p:spPr>
          <a:xfrm flipV="1">
            <a:off x="7259627" y="2387158"/>
            <a:ext cx="0" cy="37087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CaixaDeTexto 50"/>
          <p:cNvSpPr txBox="1"/>
          <p:nvPr/>
        </p:nvSpPr>
        <p:spPr>
          <a:xfrm>
            <a:off x="957676" y="3379974"/>
            <a:ext cx="23695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BP(b)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= { </a:t>
            </a:r>
            <a:r>
              <a:rPr lang="pt-BR" sz="1600" b="1" dirty="0">
                <a:solidFill>
                  <a:srgbClr val="00B0F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e, a, f }</a:t>
            </a:r>
            <a:endParaRPr lang="pt-BR" sz="1600" dirty="0"/>
          </a:p>
        </p:txBody>
      </p:sp>
      <p:cxnSp>
        <p:nvCxnSpPr>
          <p:cNvPr id="50" name="Conector de seta reta 49"/>
          <p:cNvCxnSpPr>
            <a:stCxn id="52" idx="7"/>
          </p:cNvCxnSpPr>
          <p:nvPr/>
        </p:nvCxnSpPr>
        <p:spPr>
          <a:xfrm flipV="1">
            <a:off x="6862311" y="2950048"/>
            <a:ext cx="315964" cy="33170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CaixaDeTexto 54"/>
          <p:cNvSpPr txBox="1"/>
          <p:nvPr/>
        </p:nvSpPr>
        <p:spPr>
          <a:xfrm>
            <a:off x="3248258" y="2769501"/>
            <a:ext cx="19704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BP(d)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f }</a:t>
            </a:r>
            <a:endParaRPr lang="pt-BR" sz="1600" dirty="0"/>
          </a:p>
        </p:txBody>
      </p:sp>
      <p:sp>
        <p:nvSpPr>
          <p:cNvPr id="53" name="CaixaDeTexto 52"/>
          <p:cNvSpPr txBox="1"/>
          <p:nvPr/>
        </p:nvSpPr>
        <p:spPr>
          <a:xfrm>
            <a:off x="6510772" y="4166243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56" name="Conector reto 55"/>
          <p:cNvCxnSpPr/>
          <p:nvPr/>
        </p:nvCxnSpPr>
        <p:spPr>
          <a:xfrm>
            <a:off x="6447710" y="1393377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Elipse 168"/>
          <p:cNvSpPr/>
          <p:nvPr/>
        </p:nvSpPr>
        <p:spPr>
          <a:xfrm>
            <a:off x="7144577" y="156609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46" name="Elipse 45"/>
          <p:cNvSpPr/>
          <p:nvPr/>
        </p:nvSpPr>
        <p:spPr>
          <a:xfrm>
            <a:off x="7144578" y="2162193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49" name="Elipse 48"/>
          <p:cNvSpPr/>
          <p:nvPr/>
        </p:nvSpPr>
        <p:spPr>
          <a:xfrm>
            <a:off x="7144578" y="275802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52" name="Elipse 51"/>
          <p:cNvSpPr/>
          <p:nvPr/>
        </p:nvSpPr>
        <p:spPr>
          <a:xfrm>
            <a:off x="6665911" y="324880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57" name="Conector de seta reta 56"/>
          <p:cNvCxnSpPr/>
          <p:nvPr/>
        </p:nvCxnSpPr>
        <p:spPr>
          <a:xfrm flipH="1">
            <a:off x="4334212" y="4327960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85442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Exemplo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487030" y="3951361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3" name="Conector de seta reta 32"/>
          <p:cNvCxnSpPr/>
          <p:nvPr/>
        </p:nvCxnSpPr>
        <p:spPr>
          <a:xfrm flipH="1">
            <a:off x="447829" y="4327960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>
            <a:spLocks noChangeAspect="1"/>
          </p:cNvSpPr>
          <p:nvPr/>
        </p:nvSpPr>
        <p:spPr>
          <a:xfrm>
            <a:off x="2614391" y="3951360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7" name="Conector de seta reta 36"/>
          <p:cNvCxnSpPr/>
          <p:nvPr/>
        </p:nvCxnSpPr>
        <p:spPr>
          <a:xfrm flipH="1">
            <a:off x="2565126" y="4327960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>
            <a:spLocks noChangeAspect="1"/>
          </p:cNvSpPr>
          <p:nvPr/>
        </p:nvSpPr>
        <p:spPr>
          <a:xfrm>
            <a:off x="4373413" y="3951360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725501" y="3890165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725501" y="4174072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2848900" y="3890165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4616688" y="3890165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616688" y="4174072"/>
            <a:ext cx="1471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retorno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2848900" y="4174072"/>
            <a:ext cx="139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árvore</a:t>
            </a:r>
          </a:p>
        </p:txBody>
      </p: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de seta reta 103"/>
          <p:cNvCxnSpPr>
            <a:stCxn id="7" idx="6"/>
            <a:endCxn id="9" idx="1"/>
          </p:cNvCxnSpPr>
          <p:nvPr/>
        </p:nvCxnSpPr>
        <p:spPr>
          <a:xfrm>
            <a:off x="2309608" y="1561104"/>
            <a:ext cx="393124" cy="28825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106"/>
          <p:cNvCxnSpPr>
            <a:stCxn id="8" idx="6"/>
            <a:endCxn id="9" idx="3"/>
          </p:cNvCxnSpPr>
          <p:nvPr/>
        </p:nvCxnSpPr>
        <p:spPr>
          <a:xfrm flipV="1">
            <a:off x="2315659" y="2008430"/>
            <a:ext cx="387073" cy="29484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ela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1976733"/>
              </p:ext>
            </p:extLst>
          </p:nvPr>
        </p:nvGraphicFramePr>
        <p:xfrm>
          <a:off x="3353072" y="1312958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f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e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5" name="CaixaDeTexto 34"/>
          <p:cNvSpPr txBox="1"/>
          <p:nvPr/>
        </p:nvSpPr>
        <p:spPr>
          <a:xfrm>
            <a:off x="957676" y="2774208"/>
            <a:ext cx="23439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BP(e)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</a:t>
            </a:r>
            <a:r>
              <a:rPr lang="pt-BR" sz="1600" b="1" dirty="0">
                <a:solidFill>
                  <a:srgbClr val="00B0F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b, a, c }</a:t>
            </a:r>
            <a:endParaRPr lang="pt-BR" sz="1600" dirty="0"/>
          </a:p>
        </p:txBody>
      </p: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9" name="Elipse 8"/>
          <p:cNvSpPr/>
          <p:nvPr/>
        </p:nvSpPr>
        <p:spPr>
          <a:xfrm>
            <a:off x="2669035" y="1816410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43" name="Conector de seta reta 42"/>
          <p:cNvCxnSpPr>
            <a:stCxn id="46" idx="0"/>
          </p:cNvCxnSpPr>
          <p:nvPr/>
        </p:nvCxnSpPr>
        <p:spPr>
          <a:xfrm flipH="1" flipV="1">
            <a:off x="7259626" y="1791063"/>
            <a:ext cx="1" cy="37113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/>
          <p:cNvSpPr txBox="1"/>
          <p:nvPr/>
        </p:nvSpPr>
        <p:spPr>
          <a:xfrm>
            <a:off x="957676" y="3077091"/>
            <a:ext cx="22281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BP(f) 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(f)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d, e }</a:t>
            </a:r>
            <a:endParaRPr lang="pt-BR" sz="1600" dirty="0"/>
          </a:p>
        </p:txBody>
      </p:sp>
      <p:cxnSp>
        <p:nvCxnSpPr>
          <p:cNvPr id="47" name="Conector de seta reta 46"/>
          <p:cNvCxnSpPr>
            <a:stCxn id="49" idx="0"/>
          </p:cNvCxnSpPr>
          <p:nvPr/>
        </p:nvCxnSpPr>
        <p:spPr>
          <a:xfrm flipV="1">
            <a:off x="7259627" y="2387158"/>
            <a:ext cx="0" cy="37087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CaixaDeTexto 50"/>
          <p:cNvSpPr txBox="1"/>
          <p:nvPr/>
        </p:nvSpPr>
        <p:spPr>
          <a:xfrm>
            <a:off x="957676" y="3379974"/>
            <a:ext cx="23695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BP(b)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= { </a:t>
            </a:r>
            <a:r>
              <a:rPr lang="pt-BR" sz="1600" b="1" dirty="0">
                <a:solidFill>
                  <a:srgbClr val="00B0F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e, a, f }</a:t>
            </a:r>
            <a:endParaRPr lang="pt-BR" sz="1600" dirty="0"/>
          </a:p>
        </p:txBody>
      </p:sp>
      <p:cxnSp>
        <p:nvCxnSpPr>
          <p:cNvPr id="50" name="Conector de seta reta 49"/>
          <p:cNvCxnSpPr>
            <a:stCxn id="52" idx="7"/>
          </p:cNvCxnSpPr>
          <p:nvPr/>
        </p:nvCxnSpPr>
        <p:spPr>
          <a:xfrm flipV="1">
            <a:off x="6862311" y="2950048"/>
            <a:ext cx="315964" cy="33170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CaixaDeTexto 54"/>
          <p:cNvSpPr txBox="1"/>
          <p:nvPr/>
        </p:nvSpPr>
        <p:spPr>
          <a:xfrm>
            <a:off x="3248258" y="2769501"/>
            <a:ext cx="19704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BP(d)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sp>
        <p:nvSpPr>
          <p:cNvPr id="53" name="CaixaDeTexto 52"/>
          <p:cNvSpPr txBox="1"/>
          <p:nvPr/>
        </p:nvSpPr>
        <p:spPr>
          <a:xfrm>
            <a:off x="6510772" y="4166243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56" name="Conector reto 55"/>
          <p:cNvCxnSpPr/>
          <p:nvPr/>
        </p:nvCxnSpPr>
        <p:spPr>
          <a:xfrm>
            <a:off x="6447710" y="1393377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Elipse 168"/>
          <p:cNvSpPr/>
          <p:nvPr/>
        </p:nvSpPr>
        <p:spPr>
          <a:xfrm>
            <a:off x="7144577" y="156609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46" name="Elipse 45"/>
          <p:cNvSpPr/>
          <p:nvPr/>
        </p:nvSpPr>
        <p:spPr>
          <a:xfrm>
            <a:off x="7144578" y="2162193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49" name="Elipse 48"/>
          <p:cNvSpPr/>
          <p:nvPr/>
        </p:nvSpPr>
        <p:spPr>
          <a:xfrm>
            <a:off x="7144578" y="275802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52" name="Elipse 51"/>
          <p:cNvSpPr/>
          <p:nvPr/>
        </p:nvSpPr>
        <p:spPr>
          <a:xfrm>
            <a:off x="6665911" y="324880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57" name="Conector de seta reta 56"/>
          <p:cNvCxnSpPr/>
          <p:nvPr/>
        </p:nvCxnSpPr>
        <p:spPr>
          <a:xfrm flipH="1">
            <a:off x="4334212" y="4327960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1923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Exemplo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487030" y="3951361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3" name="Conector de seta reta 32"/>
          <p:cNvCxnSpPr/>
          <p:nvPr/>
        </p:nvCxnSpPr>
        <p:spPr>
          <a:xfrm flipH="1">
            <a:off x="447829" y="4327960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>
            <a:spLocks noChangeAspect="1"/>
          </p:cNvSpPr>
          <p:nvPr/>
        </p:nvSpPr>
        <p:spPr>
          <a:xfrm>
            <a:off x="2614391" y="3951360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7" name="Conector de seta reta 36"/>
          <p:cNvCxnSpPr/>
          <p:nvPr/>
        </p:nvCxnSpPr>
        <p:spPr>
          <a:xfrm flipH="1">
            <a:off x="2565126" y="4327960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>
            <a:spLocks noChangeAspect="1"/>
          </p:cNvSpPr>
          <p:nvPr/>
        </p:nvSpPr>
        <p:spPr>
          <a:xfrm>
            <a:off x="4373413" y="3951360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725501" y="3890165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725501" y="4174072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2848900" y="3890165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4616688" y="3890165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616688" y="4174072"/>
            <a:ext cx="1471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retorno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2848900" y="4174072"/>
            <a:ext cx="139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árvore</a:t>
            </a:r>
          </a:p>
        </p:txBody>
      </p: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de seta reta 103"/>
          <p:cNvCxnSpPr>
            <a:stCxn id="7" idx="6"/>
            <a:endCxn id="9" idx="1"/>
          </p:cNvCxnSpPr>
          <p:nvPr/>
        </p:nvCxnSpPr>
        <p:spPr>
          <a:xfrm>
            <a:off x="2309608" y="1561104"/>
            <a:ext cx="393124" cy="28825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106"/>
          <p:cNvCxnSpPr>
            <a:stCxn id="8" idx="6"/>
            <a:endCxn id="9" idx="3"/>
          </p:cNvCxnSpPr>
          <p:nvPr/>
        </p:nvCxnSpPr>
        <p:spPr>
          <a:xfrm flipV="1">
            <a:off x="2315659" y="2008430"/>
            <a:ext cx="387073" cy="29484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ela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1976733"/>
              </p:ext>
            </p:extLst>
          </p:nvPr>
        </p:nvGraphicFramePr>
        <p:xfrm>
          <a:off x="3353072" y="1312958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f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e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5" name="CaixaDeTexto 34"/>
          <p:cNvSpPr txBox="1"/>
          <p:nvPr/>
        </p:nvSpPr>
        <p:spPr>
          <a:xfrm>
            <a:off x="957676" y="2774208"/>
            <a:ext cx="23439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BP(e)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</a:t>
            </a:r>
            <a:r>
              <a:rPr lang="pt-BR" sz="1600" b="1" dirty="0">
                <a:solidFill>
                  <a:srgbClr val="00B0F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b, a, c }</a:t>
            </a:r>
            <a:endParaRPr lang="pt-BR" sz="1600" dirty="0"/>
          </a:p>
        </p:txBody>
      </p: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9" name="Elipse 8"/>
          <p:cNvSpPr/>
          <p:nvPr/>
        </p:nvSpPr>
        <p:spPr>
          <a:xfrm>
            <a:off x="2669035" y="1816410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43" name="Conector de seta reta 42"/>
          <p:cNvCxnSpPr>
            <a:stCxn id="46" idx="0"/>
          </p:cNvCxnSpPr>
          <p:nvPr/>
        </p:nvCxnSpPr>
        <p:spPr>
          <a:xfrm flipH="1" flipV="1">
            <a:off x="7259626" y="1791063"/>
            <a:ext cx="1" cy="37113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/>
          <p:cNvSpPr txBox="1"/>
          <p:nvPr/>
        </p:nvSpPr>
        <p:spPr>
          <a:xfrm>
            <a:off x="957676" y="3077091"/>
            <a:ext cx="22281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BP(f) 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(f)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d, e }</a:t>
            </a:r>
            <a:endParaRPr lang="pt-BR" sz="1600" dirty="0"/>
          </a:p>
        </p:txBody>
      </p:sp>
      <p:cxnSp>
        <p:nvCxnSpPr>
          <p:cNvPr id="47" name="Conector de seta reta 46"/>
          <p:cNvCxnSpPr>
            <a:stCxn id="49" idx="0"/>
          </p:cNvCxnSpPr>
          <p:nvPr/>
        </p:nvCxnSpPr>
        <p:spPr>
          <a:xfrm flipV="1">
            <a:off x="7259627" y="2387158"/>
            <a:ext cx="0" cy="37087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CaixaDeTexto 50"/>
          <p:cNvSpPr txBox="1"/>
          <p:nvPr/>
        </p:nvSpPr>
        <p:spPr>
          <a:xfrm>
            <a:off x="957676" y="3379974"/>
            <a:ext cx="23695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BP(b)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= { </a:t>
            </a:r>
            <a:r>
              <a:rPr lang="pt-BR" sz="1600" b="1" dirty="0">
                <a:solidFill>
                  <a:srgbClr val="00B0F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e, a, f }</a:t>
            </a:r>
            <a:endParaRPr lang="pt-BR" sz="1600" dirty="0"/>
          </a:p>
        </p:txBody>
      </p:sp>
      <p:cxnSp>
        <p:nvCxnSpPr>
          <p:cNvPr id="50" name="Conector de seta reta 49"/>
          <p:cNvCxnSpPr>
            <a:stCxn id="52" idx="7"/>
          </p:cNvCxnSpPr>
          <p:nvPr/>
        </p:nvCxnSpPr>
        <p:spPr>
          <a:xfrm flipV="1">
            <a:off x="6862311" y="2950048"/>
            <a:ext cx="315964" cy="33170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CaixaDeTexto 54"/>
          <p:cNvSpPr txBox="1"/>
          <p:nvPr/>
        </p:nvSpPr>
        <p:spPr>
          <a:xfrm>
            <a:off x="3248258" y="2769501"/>
            <a:ext cx="19704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BP(d)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53" name="Conector angulado 139"/>
          <p:cNvCxnSpPr/>
          <p:nvPr/>
        </p:nvCxnSpPr>
        <p:spPr>
          <a:xfrm rot="5400000" flipH="1" flipV="1">
            <a:off x="6475705" y="2579932"/>
            <a:ext cx="974129" cy="363618"/>
          </a:xfrm>
          <a:prstGeom prst="curvedConnector2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CaixaDeTexto 55"/>
          <p:cNvSpPr txBox="1"/>
          <p:nvPr/>
        </p:nvSpPr>
        <p:spPr>
          <a:xfrm>
            <a:off x="6510772" y="4166243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57" name="Conector reto 56"/>
          <p:cNvCxnSpPr/>
          <p:nvPr/>
        </p:nvCxnSpPr>
        <p:spPr>
          <a:xfrm>
            <a:off x="6447710" y="1393377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Elipse 168"/>
          <p:cNvSpPr/>
          <p:nvPr/>
        </p:nvSpPr>
        <p:spPr>
          <a:xfrm>
            <a:off x="7144577" y="156609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46" name="Elipse 45"/>
          <p:cNvSpPr/>
          <p:nvPr/>
        </p:nvSpPr>
        <p:spPr>
          <a:xfrm>
            <a:off x="7144578" y="2162193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49" name="Elipse 48"/>
          <p:cNvSpPr/>
          <p:nvPr/>
        </p:nvSpPr>
        <p:spPr>
          <a:xfrm>
            <a:off x="7144578" y="275802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52" name="Elipse 51"/>
          <p:cNvSpPr/>
          <p:nvPr/>
        </p:nvSpPr>
        <p:spPr>
          <a:xfrm>
            <a:off x="6665911" y="324880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58" name="Conector de seta reta 57"/>
          <p:cNvCxnSpPr/>
          <p:nvPr/>
        </p:nvCxnSpPr>
        <p:spPr>
          <a:xfrm flipH="1">
            <a:off x="4334212" y="4327960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69837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Exemplo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487030" y="3951361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3" name="Conector de seta reta 32"/>
          <p:cNvCxnSpPr/>
          <p:nvPr/>
        </p:nvCxnSpPr>
        <p:spPr>
          <a:xfrm flipH="1">
            <a:off x="447829" y="4327960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>
            <a:spLocks noChangeAspect="1"/>
          </p:cNvSpPr>
          <p:nvPr/>
        </p:nvSpPr>
        <p:spPr>
          <a:xfrm>
            <a:off x="2614391" y="3951360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7" name="Conector de seta reta 36"/>
          <p:cNvCxnSpPr/>
          <p:nvPr/>
        </p:nvCxnSpPr>
        <p:spPr>
          <a:xfrm flipH="1">
            <a:off x="2565126" y="4327960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>
            <a:spLocks noChangeAspect="1"/>
          </p:cNvSpPr>
          <p:nvPr/>
        </p:nvSpPr>
        <p:spPr>
          <a:xfrm>
            <a:off x="4373413" y="3951360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725501" y="3890165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725501" y="4174072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2848900" y="3890165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4616688" y="3890165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616688" y="4174072"/>
            <a:ext cx="1471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retorno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2848900" y="4174072"/>
            <a:ext cx="139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árvore</a:t>
            </a:r>
          </a:p>
        </p:txBody>
      </p: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de seta reta 103"/>
          <p:cNvCxnSpPr>
            <a:stCxn id="7" idx="6"/>
            <a:endCxn id="9" idx="1"/>
          </p:cNvCxnSpPr>
          <p:nvPr/>
        </p:nvCxnSpPr>
        <p:spPr>
          <a:xfrm>
            <a:off x="2309608" y="1561104"/>
            <a:ext cx="393124" cy="28825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106"/>
          <p:cNvCxnSpPr>
            <a:stCxn id="8" idx="6"/>
            <a:endCxn id="9" idx="3"/>
          </p:cNvCxnSpPr>
          <p:nvPr/>
        </p:nvCxnSpPr>
        <p:spPr>
          <a:xfrm flipV="1">
            <a:off x="2315659" y="2008430"/>
            <a:ext cx="387073" cy="29484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ela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6725935"/>
              </p:ext>
            </p:extLst>
          </p:nvPr>
        </p:nvGraphicFramePr>
        <p:xfrm>
          <a:off x="3353072" y="1312958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f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e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5" name="CaixaDeTexto 34"/>
          <p:cNvSpPr txBox="1"/>
          <p:nvPr/>
        </p:nvSpPr>
        <p:spPr>
          <a:xfrm>
            <a:off x="957676" y="2774208"/>
            <a:ext cx="23439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BP(e)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</a:t>
            </a:r>
            <a:r>
              <a:rPr lang="pt-BR" sz="1600" b="1" dirty="0">
                <a:solidFill>
                  <a:srgbClr val="00B0F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b, a, c }</a:t>
            </a:r>
            <a:endParaRPr lang="pt-BR" sz="1600" dirty="0"/>
          </a:p>
        </p:txBody>
      </p: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9" name="Elipse 8"/>
          <p:cNvSpPr/>
          <p:nvPr/>
        </p:nvSpPr>
        <p:spPr>
          <a:xfrm>
            <a:off x="2669035" y="1816410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43" name="Conector de seta reta 42"/>
          <p:cNvCxnSpPr>
            <a:stCxn id="46" idx="0"/>
          </p:cNvCxnSpPr>
          <p:nvPr/>
        </p:nvCxnSpPr>
        <p:spPr>
          <a:xfrm flipH="1" flipV="1">
            <a:off x="7259626" y="1791063"/>
            <a:ext cx="1" cy="37113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/>
          <p:cNvSpPr txBox="1"/>
          <p:nvPr/>
        </p:nvSpPr>
        <p:spPr>
          <a:xfrm>
            <a:off x="957676" y="3077091"/>
            <a:ext cx="22281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BP(f) 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(f)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d, e }</a:t>
            </a:r>
            <a:endParaRPr lang="pt-BR" sz="1600" dirty="0"/>
          </a:p>
        </p:txBody>
      </p:sp>
      <p:cxnSp>
        <p:nvCxnSpPr>
          <p:cNvPr id="47" name="Conector de seta reta 46"/>
          <p:cNvCxnSpPr>
            <a:stCxn id="49" idx="0"/>
          </p:cNvCxnSpPr>
          <p:nvPr/>
        </p:nvCxnSpPr>
        <p:spPr>
          <a:xfrm flipV="1">
            <a:off x="7259627" y="2387158"/>
            <a:ext cx="0" cy="37087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CaixaDeTexto 50"/>
          <p:cNvSpPr txBox="1"/>
          <p:nvPr/>
        </p:nvSpPr>
        <p:spPr>
          <a:xfrm>
            <a:off x="957676" y="3379974"/>
            <a:ext cx="23695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BP(b)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= { </a:t>
            </a:r>
            <a:r>
              <a:rPr lang="pt-BR" sz="1600" b="1" dirty="0">
                <a:solidFill>
                  <a:srgbClr val="00B0F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e, a, f }</a:t>
            </a:r>
            <a:endParaRPr lang="pt-BR" sz="1600" dirty="0"/>
          </a:p>
        </p:txBody>
      </p:sp>
      <p:cxnSp>
        <p:nvCxnSpPr>
          <p:cNvPr id="50" name="Conector de seta reta 49"/>
          <p:cNvCxnSpPr>
            <a:stCxn id="52" idx="7"/>
          </p:cNvCxnSpPr>
          <p:nvPr/>
        </p:nvCxnSpPr>
        <p:spPr>
          <a:xfrm flipV="1">
            <a:off x="6862311" y="2950048"/>
            <a:ext cx="315964" cy="33170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CaixaDeTexto 54"/>
          <p:cNvSpPr txBox="1"/>
          <p:nvPr/>
        </p:nvSpPr>
        <p:spPr>
          <a:xfrm>
            <a:off x="3248258" y="2769501"/>
            <a:ext cx="19704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BP(d)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53" name="Conector angulado 139"/>
          <p:cNvCxnSpPr/>
          <p:nvPr/>
        </p:nvCxnSpPr>
        <p:spPr>
          <a:xfrm rot="5400000" flipH="1" flipV="1">
            <a:off x="6475705" y="2579932"/>
            <a:ext cx="974129" cy="363618"/>
          </a:xfrm>
          <a:prstGeom prst="curvedConnector2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CaixaDeTexto 55"/>
          <p:cNvSpPr txBox="1"/>
          <p:nvPr/>
        </p:nvSpPr>
        <p:spPr>
          <a:xfrm>
            <a:off x="6510772" y="4166243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57" name="Conector reto 56"/>
          <p:cNvCxnSpPr/>
          <p:nvPr/>
        </p:nvCxnSpPr>
        <p:spPr>
          <a:xfrm>
            <a:off x="6447710" y="1393377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Elipse 168"/>
          <p:cNvSpPr/>
          <p:nvPr/>
        </p:nvSpPr>
        <p:spPr>
          <a:xfrm>
            <a:off x="7144577" y="156609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46" name="Elipse 45"/>
          <p:cNvSpPr/>
          <p:nvPr/>
        </p:nvSpPr>
        <p:spPr>
          <a:xfrm>
            <a:off x="7144578" y="2162193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49" name="Elipse 48"/>
          <p:cNvSpPr/>
          <p:nvPr/>
        </p:nvSpPr>
        <p:spPr>
          <a:xfrm>
            <a:off x="7144578" y="275802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52" name="Elipse 51"/>
          <p:cNvSpPr/>
          <p:nvPr/>
        </p:nvSpPr>
        <p:spPr>
          <a:xfrm>
            <a:off x="6665911" y="324880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58" name="Conector de seta reta 57"/>
          <p:cNvCxnSpPr/>
          <p:nvPr/>
        </p:nvCxnSpPr>
        <p:spPr>
          <a:xfrm flipH="1">
            <a:off x="4334212" y="4327960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17283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Exemplo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487030" y="3951361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3" name="Conector de seta reta 32"/>
          <p:cNvCxnSpPr/>
          <p:nvPr/>
        </p:nvCxnSpPr>
        <p:spPr>
          <a:xfrm flipH="1">
            <a:off x="447829" y="4327960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>
            <a:spLocks noChangeAspect="1"/>
          </p:cNvSpPr>
          <p:nvPr/>
        </p:nvSpPr>
        <p:spPr>
          <a:xfrm>
            <a:off x="2614391" y="3951360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7" name="Conector de seta reta 36"/>
          <p:cNvCxnSpPr/>
          <p:nvPr/>
        </p:nvCxnSpPr>
        <p:spPr>
          <a:xfrm flipH="1">
            <a:off x="2565126" y="4327960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>
            <a:spLocks noChangeAspect="1"/>
          </p:cNvSpPr>
          <p:nvPr/>
        </p:nvSpPr>
        <p:spPr>
          <a:xfrm>
            <a:off x="4373413" y="3951360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725501" y="3890165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725501" y="4174072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2848900" y="3890165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4616688" y="3890165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616688" y="4174072"/>
            <a:ext cx="1471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retorno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2848900" y="4174072"/>
            <a:ext cx="139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árvore</a:t>
            </a:r>
          </a:p>
        </p:txBody>
      </p: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de seta reta 103"/>
          <p:cNvCxnSpPr>
            <a:stCxn id="7" idx="6"/>
            <a:endCxn id="9" idx="1"/>
          </p:cNvCxnSpPr>
          <p:nvPr/>
        </p:nvCxnSpPr>
        <p:spPr>
          <a:xfrm>
            <a:off x="2309608" y="1561104"/>
            <a:ext cx="393124" cy="28825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106"/>
          <p:cNvCxnSpPr>
            <a:stCxn id="8" idx="6"/>
            <a:endCxn id="9" idx="3"/>
          </p:cNvCxnSpPr>
          <p:nvPr/>
        </p:nvCxnSpPr>
        <p:spPr>
          <a:xfrm flipV="1">
            <a:off x="2315659" y="2008430"/>
            <a:ext cx="387073" cy="29484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ela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6725935"/>
              </p:ext>
            </p:extLst>
          </p:nvPr>
        </p:nvGraphicFramePr>
        <p:xfrm>
          <a:off x="3353072" y="1312958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f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e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5" name="CaixaDeTexto 34"/>
          <p:cNvSpPr txBox="1"/>
          <p:nvPr/>
        </p:nvSpPr>
        <p:spPr>
          <a:xfrm>
            <a:off x="957676" y="2774208"/>
            <a:ext cx="23439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BP(e)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</a:t>
            </a:r>
            <a:r>
              <a:rPr lang="pt-BR" sz="1600" b="1" dirty="0">
                <a:solidFill>
                  <a:srgbClr val="00B0F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b, a, c }</a:t>
            </a:r>
            <a:endParaRPr lang="pt-BR" sz="1600" dirty="0"/>
          </a:p>
        </p:txBody>
      </p: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9" name="Elipse 8"/>
          <p:cNvSpPr/>
          <p:nvPr/>
        </p:nvSpPr>
        <p:spPr>
          <a:xfrm>
            <a:off x="2669035" y="1816410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43" name="Conector de seta reta 42"/>
          <p:cNvCxnSpPr>
            <a:stCxn id="46" idx="0"/>
          </p:cNvCxnSpPr>
          <p:nvPr/>
        </p:nvCxnSpPr>
        <p:spPr>
          <a:xfrm flipH="1" flipV="1">
            <a:off x="7259626" y="1791063"/>
            <a:ext cx="1" cy="37113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/>
          <p:cNvSpPr txBox="1"/>
          <p:nvPr/>
        </p:nvSpPr>
        <p:spPr>
          <a:xfrm>
            <a:off x="957676" y="3077091"/>
            <a:ext cx="22281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BP(f) 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(f)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d, e }</a:t>
            </a:r>
            <a:endParaRPr lang="pt-BR" sz="1600" dirty="0"/>
          </a:p>
        </p:txBody>
      </p:sp>
      <p:cxnSp>
        <p:nvCxnSpPr>
          <p:cNvPr id="47" name="Conector de seta reta 46"/>
          <p:cNvCxnSpPr>
            <a:stCxn id="49" idx="0"/>
          </p:cNvCxnSpPr>
          <p:nvPr/>
        </p:nvCxnSpPr>
        <p:spPr>
          <a:xfrm flipV="1">
            <a:off x="7259627" y="2387158"/>
            <a:ext cx="0" cy="37087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CaixaDeTexto 50"/>
          <p:cNvSpPr txBox="1"/>
          <p:nvPr/>
        </p:nvSpPr>
        <p:spPr>
          <a:xfrm>
            <a:off x="957676" y="3379974"/>
            <a:ext cx="23695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BP(b)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= { </a:t>
            </a:r>
            <a:r>
              <a:rPr lang="pt-BR" sz="1600" b="1" dirty="0">
                <a:solidFill>
                  <a:srgbClr val="00B0F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e, a, f }</a:t>
            </a:r>
            <a:endParaRPr lang="pt-BR" sz="1600" dirty="0"/>
          </a:p>
        </p:txBody>
      </p:sp>
      <p:cxnSp>
        <p:nvCxnSpPr>
          <p:cNvPr id="50" name="Conector de seta reta 49"/>
          <p:cNvCxnSpPr>
            <a:stCxn id="52" idx="7"/>
          </p:cNvCxnSpPr>
          <p:nvPr/>
        </p:nvCxnSpPr>
        <p:spPr>
          <a:xfrm flipV="1">
            <a:off x="6862311" y="2950048"/>
            <a:ext cx="315964" cy="33170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CaixaDeTexto 54"/>
          <p:cNvSpPr txBox="1"/>
          <p:nvPr/>
        </p:nvSpPr>
        <p:spPr>
          <a:xfrm>
            <a:off x="3248258" y="2769501"/>
            <a:ext cx="19704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BP(d)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53" name="Conector angulado 139"/>
          <p:cNvCxnSpPr/>
          <p:nvPr/>
        </p:nvCxnSpPr>
        <p:spPr>
          <a:xfrm rot="5400000" flipH="1" flipV="1">
            <a:off x="6475705" y="2579932"/>
            <a:ext cx="974129" cy="363618"/>
          </a:xfrm>
          <a:prstGeom prst="curvedConnector2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CaixaDeTexto 55"/>
          <p:cNvSpPr txBox="1"/>
          <p:nvPr/>
        </p:nvSpPr>
        <p:spPr>
          <a:xfrm>
            <a:off x="7426417" y="3248630"/>
            <a:ext cx="129907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dirty="0"/>
              <a:t>Retrocede para continuar a busca</a:t>
            </a:r>
          </a:p>
        </p:txBody>
      </p:sp>
      <p:cxnSp>
        <p:nvCxnSpPr>
          <p:cNvPr id="57" name="Conector de seta reta 56"/>
          <p:cNvCxnSpPr/>
          <p:nvPr/>
        </p:nvCxnSpPr>
        <p:spPr>
          <a:xfrm flipH="1" flipV="1">
            <a:off x="7440292" y="3003112"/>
            <a:ext cx="311298" cy="243342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/>
          <p:cNvSpPr txBox="1"/>
          <p:nvPr/>
        </p:nvSpPr>
        <p:spPr>
          <a:xfrm>
            <a:off x="6510772" y="4166243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59" name="Conector reto 58"/>
          <p:cNvCxnSpPr/>
          <p:nvPr/>
        </p:nvCxnSpPr>
        <p:spPr>
          <a:xfrm>
            <a:off x="6447710" y="1393377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Elipse 168"/>
          <p:cNvSpPr/>
          <p:nvPr/>
        </p:nvSpPr>
        <p:spPr>
          <a:xfrm>
            <a:off x="7144577" y="156609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46" name="Elipse 45"/>
          <p:cNvSpPr/>
          <p:nvPr/>
        </p:nvSpPr>
        <p:spPr>
          <a:xfrm>
            <a:off x="7144578" y="2162193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49" name="Elipse 48"/>
          <p:cNvSpPr/>
          <p:nvPr/>
        </p:nvSpPr>
        <p:spPr>
          <a:xfrm>
            <a:off x="7144578" y="275802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52" name="Elipse 51"/>
          <p:cNvSpPr/>
          <p:nvPr/>
        </p:nvSpPr>
        <p:spPr>
          <a:xfrm>
            <a:off x="6665911" y="324880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60" name="Conector de seta reta 59"/>
          <p:cNvCxnSpPr/>
          <p:nvPr/>
        </p:nvCxnSpPr>
        <p:spPr>
          <a:xfrm flipH="1">
            <a:off x="4334212" y="4327960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36069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Exemplo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487030" y="3951361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3" name="Conector de seta reta 32"/>
          <p:cNvCxnSpPr/>
          <p:nvPr/>
        </p:nvCxnSpPr>
        <p:spPr>
          <a:xfrm flipH="1">
            <a:off x="447829" y="4327960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>
            <a:spLocks noChangeAspect="1"/>
          </p:cNvSpPr>
          <p:nvPr/>
        </p:nvSpPr>
        <p:spPr>
          <a:xfrm>
            <a:off x="2614391" y="3951360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7" name="Conector de seta reta 36"/>
          <p:cNvCxnSpPr/>
          <p:nvPr/>
        </p:nvCxnSpPr>
        <p:spPr>
          <a:xfrm flipH="1">
            <a:off x="2565126" y="4327960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>
            <a:spLocks noChangeAspect="1"/>
          </p:cNvSpPr>
          <p:nvPr/>
        </p:nvSpPr>
        <p:spPr>
          <a:xfrm>
            <a:off x="4373413" y="3951360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725501" y="3890165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725501" y="4174072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2848900" y="3890165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4616688" y="3890165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616688" y="4174072"/>
            <a:ext cx="1471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retorno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2848900" y="4174072"/>
            <a:ext cx="139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árvore</a:t>
            </a:r>
          </a:p>
        </p:txBody>
      </p: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de seta reta 103"/>
          <p:cNvCxnSpPr>
            <a:stCxn id="7" idx="6"/>
            <a:endCxn id="9" idx="1"/>
          </p:cNvCxnSpPr>
          <p:nvPr/>
        </p:nvCxnSpPr>
        <p:spPr>
          <a:xfrm>
            <a:off x="2309608" y="1561104"/>
            <a:ext cx="393124" cy="28825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106"/>
          <p:cNvCxnSpPr>
            <a:stCxn id="8" idx="6"/>
            <a:endCxn id="9" idx="3"/>
          </p:cNvCxnSpPr>
          <p:nvPr/>
        </p:nvCxnSpPr>
        <p:spPr>
          <a:xfrm flipV="1">
            <a:off x="2315659" y="2008430"/>
            <a:ext cx="387073" cy="29484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ela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6725935"/>
              </p:ext>
            </p:extLst>
          </p:nvPr>
        </p:nvGraphicFramePr>
        <p:xfrm>
          <a:off x="3353072" y="1312958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f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e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5" name="CaixaDeTexto 34"/>
          <p:cNvSpPr txBox="1"/>
          <p:nvPr/>
        </p:nvSpPr>
        <p:spPr>
          <a:xfrm>
            <a:off x="957676" y="2774208"/>
            <a:ext cx="23439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BP(e)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</a:t>
            </a:r>
            <a:r>
              <a:rPr lang="pt-BR" sz="1600" b="1" dirty="0">
                <a:solidFill>
                  <a:srgbClr val="00B0F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b, a, c }</a:t>
            </a:r>
            <a:endParaRPr lang="pt-BR" sz="1600" dirty="0"/>
          </a:p>
        </p:txBody>
      </p: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9" name="Elipse 8"/>
          <p:cNvSpPr/>
          <p:nvPr/>
        </p:nvSpPr>
        <p:spPr>
          <a:xfrm>
            <a:off x="2669035" y="1816410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43" name="Conector de seta reta 42"/>
          <p:cNvCxnSpPr>
            <a:stCxn id="46" idx="0"/>
          </p:cNvCxnSpPr>
          <p:nvPr/>
        </p:nvCxnSpPr>
        <p:spPr>
          <a:xfrm flipH="1" flipV="1">
            <a:off x="7259626" y="1791063"/>
            <a:ext cx="1" cy="37113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/>
          <p:cNvSpPr txBox="1"/>
          <p:nvPr/>
        </p:nvSpPr>
        <p:spPr>
          <a:xfrm>
            <a:off x="957676" y="3077091"/>
            <a:ext cx="22281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BP(f) 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(f)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d, e }</a:t>
            </a:r>
            <a:endParaRPr lang="pt-BR" sz="1600" dirty="0"/>
          </a:p>
        </p:txBody>
      </p:sp>
      <p:cxnSp>
        <p:nvCxnSpPr>
          <p:cNvPr id="47" name="Conector de seta reta 46"/>
          <p:cNvCxnSpPr>
            <a:stCxn id="49" idx="0"/>
          </p:cNvCxnSpPr>
          <p:nvPr/>
        </p:nvCxnSpPr>
        <p:spPr>
          <a:xfrm flipV="1">
            <a:off x="7259627" y="2387158"/>
            <a:ext cx="0" cy="37087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CaixaDeTexto 50"/>
          <p:cNvSpPr txBox="1"/>
          <p:nvPr/>
        </p:nvSpPr>
        <p:spPr>
          <a:xfrm>
            <a:off x="957676" y="3379974"/>
            <a:ext cx="23695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BP(b)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= { </a:t>
            </a:r>
            <a:r>
              <a:rPr lang="pt-BR" sz="1600" b="1" dirty="0">
                <a:solidFill>
                  <a:srgbClr val="00B0F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a, f }</a:t>
            </a:r>
            <a:endParaRPr lang="pt-BR" sz="1600" dirty="0"/>
          </a:p>
        </p:txBody>
      </p:sp>
      <p:cxnSp>
        <p:nvCxnSpPr>
          <p:cNvPr id="50" name="Conector de seta reta 49"/>
          <p:cNvCxnSpPr>
            <a:stCxn id="52" idx="7"/>
          </p:cNvCxnSpPr>
          <p:nvPr/>
        </p:nvCxnSpPr>
        <p:spPr>
          <a:xfrm flipV="1">
            <a:off x="6862311" y="2950048"/>
            <a:ext cx="315964" cy="33170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CaixaDeTexto 54"/>
          <p:cNvSpPr txBox="1"/>
          <p:nvPr/>
        </p:nvSpPr>
        <p:spPr>
          <a:xfrm>
            <a:off x="3248258" y="2769501"/>
            <a:ext cx="19704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BP(d)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53" name="Conector angulado 139"/>
          <p:cNvCxnSpPr/>
          <p:nvPr/>
        </p:nvCxnSpPr>
        <p:spPr>
          <a:xfrm rot="5400000" flipH="1" flipV="1">
            <a:off x="6475705" y="2579932"/>
            <a:ext cx="974129" cy="363618"/>
          </a:xfrm>
          <a:prstGeom prst="curvedConnector2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CaixaDeTexto 55"/>
          <p:cNvSpPr txBox="1"/>
          <p:nvPr/>
        </p:nvSpPr>
        <p:spPr>
          <a:xfrm>
            <a:off x="7426417" y="3248630"/>
            <a:ext cx="129907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dirty="0"/>
              <a:t>Retrocede para continuar a busca</a:t>
            </a:r>
          </a:p>
        </p:txBody>
      </p:sp>
      <p:cxnSp>
        <p:nvCxnSpPr>
          <p:cNvPr id="57" name="Conector de seta reta 56"/>
          <p:cNvCxnSpPr/>
          <p:nvPr/>
        </p:nvCxnSpPr>
        <p:spPr>
          <a:xfrm flipH="1" flipV="1">
            <a:off x="7440292" y="3003112"/>
            <a:ext cx="311298" cy="243342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/>
          <p:cNvSpPr txBox="1"/>
          <p:nvPr/>
        </p:nvSpPr>
        <p:spPr>
          <a:xfrm>
            <a:off x="6510772" y="4166243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59" name="Conector reto 58"/>
          <p:cNvCxnSpPr/>
          <p:nvPr/>
        </p:nvCxnSpPr>
        <p:spPr>
          <a:xfrm>
            <a:off x="6447710" y="1393377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Elipse 168"/>
          <p:cNvSpPr/>
          <p:nvPr/>
        </p:nvSpPr>
        <p:spPr>
          <a:xfrm>
            <a:off x="7144577" y="156609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46" name="Elipse 45"/>
          <p:cNvSpPr/>
          <p:nvPr/>
        </p:nvSpPr>
        <p:spPr>
          <a:xfrm>
            <a:off x="7144578" y="2162193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49" name="Elipse 48"/>
          <p:cNvSpPr/>
          <p:nvPr/>
        </p:nvSpPr>
        <p:spPr>
          <a:xfrm>
            <a:off x="7144578" y="275802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52" name="Elipse 51"/>
          <p:cNvSpPr/>
          <p:nvPr/>
        </p:nvSpPr>
        <p:spPr>
          <a:xfrm>
            <a:off x="6665911" y="324880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60" name="Conector de seta reta 59"/>
          <p:cNvCxnSpPr/>
          <p:nvPr/>
        </p:nvCxnSpPr>
        <p:spPr>
          <a:xfrm flipH="1">
            <a:off x="4334212" y="4327960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74608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Exemplo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487030" y="3951361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3" name="Conector de seta reta 32"/>
          <p:cNvCxnSpPr/>
          <p:nvPr/>
        </p:nvCxnSpPr>
        <p:spPr>
          <a:xfrm flipH="1">
            <a:off x="447829" y="4327960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>
            <a:spLocks noChangeAspect="1"/>
          </p:cNvSpPr>
          <p:nvPr/>
        </p:nvSpPr>
        <p:spPr>
          <a:xfrm>
            <a:off x="2614391" y="3951360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7" name="Conector de seta reta 36"/>
          <p:cNvCxnSpPr/>
          <p:nvPr/>
        </p:nvCxnSpPr>
        <p:spPr>
          <a:xfrm flipH="1">
            <a:off x="2565126" y="4327960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>
            <a:spLocks noChangeAspect="1"/>
          </p:cNvSpPr>
          <p:nvPr/>
        </p:nvSpPr>
        <p:spPr>
          <a:xfrm>
            <a:off x="4373413" y="3951360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725501" y="3890165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725501" y="4174072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2848900" y="3890165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4616688" y="3890165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616688" y="4174072"/>
            <a:ext cx="1471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retorno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2848900" y="4174072"/>
            <a:ext cx="139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árvore</a:t>
            </a:r>
          </a:p>
        </p:txBody>
      </p: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de seta reta 103"/>
          <p:cNvCxnSpPr>
            <a:stCxn id="7" idx="6"/>
            <a:endCxn id="9" idx="1"/>
          </p:cNvCxnSpPr>
          <p:nvPr/>
        </p:nvCxnSpPr>
        <p:spPr>
          <a:xfrm>
            <a:off x="2309608" y="1561104"/>
            <a:ext cx="393124" cy="28825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106"/>
          <p:cNvCxnSpPr>
            <a:stCxn id="8" idx="6"/>
            <a:endCxn id="9" idx="3"/>
          </p:cNvCxnSpPr>
          <p:nvPr/>
        </p:nvCxnSpPr>
        <p:spPr>
          <a:xfrm flipV="1">
            <a:off x="2315659" y="2008430"/>
            <a:ext cx="387073" cy="29484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ela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6725935"/>
              </p:ext>
            </p:extLst>
          </p:nvPr>
        </p:nvGraphicFramePr>
        <p:xfrm>
          <a:off x="3353072" y="1312958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f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e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5" name="CaixaDeTexto 34"/>
          <p:cNvSpPr txBox="1"/>
          <p:nvPr/>
        </p:nvSpPr>
        <p:spPr>
          <a:xfrm>
            <a:off x="957676" y="2774208"/>
            <a:ext cx="23439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BP(e)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</a:t>
            </a:r>
            <a:r>
              <a:rPr lang="pt-BR" sz="1600" b="1" dirty="0">
                <a:solidFill>
                  <a:srgbClr val="00B0F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b, a, c }</a:t>
            </a:r>
            <a:endParaRPr lang="pt-BR" sz="1600" dirty="0"/>
          </a:p>
        </p:txBody>
      </p: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9" name="Elipse 8"/>
          <p:cNvSpPr/>
          <p:nvPr/>
        </p:nvSpPr>
        <p:spPr>
          <a:xfrm>
            <a:off x="2669035" y="1816410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43" name="Conector de seta reta 42"/>
          <p:cNvCxnSpPr>
            <a:stCxn id="46" idx="0"/>
          </p:cNvCxnSpPr>
          <p:nvPr/>
        </p:nvCxnSpPr>
        <p:spPr>
          <a:xfrm flipH="1" flipV="1">
            <a:off x="7259626" y="1791063"/>
            <a:ext cx="1" cy="37113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/>
          <p:cNvSpPr txBox="1"/>
          <p:nvPr/>
        </p:nvSpPr>
        <p:spPr>
          <a:xfrm>
            <a:off x="957676" y="3077091"/>
            <a:ext cx="22281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BP(f) 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(f)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d, e }</a:t>
            </a:r>
            <a:endParaRPr lang="pt-BR" sz="1600" dirty="0"/>
          </a:p>
        </p:txBody>
      </p:sp>
      <p:cxnSp>
        <p:nvCxnSpPr>
          <p:cNvPr id="47" name="Conector de seta reta 46"/>
          <p:cNvCxnSpPr>
            <a:stCxn id="49" idx="0"/>
          </p:cNvCxnSpPr>
          <p:nvPr/>
        </p:nvCxnSpPr>
        <p:spPr>
          <a:xfrm flipV="1">
            <a:off x="7259627" y="2387158"/>
            <a:ext cx="0" cy="37087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CaixaDeTexto 50"/>
          <p:cNvSpPr txBox="1"/>
          <p:nvPr/>
        </p:nvSpPr>
        <p:spPr>
          <a:xfrm>
            <a:off x="957676" y="3379974"/>
            <a:ext cx="23695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BP(b)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= { </a:t>
            </a:r>
            <a:r>
              <a:rPr lang="pt-BR" sz="1600" b="1" dirty="0">
                <a:solidFill>
                  <a:srgbClr val="00B0F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a, f }</a:t>
            </a:r>
            <a:endParaRPr lang="pt-BR" sz="1600" dirty="0"/>
          </a:p>
        </p:txBody>
      </p:sp>
      <p:cxnSp>
        <p:nvCxnSpPr>
          <p:cNvPr id="50" name="Conector de seta reta 49"/>
          <p:cNvCxnSpPr>
            <a:stCxn id="52" idx="7"/>
          </p:cNvCxnSpPr>
          <p:nvPr/>
        </p:nvCxnSpPr>
        <p:spPr>
          <a:xfrm flipV="1">
            <a:off x="6862311" y="2950048"/>
            <a:ext cx="315964" cy="33170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CaixaDeTexto 54"/>
          <p:cNvSpPr txBox="1"/>
          <p:nvPr/>
        </p:nvSpPr>
        <p:spPr>
          <a:xfrm>
            <a:off x="3248258" y="2769501"/>
            <a:ext cx="19704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BP(d)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53" name="Conector angulado 139"/>
          <p:cNvCxnSpPr/>
          <p:nvPr/>
        </p:nvCxnSpPr>
        <p:spPr>
          <a:xfrm rot="5400000" flipH="1" flipV="1">
            <a:off x="6475705" y="2579932"/>
            <a:ext cx="974129" cy="363618"/>
          </a:xfrm>
          <a:prstGeom prst="curvedConnector2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angulado 147"/>
          <p:cNvCxnSpPr/>
          <p:nvPr/>
        </p:nvCxnSpPr>
        <p:spPr>
          <a:xfrm>
            <a:off x="7374674" y="1678581"/>
            <a:ext cx="1" cy="1191930"/>
          </a:xfrm>
          <a:prstGeom prst="curvedConnector3">
            <a:avLst>
              <a:gd name="adj1" fmla="val 22860100000"/>
            </a:avLst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CaixaDeTexto 55"/>
          <p:cNvSpPr txBox="1"/>
          <p:nvPr/>
        </p:nvSpPr>
        <p:spPr>
          <a:xfrm>
            <a:off x="6510772" y="4166243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57" name="Conector reto 56"/>
          <p:cNvCxnSpPr/>
          <p:nvPr/>
        </p:nvCxnSpPr>
        <p:spPr>
          <a:xfrm>
            <a:off x="6447710" y="1393377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Elipse 168"/>
          <p:cNvSpPr/>
          <p:nvPr/>
        </p:nvSpPr>
        <p:spPr>
          <a:xfrm>
            <a:off x="7144577" y="156609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46" name="Elipse 45"/>
          <p:cNvSpPr/>
          <p:nvPr/>
        </p:nvSpPr>
        <p:spPr>
          <a:xfrm>
            <a:off x="7144578" y="2162193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49" name="Elipse 48"/>
          <p:cNvSpPr/>
          <p:nvPr/>
        </p:nvSpPr>
        <p:spPr>
          <a:xfrm>
            <a:off x="7144578" y="275802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52" name="Elipse 51"/>
          <p:cNvSpPr/>
          <p:nvPr/>
        </p:nvSpPr>
        <p:spPr>
          <a:xfrm>
            <a:off x="6665911" y="324880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59" name="Conector de seta reta 58"/>
          <p:cNvCxnSpPr/>
          <p:nvPr/>
        </p:nvCxnSpPr>
        <p:spPr>
          <a:xfrm flipH="1">
            <a:off x="4334212" y="4327960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76398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Exemplo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487030" y="3951361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3" name="Conector de seta reta 32"/>
          <p:cNvCxnSpPr/>
          <p:nvPr/>
        </p:nvCxnSpPr>
        <p:spPr>
          <a:xfrm flipH="1">
            <a:off x="447829" y="4327960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>
            <a:spLocks noChangeAspect="1"/>
          </p:cNvSpPr>
          <p:nvPr/>
        </p:nvSpPr>
        <p:spPr>
          <a:xfrm>
            <a:off x="2614391" y="3951360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7" name="Conector de seta reta 36"/>
          <p:cNvCxnSpPr/>
          <p:nvPr/>
        </p:nvCxnSpPr>
        <p:spPr>
          <a:xfrm flipH="1">
            <a:off x="2565126" y="4327960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>
            <a:spLocks noChangeAspect="1"/>
          </p:cNvSpPr>
          <p:nvPr/>
        </p:nvSpPr>
        <p:spPr>
          <a:xfrm>
            <a:off x="4373413" y="3951360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725501" y="3890165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725501" y="4174072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2848900" y="3890165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4616688" y="3890165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616688" y="4174072"/>
            <a:ext cx="1471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retorno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2848900" y="4174072"/>
            <a:ext cx="139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árvore</a:t>
            </a:r>
          </a:p>
        </p:txBody>
      </p: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de seta reta 103"/>
          <p:cNvCxnSpPr>
            <a:stCxn id="7" idx="6"/>
            <a:endCxn id="9" idx="1"/>
          </p:cNvCxnSpPr>
          <p:nvPr/>
        </p:nvCxnSpPr>
        <p:spPr>
          <a:xfrm>
            <a:off x="2309608" y="1561104"/>
            <a:ext cx="393124" cy="28825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106"/>
          <p:cNvCxnSpPr>
            <a:stCxn id="8" idx="6"/>
            <a:endCxn id="9" idx="3"/>
          </p:cNvCxnSpPr>
          <p:nvPr/>
        </p:nvCxnSpPr>
        <p:spPr>
          <a:xfrm flipV="1">
            <a:off x="2315659" y="2008430"/>
            <a:ext cx="387073" cy="29484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ela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6725935"/>
              </p:ext>
            </p:extLst>
          </p:nvPr>
        </p:nvGraphicFramePr>
        <p:xfrm>
          <a:off x="3353072" y="1312958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f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e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5" name="CaixaDeTexto 34"/>
          <p:cNvSpPr txBox="1"/>
          <p:nvPr/>
        </p:nvSpPr>
        <p:spPr>
          <a:xfrm>
            <a:off x="957676" y="2774208"/>
            <a:ext cx="23439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BP(e)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</a:t>
            </a:r>
            <a:r>
              <a:rPr lang="pt-BR" sz="1600" b="1" dirty="0">
                <a:solidFill>
                  <a:srgbClr val="00B0F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b, a, c }</a:t>
            </a:r>
            <a:endParaRPr lang="pt-BR" sz="1600" dirty="0"/>
          </a:p>
        </p:txBody>
      </p: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9" name="Elipse 8"/>
          <p:cNvSpPr/>
          <p:nvPr/>
        </p:nvSpPr>
        <p:spPr>
          <a:xfrm>
            <a:off x="2669035" y="1816410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43" name="Conector de seta reta 42"/>
          <p:cNvCxnSpPr>
            <a:stCxn id="46" idx="0"/>
          </p:cNvCxnSpPr>
          <p:nvPr/>
        </p:nvCxnSpPr>
        <p:spPr>
          <a:xfrm flipH="1" flipV="1">
            <a:off x="7259626" y="1791063"/>
            <a:ext cx="1" cy="37113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/>
          <p:cNvSpPr txBox="1"/>
          <p:nvPr/>
        </p:nvSpPr>
        <p:spPr>
          <a:xfrm>
            <a:off x="957676" y="3077091"/>
            <a:ext cx="22281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BP(f) 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(f)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d, e }</a:t>
            </a:r>
            <a:endParaRPr lang="pt-BR" sz="1600" dirty="0"/>
          </a:p>
        </p:txBody>
      </p:sp>
      <p:cxnSp>
        <p:nvCxnSpPr>
          <p:cNvPr id="47" name="Conector de seta reta 46"/>
          <p:cNvCxnSpPr>
            <a:stCxn id="49" idx="0"/>
          </p:cNvCxnSpPr>
          <p:nvPr/>
        </p:nvCxnSpPr>
        <p:spPr>
          <a:xfrm flipV="1">
            <a:off x="7259627" y="2387158"/>
            <a:ext cx="0" cy="37087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CaixaDeTexto 50"/>
          <p:cNvSpPr txBox="1"/>
          <p:nvPr/>
        </p:nvSpPr>
        <p:spPr>
          <a:xfrm>
            <a:off x="957676" y="3379974"/>
            <a:ext cx="23727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BP(b)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= { </a:t>
            </a:r>
            <a:r>
              <a:rPr lang="pt-BR" sz="1600" b="1" dirty="0">
                <a:solidFill>
                  <a:srgbClr val="00B0F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a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f }</a:t>
            </a:r>
            <a:endParaRPr lang="pt-BR" sz="1600" dirty="0"/>
          </a:p>
        </p:txBody>
      </p:sp>
      <p:cxnSp>
        <p:nvCxnSpPr>
          <p:cNvPr id="50" name="Conector de seta reta 49"/>
          <p:cNvCxnSpPr>
            <a:stCxn id="52" idx="7"/>
          </p:cNvCxnSpPr>
          <p:nvPr/>
        </p:nvCxnSpPr>
        <p:spPr>
          <a:xfrm flipV="1">
            <a:off x="6862311" y="2950048"/>
            <a:ext cx="315964" cy="33170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CaixaDeTexto 54"/>
          <p:cNvSpPr txBox="1"/>
          <p:nvPr/>
        </p:nvSpPr>
        <p:spPr>
          <a:xfrm>
            <a:off x="3248258" y="2769501"/>
            <a:ext cx="19704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BP(d)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53" name="Conector angulado 139"/>
          <p:cNvCxnSpPr/>
          <p:nvPr/>
        </p:nvCxnSpPr>
        <p:spPr>
          <a:xfrm rot="5400000" flipH="1" flipV="1">
            <a:off x="6475705" y="2579932"/>
            <a:ext cx="974129" cy="363618"/>
          </a:xfrm>
          <a:prstGeom prst="curvedConnector2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angulado 147"/>
          <p:cNvCxnSpPr/>
          <p:nvPr/>
        </p:nvCxnSpPr>
        <p:spPr>
          <a:xfrm>
            <a:off x="7374674" y="1678581"/>
            <a:ext cx="1" cy="1191930"/>
          </a:xfrm>
          <a:prstGeom prst="curvedConnector3">
            <a:avLst>
              <a:gd name="adj1" fmla="val 22860100000"/>
            </a:avLst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CaixaDeTexto 55"/>
          <p:cNvSpPr txBox="1"/>
          <p:nvPr/>
        </p:nvSpPr>
        <p:spPr>
          <a:xfrm>
            <a:off x="6510772" y="4166243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57" name="Conector reto 56"/>
          <p:cNvCxnSpPr/>
          <p:nvPr/>
        </p:nvCxnSpPr>
        <p:spPr>
          <a:xfrm>
            <a:off x="6447710" y="1393377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Elipse 168"/>
          <p:cNvSpPr/>
          <p:nvPr/>
        </p:nvSpPr>
        <p:spPr>
          <a:xfrm>
            <a:off x="7144577" y="156609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46" name="Elipse 45"/>
          <p:cNvSpPr/>
          <p:nvPr/>
        </p:nvSpPr>
        <p:spPr>
          <a:xfrm>
            <a:off x="7144578" y="2162193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49" name="Elipse 48"/>
          <p:cNvSpPr/>
          <p:nvPr/>
        </p:nvSpPr>
        <p:spPr>
          <a:xfrm>
            <a:off x="7144578" y="275802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52" name="Elipse 51"/>
          <p:cNvSpPr/>
          <p:nvPr/>
        </p:nvSpPr>
        <p:spPr>
          <a:xfrm>
            <a:off x="6665911" y="324880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59" name="Conector de seta reta 58"/>
          <p:cNvCxnSpPr/>
          <p:nvPr/>
        </p:nvCxnSpPr>
        <p:spPr>
          <a:xfrm flipH="1">
            <a:off x="4334212" y="4327960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83649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Exemplo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487030" y="3951361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3" name="Conector de seta reta 32"/>
          <p:cNvCxnSpPr/>
          <p:nvPr/>
        </p:nvCxnSpPr>
        <p:spPr>
          <a:xfrm flipH="1">
            <a:off x="447829" y="4327960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>
            <a:spLocks noChangeAspect="1"/>
          </p:cNvSpPr>
          <p:nvPr/>
        </p:nvSpPr>
        <p:spPr>
          <a:xfrm>
            <a:off x="2614391" y="3951360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7" name="Conector de seta reta 36"/>
          <p:cNvCxnSpPr/>
          <p:nvPr/>
        </p:nvCxnSpPr>
        <p:spPr>
          <a:xfrm flipH="1">
            <a:off x="2565126" y="4327960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>
            <a:spLocks noChangeAspect="1"/>
          </p:cNvSpPr>
          <p:nvPr/>
        </p:nvSpPr>
        <p:spPr>
          <a:xfrm>
            <a:off x="4373413" y="3951360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725501" y="3890165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725501" y="4174072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2848900" y="3890165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4616688" y="3890165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616688" y="4174072"/>
            <a:ext cx="1471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retorno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2848900" y="4174072"/>
            <a:ext cx="139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árvore</a:t>
            </a:r>
          </a:p>
        </p:txBody>
      </p: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de seta reta 103"/>
          <p:cNvCxnSpPr>
            <a:stCxn id="7" idx="6"/>
            <a:endCxn id="9" idx="1"/>
          </p:cNvCxnSpPr>
          <p:nvPr/>
        </p:nvCxnSpPr>
        <p:spPr>
          <a:xfrm>
            <a:off x="2309608" y="1561104"/>
            <a:ext cx="393124" cy="28825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106"/>
          <p:cNvCxnSpPr>
            <a:stCxn id="8" idx="6"/>
            <a:endCxn id="9" idx="3"/>
          </p:cNvCxnSpPr>
          <p:nvPr/>
        </p:nvCxnSpPr>
        <p:spPr>
          <a:xfrm flipV="1">
            <a:off x="2315659" y="2008430"/>
            <a:ext cx="387073" cy="29484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ela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7234254"/>
              </p:ext>
            </p:extLst>
          </p:nvPr>
        </p:nvGraphicFramePr>
        <p:xfrm>
          <a:off x="3353072" y="1312958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f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e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5" name="CaixaDeTexto 34"/>
          <p:cNvSpPr txBox="1"/>
          <p:nvPr/>
        </p:nvSpPr>
        <p:spPr>
          <a:xfrm>
            <a:off x="957676" y="2774208"/>
            <a:ext cx="23439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BP(e)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</a:t>
            </a:r>
            <a:r>
              <a:rPr lang="pt-BR" sz="1600" b="1" dirty="0">
                <a:solidFill>
                  <a:srgbClr val="00B0F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b, a, c }</a:t>
            </a:r>
            <a:endParaRPr lang="pt-BR" sz="1600" dirty="0"/>
          </a:p>
        </p:txBody>
      </p: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9" name="Elipse 8"/>
          <p:cNvSpPr/>
          <p:nvPr/>
        </p:nvSpPr>
        <p:spPr>
          <a:xfrm>
            <a:off x="2669035" y="1816410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43" name="Conector de seta reta 42"/>
          <p:cNvCxnSpPr>
            <a:stCxn id="46" idx="0"/>
          </p:cNvCxnSpPr>
          <p:nvPr/>
        </p:nvCxnSpPr>
        <p:spPr>
          <a:xfrm flipH="1" flipV="1">
            <a:off x="7259626" y="1791063"/>
            <a:ext cx="1" cy="37113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/>
          <p:cNvSpPr txBox="1"/>
          <p:nvPr/>
        </p:nvSpPr>
        <p:spPr>
          <a:xfrm>
            <a:off x="957676" y="3077091"/>
            <a:ext cx="22281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BP(f) 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(f)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d, e }</a:t>
            </a:r>
            <a:endParaRPr lang="pt-BR" sz="1600" dirty="0"/>
          </a:p>
        </p:txBody>
      </p:sp>
      <p:cxnSp>
        <p:nvCxnSpPr>
          <p:cNvPr id="47" name="Conector de seta reta 46"/>
          <p:cNvCxnSpPr>
            <a:stCxn id="49" idx="0"/>
          </p:cNvCxnSpPr>
          <p:nvPr/>
        </p:nvCxnSpPr>
        <p:spPr>
          <a:xfrm flipV="1">
            <a:off x="7259627" y="2387158"/>
            <a:ext cx="0" cy="37087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CaixaDeTexto 50"/>
          <p:cNvSpPr txBox="1"/>
          <p:nvPr/>
        </p:nvSpPr>
        <p:spPr>
          <a:xfrm>
            <a:off x="957676" y="3379974"/>
            <a:ext cx="23727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BP(b)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= { </a:t>
            </a:r>
            <a:r>
              <a:rPr lang="pt-BR" sz="1600" b="1" dirty="0">
                <a:solidFill>
                  <a:srgbClr val="00B0F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a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f }</a:t>
            </a:r>
            <a:endParaRPr lang="pt-BR" sz="1600" dirty="0"/>
          </a:p>
        </p:txBody>
      </p:sp>
      <p:cxnSp>
        <p:nvCxnSpPr>
          <p:cNvPr id="50" name="Conector de seta reta 49"/>
          <p:cNvCxnSpPr>
            <a:stCxn id="52" idx="7"/>
          </p:cNvCxnSpPr>
          <p:nvPr/>
        </p:nvCxnSpPr>
        <p:spPr>
          <a:xfrm flipV="1">
            <a:off x="6862311" y="2950048"/>
            <a:ext cx="315964" cy="33170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CaixaDeTexto 54"/>
          <p:cNvSpPr txBox="1"/>
          <p:nvPr/>
        </p:nvSpPr>
        <p:spPr>
          <a:xfrm>
            <a:off x="3248258" y="2769501"/>
            <a:ext cx="19704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BP(d)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53" name="Conector angulado 139"/>
          <p:cNvCxnSpPr/>
          <p:nvPr/>
        </p:nvCxnSpPr>
        <p:spPr>
          <a:xfrm rot="5400000" flipH="1" flipV="1">
            <a:off x="6475705" y="2579932"/>
            <a:ext cx="974129" cy="363618"/>
          </a:xfrm>
          <a:prstGeom prst="curvedConnector2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angulado 147"/>
          <p:cNvCxnSpPr/>
          <p:nvPr/>
        </p:nvCxnSpPr>
        <p:spPr>
          <a:xfrm>
            <a:off x="7374674" y="1678581"/>
            <a:ext cx="1" cy="1191930"/>
          </a:xfrm>
          <a:prstGeom prst="curvedConnector3">
            <a:avLst>
              <a:gd name="adj1" fmla="val 22860100000"/>
            </a:avLst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de seta reta 55"/>
          <p:cNvCxnSpPr>
            <a:stCxn id="57" idx="1"/>
          </p:cNvCxnSpPr>
          <p:nvPr/>
        </p:nvCxnSpPr>
        <p:spPr>
          <a:xfrm flipH="1" flipV="1">
            <a:off x="7340978" y="2950048"/>
            <a:ext cx="315964" cy="331703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/>
          <p:cNvSpPr txBox="1"/>
          <p:nvPr/>
        </p:nvSpPr>
        <p:spPr>
          <a:xfrm>
            <a:off x="6510772" y="4166243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60" name="Conector reto 59"/>
          <p:cNvCxnSpPr/>
          <p:nvPr/>
        </p:nvCxnSpPr>
        <p:spPr>
          <a:xfrm>
            <a:off x="6447710" y="1393377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Elipse 168"/>
          <p:cNvSpPr/>
          <p:nvPr/>
        </p:nvSpPr>
        <p:spPr>
          <a:xfrm>
            <a:off x="7144577" y="156609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46" name="Elipse 45"/>
          <p:cNvSpPr/>
          <p:nvPr/>
        </p:nvSpPr>
        <p:spPr>
          <a:xfrm>
            <a:off x="7144578" y="2162193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49" name="Elipse 48"/>
          <p:cNvSpPr/>
          <p:nvPr/>
        </p:nvSpPr>
        <p:spPr>
          <a:xfrm>
            <a:off x="7144578" y="275802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52" name="Elipse 51"/>
          <p:cNvSpPr/>
          <p:nvPr/>
        </p:nvSpPr>
        <p:spPr>
          <a:xfrm>
            <a:off x="6665911" y="324880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57" name="Elipse 56"/>
          <p:cNvSpPr/>
          <p:nvPr/>
        </p:nvSpPr>
        <p:spPr>
          <a:xfrm>
            <a:off x="7623245" y="32488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cxnSp>
        <p:nvCxnSpPr>
          <p:cNvPr id="61" name="Conector de seta reta 60"/>
          <p:cNvCxnSpPr/>
          <p:nvPr/>
        </p:nvCxnSpPr>
        <p:spPr>
          <a:xfrm flipH="1">
            <a:off x="4334212" y="4327960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13192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Exemplo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487030" y="3951361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3" name="Conector de seta reta 32"/>
          <p:cNvCxnSpPr/>
          <p:nvPr/>
        </p:nvCxnSpPr>
        <p:spPr>
          <a:xfrm flipH="1">
            <a:off x="447829" y="4327960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>
            <a:spLocks noChangeAspect="1"/>
          </p:cNvSpPr>
          <p:nvPr/>
        </p:nvSpPr>
        <p:spPr>
          <a:xfrm>
            <a:off x="2614391" y="3951360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7" name="Conector de seta reta 36"/>
          <p:cNvCxnSpPr/>
          <p:nvPr/>
        </p:nvCxnSpPr>
        <p:spPr>
          <a:xfrm flipH="1">
            <a:off x="2565126" y="4327960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>
            <a:spLocks noChangeAspect="1"/>
          </p:cNvSpPr>
          <p:nvPr/>
        </p:nvSpPr>
        <p:spPr>
          <a:xfrm>
            <a:off x="4373413" y="3951360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725501" y="3890165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725501" y="4174072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2848900" y="3890165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4616688" y="3890165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616688" y="4174072"/>
            <a:ext cx="1471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retorno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2848900" y="4174072"/>
            <a:ext cx="139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árvore</a:t>
            </a:r>
          </a:p>
        </p:txBody>
      </p: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de seta reta 103"/>
          <p:cNvCxnSpPr>
            <a:stCxn id="7" idx="6"/>
            <a:endCxn id="9" idx="1"/>
          </p:cNvCxnSpPr>
          <p:nvPr/>
        </p:nvCxnSpPr>
        <p:spPr>
          <a:xfrm>
            <a:off x="2309608" y="1561104"/>
            <a:ext cx="393124" cy="28825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106"/>
          <p:cNvCxnSpPr>
            <a:stCxn id="8" idx="6"/>
            <a:endCxn id="9" idx="3"/>
          </p:cNvCxnSpPr>
          <p:nvPr/>
        </p:nvCxnSpPr>
        <p:spPr>
          <a:xfrm flipV="1">
            <a:off x="2315659" y="2008430"/>
            <a:ext cx="387073" cy="29484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ela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318170"/>
              </p:ext>
            </p:extLst>
          </p:nvPr>
        </p:nvGraphicFramePr>
        <p:xfrm>
          <a:off x="3353072" y="1312958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f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e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9" name="Elipse 168"/>
          <p:cNvSpPr/>
          <p:nvPr/>
        </p:nvSpPr>
        <p:spPr>
          <a:xfrm>
            <a:off x="7144577" y="156609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957676" y="2774208"/>
            <a:ext cx="23439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BP(e)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</a:t>
            </a:r>
            <a:r>
              <a:rPr lang="pt-BR" sz="1600" b="1" dirty="0">
                <a:solidFill>
                  <a:srgbClr val="00B0F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b, a, c }</a:t>
            </a:r>
            <a:endParaRPr lang="pt-BR" sz="1600" dirty="0"/>
          </a:p>
        </p:txBody>
      </p: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9" name="Elipse 8"/>
          <p:cNvSpPr/>
          <p:nvPr/>
        </p:nvSpPr>
        <p:spPr>
          <a:xfrm>
            <a:off x="2669035" y="1816410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43" name="Conector de seta reta 42"/>
          <p:cNvCxnSpPr>
            <a:stCxn id="46" idx="0"/>
          </p:cNvCxnSpPr>
          <p:nvPr/>
        </p:nvCxnSpPr>
        <p:spPr>
          <a:xfrm flipH="1" flipV="1">
            <a:off x="7259626" y="1791063"/>
            <a:ext cx="1" cy="37113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lipse 45"/>
          <p:cNvSpPr/>
          <p:nvPr/>
        </p:nvSpPr>
        <p:spPr>
          <a:xfrm>
            <a:off x="7144578" y="2162193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48" name="CaixaDeTexto 47"/>
          <p:cNvSpPr txBox="1"/>
          <p:nvPr/>
        </p:nvSpPr>
        <p:spPr>
          <a:xfrm>
            <a:off x="957676" y="3077091"/>
            <a:ext cx="22281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BP(f) 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(f)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d, e }</a:t>
            </a:r>
            <a:endParaRPr lang="pt-BR" sz="1600" dirty="0"/>
          </a:p>
        </p:txBody>
      </p:sp>
      <p:cxnSp>
        <p:nvCxnSpPr>
          <p:cNvPr id="47" name="Conector de seta reta 46"/>
          <p:cNvCxnSpPr>
            <a:stCxn id="49" idx="0"/>
          </p:cNvCxnSpPr>
          <p:nvPr/>
        </p:nvCxnSpPr>
        <p:spPr>
          <a:xfrm flipV="1">
            <a:off x="7259627" y="2387158"/>
            <a:ext cx="0" cy="37087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/>
          <p:cNvSpPr/>
          <p:nvPr/>
        </p:nvSpPr>
        <p:spPr>
          <a:xfrm>
            <a:off x="7144578" y="275802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51" name="CaixaDeTexto 50"/>
          <p:cNvSpPr txBox="1"/>
          <p:nvPr/>
        </p:nvSpPr>
        <p:spPr>
          <a:xfrm>
            <a:off x="957676" y="3379974"/>
            <a:ext cx="23727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BP(b)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= { </a:t>
            </a:r>
            <a:r>
              <a:rPr lang="pt-BR" sz="1600" b="1" dirty="0">
                <a:solidFill>
                  <a:srgbClr val="00B0F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a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f }</a:t>
            </a:r>
            <a:endParaRPr lang="pt-BR" sz="1600" dirty="0"/>
          </a:p>
        </p:txBody>
      </p:sp>
      <p:cxnSp>
        <p:nvCxnSpPr>
          <p:cNvPr id="50" name="Conector de seta reta 49"/>
          <p:cNvCxnSpPr>
            <a:stCxn id="52" idx="7"/>
          </p:cNvCxnSpPr>
          <p:nvPr/>
        </p:nvCxnSpPr>
        <p:spPr>
          <a:xfrm flipV="1">
            <a:off x="6862311" y="2950048"/>
            <a:ext cx="315964" cy="33170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Elipse 51"/>
          <p:cNvSpPr/>
          <p:nvPr/>
        </p:nvSpPr>
        <p:spPr>
          <a:xfrm>
            <a:off x="6665911" y="324880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3248258" y="2769501"/>
            <a:ext cx="19704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BP(d)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53" name="Conector angulado 139"/>
          <p:cNvCxnSpPr/>
          <p:nvPr/>
        </p:nvCxnSpPr>
        <p:spPr>
          <a:xfrm rot="5400000" flipH="1" flipV="1">
            <a:off x="6475705" y="2579932"/>
            <a:ext cx="974129" cy="363618"/>
          </a:xfrm>
          <a:prstGeom prst="curvedConnector2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angulado 147"/>
          <p:cNvCxnSpPr/>
          <p:nvPr/>
        </p:nvCxnSpPr>
        <p:spPr>
          <a:xfrm>
            <a:off x="7374674" y="1678581"/>
            <a:ext cx="1" cy="1191930"/>
          </a:xfrm>
          <a:prstGeom prst="curvedConnector3">
            <a:avLst>
              <a:gd name="adj1" fmla="val 22860100000"/>
            </a:avLst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de seta reta 55"/>
          <p:cNvCxnSpPr>
            <a:stCxn id="57" idx="1"/>
          </p:cNvCxnSpPr>
          <p:nvPr/>
        </p:nvCxnSpPr>
        <p:spPr>
          <a:xfrm flipH="1" flipV="1">
            <a:off x="7340978" y="2950048"/>
            <a:ext cx="315964" cy="331703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Elipse 56"/>
          <p:cNvSpPr/>
          <p:nvPr/>
        </p:nvSpPr>
        <p:spPr>
          <a:xfrm>
            <a:off x="7623245" y="32488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9" name="CaixaDeTexto 58"/>
          <p:cNvSpPr txBox="1"/>
          <p:nvPr/>
        </p:nvSpPr>
        <p:spPr>
          <a:xfrm>
            <a:off x="3248258" y="3071371"/>
            <a:ext cx="6254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BP(a)</a:t>
            </a:r>
            <a:endParaRPr lang="pt-BR" sz="1600" dirty="0"/>
          </a:p>
        </p:txBody>
      </p:sp>
      <p:sp>
        <p:nvSpPr>
          <p:cNvPr id="60" name="CaixaDeTexto 59"/>
          <p:cNvSpPr txBox="1"/>
          <p:nvPr/>
        </p:nvSpPr>
        <p:spPr>
          <a:xfrm>
            <a:off x="6510772" y="4166243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61" name="Conector reto 60"/>
          <p:cNvCxnSpPr/>
          <p:nvPr/>
        </p:nvCxnSpPr>
        <p:spPr>
          <a:xfrm>
            <a:off x="6447710" y="1393377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Elipse 61"/>
          <p:cNvSpPr/>
          <p:nvPr/>
        </p:nvSpPr>
        <p:spPr>
          <a:xfrm>
            <a:off x="6665911" y="32488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63" name="Elipse 62"/>
          <p:cNvSpPr/>
          <p:nvPr/>
        </p:nvSpPr>
        <p:spPr>
          <a:xfrm>
            <a:off x="7144577" y="156609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4" name="Elipse 63"/>
          <p:cNvSpPr/>
          <p:nvPr/>
        </p:nvSpPr>
        <p:spPr>
          <a:xfrm>
            <a:off x="7144578" y="216219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65" name="Elipse 64"/>
          <p:cNvSpPr/>
          <p:nvPr/>
        </p:nvSpPr>
        <p:spPr>
          <a:xfrm>
            <a:off x="7144578" y="275802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66" name="Elipse 65"/>
          <p:cNvSpPr/>
          <p:nvPr/>
        </p:nvSpPr>
        <p:spPr>
          <a:xfrm>
            <a:off x="7623245" y="3248807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68" name="Elipse 67"/>
          <p:cNvSpPr/>
          <p:nvPr/>
        </p:nvSpPr>
        <p:spPr>
          <a:xfrm>
            <a:off x="6665911" y="3248807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69" name="Conector de seta reta 68"/>
          <p:cNvCxnSpPr/>
          <p:nvPr/>
        </p:nvCxnSpPr>
        <p:spPr>
          <a:xfrm flipH="1">
            <a:off x="4334212" y="4327960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590798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Exemplo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487030" y="3951361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3" name="Conector de seta reta 32"/>
          <p:cNvCxnSpPr/>
          <p:nvPr/>
        </p:nvCxnSpPr>
        <p:spPr>
          <a:xfrm flipH="1">
            <a:off x="447829" y="4327960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>
            <a:spLocks noChangeAspect="1"/>
          </p:cNvSpPr>
          <p:nvPr/>
        </p:nvSpPr>
        <p:spPr>
          <a:xfrm>
            <a:off x="2614391" y="3951360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7" name="Conector de seta reta 36"/>
          <p:cNvCxnSpPr/>
          <p:nvPr/>
        </p:nvCxnSpPr>
        <p:spPr>
          <a:xfrm flipH="1">
            <a:off x="2565126" y="4327960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>
            <a:spLocks noChangeAspect="1"/>
          </p:cNvSpPr>
          <p:nvPr/>
        </p:nvSpPr>
        <p:spPr>
          <a:xfrm>
            <a:off x="4373413" y="3951360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725501" y="3890165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725501" y="4174072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2848900" y="3890165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4616688" y="3890165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616688" y="4174072"/>
            <a:ext cx="1471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retorno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2848900" y="4174072"/>
            <a:ext cx="139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árvore</a:t>
            </a:r>
          </a:p>
        </p:txBody>
      </p: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de seta reta 103"/>
          <p:cNvCxnSpPr>
            <a:stCxn id="7" idx="6"/>
            <a:endCxn id="9" idx="1"/>
          </p:cNvCxnSpPr>
          <p:nvPr/>
        </p:nvCxnSpPr>
        <p:spPr>
          <a:xfrm>
            <a:off x="2309608" y="1561104"/>
            <a:ext cx="393124" cy="28825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106"/>
          <p:cNvCxnSpPr>
            <a:stCxn id="8" idx="6"/>
            <a:endCxn id="9" idx="3"/>
          </p:cNvCxnSpPr>
          <p:nvPr/>
        </p:nvCxnSpPr>
        <p:spPr>
          <a:xfrm flipV="1">
            <a:off x="2315659" y="2008430"/>
            <a:ext cx="387073" cy="29484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ela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318170"/>
              </p:ext>
            </p:extLst>
          </p:nvPr>
        </p:nvGraphicFramePr>
        <p:xfrm>
          <a:off x="3353072" y="1312958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f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e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9" name="Elipse 168"/>
          <p:cNvSpPr/>
          <p:nvPr/>
        </p:nvSpPr>
        <p:spPr>
          <a:xfrm>
            <a:off x="7144577" y="156609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957676" y="2774208"/>
            <a:ext cx="23439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BP(e)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</a:t>
            </a:r>
            <a:r>
              <a:rPr lang="pt-BR" sz="1600" b="1" dirty="0">
                <a:solidFill>
                  <a:srgbClr val="00B0F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b, a, c }</a:t>
            </a:r>
            <a:endParaRPr lang="pt-BR" sz="1600" dirty="0"/>
          </a:p>
        </p:txBody>
      </p: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9" name="Elipse 8"/>
          <p:cNvSpPr/>
          <p:nvPr/>
        </p:nvSpPr>
        <p:spPr>
          <a:xfrm>
            <a:off x="2669035" y="1816410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43" name="Conector de seta reta 42"/>
          <p:cNvCxnSpPr>
            <a:stCxn id="46" idx="0"/>
          </p:cNvCxnSpPr>
          <p:nvPr/>
        </p:nvCxnSpPr>
        <p:spPr>
          <a:xfrm flipH="1" flipV="1">
            <a:off x="7259626" y="1791063"/>
            <a:ext cx="1" cy="37113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lipse 45"/>
          <p:cNvSpPr/>
          <p:nvPr/>
        </p:nvSpPr>
        <p:spPr>
          <a:xfrm>
            <a:off x="7144578" y="2162193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48" name="CaixaDeTexto 47"/>
          <p:cNvSpPr txBox="1"/>
          <p:nvPr/>
        </p:nvSpPr>
        <p:spPr>
          <a:xfrm>
            <a:off x="957676" y="3077091"/>
            <a:ext cx="22281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BP(f) 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(f)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d, e }</a:t>
            </a:r>
            <a:endParaRPr lang="pt-BR" sz="1600" dirty="0"/>
          </a:p>
        </p:txBody>
      </p:sp>
      <p:cxnSp>
        <p:nvCxnSpPr>
          <p:cNvPr id="47" name="Conector de seta reta 46"/>
          <p:cNvCxnSpPr>
            <a:stCxn id="49" idx="0"/>
          </p:cNvCxnSpPr>
          <p:nvPr/>
        </p:nvCxnSpPr>
        <p:spPr>
          <a:xfrm flipV="1">
            <a:off x="7259627" y="2387158"/>
            <a:ext cx="0" cy="37087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/>
          <p:cNvSpPr/>
          <p:nvPr/>
        </p:nvSpPr>
        <p:spPr>
          <a:xfrm>
            <a:off x="7144578" y="275802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51" name="CaixaDeTexto 50"/>
          <p:cNvSpPr txBox="1"/>
          <p:nvPr/>
        </p:nvSpPr>
        <p:spPr>
          <a:xfrm>
            <a:off x="957676" y="3379974"/>
            <a:ext cx="23727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BP(b)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= { </a:t>
            </a:r>
            <a:r>
              <a:rPr lang="pt-BR" sz="1600" b="1" dirty="0">
                <a:solidFill>
                  <a:srgbClr val="00B0F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a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f }</a:t>
            </a:r>
            <a:endParaRPr lang="pt-BR" sz="1600" dirty="0"/>
          </a:p>
        </p:txBody>
      </p:sp>
      <p:cxnSp>
        <p:nvCxnSpPr>
          <p:cNvPr id="50" name="Conector de seta reta 49"/>
          <p:cNvCxnSpPr>
            <a:stCxn id="52" idx="7"/>
          </p:cNvCxnSpPr>
          <p:nvPr/>
        </p:nvCxnSpPr>
        <p:spPr>
          <a:xfrm flipV="1">
            <a:off x="6862311" y="2950048"/>
            <a:ext cx="315964" cy="33170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Elipse 51"/>
          <p:cNvSpPr/>
          <p:nvPr/>
        </p:nvSpPr>
        <p:spPr>
          <a:xfrm>
            <a:off x="6665911" y="324880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3248258" y="2769501"/>
            <a:ext cx="19704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BP(d)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53" name="Conector angulado 139"/>
          <p:cNvCxnSpPr/>
          <p:nvPr/>
        </p:nvCxnSpPr>
        <p:spPr>
          <a:xfrm rot="5400000" flipH="1" flipV="1">
            <a:off x="6475705" y="2579932"/>
            <a:ext cx="974129" cy="363618"/>
          </a:xfrm>
          <a:prstGeom prst="curvedConnector2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angulado 147"/>
          <p:cNvCxnSpPr/>
          <p:nvPr/>
        </p:nvCxnSpPr>
        <p:spPr>
          <a:xfrm>
            <a:off x="7374674" y="1678581"/>
            <a:ext cx="1" cy="1191930"/>
          </a:xfrm>
          <a:prstGeom prst="curvedConnector3">
            <a:avLst>
              <a:gd name="adj1" fmla="val 22860100000"/>
            </a:avLst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de seta reta 55"/>
          <p:cNvCxnSpPr>
            <a:stCxn id="57" idx="1"/>
          </p:cNvCxnSpPr>
          <p:nvPr/>
        </p:nvCxnSpPr>
        <p:spPr>
          <a:xfrm flipH="1" flipV="1">
            <a:off x="7340978" y="2950048"/>
            <a:ext cx="315964" cy="331703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Elipse 56"/>
          <p:cNvSpPr/>
          <p:nvPr/>
        </p:nvSpPr>
        <p:spPr>
          <a:xfrm>
            <a:off x="7623245" y="32488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60" name="CaixaDeTexto 59"/>
          <p:cNvSpPr txBox="1"/>
          <p:nvPr/>
        </p:nvSpPr>
        <p:spPr>
          <a:xfrm>
            <a:off x="3248258" y="3071371"/>
            <a:ext cx="22220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BP(a)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(a) 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c, e, b }</a:t>
            </a:r>
            <a:endParaRPr lang="pt-BR" sz="1600" dirty="0"/>
          </a:p>
        </p:txBody>
      </p:sp>
      <p:sp>
        <p:nvSpPr>
          <p:cNvPr id="59" name="CaixaDeTexto 58"/>
          <p:cNvSpPr txBox="1"/>
          <p:nvPr/>
        </p:nvSpPr>
        <p:spPr>
          <a:xfrm>
            <a:off x="6510772" y="4166243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61" name="Conector reto 60"/>
          <p:cNvCxnSpPr/>
          <p:nvPr/>
        </p:nvCxnSpPr>
        <p:spPr>
          <a:xfrm>
            <a:off x="6447710" y="1393377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Elipse 61"/>
          <p:cNvSpPr/>
          <p:nvPr/>
        </p:nvSpPr>
        <p:spPr>
          <a:xfrm>
            <a:off x="7144577" y="156609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3" name="Elipse 62"/>
          <p:cNvSpPr/>
          <p:nvPr/>
        </p:nvSpPr>
        <p:spPr>
          <a:xfrm>
            <a:off x="7144578" y="216219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64" name="Elipse 63"/>
          <p:cNvSpPr/>
          <p:nvPr/>
        </p:nvSpPr>
        <p:spPr>
          <a:xfrm>
            <a:off x="7144578" y="275802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65" name="Elipse 64"/>
          <p:cNvSpPr/>
          <p:nvPr/>
        </p:nvSpPr>
        <p:spPr>
          <a:xfrm>
            <a:off x="6665911" y="32488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66" name="Elipse 65"/>
          <p:cNvSpPr/>
          <p:nvPr/>
        </p:nvSpPr>
        <p:spPr>
          <a:xfrm>
            <a:off x="7623245" y="3248807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cxnSp>
        <p:nvCxnSpPr>
          <p:cNvPr id="68" name="Conector de seta reta 67"/>
          <p:cNvCxnSpPr/>
          <p:nvPr/>
        </p:nvCxnSpPr>
        <p:spPr>
          <a:xfrm flipH="1">
            <a:off x="4334212" y="4327960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7925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Exemplo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487030" y="3951361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3" name="Conector de seta reta 32"/>
          <p:cNvCxnSpPr/>
          <p:nvPr/>
        </p:nvCxnSpPr>
        <p:spPr>
          <a:xfrm flipH="1">
            <a:off x="447829" y="4327960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>
            <a:spLocks noChangeAspect="1"/>
          </p:cNvSpPr>
          <p:nvPr/>
        </p:nvSpPr>
        <p:spPr>
          <a:xfrm>
            <a:off x="2614391" y="3951360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7" name="Conector de seta reta 36"/>
          <p:cNvCxnSpPr/>
          <p:nvPr/>
        </p:nvCxnSpPr>
        <p:spPr>
          <a:xfrm flipH="1">
            <a:off x="2565126" y="4327960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>
            <a:spLocks noChangeAspect="1"/>
          </p:cNvSpPr>
          <p:nvPr/>
        </p:nvSpPr>
        <p:spPr>
          <a:xfrm>
            <a:off x="4373413" y="3951360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725501" y="3890165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725501" y="4174072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2848900" y="3890165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4616688" y="3890165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616688" y="4174072"/>
            <a:ext cx="1471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retorno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2848900" y="4174072"/>
            <a:ext cx="139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árvore</a:t>
            </a:r>
          </a:p>
        </p:txBody>
      </p: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de seta reta 103"/>
          <p:cNvCxnSpPr>
            <a:stCxn id="7" idx="6"/>
            <a:endCxn id="9" idx="1"/>
          </p:cNvCxnSpPr>
          <p:nvPr/>
        </p:nvCxnSpPr>
        <p:spPr>
          <a:xfrm>
            <a:off x="2309608" y="1561104"/>
            <a:ext cx="393124" cy="28825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106"/>
          <p:cNvCxnSpPr>
            <a:stCxn id="8" idx="6"/>
            <a:endCxn id="9" idx="3"/>
          </p:cNvCxnSpPr>
          <p:nvPr/>
        </p:nvCxnSpPr>
        <p:spPr>
          <a:xfrm flipV="1">
            <a:off x="2315659" y="2008430"/>
            <a:ext cx="387073" cy="29484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ela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318170"/>
              </p:ext>
            </p:extLst>
          </p:nvPr>
        </p:nvGraphicFramePr>
        <p:xfrm>
          <a:off x="3353072" y="1312958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f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e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9" name="Elipse 168"/>
          <p:cNvSpPr/>
          <p:nvPr/>
        </p:nvSpPr>
        <p:spPr>
          <a:xfrm>
            <a:off x="7144577" y="156609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957676" y="2774208"/>
            <a:ext cx="23439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BP(e)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</a:t>
            </a:r>
            <a:r>
              <a:rPr lang="pt-BR" sz="1600" b="1" dirty="0">
                <a:solidFill>
                  <a:srgbClr val="00B0F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b, a, c }</a:t>
            </a:r>
            <a:endParaRPr lang="pt-BR" sz="1600" dirty="0"/>
          </a:p>
        </p:txBody>
      </p: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9" name="Elipse 8"/>
          <p:cNvSpPr/>
          <p:nvPr/>
        </p:nvSpPr>
        <p:spPr>
          <a:xfrm>
            <a:off x="2669035" y="1816410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43" name="Conector de seta reta 42"/>
          <p:cNvCxnSpPr>
            <a:stCxn id="46" idx="0"/>
          </p:cNvCxnSpPr>
          <p:nvPr/>
        </p:nvCxnSpPr>
        <p:spPr>
          <a:xfrm flipH="1" flipV="1">
            <a:off x="7259626" y="1791063"/>
            <a:ext cx="1" cy="37113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lipse 45"/>
          <p:cNvSpPr/>
          <p:nvPr/>
        </p:nvSpPr>
        <p:spPr>
          <a:xfrm>
            <a:off x="7144578" y="2162193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48" name="CaixaDeTexto 47"/>
          <p:cNvSpPr txBox="1"/>
          <p:nvPr/>
        </p:nvSpPr>
        <p:spPr>
          <a:xfrm>
            <a:off x="957676" y="3077091"/>
            <a:ext cx="22281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BP(f) 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(f)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d, e }</a:t>
            </a:r>
            <a:endParaRPr lang="pt-BR" sz="1600" dirty="0"/>
          </a:p>
        </p:txBody>
      </p:sp>
      <p:cxnSp>
        <p:nvCxnSpPr>
          <p:cNvPr id="47" name="Conector de seta reta 46"/>
          <p:cNvCxnSpPr>
            <a:stCxn id="49" idx="0"/>
          </p:cNvCxnSpPr>
          <p:nvPr/>
        </p:nvCxnSpPr>
        <p:spPr>
          <a:xfrm flipV="1">
            <a:off x="7259627" y="2387158"/>
            <a:ext cx="0" cy="37087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/>
          <p:cNvSpPr/>
          <p:nvPr/>
        </p:nvSpPr>
        <p:spPr>
          <a:xfrm>
            <a:off x="7144578" y="275802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51" name="CaixaDeTexto 50"/>
          <p:cNvSpPr txBox="1"/>
          <p:nvPr/>
        </p:nvSpPr>
        <p:spPr>
          <a:xfrm>
            <a:off x="957676" y="3379974"/>
            <a:ext cx="24192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BP(b)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= { </a:t>
            </a:r>
            <a:r>
              <a:rPr lang="pt-BR" sz="1600" b="1" dirty="0">
                <a:solidFill>
                  <a:srgbClr val="00B0F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a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f }</a:t>
            </a:r>
            <a:endParaRPr lang="pt-BR" sz="1600" dirty="0"/>
          </a:p>
        </p:txBody>
      </p:sp>
      <p:cxnSp>
        <p:nvCxnSpPr>
          <p:cNvPr id="50" name="Conector de seta reta 49"/>
          <p:cNvCxnSpPr>
            <a:stCxn id="52" idx="7"/>
          </p:cNvCxnSpPr>
          <p:nvPr/>
        </p:nvCxnSpPr>
        <p:spPr>
          <a:xfrm flipV="1">
            <a:off x="6862311" y="2950048"/>
            <a:ext cx="315964" cy="33170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Elipse 51"/>
          <p:cNvSpPr/>
          <p:nvPr/>
        </p:nvSpPr>
        <p:spPr>
          <a:xfrm>
            <a:off x="6665911" y="324880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3248258" y="2769501"/>
            <a:ext cx="19704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BP(d)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53" name="Conector angulado 139"/>
          <p:cNvCxnSpPr/>
          <p:nvPr/>
        </p:nvCxnSpPr>
        <p:spPr>
          <a:xfrm rot="5400000" flipH="1" flipV="1">
            <a:off x="6475705" y="2579932"/>
            <a:ext cx="974129" cy="363618"/>
          </a:xfrm>
          <a:prstGeom prst="curvedConnector2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angulado 147"/>
          <p:cNvCxnSpPr/>
          <p:nvPr/>
        </p:nvCxnSpPr>
        <p:spPr>
          <a:xfrm>
            <a:off x="7374674" y="1678581"/>
            <a:ext cx="1" cy="1191930"/>
          </a:xfrm>
          <a:prstGeom prst="curvedConnector3">
            <a:avLst>
              <a:gd name="adj1" fmla="val 22860100000"/>
            </a:avLst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de seta reta 55"/>
          <p:cNvCxnSpPr>
            <a:stCxn id="57" idx="1"/>
          </p:cNvCxnSpPr>
          <p:nvPr/>
        </p:nvCxnSpPr>
        <p:spPr>
          <a:xfrm flipH="1" flipV="1">
            <a:off x="7340978" y="2950048"/>
            <a:ext cx="315964" cy="331703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Elipse 56"/>
          <p:cNvSpPr/>
          <p:nvPr/>
        </p:nvSpPr>
        <p:spPr>
          <a:xfrm>
            <a:off x="7623245" y="32488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60" name="CaixaDeTexto 59"/>
          <p:cNvSpPr txBox="1"/>
          <p:nvPr/>
        </p:nvSpPr>
        <p:spPr>
          <a:xfrm>
            <a:off x="3248258" y="3071371"/>
            <a:ext cx="22220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BP(a)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(a) 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c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e, b }</a:t>
            </a:r>
            <a:endParaRPr lang="pt-BR" sz="1600" dirty="0"/>
          </a:p>
        </p:txBody>
      </p:sp>
      <p:sp>
        <p:nvSpPr>
          <p:cNvPr id="59" name="CaixaDeTexto 58"/>
          <p:cNvSpPr txBox="1"/>
          <p:nvPr/>
        </p:nvSpPr>
        <p:spPr>
          <a:xfrm>
            <a:off x="6510772" y="4166243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61" name="Conector reto 60"/>
          <p:cNvCxnSpPr/>
          <p:nvPr/>
        </p:nvCxnSpPr>
        <p:spPr>
          <a:xfrm>
            <a:off x="6447710" y="1393377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Elipse 61"/>
          <p:cNvSpPr/>
          <p:nvPr/>
        </p:nvSpPr>
        <p:spPr>
          <a:xfrm>
            <a:off x="7144577" y="156609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3" name="Elipse 62"/>
          <p:cNvSpPr/>
          <p:nvPr/>
        </p:nvSpPr>
        <p:spPr>
          <a:xfrm>
            <a:off x="7144578" y="216219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64" name="Elipse 63"/>
          <p:cNvSpPr/>
          <p:nvPr/>
        </p:nvSpPr>
        <p:spPr>
          <a:xfrm>
            <a:off x="7144578" y="275802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65" name="Elipse 64"/>
          <p:cNvSpPr/>
          <p:nvPr/>
        </p:nvSpPr>
        <p:spPr>
          <a:xfrm>
            <a:off x="6665911" y="32488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66" name="Elipse 65"/>
          <p:cNvSpPr/>
          <p:nvPr/>
        </p:nvSpPr>
        <p:spPr>
          <a:xfrm>
            <a:off x="7623245" y="3248807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cxnSp>
        <p:nvCxnSpPr>
          <p:cNvPr id="68" name="Conector de seta reta 67"/>
          <p:cNvCxnSpPr/>
          <p:nvPr/>
        </p:nvCxnSpPr>
        <p:spPr>
          <a:xfrm flipH="1">
            <a:off x="4334212" y="4327960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936276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Exemplo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487030" y="3951361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3" name="Conector de seta reta 32"/>
          <p:cNvCxnSpPr/>
          <p:nvPr/>
        </p:nvCxnSpPr>
        <p:spPr>
          <a:xfrm flipH="1">
            <a:off x="447829" y="4327960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>
            <a:spLocks noChangeAspect="1"/>
          </p:cNvSpPr>
          <p:nvPr/>
        </p:nvSpPr>
        <p:spPr>
          <a:xfrm>
            <a:off x="2614391" y="3951360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7" name="Conector de seta reta 36"/>
          <p:cNvCxnSpPr/>
          <p:nvPr/>
        </p:nvCxnSpPr>
        <p:spPr>
          <a:xfrm flipH="1">
            <a:off x="2565126" y="4327960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>
            <a:spLocks noChangeAspect="1"/>
          </p:cNvSpPr>
          <p:nvPr/>
        </p:nvSpPr>
        <p:spPr>
          <a:xfrm>
            <a:off x="4373413" y="3951360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725501" y="3890165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725501" y="4174072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2848900" y="3890165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4616688" y="3890165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616688" y="4174072"/>
            <a:ext cx="1471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retorno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2848900" y="4174072"/>
            <a:ext cx="139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árvore</a:t>
            </a:r>
          </a:p>
        </p:txBody>
      </p: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de seta reta 103"/>
          <p:cNvCxnSpPr>
            <a:stCxn id="7" idx="6"/>
            <a:endCxn id="9" idx="1"/>
          </p:cNvCxnSpPr>
          <p:nvPr/>
        </p:nvCxnSpPr>
        <p:spPr>
          <a:xfrm>
            <a:off x="2309608" y="1561104"/>
            <a:ext cx="393124" cy="28825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106"/>
          <p:cNvCxnSpPr>
            <a:stCxn id="8" idx="6"/>
            <a:endCxn id="9" idx="3"/>
          </p:cNvCxnSpPr>
          <p:nvPr/>
        </p:nvCxnSpPr>
        <p:spPr>
          <a:xfrm flipV="1">
            <a:off x="2315659" y="2008430"/>
            <a:ext cx="387073" cy="29484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ela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6292421"/>
              </p:ext>
            </p:extLst>
          </p:nvPr>
        </p:nvGraphicFramePr>
        <p:xfrm>
          <a:off x="3353072" y="1312958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f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e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9" name="Elipse 168"/>
          <p:cNvSpPr/>
          <p:nvPr/>
        </p:nvSpPr>
        <p:spPr>
          <a:xfrm>
            <a:off x="7144577" y="156609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957676" y="2774208"/>
            <a:ext cx="23439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BP(e)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</a:t>
            </a:r>
            <a:r>
              <a:rPr lang="pt-BR" sz="1600" b="1" dirty="0">
                <a:solidFill>
                  <a:srgbClr val="00B0F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b, a, c }</a:t>
            </a:r>
            <a:endParaRPr lang="pt-BR" sz="1600" dirty="0"/>
          </a:p>
        </p:txBody>
      </p: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9" name="Elipse 8"/>
          <p:cNvSpPr/>
          <p:nvPr/>
        </p:nvSpPr>
        <p:spPr>
          <a:xfrm>
            <a:off x="2669035" y="1816410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43" name="Conector de seta reta 42"/>
          <p:cNvCxnSpPr>
            <a:stCxn id="46" idx="0"/>
          </p:cNvCxnSpPr>
          <p:nvPr/>
        </p:nvCxnSpPr>
        <p:spPr>
          <a:xfrm flipH="1" flipV="1">
            <a:off x="7259626" y="1791063"/>
            <a:ext cx="1" cy="37113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lipse 45"/>
          <p:cNvSpPr/>
          <p:nvPr/>
        </p:nvSpPr>
        <p:spPr>
          <a:xfrm>
            <a:off x="7144578" y="2162193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48" name="CaixaDeTexto 47"/>
          <p:cNvSpPr txBox="1"/>
          <p:nvPr/>
        </p:nvSpPr>
        <p:spPr>
          <a:xfrm>
            <a:off x="957676" y="3077091"/>
            <a:ext cx="22281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BP(f) 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(f)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d, e }</a:t>
            </a:r>
            <a:endParaRPr lang="pt-BR" sz="1600" dirty="0"/>
          </a:p>
        </p:txBody>
      </p:sp>
      <p:cxnSp>
        <p:nvCxnSpPr>
          <p:cNvPr id="47" name="Conector de seta reta 46"/>
          <p:cNvCxnSpPr>
            <a:stCxn id="49" idx="0"/>
          </p:cNvCxnSpPr>
          <p:nvPr/>
        </p:nvCxnSpPr>
        <p:spPr>
          <a:xfrm flipV="1">
            <a:off x="7259627" y="2387158"/>
            <a:ext cx="0" cy="37087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/>
          <p:cNvSpPr/>
          <p:nvPr/>
        </p:nvSpPr>
        <p:spPr>
          <a:xfrm>
            <a:off x="7144578" y="275802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51" name="CaixaDeTexto 50"/>
          <p:cNvSpPr txBox="1"/>
          <p:nvPr/>
        </p:nvSpPr>
        <p:spPr>
          <a:xfrm>
            <a:off x="957676" y="3379974"/>
            <a:ext cx="24192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BP(b)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= { </a:t>
            </a:r>
            <a:r>
              <a:rPr lang="pt-BR" sz="1600" b="1" dirty="0">
                <a:solidFill>
                  <a:srgbClr val="00B0F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a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f }</a:t>
            </a:r>
            <a:endParaRPr lang="pt-BR" sz="1600" dirty="0"/>
          </a:p>
        </p:txBody>
      </p:sp>
      <p:cxnSp>
        <p:nvCxnSpPr>
          <p:cNvPr id="50" name="Conector de seta reta 49"/>
          <p:cNvCxnSpPr>
            <a:stCxn id="52" idx="7"/>
          </p:cNvCxnSpPr>
          <p:nvPr/>
        </p:nvCxnSpPr>
        <p:spPr>
          <a:xfrm flipV="1">
            <a:off x="6862311" y="2950048"/>
            <a:ext cx="315964" cy="33170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Elipse 51"/>
          <p:cNvSpPr/>
          <p:nvPr/>
        </p:nvSpPr>
        <p:spPr>
          <a:xfrm>
            <a:off x="6665911" y="324880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3248258" y="2769501"/>
            <a:ext cx="19704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BP(d)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53" name="Conector angulado 139"/>
          <p:cNvCxnSpPr/>
          <p:nvPr/>
        </p:nvCxnSpPr>
        <p:spPr>
          <a:xfrm rot="5400000" flipH="1" flipV="1">
            <a:off x="6475705" y="2579932"/>
            <a:ext cx="974129" cy="363618"/>
          </a:xfrm>
          <a:prstGeom prst="curvedConnector2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angulado 147"/>
          <p:cNvCxnSpPr/>
          <p:nvPr/>
        </p:nvCxnSpPr>
        <p:spPr>
          <a:xfrm>
            <a:off x="7374674" y="1678581"/>
            <a:ext cx="1" cy="1191930"/>
          </a:xfrm>
          <a:prstGeom prst="curvedConnector3">
            <a:avLst>
              <a:gd name="adj1" fmla="val 22860100000"/>
            </a:avLst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de seta reta 55"/>
          <p:cNvCxnSpPr>
            <a:stCxn id="57" idx="1"/>
          </p:cNvCxnSpPr>
          <p:nvPr/>
        </p:nvCxnSpPr>
        <p:spPr>
          <a:xfrm flipH="1" flipV="1">
            <a:off x="7340978" y="2950048"/>
            <a:ext cx="315964" cy="331703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Elipse 56"/>
          <p:cNvSpPr/>
          <p:nvPr/>
        </p:nvSpPr>
        <p:spPr>
          <a:xfrm>
            <a:off x="7623245" y="32488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60" name="CaixaDeTexto 59"/>
          <p:cNvSpPr txBox="1"/>
          <p:nvPr/>
        </p:nvSpPr>
        <p:spPr>
          <a:xfrm>
            <a:off x="3248258" y="3071371"/>
            <a:ext cx="22220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BP(a)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(a) 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c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e, b }</a:t>
            </a:r>
            <a:endParaRPr lang="pt-BR" sz="1600" dirty="0"/>
          </a:p>
        </p:txBody>
      </p:sp>
      <p:cxnSp>
        <p:nvCxnSpPr>
          <p:cNvPr id="62" name="Conector de seta reta 61"/>
          <p:cNvCxnSpPr>
            <a:stCxn id="63" idx="0"/>
            <a:endCxn id="57" idx="5"/>
          </p:cNvCxnSpPr>
          <p:nvPr/>
        </p:nvCxnSpPr>
        <p:spPr>
          <a:xfrm flipH="1" flipV="1">
            <a:off x="7819645" y="3440826"/>
            <a:ext cx="218459" cy="468065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Elipse 62"/>
          <p:cNvSpPr/>
          <p:nvPr/>
        </p:nvSpPr>
        <p:spPr>
          <a:xfrm>
            <a:off x="7923055" y="390889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59" name="CaixaDeTexto 58"/>
          <p:cNvSpPr txBox="1"/>
          <p:nvPr/>
        </p:nvSpPr>
        <p:spPr>
          <a:xfrm>
            <a:off x="6510772" y="4166243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61" name="Conector reto 60"/>
          <p:cNvCxnSpPr/>
          <p:nvPr/>
        </p:nvCxnSpPr>
        <p:spPr>
          <a:xfrm>
            <a:off x="6447710" y="1393377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Elipse 65"/>
          <p:cNvSpPr/>
          <p:nvPr/>
        </p:nvSpPr>
        <p:spPr>
          <a:xfrm>
            <a:off x="7144577" y="156609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8" name="Elipse 67"/>
          <p:cNvSpPr/>
          <p:nvPr/>
        </p:nvSpPr>
        <p:spPr>
          <a:xfrm>
            <a:off x="7144578" y="216219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69" name="Elipse 68"/>
          <p:cNvSpPr/>
          <p:nvPr/>
        </p:nvSpPr>
        <p:spPr>
          <a:xfrm>
            <a:off x="7144578" y="275802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0" name="Elipse 69"/>
          <p:cNvSpPr/>
          <p:nvPr/>
        </p:nvSpPr>
        <p:spPr>
          <a:xfrm>
            <a:off x="6665911" y="32488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71" name="Elipse 70"/>
          <p:cNvSpPr/>
          <p:nvPr/>
        </p:nvSpPr>
        <p:spPr>
          <a:xfrm>
            <a:off x="7623245" y="3248807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2" name="Elipse 71"/>
          <p:cNvSpPr/>
          <p:nvPr/>
        </p:nvSpPr>
        <p:spPr>
          <a:xfrm>
            <a:off x="7923055" y="3908892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64" name="Conector de seta reta 63"/>
          <p:cNvCxnSpPr/>
          <p:nvPr/>
        </p:nvCxnSpPr>
        <p:spPr>
          <a:xfrm flipH="1">
            <a:off x="4334212" y="4327960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573839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Exemplo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487030" y="3951361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3" name="Conector de seta reta 32"/>
          <p:cNvCxnSpPr/>
          <p:nvPr/>
        </p:nvCxnSpPr>
        <p:spPr>
          <a:xfrm flipH="1">
            <a:off x="447829" y="4327960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>
            <a:spLocks noChangeAspect="1"/>
          </p:cNvSpPr>
          <p:nvPr/>
        </p:nvSpPr>
        <p:spPr>
          <a:xfrm>
            <a:off x="2614391" y="3951360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7" name="Conector de seta reta 36"/>
          <p:cNvCxnSpPr/>
          <p:nvPr/>
        </p:nvCxnSpPr>
        <p:spPr>
          <a:xfrm flipH="1">
            <a:off x="2565126" y="4327960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>
            <a:spLocks noChangeAspect="1"/>
          </p:cNvSpPr>
          <p:nvPr/>
        </p:nvSpPr>
        <p:spPr>
          <a:xfrm>
            <a:off x="4373413" y="3951360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725501" y="3890165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725501" y="4174072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2848900" y="3890165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4616688" y="3890165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616688" y="4174072"/>
            <a:ext cx="1471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retorno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2848900" y="4174072"/>
            <a:ext cx="139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árvore</a:t>
            </a:r>
          </a:p>
        </p:txBody>
      </p: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de seta reta 103"/>
          <p:cNvCxnSpPr>
            <a:stCxn id="7" idx="6"/>
            <a:endCxn id="9" idx="1"/>
          </p:cNvCxnSpPr>
          <p:nvPr/>
        </p:nvCxnSpPr>
        <p:spPr>
          <a:xfrm>
            <a:off x="2309608" y="1561104"/>
            <a:ext cx="393124" cy="28825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106"/>
          <p:cNvCxnSpPr>
            <a:stCxn id="8" idx="6"/>
            <a:endCxn id="9" idx="3"/>
          </p:cNvCxnSpPr>
          <p:nvPr/>
        </p:nvCxnSpPr>
        <p:spPr>
          <a:xfrm flipV="1">
            <a:off x="2315659" y="2008430"/>
            <a:ext cx="387073" cy="29484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ela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2128480"/>
              </p:ext>
            </p:extLst>
          </p:nvPr>
        </p:nvGraphicFramePr>
        <p:xfrm>
          <a:off x="3353072" y="1312958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f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e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9" name="Elipse 168"/>
          <p:cNvSpPr/>
          <p:nvPr/>
        </p:nvSpPr>
        <p:spPr>
          <a:xfrm>
            <a:off x="7144577" y="156609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957676" y="2774208"/>
            <a:ext cx="23439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BP(e)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</a:t>
            </a:r>
            <a:r>
              <a:rPr lang="pt-BR" sz="1600" b="1" dirty="0">
                <a:solidFill>
                  <a:srgbClr val="00B0F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b, a, c }</a:t>
            </a:r>
            <a:endParaRPr lang="pt-BR" sz="1600" dirty="0"/>
          </a:p>
        </p:txBody>
      </p: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9" name="Elipse 8"/>
          <p:cNvSpPr/>
          <p:nvPr/>
        </p:nvSpPr>
        <p:spPr>
          <a:xfrm>
            <a:off x="2669035" y="1816410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43" name="Conector de seta reta 42"/>
          <p:cNvCxnSpPr>
            <a:stCxn id="46" idx="0"/>
          </p:cNvCxnSpPr>
          <p:nvPr/>
        </p:nvCxnSpPr>
        <p:spPr>
          <a:xfrm flipH="1" flipV="1">
            <a:off x="7259626" y="1791063"/>
            <a:ext cx="1" cy="37113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lipse 45"/>
          <p:cNvSpPr/>
          <p:nvPr/>
        </p:nvSpPr>
        <p:spPr>
          <a:xfrm>
            <a:off x="7144578" y="2162193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48" name="CaixaDeTexto 47"/>
          <p:cNvSpPr txBox="1"/>
          <p:nvPr/>
        </p:nvSpPr>
        <p:spPr>
          <a:xfrm>
            <a:off x="957676" y="3077091"/>
            <a:ext cx="22281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BP(f) 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(f)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d, e }</a:t>
            </a:r>
            <a:endParaRPr lang="pt-BR" sz="1600" dirty="0"/>
          </a:p>
        </p:txBody>
      </p:sp>
      <p:cxnSp>
        <p:nvCxnSpPr>
          <p:cNvPr id="47" name="Conector de seta reta 46"/>
          <p:cNvCxnSpPr>
            <a:stCxn id="49" idx="0"/>
          </p:cNvCxnSpPr>
          <p:nvPr/>
        </p:nvCxnSpPr>
        <p:spPr>
          <a:xfrm flipV="1">
            <a:off x="7259627" y="2387158"/>
            <a:ext cx="0" cy="37087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/>
          <p:cNvSpPr/>
          <p:nvPr/>
        </p:nvSpPr>
        <p:spPr>
          <a:xfrm>
            <a:off x="7144578" y="275802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51" name="CaixaDeTexto 50"/>
          <p:cNvSpPr txBox="1"/>
          <p:nvPr/>
        </p:nvSpPr>
        <p:spPr>
          <a:xfrm>
            <a:off x="957676" y="3379974"/>
            <a:ext cx="24192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BP(b)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= { </a:t>
            </a:r>
            <a:r>
              <a:rPr lang="pt-BR" sz="1600" b="1" dirty="0">
                <a:solidFill>
                  <a:srgbClr val="00B0F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a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f }</a:t>
            </a:r>
            <a:endParaRPr lang="pt-BR" sz="1600" dirty="0"/>
          </a:p>
        </p:txBody>
      </p:sp>
      <p:cxnSp>
        <p:nvCxnSpPr>
          <p:cNvPr id="50" name="Conector de seta reta 49"/>
          <p:cNvCxnSpPr>
            <a:stCxn id="52" idx="7"/>
          </p:cNvCxnSpPr>
          <p:nvPr/>
        </p:nvCxnSpPr>
        <p:spPr>
          <a:xfrm flipV="1">
            <a:off x="6862311" y="2950048"/>
            <a:ext cx="315964" cy="33170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Elipse 51"/>
          <p:cNvSpPr/>
          <p:nvPr/>
        </p:nvSpPr>
        <p:spPr>
          <a:xfrm>
            <a:off x="6665911" y="324880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3248258" y="2769501"/>
            <a:ext cx="19704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BP(d)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53" name="Conector angulado 139"/>
          <p:cNvCxnSpPr/>
          <p:nvPr/>
        </p:nvCxnSpPr>
        <p:spPr>
          <a:xfrm rot="5400000" flipH="1" flipV="1">
            <a:off x="6475705" y="2579932"/>
            <a:ext cx="974129" cy="363618"/>
          </a:xfrm>
          <a:prstGeom prst="curvedConnector2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angulado 147"/>
          <p:cNvCxnSpPr/>
          <p:nvPr/>
        </p:nvCxnSpPr>
        <p:spPr>
          <a:xfrm>
            <a:off x="7374674" y="1678581"/>
            <a:ext cx="1" cy="1191930"/>
          </a:xfrm>
          <a:prstGeom prst="curvedConnector3">
            <a:avLst>
              <a:gd name="adj1" fmla="val 22860100000"/>
            </a:avLst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de seta reta 55"/>
          <p:cNvCxnSpPr>
            <a:stCxn id="57" idx="1"/>
          </p:cNvCxnSpPr>
          <p:nvPr/>
        </p:nvCxnSpPr>
        <p:spPr>
          <a:xfrm flipH="1" flipV="1">
            <a:off x="7340978" y="2950048"/>
            <a:ext cx="315964" cy="331703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Elipse 56"/>
          <p:cNvSpPr/>
          <p:nvPr/>
        </p:nvSpPr>
        <p:spPr>
          <a:xfrm>
            <a:off x="7623245" y="32488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60" name="CaixaDeTexto 59"/>
          <p:cNvSpPr txBox="1"/>
          <p:nvPr/>
        </p:nvSpPr>
        <p:spPr>
          <a:xfrm>
            <a:off x="3248258" y="3071371"/>
            <a:ext cx="22220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BP(a)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(a) 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c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e, b }</a:t>
            </a:r>
            <a:endParaRPr lang="pt-BR" sz="1600" dirty="0"/>
          </a:p>
        </p:txBody>
      </p:sp>
      <p:cxnSp>
        <p:nvCxnSpPr>
          <p:cNvPr id="62" name="Conector de seta reta 61"/>
          <p:cNvCxnSpPr>
            <a:stCxn id="63" idx="0"/>
            <a:endCxn id="57" idx="5"/>
          </p:cNvCxnSpPr>
          <p:nvPr/>
        </p:nvCxnSpPr>
        <p:spPr>
          <a:xfrm flipH="1" flipV="1">
            <a:off x="7819645" y="3440826"/>
            <a:ext cx="218459" cy="468065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Elipse 62"/>
          <p:cNvSpPr/>
          <p:nvPr/>
        </p:nvSpPr>
        <p:spPr>
          <a:xfrm>
            <a:off x="7923055" y="390889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59" name="CaixaDeTexto 58"/>
          <p:cNvSpPr txBox="1"/>
          <p:nvPr/>
        </p:nvSpPr>
        <p:spPr>
          <a:xfrm>
            <a:off x="3248258" y="3373241"/>
            <a:ext cx="6142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BP(c)</a:t>
            </a:r>
            <a:endParaRPr lang="pt-BR" sz="1600" dirty="0"/>
          </a:p>
        </p:txBody>
      </p:sp>
      <p:sp>
        <p:nvSpPr>
          <p:cNvPr id="61" name="CaixaDeTexto 60"/>
          <p:cNvSpPr txBox="1"/>
          <p:nvPr/>
        </p:nvSpPr>
        <p:spPr>
          <a:xfrm>
            <a:off x="6510772" y="4166243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64" name="Conector reto 63"/>
          <p:cNvCxnSpPr/>
          <p:nvPr/>
        </p:nvCxnSpPr>
        <p:spPr>
          <a:xfrm>
            <a:off x="6447710" y="1393377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Elipse 64"/>
          <p:cNvSpPr/>
          <p:nvPr/>
        </p:nvSpPr>
        <p:spPr>
          <a:xfrm>
            <a:off x="7144577" y="156609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6" name="Elipse 65"/>
          <p:cNvSpPr/>
          <p:nvPr/>
        </p:nvSpPr>
        <p:spPr>
          <a:xfrm>
            <a:off x="7144578" y="216219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68" name="Elipse 67"/>
          <p:cNvSpPr/>
          <p:nvPr/>
        </p:nvSpPr>
        <p:spPr>
          <a:xfrm>
            <a:off x="7144578" y="275802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69" name="Elipse 68"/>
          <p:cNvSpPr/>
          <p:nvPr/>
        </p:nvSpPr>
        <p:spPr>
          <a:xfrm>
            <a:off x="6665911" y="32488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70" name="Elipse 69"/>
          <p:cNvSpPr/>
          <p:nvPr/>
        </p:nvSpPr>
        <p:spPr>
          <a:xfrm>
            <a:off x="7623245" y="3248807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1" name="Elipse 70"/>
          <p:cNvSpPr/>
          <p:nvPr/>
        </p:nvSpPr>
        <p:spPr>
          <a:xfrm>
            <a:off x="7923055" y="3908892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72" name="Conector de seta reta 71"/>
          <p:cNvCxnSpPr/>
          <p:nvPr/>
        </p:nvCxnSpPr>
        <p:spPr>
          <a:xfrm flipH="1">
            <a:off x="4334212" y="4327960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06051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Exemplo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487030" y="3951361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3" name="Conector de seta reta 32"/>
          <p:cNvCxnSpPr/>
          <p:nvPr/>
        </p:nvCxnSpPr>
        <p:spPr>
          <a:xfrm flipH="1">
            <a:off x="447829" y="4327960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>
            <a:spLocks noChangeAspect="1"/>
          </p:cNvSpPr>
          <p:nvPr/>
        </p:nvSpPr>
        <p:spPr>
          <a:xfrm>
            <a:off x="2614391" y="3951360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7" name="Conector de seta reta 36"/>
          <p:cNvCxnSpPr/>
          <p:nvPr/>
        </p:nvCxnSpPr>
        <p:spPr>
          <a:xfrm flipH="1">
            <a:off x="2565126" y="4327960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>
            <a:spLocks noChangeAspect="1"/>
          </p:cNvSpPr>
          <p:nvPr/>
        </p:nvSpPr>
        <p:spPr>
          <a:xfrm>
            <a:off x="4373413" y="3951360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725501" y="3890165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725501" y="4174072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2848900" y="3890165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4616688" y="3890165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616688" y="4174072"/>
            <a:ext cx="1471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retorno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2848900" y="4174072"/>
            <a:ext cx="139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árvore</a:t>
            </a:r>
          </a:p>
        </p:txBody>
      </p: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de seta reta 103"/>
          <p:cNvCxnSpPr>
            <a:stCxn id="7" idx="6"/>
            <a:endCxn id="9" idx="1"/>
          </p:cNvCxnSpPr>
          <p:nvPr/>
        </p:nvCxnSpPr>
        <p:spPr>
          <a:xfrm>
            <a:off x="2309608" y="1561104"/>
            <a:ext cx="393124" cy="28825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106"/>
          <p:cNvCxnSpPr>
            <a:stCxn id="8" idx="6"/>
            <a:endCxn id="9" idx="3"/>
          </p:cNvCxnSpPr>
          <p:nvPr/>
        </p:nvCxnSpPr>
        <p:spPr>
          <a:xfrm flipV="1">
            <a:off x="2315659" y="2008430"/>
            <a:ext cx="387073" cy="29484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ela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2128480"/>
              </p:ext>
            </p:extLst>
          </p:nvPr>
        </p:nvGraphicFramePr>
        <p:xfrm>
          <a:off x="3353072" y="1312958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f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e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9" name="Elipse 168"/>
          <p:cNvSpPr/>
          <p:nvPr/>
        </p:nvSpPr>
        <p:spPr>
          <a:xfrm>
            <a:off x="7144577" y="156609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957676" y="2774208"/>
            <a:ext cx="23439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BP(e)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</a:t>
            </a:r>
            <a:r>
              <a:rPr lang="pt-BR" sz="1600" b="1" dirty="0">
                <a:solidFill>
                  <a:srgbClr val="00B0F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b, a, c }</a:t>
            </a:r>
            <a:endParaRPr lang="pt-BR" sz="1600" dirty="0"/>
          </a:p>
        </p:txBody>
      </p: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9" name="Elipse 8"/>
          <p:cNvSpPr/>
          <p:nvPr/>
        </p:nvSpPr>
        <p:spPr>
          <a:xfrm>
            <a:off x="2669035" y="1816410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43" name="Conector de seta reta 42"/>
          <p:cNvCxnSpPr>
            <a:stCxn id="46" idx="0"/>
          </p:cNvCxnSpPr>
          <p:nvPr/>
        </p:nvCxnSpPr>
        <p:spPr>
          <a:xfrm flipH="1" flipV="1">
            <a:off x="7259626" y="1791063"/>
            <a:ext cx="1" cy="37113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lipse 45"/>
          <p:cNvSpPr/>
          <p:nvPr/>
        </p:nvSpPr>
        <p:spPr>
          <a:xfrm>
            <a:off x="7144578" y="2162193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48" name="CaixaDeTexto 47"/>
          <p:cNvSpPr txBox="1"/>
          <p:nvPr/>
        </p:nvSpPr>
        <p:spPr>
          <a:xfrm>
            <a:off x="957676" y="3077091"/>
            <a:ext cx="22281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BP(f) 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(f)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d, e }</a:t>
            </a:r>
            <a:endParaRPr lang="pt-BR" sz="1600" dirty="0"/>
          </a:p>
        </p:txBody>
      </p:sp>
      <p:cxnSp>
        <p:nvCxnSpPr>
          <p:cNvPr id="47" name="Conector de seta reta 46"/>
          <p:cNvCxnSpPr>
            <a:stCxn id="49" idx="0"/>
          </p:cNvCxnSpPr>
          <p:nvPr/>
        </p:nvCxnSpPr>
        <p:spPr>
          <a:xfrm flipV="1">
            <a:off x="7259627" y="2387158"/>
            <a:ext cx="0" cy="37087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/>
          <p:cNvSpPr/>
          <p:nvPr/>
        </p:nvSpPr>
        <p:spPr>
          <a:xfrm>
            <a:off x="7144578" y="275802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51" name="CaixaDeTexto 50"/>
          <p:cNvSpPr txBox="1"/>
          <p:nvPr/>
        </p:nvSpPr>
        <p:spPr>
          <a:xfrm>
            <a:off x="957676" y="3379974"/>
            <a:ext cx="24192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BP(b)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= { </a:t>
            </a:r>
            <a:r>
              <a:rPr lang="pt-BR" sz="1600" b="1" dirty="0">
                <a:solidFill>
                  <a:srgbClr val="00B0F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a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f }</a:t>
            </a:r>
            <a:endParaRPr lang="pt-BR" sz="1600" dirty="0"/>
          </a:p>
        </p:txBody>
      </p:sp>
      <p:cxnSp>
        <p:nvCxnSpPr>
          <p:cNvPr id="50" name="Conector de seta reta 49"/>
          <p:cNvCxnSpPr>
            <a:stCxn id="52" idx="7"/>
          </p:cNvCxnSpPr>
          <p:nvPr/>
        </p:nvCxnSpPr>
        <p:spPr>
          <a:xfrm flipV="1">
            <a:off x="6862311" y="2950048"/>
            <a:ext cx="315964" cy="33170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Elipse 51"/>
          <p:cNvSpPr/>
          <p:nvPr/>
        </p:nvSpPr>
        <p:spPr>
          <a:xfrm>
            <a:off x="6665911" y="324880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3248258" y="2769501"/>
            <a:ext cx="19704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BP(d)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53" name="Conector angulado 139"/>
          <p:cNvCxnSpPr/>
          <p:nvPr/>
        </p:nvCxnSpPr>
        <p:spPr>
          <a:xfrm rot="5400000" flipH="1" flipV="1">
            <a:off x="6475705" y="2579932"/>
            <a:ext cx="974129" cy="363618"/>
          </a:xfrm>
          <a:prstGeom prst="curvedConnector2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angulado 147"/>
          <p:cNvCxnSpPr/>
          <p:nvPr/>
        </p:nvCxnSpPr>
        <p:spPr>
          <a:xfrm>
            <a:off x="7374674" y="1678581"/>
            <a:ext cx="1" cy="1191930"/>
          </a:xfrm>
          <a:prstGeom prst="curvedConnector3">
            <a:avLst>
              <a:gd name="adj1" fmla="val 22860100000"/>
            </a:avLst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de seta reta 55"/>
          <p:cNvCxnSpPr>
            <a:stCxn id="57" idx="1"/>
          </p:cNvCxnSpPr>
          <p:nvPr/>
        </p:nvCxnSpPr>
        <p:spPr>
          <a:xfrm flipH="1" flipV="1">
            <a:off x="7340978" y="2950048"/>
            <a:ext cx="315964" cy="331703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Elipse 56"/>
          <p:cNvSpPr/>
          <p:nvPr/>
        </p:nvSpPr>
        <p:spPr>
          <a:xfrm>
            <a:off x="7623245" y="32488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60" name="CaixaDeTexto 59"/>
          <p:cNvSpPr txBox="1"/>
          <p:nvPr/>
        </p:nvSpPr>
        <p:spPr>
          <a:xfrm>
            <a:off x="3248258" y="3071371"/>
            <a:ext cx="22220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BP(a)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(a) 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c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e, b }</a:t>
            </a:r>
            <a:endParaRPr lang="pt-BR" sz="1600" dirty="0"/>
          </a:p>
        </p:txBody>
      </p:sp>
      <p:cxnSp>
        <p:nvCxnSpPr>
          <p:cNvPr id="62" name="Conector de seta reta 61"/>
          <p:cNvCxnSpPr>
            <a:stCxn id="63" idx="0"/>
            <a:endCxn id="57" idx="5"/>
          </p:cNvCxnSpPr>
          <p:nvPr/>
        </p:nvCxnSpPr>
        <p:spPr>
          <a:xfrm flipH="1" flipV="1">
            <a:off x="7819645" y="3440826"/>
            <a:ext cx="218459" cy="468065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Elipse 62"/>
          <p:cNvSpPr/>
          <p:nvPr/>
        </p:nvSpPr>
        <p:spPr>
          <a:xfrm>
            <a:off x="7923055" y="390889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1" name="CaixaDeTexto 60"/>
          <p:cNvSpPr txBox="1"/>
          <p:nvPr/>
        </p:nvSpPr>
        <p:spPr>
          <a:xfrm>
            <a:off x="3248258" y="3373241"/>
            <a:ext cx="20056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BP(c)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(c)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a, e }</a:t>
            </a:r>
            <a:endParaRPr lang="pt-BR" sz="1600" dirty="0"/>
          </a:p>
        </p:txBody>
      </p:sp>
      <p:sp>
        <p:nvSpPr>
          <p:cNvPr id="59" name="CaixaDeTexto 58"/>
          <p:cNvSpPr txBox="1"/>
          <p:nvPr/>
        </p:nvSpPr>
        <p:spPr>
          <a:xfrm>
            <a:off x="6510772" y="4166243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64" name="Conector reto 63"/>
          <p:cNvCxnSpPr/>
          <p:nvPr/>
        </p:nvCxnSpPr>
        <p:spPr>
          <a:xfrm>
            <a:off x="6447710" y="1393377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Elipse 64"/>
          <p:cNvSpPr/>
          <p:nvPr/>
        </p:nvSpPr>
        <p:spPr>
          <a:xfrm>
            <a:off x="7144577" y="156609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6" name="Elipse 65"/>
          <p:cNvSpPr/>
          <p:nvPr/>
        </p:nvSpPr>
        <p:spPr>
          <a:xfrm>
            <a:off x="7144578" y="216219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68" name="Elipse 67"/>
          <p:cNvSpPr/>
          <p:nvPr/>
        </p:nvSpPr>
        <p:spPr>
          <a:xfrm>
            <a:off x="7144578" y="275802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69" name="Elipse 68"/>
          <p:cNvSpPr/>
          <p:nvPr/>
        </p:nvSpPr>
        <p:spPr>
          <a:xfrm>
            <a:off x="6665911" y="32488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70" name="Elipse 69"/>
          <p:cNvSpPr/>
          <p:nvPr/>
        </p:nvSpPr>
        <p:spPr>
          <a:xfrm>
            <a:off x="7623245" y="3248807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1" name="Elipse 70"/>
          <p:cNvSpPr/>
          <p:nvPr/>
        </p:nvSpPr>
        <p:spPr>
          <a:xfrm>
            <a:off x="7923055" y="3908892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72" name="Conector de seta reta 71"/>
          <p:cNvCxnSpPr/>
          <p:nvPr/>
        </p:nvCxnSpPr>
        <p:spPr>
          <a:xfrm flipH="1">
            <a:off x="4334212" y="4327960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992581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Exemplo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487030" y="3951361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3" name="Conector de seta reta 32"/>
          <p:cNvCxnSpPr/>
          <p:nvPr/>
        </p:nvCxnSpPr>
        <p:spPr>
          <a:xfrm flipH="1">
            <a:off x="447829" y="4327960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>
            <a:spLocks noChangeAspect="1"/>
          </p:cNvSpPr>
          <p:nvPr/>
        </p:nvSpPr>
        <p:spPr>
          <a:xfrm>
            <a:off x="2614391" y="3951360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7" name="Conector de seta reta 36"/>
          <p:cNvCxnSpPr/>
          <p:nvPr/>
        </p:nvCxnSpPr>
        <p:spPr>
          <a:xfrm flipH="1">
            <a:off x="2565126" y="4327960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>
            <a:spLocks noChangeAspect="1"/>
          </p:cNvSpPr>
          <p:nvPr/>
        </p:nvSpPr>
        <p:spPr>
          <a:xfrm>
            <a:off x="4373413" y="3951360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725501" y="3890165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725501" y="4174072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2848900" y="3890165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4616688" y="3890165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616688" y="4174072"/>
            <a:ext cx="1471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retorno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2848900" y="4174072"/>
            <a:ext cx="139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árvore</a:t>
            </a:r>
          </a:p>
        </p:txBody>
      </p: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de seta reta 103"/>
          <p:cNvCxnSpPr>
            <a:stCxn id="7" idx="6"/>
            <a:endCxn id="9" idx="1"/>
          </p:cNvCxnSpPr>
          <p:nvPr/>
        </p:nvCxnSpPr>
        <p:spPr>
          <a:xfrm>
            <a:off x="2309608" y="1561104"/>
            <a:ext cx="393124" cy="28825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106"/>
          <p:cNvCxnSpPr>
            <a:stCxn id="8" idx="6"/>
            <a:endCxn id="9" idx="3"/>
          </p:cNvCxnSpPr>
          <p:nvPr/>
        </p:nvCxnSpPr>
        <p:spPr>
          <a:xfrm flipV="1">
            <a:off x="2315659" y="2008430"/>
            <a:ext cx="387073" cy="29484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ela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2128480"/>
              </p:ext>
            </p:extLst>
          </p:nvPr>
        </p:nvGraphicFramePr>
        <p:xfrm>
          <a:off x="3353072" y="1312958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f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e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9" name="Elipse 168"/>
          <p:cNvSpPr/>
          <p:nvPr/>
        </p:nvSpPr>
        <p:spPr>
          <a:xfrm>
            <a:off x="7144577" y="156609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957676" y="2774208"/>
            <a:ext cx="23439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BP(e)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</a:t>
            </a:r>
            <a:r>
              <a:rPr lang="pt-BR" sz="1600" b="1" dirty="0">
                <a:solidFill>
                  <a:srgbClr val="00B0F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b, a, c }</a:t>
            </a:r>
            <a:endParaRPr lang="pt-BR" sz="1600" dirty="0"/>
          </a:p>
        </p:txBody>
      </p: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9" name="Elipse 8"/>
          <p:cNvSpPr/>
          <p:nvPr/>
        </p:nvSpPr>
        <p:spPr>
          <a:xfrm>
            <a:off x="2669035" y="1816410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43" name="Conector de seta reta 42"/>
          <p:cNvCxnSpPr>
            <a:stCxn id="46" idx="0"/>
          </p:cNvCxnSpPr>
          <p:nvPr/>
        </p:nvCxnSpPr>
        <p:spPr>
          <a:xfrm flipH="1" flipV="1">
            <a:off x="7259626" y="1791063"/>
            <a:ext cx="1" cy="37113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lipse 45"/>
          <p:cNvSpPr/>
          <p:nvPr/>
        </p:nvSpPr>
        <p:spPr>
          <a:xfrm>
            <a:off x="7144578" y="2162193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48" name="CaixaDeTexto 47"/>
          <p:cNvSpPr txBox="1"/>
          <p:nvPr/>
        </p:nvSpPr>
        <p:spPr>
          <a:xfrm>
            <a:off x="957676" y="3077091"/>
            <a:ext cx="22281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BP(f) 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(f)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d, e }</a:t>
            </a:r>
            <a:endParaRPr lang="pt-BR" sz="1600" dirty="0"/>
          </a:p>
        </p:txBody>
      </p:sp>
      <p:cxnSp>
        <p:nvCxnSpPr>
          <p:cNvPr id="47" name="Conector de seta reta 46"/>
          <p:cNvCxnSpPr>
            <a:stCxn id="49" idx="0"/>
          </p:cNvCxnSpPr>
          <p:nvPr/>
        </p:nvCxnSpPr>
        <p:spPr>
          <a:xfrm flipV="1">
            <a:off x="7259627" y="2387158"/>
            <a:ext cx="0" cy="37087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/>
          <p:cNvSpPr/>
          <p:nvPr/>
        </p:nvSpPr>
        <p:spPr>
          <a:xfrm>
            <a:off x="7144578" y="275802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51" name="CaixaDeTexto 50"/>
          <p:cNvSpPr txBox="1"/>
          <p:nvPr/>
        </p:nvSpPr>
        <p:spPr>
          <a:xfrm>
            <a:off x="957676" y="3379974"/>
            <a:ext cx="24192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BP(b)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= { </a:t>
            </a:r>
            <a:r>
              <a:rPr lang="pt-BR" sz="1600" b="1" dirty="0">
                <a:solidFill>
                  <a:srgbClr val="00B0F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a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f }</a:t>
            </a:r>
            <a:endParaRPr lang="pt-BR" sz="1600" dirty="0"/>
          </a:p>
        </p:txBody>
      </p:sp>
      <p:cxnSp>
        <p:nvCxnSpPr>
          <p:cNvPr id="50" name="Conector de seta reta 49"/>
          <p:cNvCxnSpPr>
            <a:stCxn id="52" idx="7"/>
          </p:cNvCxnSpPr>
          <p:nvPr/>
        </p:nvCxnSpPr>
        <p:spPr>
          <a:xfrm flipV="1">
            <a:off x="6862311" y="2950048"/>
            <a:ext cx="315964" cy="33170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Elipse 51"/>
          <p:cNvSpPr/>
          <p:nvPr/>
        </p:nvSpPr>
        <p:spPr>
          <a:xfrm>
            <a:off x="6665911" y="324880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3248258" y="2769501"/>
            <a:ext cx="19704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BP(d)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53" name="Conector angulado 139"/>
          <p:cNvCxnSpPr/>
          <p:nvPr/>
        </p:nvCxnSpPr>
        <p:spPr>
          <a:xfrm rot="5400000" flipH="1" flipV="1">
            <a:off x="6475705" y="2579932"/>
            <a:ext cx="974129" cy="363618"/>
          </a:xfrm>
          <a:prstGeom prst="curvedConnector2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angulado 147"/>
          <p:cNvCxnSpPr/>
          <p:nvPr/>
        </p:nvCxnSpPr>
        <p:spPr>
          <a:xfrm>
            <a:off x="7374674" y="1678581"/>
            <a:ext cx="1" cy="1191930"/>
          </a:xfrm>
          <a:prstGeom prst="curvedConnector3">
            <a:avLst>
              <a:gd name="adj1" fmla="val 22860100000"/>
            </a:avLst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de seta reta 55"/>
          <p:cNvCxnSpPr>
            <a:stCxn id="57" idx="1"/>
          </p:cNvCxnSpPr>
          <p:nvPr/>
        </p:nvCxnSpPr>
        <p:spPr>
          <a:xfrm flipH="1" flipV="1">
            <a:off x="7340978" y="2950048"/>
            <a:ext cx="315964" cy="331703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Elipse 56"/>
          <p:cNvSpPr/>
          <p:nvPr/>
        </p:nvSpPr>
        <p:spPr>
          <a:xfrm>
            <a:off x="7623245" y="32488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60" name="CaixaDeTexto 59"/>
          <p:cNvSpPr txBox="1"/>
          <p:nvPr/>
        </p:nvSpPr>
        <p:spPr>
          <a:xfrm>
            <a:off x="3248258" y="3071371"/>
            <a:ext cx="22220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BP(a)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(a) 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c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e, b }</a:t>
            </a:r>
            <a:endParaRPr lang="pt-BR" sz="1600" dirty="0"/>
          </a:p>
        </p:txBody>
      </p:sp>
      <p:cxnSp>
        <p:nvCxnSpPr>
          <p:cNvPr id="62" name="Conector de seta reta 61"/>
          <p:cNvCxnSpPr>
            <a:stCxn id="63" idx="0"/>
            <a:endCxn id="57" idx="5"/>
          </p:cNvCxnSpPr>
          <p:nvPr/>
        </p:nvCxnSpPr>
        <p:spPr>
          <a:xfrm flipH="1" flipV="1">
            <a:off x="7819645" y="3440826"/>
            <a:ext cx="218459" cy="468065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Elipse 62"/>
          <p:cNvSpPr/>
          <p:nvPr/>
        </p:nvSpPr>
        <p:spPr>
          <a:xfrm>
            <a:off x="7923055" y="390889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1" name="CaixaDeTexto 60"/>
          <p:cNvSpPr txBox="1"/>
          <p:nvPr/>
        </p:nvSpPr>
        <p:spPr>
          <a:xfrm>
            <a:off x="3248258" y="3373241"/>
            <a:ext cx="20056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BP(c)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(c)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a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e }</a:t>
            </a:r>
            <a:endParaRPr lang="pt-BR" sz="1600" dirty="0"/>
          </a:p>
        </p:txBody>
      </p:sp>
      <p:sp>
        <p:nvSpPr>
          <p:cNvPr id="59" name="CaixaDeTexto 58"/>
          <p:cNvSpPr txBox="1"/>
          <p:nvPr/>
        </p:nvSpPr>
        <p:spPr>
          <a:xfrm>
            <a:off x="6510772" y="4166243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64" name="Conector reto 63"/>
          <p:cNvCxnSpPr/>
          <p:nvPr/>
        </p:nvCxnSpPr>
        <p:spPr>
          <a:xfrm>
            <a:off x="6447710" y="1393377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Elipse 64"/>
          <p:cNvSpPr/>
          <p:nvPr/>
        </p:nvSpPr>
        <p:spPr>
          <a:xfrm>
            <a:off x="7144577" y="156609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6" name="Elipse 65"/>
          <p:cNvSpPr/>
          <p:nvPr/>
        </p:nvSpPr>
        <p:spPr>
          <a:xfrm>
            <a:off x="7144578" y="216219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68" name="Elipse 67"/>
          <p:cNvSpPr/>
          <p:nvPr/>
        </p:nvSpPr>
        <p:spPr>
          <a:xfrm>
            <a:off x="7144578" y="275802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69" name="Elipse 68"/>
          <p:cNvSpPr/>
          <p:nvPr/>
        </p:nvSpPr>
        <p:spPr>
          <a:xfrm>
            <a:off x="6665911" y="32488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70" name="Elipse 69"/>
          <p:cNvSpPr/>
          <p:nvPr/>
        </p:nvSpPr>
        <p:spPr>
          <a:xfrm>
            <a:off x="7623245" y="3248807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1" name="Elipse 70"/>
          <p:cNvSpPr/>
          <p:nvPr/>
        </p:nvSpPr>
        <p:spPr>
          <a:xfrm>
            <a:off x="7923055" y="3908892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72" name="Conector de seta reta 71"/>
          <p:cNvCxnSpPr/>
          <p:nvPr/>
        </p:nvCxnSpPr>
        <p:spPr>
          <a:xfrm flipH="1">
            <a:off x="4334212" y="4327960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073053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Exemplo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487030" y="3951361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3" name="Conector de seta reta 32"/>
          <p:cNvCxnSpPr/>
          <p:nvPr/>
        </p:nvCxnSpPr>
        <p:spPr>
          <a:xfrm flipH="1">
            <a:off x="447829" y="4327960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>
            <a:spLocks noChangeAspect="1"/>
          </p:cNvSpPr>
          <p:nvPr/>
        </p:nvSpPr>
        <p:spPr>
          <a:xfrm>
            <a:off x="2614391" y="3951360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7" name="Conector de seta reta 36"/>
          <p:cNvCxnSpPr/>
          <p:nvPr/>
        </p:nvCxnSpPr>
        <p:spPr>
          <a:xfrm flipH="1">
            <a:off x="2565126" y="4327960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>
            <a:spLocks noChangeAspect="1"/>
          </p:cNvSpPr>
          <p:nvPr/>
        </p:nvSpPr>
        <p:spPr>
          <a:xfrm>
            <a:off x="4373413" y="3951360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725501" y="3890165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725501" y="4174072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2848900" y="3890165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4616688" y="3890165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616688" y="4174072"/>
            <a:ext cx="1471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retorno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2848900" y="4174072"/>
            <a:ext cx="139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árvore</a:t>
            </a:r>
          </a:p>
        </p:txBody>
      </p: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de seta reta 103"/>
          <p:cNvCxnSpPr>
            <a:stCxn id="7" idx="6"/>
            <a:endCxn id="9" idx="1"/>
          </p:cNvCxnSpPr>
          <p:nvPr/>
        </p:nvCxnSpPr>
        <p:spPr>
          <a:xfrm>
            <a:off x="2309608" y="1561104"/>
            <a:ext cx="393124" cy="28825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106"/>
          <p:cNvCxnSpPr>
            <a:stCxn id="8" idx="6"/>
            <a:endCxn id="9" idx="3"/>
          </p:cNvCxnSpPr>
          <p:nvPr/>
        </p:nvCxnSpPr>
        <p:spPr>
          <a:xfrm flipV="1">
            <a:off x="2315659" y="2008430"/>
            <a:ext cx="387073" cy="29484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ela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2128480"/>
              </p:ext>
            </p:extLst>
          </p:nvPr>
        </p:nvGraphicFramePr>
        <p:xfrm>
          <a:off x="3353072" y="1312958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f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e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9" name="Elipse 168"/>
          <p:cNvSpPr/>
          <p:nvPr/>
        </p:nvSpPr>
        <p:spPr>
          <a:xfrm>
            <a:off x="7144577" y="156609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957676" y="2774208"/>
            <a:ext cx="23439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BP(e)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</a:t>
            </a:r>
            <a:r>
              <a:rPr lang="pt-BR" sz="1600" b="1" dirty="0">
                <a:solidFill>
                  <a:srgbClr val="00B0F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b, a, c }</a:t>
            </a:r>
            <a:endParaRPr lang="pt-BR" sz="1600" dirty="0"/>
          </a:p>
        </p:txBody>
      </p: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9" name="Elipse 8"/>
          <p:cNvSpPr/>
          <p:nvPr/>
        </p:nvSpPr>
        <p:spPr>
          <a:xfrm>
            <a:off x="2669035" y="1816410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43" name="Conector de seta reta 42"/>
          <p:cNvCxnSpPr>
            <a:stCxn id="46" idx="0"/>
          </p:cNvCxnSpPr>
          <p:nvPr/>
        </p:nvCxnSpPr>
        <p:spPr>
          <a:xfrm flipH="1" flipV="1">
            <a:off x="7259626" y="1791063"/>
            <a:ext cx="1" cy="37113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lipse 45"/>
          <p:cNvSpPr/>
          <p:nvPr/>
        </p:nvSpPr>
        <p:spPr>
          <a:xfrm>
            <a:off x="7144578" y="2162193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48" name="CaixaDeTexto 47"/>
          <p:cNvSpPr txBox="1"/>
          <p:nvPr/>
        </p:nvSpPr>
        <p:spPr>
          <a:xfrm>
            <a:off x="957676" y="3077091"/>
            <a:ext cx="22281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BP(f) 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(f)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d, e }</a:t>
            </a:r>
            <a:endParaRPr lang="pt-BR" sz="1600" dirty="0"/>
          </a:p>
        </p:txBody>
      </p:sp>
      <p:cxnSp>
        <p:nvCxnSpPr>
          <p:cNvPr id="47" name="Conector de seta reta 46"/>
          <p:cNvCxnSpPr>
            <a:stCxn id="49" idx="0"/>
          </p:cNvCxnSpPr>
          <p:nvPr/>
        </p:nvCxnSpPr>
        <p:spPr>
          <a:xfrm flipV="1">
            <a:off x="7259627" y="2387158"/>
            <a:ext cx="0" cy="37087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/>
          <p:cNvSpPr/>
          <p:nvPr/>
        </p:nvSpPr>
        <p:spPr>
          <a:xfrm>
            <a:off x="7144578" y="275802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51" name="CaixaDeTexto 50"/>
          <p:cNvSpPr txBox="1"/>
          <p:nvPr/>
        </p:nvSpPr>
        <p:spPr>
          <a:xfrm>
            <a:off x="957676" y="3379974"/>
            <a:ext cx="24192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BP(b)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= { </a:t>
            </a:r>
            <a:r>
              <a:rPr lang="pt-BR" sz="1600" b="1" dirty="0">
                <a:solidFill>
                  <a:srgbClr val="00B0F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a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f }</a:t>
            </a:r>
            <a:endParaRPr lang="pt-BR" sz="1600" dirty="0"/>
          </a:p>
        </p:txBody>
      </p:sp>
      <p:cxnSp>
        <p:nvCxnSpPr>
          <p:cNvPr id="50" name="Conector de seta reta 49"/>
          <p:cNvCxnSpPr>
            <a:stCxn id="52" idx="7"/>
          </p:cNvCxnSpPr>
          <p:nvPr/>
        </p:nvCxnSpPr>
        <p:spPr>
          <a:xfrm flipV="1">
            <a:off x="6862311" y="2950048"/>
            <a:ext cx="315964" cy="33170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Elipse 51"/>
          <p:cNvSpPr/>
          <p:nvPr/>
        </p:nvSpPr>
        <p:spPr>
          <a:xfrm>
            <a:off x="6665911" y="324880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3248258" y="2769501"/>
            <a:ext cx="19704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BP(d)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53" name="Conector angulado 139"/>
          <p:cNvCxnSpPr/>
          <p:nvPr/>
        </p:nvCxnSpPr>
        <p:spPr>
          <a:xfrm rot="5400000" flipH="1" flipV="1">
            <a:off x="6475705" y="2579932"/>
            <a:ext cx="974129" cy="363618"/>
          </a:xfrm>
          <a:prstGeom prst="curvedConnector2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angulado 147"/>
          <p:cNvCxnSpPr/>
          <p:nvPr/>
        </p:nvCxnSpPr>
        <p:spPr>
          <a:xfrm>
            <a:off x="7374674" y="1678581"/>
            <a:ext cx="1" cy="1191930"/>
          </a:xfrm>
          <a:prstGeom prst="curvedConnector3">
            <a:avLst>
              <a:gd name="adj1" fmla="val 22860100000"/>
            </a:avLst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de seta reta 55"/>
          <p:cNvCxnSpPr>
            <a:stCxn id="57" idx="1"/>
          </p:cNvCxnSpPr>
          <p:nvPr/>
        </p:nvCxnSpPr>
        <p:spPr>
          <a:xfrm flipH="1" flipV="1">
            <a:off x="7340978" y="2950048"/>
            <a:ext cx="315964" cy="331703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Elipse 56"/>
          <p:cNvSpPr/>
          <p:nvPr/>
        </p:nvSpPr>
        <p:spPr>
          <a:xfrm>
            <a:off x="7623245" y="32488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60" name="CaixaDeTexto 59"/>
          <p:cNvSpPr txBox="1"/>
          <p:nvPr/>
        </p:nvSpPr>
        <p:spPr>
          <a:xfrm>
            <a:off x="3248258" y="3071371"/>
            <a:ext cx="22220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BP(a)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(a) 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c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e, b }</a:t>
            </a:r>
            <a:endParaRPr lang="pt-BR" sz="1600" dirty="0"/>
          </a:p>
        </p:txBody>
      </p:sp>
      <p:cxnSp>
        <p:nvCxnSpPr>
          <p:cNvPr id="62" name="Conector de seta reta 61"/>
          <p:cNvCxnSpPr>
            <a:stCxn id="63" idx="0"/>
            <a:endCxn id="57" idx="5"/>
          </p:cNvCxnSpPr>
          <p:nvPr/>
        </p:nvCxnSpPr>
        <p:spPr>
          <a:xfrm flipH="1" flipV="1">
            <a:off x="7819645" y="3440826"/>
            <a:ext cx="218459" cy="468065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Elipse 62"/>
          <p:cNvSpPr/>
          <p:nvPr/>
        </p:nvSpPr>
        <p:spPr>
          <a:xfrm>
            <a:off x="7923055" y="390889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1" name="CaixaDeTexto 60"/>
          <p:cNvSpPr txBox="1"/>
          <p:nvPr/>
        </p:nvSpPr>
        <p:spPr>
          <a:xfrm>
            <a:off x="3248258" y="3373241"/>
            <a:ext cx="20056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BP(c)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(c)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a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sp>
        <p:nvSpPr>
          <p:cNvPr id="59" name="CaixaDeTexto 58"/>
          <p:cNvSpPr txBox="1"/>
          <p:nvPr/>
        </p:nvSpPr>
        <p:spPr>
          <a:xfrm>
            <a:off x="6510772" y="4166243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64" name="Conector reto 63"/>
          <p:cNvCxnSpPr/>
          <p:nvPr/>
        </p:nvCxnSpPr>
        <p:spPr>
          <a:xfrm>
            <a:off x="6447710" y="1393377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Elipse 64"/>
          <p:cNvSpPr/>
          <p:nvPr/>
        </p:nvSpPr>
        <p:spPr>
          <a:xfrm>
            <a:off x="7144577" y="156609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6" name="Elipse 65"/>
          <p:cNvSpPr/>
          <p:nvPr/>
        </p:nvSpPr>
        <p:spPr>
          <a:xfrm>
            <a:off x="7144578" y="216219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68" name="Elipse 67"/>
          <p:cNvSpPr/>
          <p:nvPr/>
        </p:nvSpPr>
        <p:spPr>
          <a:xfrm>
            <a:off x="7144578" y="275802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69" name="Elipse 68"/>
          <p:cNvSpPr/>
          <p:nvPr/>
        </p:nvSpPr>
        <p:spPr>
          <a:xfrm>
            <a:off x="6665911" y="32488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70" name="Elipse 69"/>
          <p:cNvSpPr/>
          <p:nvPr/>
        </p:nvSpPr>
        <p:spPr>
          <a:xfrm>
            <a:off x="7623245" y="3248807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1" name="Elipse 70"/>
          <p:cNvSpPr/>
          <p:nvPr/>
        </p:nvSpPr>
        <p:spPr>
          <a:xfrm>
            <a:off x="7923055" y="3908892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72" name="Conector de seta reta 71"/>
          <p:cNvCxnSpPr/>
          <p:nvPr/>
        </p:nvCxnSpPr>
        <p:spPr>
          <a:xfrm flipH="1">
            <a:off x="4334212" y="4327960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075515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Exemplo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487030" y="3951361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3" name="Conector de seta reta 32"/>
          <p:cNvCxnSpPr/>
          <p:nvPr/>
        </p:nvCxnSpPr>
        <p:spPr>
          <a:xfrm flipH="1">
            <a:off x="447829" y="4327960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>
            <a:spLocks noChangeAspect="1"/>
          </p:cNvSpPr>
          <p:nvPr/>
        </p:nvSpPr>
        <p:spPr>
          <a:xfrm>
            <a:off x="2614391" y="3951360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7" name="Conector de seta reta 36"/>
          <p:cNvCxnSpPr/>
          <p:nvPr/>
        </p:nvCxnSpPr>
        <p:spPr>
          <a:xfrm flipH="1">
            <a:off x="2565126" y="4327960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>
            <a:spLocks noChangeAspect="1"/>
          </p:cNvSpPr>
          <p:nvPr/>
        </p:nvSpPr>
        <p:spPr>
          <a:xfrm>
            <a:off x="4373413" y="3951360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725501" y="3890165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725501" y="4174072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2848900" y="3890165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4616688" y="3890165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616688" y="4174072"/>
            <a:ext cx="1471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retorno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2848900" y="4174072"/>
            <a:ext cx="139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árvore</a:t>
            </a:r>
          </a:p>
        </p:txBody>
      </p: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de seta reta 103"/>
          <p:cNvCxnSpPr>
            <a:stCxn id="7" idx="6"/>
            <a:endCxn id="9" idx="1"/>
          </p:cNvCxnSpPr>
          <p:nvPr/>
        </p:nvCxnSpPr>
        <p:spPr>
          <a:xfrm>
            <a:off x="2309608" y="1561104"/>
            <a:ext cx="393124" cy="28825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106"/>
          <p:cNvCxnSpPr>
            <a:stCxn id="8" idx="6"/>
            <a:endCxn id="9" idx="3"/>
          </p:cNvCxnSpPr>
          <p:nvPr/>
        </p:nvCxnSpPr>
        <p:spPr>
          <a:xfrm flipV="1">
            <a:off x="2315659" y="2008430"/>
            <a:ext cx="387073" cy="29484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ela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2128480"/>
              </p:ext>
            </p:extLst>
          </p:nvPr>
        </p:nvGraphicFramePr>
        <p:xfrm>
          <a:off x="3353072" y="1312958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f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e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9" name="Elipse 168"/>
          <p:cNvSpPr/>
          <p:nvPr/>
        </p:nvSpPr>
        <p:spPr>
          <a:xfrm>
            <a:off x="7144577" y="156609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957676" y="2774208"/>
            <a:ext cx="23439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BP(e)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</a:t>
            </a:r>
            <a:r>
              <a:rPr lang="pt-BR" sz="1600" b="1" dirty="0">
                <a:solidFill>
                  <a:srgbClr val="00B0F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b, a, c }</a:t>
            </a:r>
            <a:endParaRPr lang="pt-BR" sz="1600" dirty="0"/>
          </a:p>
        </p:txBody>
      </p: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9" name="Elipse 8"/>
          <p:cNvSpPr/>
          <p:nvPr/>
        </p:nvSpPr>
        <p:spPr>
          <a:xfrm>
            <a:off x="2669035" y="1816410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43" name="Conector de seta reta 42"/>
          <p:cNvCxnSpPr>
            <a:stCxn id="46" idx="0"/>
          </p:cNvCxnSpPr>
          <p:nvPr/>
        </p:nvCxnSpPr>
        <p:spPr>
          <a:xfrm flipH="1" flipV="1">
            <a:off x="7259626" y="1791063"/>
            <a:ext cx="1" cy="37113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lipse 45"/>
          <p:cNvSpPr/>
          <p:nvPr/>
        </p:nvSpPr>
        <p:spPr>
          <a:xfrm>
            <a:off x="7144578" y="2162193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48" name="CaixaDeTexto 47"/>
          <p:cNvSpPr txBox="1"/>
          <p:nvPr/>
        </p:nvSpPr>
        <p:spPr>
          <a:xfrm>
            <a:off x="957676" y="3077091"/>
            <a:ext cx="22281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BP(f) 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(f)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d, e }</a:t>
            </a:r>
            <a:endParaRPr lang="pt-BR" sz="1600" dirty="0"/>
          </a:p>
        </p:txBody>
      </p:sp>
      <p:cxnSp>
        <p:nvCxnSpPr>
          <p:cNvPr id="47" name="Conector de seta reta 46"/>
          <p:cNvCxnSpPr>
            <a:stCxn id="49" idx="0"/>
          </p:cNvCxnSpPr>
          <p:nvPr/>
        </p:nvCxnSpPr>
        <p:spPr>
          <a:xfrm flipV="1">
            <a:off x="7259627" y="2387158"/>
            <a:ext cx="0" cy="37087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/>
          <p:cNvSpPr/>
          <p:nvPr/>
        </p:nvSpPr>
        <p:spPr>
          <a:xfrm>
            <a:off x="7144578" y="275802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51" name="CaixaDeTexto 50"/>
          <p:cNvSpPr txBox="1"/>
          <p:nvPr/>
        </p:nvSpPr>
        <p:spPr>
          <a:xfrm>
            <a:off x="957676" y="3379974"/>
            <a:ext cx="24192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BP(b)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= { </a:t>
            </a:r>
            <a:r>
              <a:rPr lang="pt-BR" sz="1600" b="1" dirty="0">
                <a:solidFill>
                  <a:srgbClr val="00B0F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a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f }</a:t>
            </a:r>
            <a:endParaRPr lang="pt-BR" sz="1600" dirty="0"/>
          </a:p>
        </p:txBody>
      </p:sp>
      <p:cxnSp>
        <p:nvCxnSpPr>
          <p:cNvPr id="50" name="Conector de seta reta 49"/>
          <p:cNvCxnSpPr>
            <a:stCxn id="52" idx="7"/>
          </p:cNvCxnSpPr>
          <p:nvPr/>
        </p:nvCxnSpPr>
        <p:spPr>
          <a:xfrm flipV="1">
            <a:off x="6862311" y="2950048"/>
            <a:ext cx="315964" cy="33170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Elipse 51"/>
          <p:cNvSpPr/>
          <p:nvPr/>
        </p:nvSpPr>
        <p:spPr>
          <a:xfrm>
            <a:off x="6665911" y="324880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3248258" y="2769501"/>
            <a:ext cx="19704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BP(d)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53" name="Conector angulado 139"/>
          <p:cNvCxnSpPr/>
          <p:nvPr/>
        </p:nvCxnSpPr>
        <p:spPr>
          <a:xfrm rot="5400000" flipH="1" flipV="1">
            <a:off x="6475705" y="2579932"/>
            <a:ext cx="974129" cy="363618"/>
          </a:xfrm>
          <a:prstGeom prst="curvedConnector2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angulado 147"/>
          <p:cNvCxnSpPr/>
          <p:nvPr/>
        </p:nvCxnSpPr>
        <p:spPr>
          <a:xfrm>
            <a:off x="7374674" y="1678581"/>
            <a:ext cx="1" cy="1191930"/>
          </a:xfrm>
          <a:prstGeom prst="curvedConnector3">
            <a:avLst>
              <a:gd name="adj1" fmla="val 22860100000"/>
            </a:avLst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de seta reta 55"/>
          <p:cNvCxnSpPr>
            <a:stCxn id="57" idx="1"/>
          </p:cNvCxnSpPr>
          <p:nvPr/>
        </p:nvCxnSpPr>
        <p:spPr>
          <a:xfrm flipH="1" flipV="1">
            <a:off x="7340978" y="2950048"/>
            <a:ext cx="315964" cy="331703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Elipse 56"/>
          <p:cNvSpPr/>
          <p:nvPr/>
        </p:nvSpPr>
        <p:spPr>
          <a:xfrm>
            <a:off x="7623245" y="32488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60" name="CaixaDeTexto 59"/>
          <p:cNvSpPr txBox="1"/>
          <p:nvPr/>
        </p:nvSpPr>
        <p:spPr>
          <a:xfrm>
            <a:off x="3248258" y="3071371"/>
            <a:ext cx="22220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BP(a)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(a) 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c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e, b }</a:t>
            </a:r>
            <a:endParaRPr lang="pt-BR" sz="1600" dirty="0"/>
          </a:p>
        </p:txBody>
      </p:sp>
      <p:cxnSp>
        <p:nvCxnSpPr>
          <p:cNvPr id="62" name="Conector de seta reta 61"/>
          <p:cNvCxnSpPr>
            <a:stCxn id="63" idx="0"/>
            <a:endCxn id="57" idx="5"/>
          </p:cNvCxnSpPr>
          <p:nvPr/>
        </p:nvCxnSpPr>
        <p:spPr>
          <a:xfrm flipH="1" flipV="1">
            <a:off x="7819645" y="3440826"/>
            <a:ext cx="218459" cy="468065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Elipse 62"/>
          <p:cNvSpPr/>
          <p:nvPr/>
        </p:nvSpPr>
        <p:spPr>
          <a:xfrm>
            <a:off x="7923055" y="390889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1" name="CaixaDeTexto 60"/>
          <p:cNvSpPr txBox="1"/>
          <p:nvPr/>
        </p:nvSpPr>
        <p:spPr>
          <a:xfrm>
            <a:off x="3248258" y="3373241"/>
            <a:ext cx="20056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BP(c)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(c)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a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64" name="Conector angulado 161"/>
          <p:cNvCxnSpPr/>
          <p:nvPr/>
        </p:nvCxnSpPr>
        <p:spPr>
          <a:xfrm>
            <a:off x="7374674" y="1678581"/>
            <a:ext cx="778478" cy="2342793"/>
          </a:xfrm>
          <a:prstGeom prst="curvedConnector3">
            <a:avLst>
              <a:gd name="adj1" fmla="val 129365"/>
            </a:avLst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/>
          <p:cNvSpPr txBox="1"/>
          <p:nvPr/>
        </p:nvSpPr>
        <p:spPr>
          <a:xfrm>
            <a:off x="6510772" y="4166243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65" name="Conector reto 64"/>
          <p:cNvCxnSpPr/>
          <p:nvPr/>
        </p:nvCxnSpPr>
        <p:spPr>
          <a:xfrm>
            <a:off x="6447710" y="1393377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Elipse 65"/>
          <p:cNvSpPr/>
          <p:nvPr/>
        </p:nvSpPr>
        <p:spPr>
          <a:xfrm>
            <a:off x="7144577" y="156609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8" name="Elipse 67"/>
          <p:cNvSpPr/>
          <p:nvPr/>
        </p:nvSpPr>
        <p:spPr>
          <a:xfrm>
            <a:off x="7144578" y="216219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69" name="Elipse 68"/>
          <p:cNvSpPr/>
          <p:nvPr/>
        </p:nvSpPr>
        <p:spPr>
          <a:xfrm>
            <a:off x="7144578" y="275802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0" name="Elipse 69"/>
          <p:cNvSpPr/>
          <p:nvPr/>
        </p:nvSpPr>
        <p:spPr>
          <a:xfrm>
            <a:off x="6665911" y="32488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71" name="Elipse 70"/>
          <p:cNvSpPr/>
          <p:nvPr/>
        </p:nvSpPr>
        <p:spPr>
          <a:xfrm>
            <a:off x="7623245" y="3248807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2" name="Elipse 71"/>
          <p:cNvSpPr/>
          <p:nvPr/>
        </p:nvSpPr>
        <p:spPr>
          <a:xfrm>
            <a:off x="7923055" y="3908892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73" name="Conector de seta reta 72"/>
          <p:cNvCxnSpPr/>
          <p:nvPr/>
        </p:nvCxnSpPr>
        <p:spPr>
          <a:xfrm flipH="1">
            <a:off x="4334212" y="4327960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939941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Exemplo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487030" y="3951361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3" name="Conector de seta reta 32"/>
          <p:cNvCxnSpPr/>
          <p:nvPr/>
        </p:nvCxnSpPr>
        <p:spPr>
          <a:xfrm flipH="1">
            <a:off x="447829" y="4327960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>
            <a:spLocks noChangeAspect="1"/>
          </p:cNvSpPr>
          <p:nvPr/>
        </p:nvSpPr>
        <p:spPr>
          <a:xfrm>
            <a:off x="2614391" y="3951360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7" name="Conector de seta reta 36"/>
          <p:cNvCxnSpPr/>
          <p:nvPr/>
        </p:nvCxnSpPr>
        <p:spPr>
          <a:xfrm flipH="1">
            <a:off x="2565126" y="4327960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>
            <a:spLocks noChangeAspect="1"/>
          </p:cNvSpPr>
          <p:nvPr/>
        </p:nvSpPr>
        <p:spPr>
          <a:xfrm>
            <a:off x="4373413" y="3951360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725501" y="3890165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725501" y="4174072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2848900" y="3890165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4616688" y="3890165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616688" y="4174072"/>
            <a:ext cx="1471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retorno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2848900" y="4174072"/>
            <a:ext cx="139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árvore</a:t>
            </a:r>
          </a:p>
        </p:txBody>
      </p: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de seta reta 103"/>
          <p:cNvCxnSpPr>
            <a:stCxn id="7" idx="6"/>
            <a:endCxn id="9" idx="1"/>
          </p:cNvCxnSpPr>
          <p:nvPr/>
        </p:nvCxnSpPr>
        <p:spPr>
          <a:xfrm>
            <a:off x="2309608" y="1561104"/>
            <a:ext cx="393124" cy="28825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106"/>
          <p:cNvCxnSpPr>
            <a:stCxn id="8" idx="6"/>
            <a:endCxn id="9" idx="3"/>
          </p:cNvCxnSpPr>
          <p:nvPr/>
        </p:nvCxnSpPr>
        <p:spPr>
          <a:xfrm flipV="1">
            <a:off x="2315659" y="2008430"/>
            <a:ext cx="387073" cy="29484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ela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3777084"/>
              </p:ext>
            </p:extLst>
          </p:nvPr>
        </p:nvGraphicFramePr>
        <p:xfrm>
          <a:off x="3353072" y="1312958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f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e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9" name="Elipse 168"/>
          <p:cNvSpPr/>
          <p:nvPr/>
        </p:nvSpPr>
        <p:spPr>
          <a:xfrm>
            <a:off x="7144577" y="156609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957676" y="2774208"/>
            <a:ext cx="23439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BP(e)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</a:t>
            </a:r>
            <a:r>
              <a:rPr lang="pt-BR" sz="1600" b="1" dirty="0">
                <a:solidFill>
                  <a:srgbClr val="00B0F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b, a, c }</a:t>
            </a:r>
            <a:endParaRPr lang="pt-BR" sz="1600" dirty="0"/>
          </a:p>
        </p:txBody>
      </p: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9" name="Elipse 8"/>
          <p:cNvSpPr/>
          <p:nvPr/>
        </p:nvSpPr>
        <p:spPr>
          <a:xfrm>
            <a:off x="2669035" y="1816410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c</a:t>
            </a:r>
          </a:p>
        </p:txBody>
      </p:sp>
      <p:cxnSp>
        <p:nvCxnSpPr>
          <p:cNvPr id="43" name="Conector de seta reta 42"/>
          <p:cNvCxnSpPr>
            <a:stCxn id="46" idx="0"/>
          </p:cNvCxnSpPr>
          <p:nvPr/>
        </p:nvCxnSpPr>
        <p:spPr>
          <a:xfrm flipH="1" flipV="1">
            <a:off x="7259626" y="1791063"/>
            <a:ext cx="1" cy="37113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lipse 45"/>
          <p:cNvSpPr/>
          <p:nvPr/>
        </p:nvSpPr>
        <p:spPr>
          <a:xfrm>
            <a:off x="7144578" y="2162193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48" name="CaixaDeTexto 47"/>
          <p:cNvSpPr txBox="1"/>
          <p:nvPr/>
        </p:nvSpPr>
        <p:spPr>
          <a:xfrm>
            <a:off x="957676" y="3077091"/>
            <a:ext cx="22281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BP(f) 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(f)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d, e }</a:t>
            </a:r>
            <a:endParaRPr lang="pt-BR" sz="1600" dirty="0"/>
          </a:p>
        </p:txBody>
      </p:sp>
      <p:cxnSp>
        <p:nvCxnSpPr>
          <p:cNvPr id="47" name="Conector de seta reta 46"/>
          <p:cNvCxnSpPr>
            <a:stCxn id="49" idx="0"/>
          </p:cNvCxnSpPr>
          <p:nvPr/>
        </p:nvCxnSpPr>
        <p:spPr>
          <a:xfrm flipV="1">
            <a:off x="7259627" y="2387158"/>
            <a:ext cx="0" cy="37087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/>
          <p:cNvSpPr/>
          <p:nvPr/>
        </p:nvSpPr>
        <p:spPr>
          <a:xfrm>
            <a:off x="7144578" y="275802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51" name="CaixaDeTexto 50"/>
          <p:cNvSpPr txBox="1"/>
          <p:nvPr/>
        </p:nvSpPr>
        <p:spPr>
          <a:xfrm>
            <a:off x="957676" y="3379974"/>
            <a:ext cx="24192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BP(b)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= { </a:t>
            </a:r>
            <a:r>
              <a:rPr lang="pt-BR" sz="1600" b="1" dirty="0">
                <a:solidFill>
                  <a:srgbClr val="00B0F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a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f }</a:t>
            </a:r>
            <a:endParaRPr lang="pt-BR" sz="1600" dirty="0"/>
          </a:p>
        </p:txBody>
      </p:sp>
      <p:cxnSp>
        <p:nvCxnSpPr>
          <p:cNvPr id="50" name="Conector de seta reta 49"/>
          <p:cNvCxnSpPr>
            <a:stCxn id="52" idx="7"/>
          </p:cNvCxnSpPr>
          <p:nvPr/>
        </p:nvCxnSpPr>
        <p:spPr>
          <a:xfrm flipV="1">
            <a:off x="6862311" y="2950048"/>
            <a:ext cx="315964" cy="33170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Elipse 51"/>
          <p:cNvSpPr/>
          <p:nvPr/>
        </p:nvSpPr>
        <p:spPr>
          <a:xfrm>
            <a:off x="6665911" y="324880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3248258" y="2769501"/>
            <a:ext cx="19704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BP(d)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53" name="Conector angulado 139"/>
          <p:cNvCxnSpPr/>
          <p:nvPr/>
        </p:nvCxnSpPr>
        <p:spPr>
          <a:xfrm rot="5400000" flipH="1" flipV="1">
            <a:off x="6475705" y="2579932"/>
            <a:ext cx="974129" cy="363618"/>
          </a:xfrm>
          <a:prstGeom prst="curvedConnector2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angulado 147"/>
          <p:cNvCxnSpPr/>
          <p:nvPr/>
        </p:nvCxnSpPr>
        <p:spPr>
          <a:xfrm>
            <a:off x="7374674" y="1678581"/>
            <a:ext cx="1" cy="1191930"/>
          </a:xfrm>
          <a:prstGeom prst="curvedConnector3">
            <a:avLst>
              <a:gd name="adj1" fmla="val 22860100000"/>
            </a:avLst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de seta reta 55"/>
          <p:cNvCxnSpPr>
            <a:stCxn id="57" idx="1"/>
          </p:cNvCxnSpPr>
          <p:nvPr/>
        </p:nvCxnSpPr>
        <p:spPr>
          <a:xfrm flipH="1" flipV="1">
            <a:off x="7340978" y="2950048"/>
            <a:ext cx="315964" cy="331703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Elipse 56"/>
          <p:cNvSpPr/>
          <p:nvPr/>
        </p:nvSpPr>
        <p:spPr>
          <a:xfrm>
            <a:off x="7623245" y="32488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60" name="CaixaDeTexto 59"/>
          <p:cNvSpPr txBox="1"/>
          <p:nvPr/>
        </p:nvSpPr>
        <p:spPr>
          <a:xfrm>
            <a:off x="3248258" y="3071371"/>
            <a:ext cx="22220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BP(a)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(a) 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c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e, b }</a:t>
            </a:r>
            <a:endParaRPr lang="pt-BR" sz="1600" dirty="0"/>
          </a:p>
        </p:txBody>
      </p:sp>
      <p:cxnSp>
        <p:nvCxnSpPr>
          <p:cNvPr id="62" name="Conector de seta reta 61"/>
          <p:cNvCxnSpPr>
            <a:stCxn id="63" idx="0"/>
            <a:endCxn id="57" idx="5"/>
          </p:cNvCxnSpPr>
          <p:nvPr/>
        </p:nvCxnSpPr>
        <p:spPr>
          <a:xfrm flipH="1" flipV="1">
            <a:off x="7819645" y="3440826"/>
            <a:ext cx="218459" cy="468065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Elipse 62"/>
          <p:cNvSpPr/>
          <p:nvPr/>
        </p:nvSpPr>
        <p:spPr>
          <a:xfrm>
            <a:off x="7923055" y="390889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1" name="CaixaDeTexto 60"/>
          <p:cNvSpPr txBox="1"/>
          <p:nvPr/>
        </p:nvSpPr>
        <p:spPr>
          <a:xfrm>
            <a:off x="3248258" y="3373241"/>
            <a:ext cx="20056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BP(c)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(c)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a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64" name="Conector angulado 161"/>
          <p:cNvCxnSpPr/>
          <p:nvPr/>
        </p:nvCxnSpPr>
        <p:spPr>
          <a:xfrm>
            <a:off x="7374674" y="1678581"/>
            <a:ext cx="778478" cy="2342793"/>
          </a:xfrm>
          <a:prstGeom prst="curvedConnector3">
            <a:avLst>
              <a:gd name="adj1" fmla="val 129365"/>
            </a:avLst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/>
          <p:cNvSpPr txBox="1"/>
          <p:nvPr/>
        </p:nvSpPr>
        <p:spPr>
          <a:xfrm>
            <a:off x="6510772" y="4166243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65" name="Conector reto 64"/>
          <p:cNvCxnSpPr/>
          <p:nvPr/>
        </p:nvCxnSpPr>
        <p:spPr>
          <a:xfrm>
            <a:off x="6447710" y="1393377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Elipse 65"/>
          <p:cNvSpPr/>
          <p:nvPr/>
        </p:nvSpPr>
        <p:spPr>
          <a:xfrm>
            <a:off x="7144577" y="156609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8" name="Elipse 67"/>
          <p:cNvSpPr/>
          <p:nvPr/>
        </p:nvSpPr>
        <p:spPr>
          <a:xfrm>
            <a:off x="7144578" y="216219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69" name="Elipse 68"/>
          <p:cNvSpPr/>
          <p:nvPr/>
        </p:nvSpPr>
        <p:spPr>
          <a:xfrm>
            <a:off x="7144578" y="275802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0" name="Elipse 69"/>
          <p:cNvSpPr/>
          <p:nvPr/>
        </p:nvSpPr>
        <p:spPr>
          <a:xfrm>
            <a:off x="6665911" y="32488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71" name="Elipse 70"/>
          <p:cNvSpPr/>
          <p:nvPr/>
        </p:nvSpPr>
        <p:spPr>
          <a:xfrm>
            <a:off x="7623245" y="3248807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2" name="Elipse 71"/>
          <p:cNvSpPr/>
          <p:nvPr/>
        </p:nvSpPr>
        <p:spPr>
          <a:xfrm>
            <a:off x="7923055" y="3908892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73" name="Conector de seta reta 72"/>
          <p:cNvCxnSpPr/>
          <p:nvPr/>
        </p:nvCxnSpPr>
        <p:spPr>
          <a:xfrm flipH="1">
            <a:off x="4334212" y="4327960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702060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Exemplo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487030" y="3951361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3" name="Conector de seta reta 32"/>
          <p:cNvCxnSpPr/>
          <p:nvPr/>
        </p:nvCxnSpPr>
        <p:spPr>
          <a:xfrm flipH="1">
            <a:off x="447829" y="4327960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>
            <a:spLocks noChangeAspect="1"/>
          </p:cNvSpPr>
          <p:nvPr/>
        </p:nvSpPr>
        <p:spPr>
          <a:xfrm>
            <a:off x="2614391" y="3951360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7" name="Conector de seta reta 36"/>
          <p:cNvCxnSpPr/>
          <p:nvPr/>
        </p:nvCxnSpPr>
        <p:spPr>
          <a:xfrm flipH="1">
            <a:off x="2565126" y="4327960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>
            <a:spLocks noChangeAspect="1"/>
          </p:cNvSpPr>
          <p:nvPr/>
        </p:nvSpPr>
        <p:spPr>
          <a:xfrm>
            <a:off x="4373413" y="3951360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725501" y="3890165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725501" y="4174072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2848900" y="3890165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4616688" y="3890165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616688" y="4174072"/>
            <a:ext cx="1471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retorno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2848900" y="4174072"/>
            <a:ext cx="139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árvore</a:t>
            </a:r>
          </a:p>
        </p:txBody>
      </p: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de seta reta 103"/>
          <p:cNvCxnSpPr>
            <a:stCxn id="7" idx="6"/>
            <a:endCxn id="9" idx="1"/>
          </p:cNvCxnSpPr>
          <p:nvPr/>
        </p:nvCxnSpPr>
        <p:spPr>
          <a:xfrm>
            <a:off x="2309608" y="1561104"/>
            <a:ext cx="393124" cy="28825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106"/>
          <p:cNvCxnSpPr>
            <a:stCxn id="8" idx="6"/>
            <a:endCxn id="9" idx="3"/>
          </p:cNvCxnSpPr>
          <p:nvPr/>
        </p:nvCxnSpPr>
        <p:spPr>
          <a:xfrm flipV="1">
            <a:off x="2315659" y="2008430"/>
            <a:ext cx="387073" cy="29484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ela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8009960"/>
              </p:ext>
            </p:extLst>
          </p:nvPr>
        </p:nvGraphicFramePr>
        <p:xfrm>
          <a:off x="3353072" y="1312958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f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e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9" name="Elipse 168"/>
          <p:cNvSpPr/>
          <p:nvPr/>
        </p:nvSpPr>
        <p:spPr>
          <a:xfrm>
            <a:off x="7144577" y="156609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957676" y="2774208"/>
            <a:ext cx="23439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BP(e)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</a:t>
            </a:r>
            <a:r>
              <a:rPr lang="pt-BR" sz="1600" b="1" dirty="0">
                <a:solidFill>
                  <a:srgbClr val="00B0F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b, a, c }</a:t>
            </a:r>
            <a:endParaRPr lang="pt-BR" sz="1600" dirty="0"/>
          </a:p>
        </p:txBody>
      </p: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9" name="Elipse 8"/>
          <p:cNvSpPr/>
          <p:nvPr/>
        </p:nvSpPr>
        <p:spPr>
          <a:xfrm>
            <a:off x="2669035" y="1816410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c</a:t>
            </a:r>
          </a:p>
        </p:txBody>
      </p:sp>
      <p:cxnSp>
        <p:nvCxnSpPr>
          <p:cNvPr id="43" name="Conector de seta reta 42"/>
          <p:cNvCxnSpPr>
            <a:stCxn id="46" idx="0"/>
          </p:cNvCxnSpPr>
          <p:nvPr/>
        </p:nvCxnSpPr>
        <p:spPr>
          <a:xfrm flipH="1" flipV="1">
            <a:off x="7259626" y="1791063"/>
            <a:ext cx="1" cy="37113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lipse 45"/>
          <p:cNvSpPr/>
          <p:nvPr/>
        </p:nvSpPr>
        <p:spPr>
          <a:xfrm>
            <a:off x="7144578" y="2162193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48" name="CaixaDeTexto 47"/>
          <p:cNvSpPr txBox="1"/>
          <p:nvPr/>
        </p:nvSpPr>
        <p:spPr>
          <a:xfrm>
            <a:off x="957676" y="3077091"/>
            <a:ext cx="22281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BP(f) 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(f)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d, e }</a:t>
            </a:r>
            <a:endParaRPr lang="pt-BR" sz="1600" dirty="0"/>
          </a:p>
        </p:txBody>
      </p:sp>
      <p:cxnSp>
        <p:nvCxnSpPr>
          <p:cNvPr id="47" name="Conector de seta reta 46"/>
          <p:cNvCxnSpPr>
            <a:stCxn id="49" idx="0"/>
          </p:cNvCxnSpPr>
          <p:nvPr/>
        </p:nvCxnSpPr>
        <p:spPr>
          <a:xfrm flipV="1">
            <a:off x="7259627" y="2387158"/>
            <a:ext cx="0" cy="37087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/>
          <p:cNvSpPr/>
          <p:nvPr/>
        </p:nvSpPr>
        <p:spPr>
          <a:xfrm>
            <a:off x="7144578" y="275802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51" name="CaixaDeTexto 50"/>
          <p:cNvSpPr txBox="1"/>
          <p:nvPr/>
        </p:nvSpPr>
        <p:spPr>
          <a:xfrm>
            <a:off x="957676" y="3379974"/>
            <a:ext cx="24192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BP(b)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= { </a:t>
            </a:r>
            <a:r>
              <a:rPr lang="pt-BR" sz="1600" b="1" dirty="0">
                <a:solidFill>
                  <a:srgbClr val="00B0F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a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f }</a:t>
            </a:r>
            <a:endParaRPr lang="pt-BR" sz="1600" dirty="0"/>
          </a:p>
        </p:txBody>
      </p:sp>
      <p:cxnSp>
        <p:nvCxnSpPr>
          <p:cNvPr id="50" name="Conector de seta reta 49"/>
          <p:cNvCxnSpPr>
            <a:stCxn id="52" idx="7"/>
          </p:cNvCxnSpPr>
          <p:nvPr/>
        </p:nvCxnSpPr>
        <p:spPr>
          <a:xfrm flipV="1">
            <a:off x="6862311" y="2950048"/>
            <a:ext cx="315964" cy="33170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Elipse 51"/>
          <p:cNvSpPr/>
          <p:nvPr/>
        </p:nvSpPr>
        <p:spPr>
          <a:xfrm>
            <a:off x="6665911" y="324880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3248258" y="2769501"/>
            <a:ext cx="19704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BP(d)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53" name="Conector angulado 139"/>
          <p:cNvCxnSpPr/>
          <p:nvPr/>
        </p:nvCxnSpPr>
        <p:spPr>
          <a:xfrm rot="5400000" flipH="1" flipV="1">
            <a:off x="6475705" y="2579932"/>
            <a:ext cx="974129" cy="363618"/>
          </a:xfrm>
          <a:prstGeom prst="curvedConnector2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angulado 147"/>
          <p:cNvCxnSpPr/>
          <p:nvPr/>
        </p:nvCxnSpPr>
        <p:spPr>
          <a:xfrm>
            <a:off x="7374674" y="1678581"/>
            <a:ext cx="1" cy="1191930"/>
          </a:xfrm>
          <a:prstGeom prst="curvedConnector3">
            <a:avLst>
              <a:gd name="adj1" fmla="val 22860100000"/>
            </a:avLst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de seta reta 55"/>
          <p:cNvCxnSpPr>
            <a:stCxn id="57" idx="1"/>
          </p:cNvCxnSpPr>
          <p:nvPr/>
        </p:nvCxnSpPr>
        <p:spPr>
          <a:xfrm flipH="1" flipV="1">
            <a:off x="7340978" y="2950048"/>
            <a:ext cx="315964" cy="331703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Elipse 56"/>
          <p:cNvSpPr/>
          <p:nvPr/>
        </p:nvSpPr>
        <p:spPr>
          <a:xfrm>
            <a:off x="7623245" y="32488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60" name="CaixaDeTexto 59"/>
          <p:cNvSpPr txBox="1"/>
          <p:nvPr/>
        </p:nvSpPr>
        <p:spPr>
          <a:xfrm>
            <a:off x="3248258" y="3071371"/>
            <a:ext cx="22220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BP(a)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(a) 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c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e, b }</a:t>
            </a:r>
            <a:endParaRPr lang="pt-BR" sz="1600" dirty="0"/>
          </a:p>
        </p:txBody>
      </p:sp>
      <p:cxnSp>
        <p:nvCxnSpPr>
          <p:cNvPr id="62" name="Conector de seta reta 61"/>
          <p:cNvCxnSpPr>
            <a:stCxn id="63" idx="0"/>
            <a:endCxn id="57" idx="5"/>
          </p:cNvCxnSpPr>
          <p:nvPr/>
        </p:nvCxnSpPr>
        <p:spPr>
          <a:xfrm flipH="1" flipV="1">
            <a:off x="7819645" y="3440826"/>
            <a:ext cx="218459" cy="468065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Elipse 62"/>
          <p:cNvSpPr/>
          <p:nvPr/>
        </p:nvSpPr>
        <p:spPr>
          <a:xfrm>
            <a:off x="7923055" y="390889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1" name="CaixaDeTexto 60"/>
          <p:cNvSpPr txBox="1"/>
          <p:nvPr/>
        </p:nvSpPr>
        <p:spPr>
          <a:xfrm>
            <a:off x="3248258" y="3373241"/>
            <a:ext cx="20056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BP(c)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(c)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a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64" name="Conector angulado 161"/>
          <p:cNvCxnSpPr/>
          <p:nvPr/>
        </p:nvCxnSpPr>
        <p:spPr>
          <a:xfrm>
            <a:off x="7374674" y="1678581"/>
            <a:ext cx="778478" cy="2342793"/>
          </a:xfrm>
          <a:prstGeom prst="curvedConnector3">
            <a:avLst>
              <a:gd name="adj1" fmla="val 129365"/>
            </a:avLst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/>
          <p:cNvSpPr txBox="1"/>
          <p:nvPr/>
        </p:nvSpPr>
        <p:spPr>
          <a:xfrm>
            <a:off x="6362071" y="3734645"/>
            <a:ext cx="129907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dirty="0"/>
              <a:t>Retrocede para continuar a busca</a:t>
            </a:r>
          </a:p>
        </p:txBody>
      </p:sp>
      <p:cxnSp>
        <p:nvCxnSpPr>
          <p:cNvPr id="65" name="Conector de seta reta 64"/>
          <p:cNvCxnSpPr/>
          <p:nvPr/>
        </p:nvCxnSpPr>
        <p:spPr>
          <a:xfrm flipV="1">
            <a:off x="7207218" y="3458845"/>
            <a:ext cx="387083" cy="32663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CaixaDeTexto 65"/>
          <p:cNvSpPr txBox="1"/>
          <p:nvPr/>
        </p:nvSpPr>
        <p:spPr>
          <a:xfrm>
            <a:off x="6510772" y="4166243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68" name="Conector reto 67"/>
          <p:cNvCxnSpPr/>
          <p:nvPr/>
        </p:nvCxnSpPr>
        <p:spPr>
          <a:xfrm>
            <a:off x="6447710" y="1393377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Elipse 68"/>
          <p:cNvSpPr/>
          <p:nvPr/>
        </p:nvSpPr>
        <p:spPr>
          <a:xfrm>
            <a:off x="7144577" y="156609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70" name="Elipse 69"/>
          <p:cNvSpPr/>
          <p:nvPr/>
        </p:nvSpPr>
        <p:spPr>
          <a:xfrm>
            <a:off x="7144578" y="216219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71" name="Elipse 70"/>
          <p:cNvSpPr/>
          <p:nvPr/>
        </p:nvSpPr>
        <p:spPr>
          <a:xfrm>
            <a:off x="7144578" y="275802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2" name="Elipse 71"/>
          <p:cNvSpPr/>
          <p:nvPr/>
        </p:nvSpPr>
        <p:spPr>
          <a:xfrm>
            <a:off x="6665911" y="32488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73" name="Elipse 72"/>
          <p:cNvSpPr/>
          <p:nvPr/>
        </p:nvSpPr>
        <p:spPr>
          <a:xfrm>
            <a:off x="7623245" y="3248807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4" name="Elipse 73"/>
          <p:cNvSpPr/>
          <p:nvPr/>
        </p:nvSpPr>
        <p:spPr>
          <a:xfrm>
            <a:off x="7923055" y="3908892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76" name="Conector de seta reta 75"/>
          <p:cNvCxnSpPr/>
          <p:nvPr/>
        </p:nvCxnSpPr>
        <p:spPr>
          <a:xfrm flipH="1">
            <a:off x="4334212" y="4327960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066271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Exemplo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487030" y="3951361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3" name="Conector de seta reta 32"/>
          <p:cNvCxnSpPr/>
          <p:nvPr/>
        </p:nvCxnSpPr>
        <p:spPr>
          <a:xfrm flipH="1">
            <a:off x="447829" y="4327960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>
            <a:spLocks noChangeAspect="1"/>
          </p:cNvSpPr>
          <p:nvPr/>
        </p:nvSpPr>
        <p:spPr>
          <a:xfrm>
            <a:off x="2614391" y="3951360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7" name="Conector de seta reta 36"/>
          <p:cNvCxnSpPr/>
          <p:nvPr/>
        </p:nvCxnSpPr>
        <p:spPr>
          <a:xfrm flipH="1">
            <a:off x="2565126" y="4327960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>
            <a:spLocks noChangeAspect="1"/>
          </p:cNvSpPr>
          <p:nvPr/>
        </p:nvSpPr>
        <p:spPr>
          <a:xfrm>
            <a:off x="4373413" y="3951360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725501" y="3890165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725501" y="4174072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2848900" y="3890165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4616688" y="3890165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616688" y="4174072"/>
            <a:ext cx="1471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retorno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2848900" y="4174072"/>
            <a:ext cx="139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árvore</a:t>
            </a:r>
          </a:p>
        </p:txBody>
      </p: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de seta reta 103"/>
          <p:cNvCxnSpPr>
            <a:stCxn id="7" idx="6"/>
            <a:endCxn id="9" idx="1"/>
          </p:cNvCxnSpPr>
          <p:nvPr/>
        </p:nvCxnSpPr>
        <p:spPr>
          <a:xfrm>
            <a:off x="2309608" y="1561104"/>
            <a:ext cx="393124" cy="28825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106"/>
          <p:cNvCxnSpPr>
            <a:stCxn id="8" idx="6"/>
            <a:endCxn id="9" idx="3"/>
          </p:cNvCxnSpPr>
          <p:nvPr/>
        </p:nvCxnSpPr>
        <p:spPr>
          <a:xfrm flipV="1">
            <a:off x="2315659" y="2008430"/>
            <a:ext cx="387073" cy="29484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ela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4786282"/>
              </p:ext>
            </p:extLst>
          </p:nvPr>
        </p:nvGraphicFramePr>
        <p:xfrm>
          <a:off x="3353072" y="1312958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f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e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9" name="Elipse 168"/>
          <p:cNvSpPr/>
          <p:nvPr/>
        </p:nvSpPr>
        <p:spPr>
          <a:xfrm>
            <a:off x="7144577" y="156609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957676" y="2774208"/>
            <a:ext cx="23439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BP(e)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</a:t>
            </a:r>
            <a:r>
              <a:rPr lang="pt-BR" sz="1600" b="1" dirty="0">
                <a:solidFill>
                  <a:srgbClr val="00B0F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b, a, c }</a:t>
            </a:r>
            <a:endParaRPr lang="pt-BR" sz="1600" dirty="0"/>
          </a:p>
        </p:txBody>
      </p: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9" name="Elipse 8"/>
          <p:cNvSpPr/>
          <p:nvPr/>
        </p:nvSpPr>
        <p:spPr>
          <a:xfrm>
            <a:off x="2669035" y="1816410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c</a:t>
            </a:r>
          </a:p>
        </p:txBody>
      </p:sp>
      <p:cxnSp>
        <p:nvCxnSpPr>
          <p:cNvPr id="43" name="Conector de seta reta 42"/>
          <p:cNvCxnSpPr>
            <a:stCxn id="46" idx="0"/>
          </p:cNvCxnSpPr>
          <p:nvPr/>
        </p:nvCxnSpPr>
        <p:spPr>
          <a:xfrm flipH="1" flipV="1">
            <a:off x="7259626" y="1791063"/>
            <a:ext cx="1" cy="37113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lipse 45"/>
          <p:cNvSpPr/>
          <p:nvPr/>
        </p:nvSpPr>
        <p:spPr>
          <a:xfrm>
            <a:off x="7144578" y="2162193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48" name="CaixaDeTexto 47"/>
          <p:cNvSpPr txBox="1"/>
          <p:nvPr/>
        </p:nvSpPr>
        <p:spPr>
          <a:xfrm>
            <a:off x="957676" y="3077091"/>
            <a:ext cx="22281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BP(f) 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(f)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d, e }</a:t>
            </a:r>
            <a:endParaRPr lang="pt-BR" sz="1600" dirty="0"/>
          </a:p>
        </p:txBody>
      </p:sp>
      <p:cxnSp>
        <p:nvCxnSpPr>
          <p:cNvPr id="47" name="Conector de seta reta 46"/>
          <p:cNvCxnSpPr>
            <a:stCxn id="49" idx="0"/>
          </p:cNvCxnSpPr>
          <p:nvPr/>
        </p:nvCxnSpPr>
        <p:spPr>
          <a:xfrm flipV="1">
            <a:off x="7259627" y="2387158"/>
            <a:ext cx="0" cy="37087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/>
          <p:cNvSpPr/>
          <p:nvPr/>
        </p:nvSpPr>
        <p:spPr>
          <a:xfrm>
            <a:off x="7144578" y="275802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51" name="CaixaDeTexto 50"/>
          <p:cNvSpPr txBox="1"/>
          <p:nvPr/>
        </p:nvSpPr>
        <p:spPr>
          <a:xfrm>
            <a:off x="957676" y="3379974"/>
            <a:ext cx="24192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BP(b)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= { </a:t>
            </a:r>
            <a:r>
              <a:rPr lang="pt-BR" sz="1600" b="1" dirty="0">
                <a:solidFill>
                  <a:srgbClr val="00B0F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a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f }</a:t>
            </a:r>
            <a:endParaRPr lang="pt-BR" sz="1600" dirty="0"/>
          </a:p>
        </p:txBody>
      </p:sp>
      <p:cxnSp>
        <p:nvCxnSpPr>
          <p:cNvPr id="50" name="Conector de seta reta 49"/>
          <p:cNvCxnSpPr>
            <a:stCxn id="52" idx="7"/>
          </p:cNvCxnSpPr>
          <p:nvPr/>
        </p:nvCxnSpPr>
        <p:spPr>
          <a:xfrm flipV="1">
            <a:off x="6862311" y="2950048"/>
            <a:ext cx="315964" cy="33170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Elipse 51"/>
          <p:cNvSpPr/>
          <p:nvPr/>
        </p:nvSpPr>
        <p:spPr>
          <a:xfrm>
            <a:off x="6665911" y="324880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3248258" y="2769501"/>
            <a:ext cx="19704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BP(d)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53" name="Conector angulado 139"/>
          <p:cNvCxnSpPr/>
          <p:nvPr/>
        </p:nvCxnSpPr>
        <p:spPr>
          <a:xfrm rot="5400000" flipH="1" flipV="1">
            <a:off x="6475705" y="2579932"/>
            <a:ext cx="974129" cy="363618"/>
          </a:xfrm>
          <a:prstGeom prst="curvedConnector2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angulado 147"/>
          <p:cNvCxnSpPr/>
          <p:nvPr/>
        </p:nvCxnSpPr>
        <p:spPr>
          <a:xfrm>
            <a:off x="7374674" y="1678581"/>
            <a:ext cx="1" cy="1191930"/>
          </a:xfrm>
          <a:prstGeom prst="curvedConnector3">
            <a:avLst>
              <a:gd name="adj1" fmla="val 22860100000"/>
            </a:avLst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de seta reta 55"/>
          <p:cNvCxnSpPr>
            <a:stCxn id="57" idx="1"/>
          </p:cNvCxnSpPr>
          <p:nvPr/>
        </p:nvCxnSpPr>
        <p:spPr>
          <a:xfrm flipH="1" flipV="1">
            <a:off x="7340978" y="2950048"/>
            <a:ext cx="315964" cy="331703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Elipse 56"/>
          <p:cNvSpPr/>
          <p:nvPr/>
        </p:nvSpPr>
        <p:spPr>
          <a:xfrm>
            <a:off x="7623245" y="32488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60" name="CaixaDeTexto 59"/>
          <p:cNvSpPr txBox="1"/>
          <p:nvPr/>
        </p:nvSpPr>
        <p:spPr>
          <a:xfrm>
            <a:off x="3248258" y="3071371"/>
            <a:ext cx="22220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BP(a)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(a) 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c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b }</a:t>
            </a:r>
            <a:endParaRPr lang="pt-BR" sz="1600" dirty="0"/>
          </a:p>
        </p:txBody>
      </p:sp>
      <p:cxnSp>
        <p:nvCxnSpPr>
          <p:cNvPr id="62" name="Conector de seta reta 61"/>
          <p:cNvCxnSpPr>
            <a:stCxn id="63" idx="0"/>
            <a:endCxn id="57" idx="5"/>
          </p:cNvCxnSpPr>
          <p:nvPr/>
        </p:nvCxnSpPr>
        <p:spPr>
          <a:xfrm flipH="1" flipV="1">
            <a:off x="7819645" y="3440826"/>
            <a:ext cx="218459" cy="468065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Elipse 62"/>
          <p:cNvSpPr/>
          <p:nvPr/>
        </p:nvSpPr>
        <p:spPr>
          <a:xfrm>
            <a:off x="7923055" y="390889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1" name="CaixaDeTexto 60"/>
          <p:cNvSpPr txBox="1"/>
          <p:nvPr/>
        </p:nvSpPr>
        <p:spPr>
          <a:xfrm>
            <a:off x="3248258" y="3373241"/>
            <a:ext cx="20056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BP(c)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(c)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a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64" name="Conector angulado 161"/>
          <p:cNvCxnSpPr/>
          <p:nvPr/>
        </p:nvCxnSpPr>
        <p:spPr>
          <a:xfrm>
            <a:off x="7374674" y="1678581"/>
            <a:ext cx="778478" cy="2342793"/>
          </a:xfrm>
          <a:prstGeom prst="curvedConnector3">
            <a:avLst>
              <a:gd name="adj1" fmla="val 129365"/>
            </a:avLst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/>
          <p:cNvSpPr txBox="1"/>
          <p:nvPr/>
        </p:nvSpPr>
        <p:spPr>
          <a:xfrm>
            <a:off x="6362071" y="3734645"/>
            <a:ext cx="129907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dirty="0"/>
              <a:t>Retrocede para continuar a busca</a:t>
            </a:r>
          </a:p>
        </p:txBody>
      </p:sp>
      <p:cxnSp>
        <p:nvCxnSpPr>
          <p:cNvPr id="65" name="Conector de seta reta 64"/>
          <p:cNvCxnSpPr/>
          <p:nvPr/>
        </p:nvCxnSpPr>
        <p:spPr>
          <a:xfrm flipV="1">
            <a:off x="7207218" y="3458845"/>
            <a:ext cx="387083" cy="32663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CaixaDeTexto 65"/>
          <p:cNvSpPr txBox="1"/>
          <p:nvPr/>
        </p:nvSpPr>
        <p:spPr>
          <a:xfrm>
            <a:off x="6510772" y="4166243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68" name="Conector reto 67"/>
          <p:cNvCxnSpPr/>
          <p:nvPr/>
        </p:nvCxnSpPr>
        <p:spPr>
          <a:xfrm>
            <a:off x="6447710" y="1393377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Elipse 70"/>
          <p:cNvSpPr/>
          <p:nvPr/>
        </p:nvSpPr>
        <p:spPr>
          <a:xfrm>
            <a:off x="7144577" y="156609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72" name="Elipse 71"/>
          <p:cNvSpPr/>
          <p:nvPr/>
        </p:nvSpPr>
        <p:spPr>
          <a:xfrm>
            <a:off x="7144578" y="216219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73" name="Elipse 72"/>
          <p:cNvSpPr/>
          <p:nvPr/>
        </p:nvSpPr>
        <p:spPr>
          <a:xfrm>
            <a:off x="7144578" y="275802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4" name="Elipse 73"/>
          <p:cNvSpPr/>
          <p:nvPr/>
        </p:nvSpPr>
        <p:spPr>
          <a:xfrm>
            <a:off x="6665911" y="32488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76" name="Elipse 75"/>
          <p:cNvSpPr/>
          <p:nvPr/>
        </p:nvSpPr>
        <p:spPr>
          <a:xfrm>
            <a:off x="7623245" y="3248807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7" name="Elipse 76"/>
          <p:cNvSpPr/>
          <p:nvPr/>
        </p:nvSpPr>
        <p:spPr>
          <a:xfrm>
            <a:off x="7923055" y="3908892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69" name="Conector de seta reta 68"/>
          <p:cNvCxnSpPr/>
          <p:nvPr/>
        </p:nvCxnSpPr>
        <p:spPr>
          <a:xfrm flipH="1">
            <a:off x="4334212" y="4327960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805609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Exemplo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487030" y="3951361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3" name="Conector de seta reta 32"/>
          <p:cNvCxnSpPr/>
          <p:nvPr/>
        </p:nvCxnSpPr>
        <p:spPr>
          <a:xfrm flipH="1">
            <a:off x="447829" y="4327960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>
            <a:spLocks noChangeAspect="1"/>
          </p:cNvSpPr>
          <p:nvPr/>
        </p:nvSpPr>
        <p:spPr>
          <a:xfrm>
            <a:off x="2614391" y="3951360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7" name="Conector de seta reta 36"/>
          <p:cNvCxnSpPr/>
          <p:nvPr/>
        </p:nvCxnSpPr>
        <p:spPr>
          <a:xfrm flipH="1">
            <a:off x="2565126" y="4327960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>
            <a:spLocks noChangeAspect="1"/>
          </p:cNvSpPr>
          <p:nvPr/>
        </p:nvSpPr>
        <p:spPr>
          <a:xfrm>
            <a:off x="4373413" y="3951360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725501" y="3890165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725501" y="4174072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2848900" y="3890165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4616688" y="3890165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616688" y="4174072"/>
            <a:ext cx="1471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retorno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2848900" y="4174072"/>
            <a:ext cx="139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árvore</a:t>
            </a:r>
          </a:p>
        </p:txBody>
      </p: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de seta reta 103"/>
          <p:cNvCxnSpPr>
            <a:stCxn id="7" idx="6"/>
            <a:endCxn id="9" idx="1"/>
          </p:cNvCxnSpPr>
          <p:nvPr/>
        </p:nvCxnSpPr>
        <p:spPr>
          <a:xfrm>
            <a:off x="2309608" y="1561104"/>
            <a:ext cx="393124" cy="28825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106"/>
          <p:cNvCxnSpPr>
            <a:stCxn id="8" idx="6"/>
            <a:endCxn id="9" idx="3"/>
          </p:cNvCxnSpPr>
          <p:nvPr/>
        </p:nvCxnSpPr>
        <p:spPr>
          <a:xfrm flipV="1">
            <a:off x="2315659" y="2008430"/>
            <a:ext cx="387073" cy="29484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ela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2308362"/>
              </p:ext>
            </p:extLst>
          </p:nvPr>
        </p:nvGraphicFramePr>
        <p:xfrm>
          <a:off x="3353072" y="1312958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f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e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9" name="Elipse 168"/>
          <p:cNvSpPr/>
          <p:nvPr/>
        </p:nvSpPr>
        <p:spPr>
          <a:xfrm>
            <a:off x="7144577" y="156609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957676" y="2774208"/>
            <a:ext cx="23439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BP(e)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</a:t>
            </a:r>
            <a:r>
              <a:rPr lang="pt-BR" sz="1600" b="1" dirty="0">
                <a:solidFill>
                  <a:srgbClr val="00B0F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b, a, c }</a:t>
            </a:r>
            <a:endParaRPr lang="pt-BR" sz="1600" dirty="0"/>
          </a:p>
        </p:txBody>
      </p: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9" name="Elipse 8"/>
          <p:cNvSpPr/>
          <p:nvPr/>
        </p:nvSpPr>
        <p:spPr>
          <a:xfrm>
            <a:off x="2669035" y="1816410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c</a:t>
            </a:r>
          </a:p>
        </p:txBody>
      </p:sp>
      <p:cxnSp>
        <p:nvCxnSpPr>
          <p:cNvPr id="43" name="Conector de seta reta 42"/>
          <p:cNvCxnSpPr>
            <a:stCxn id="46" idx="0"/>
          </p:cNvCxnSpPr>
          <p:nvPr/>
        </p:nvCxnSpPr>
        <p:spPr>
          <a:xfrm flipH="1" flipV="1">
            <a:off x="7259626" y="1791063"/>
            <a:ext cx="1" cy="37113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lipse 45"/>
          <p:cNvSpPr/>
          <p:nvPr/>
        </p:nvSpPr>
        <p:spPr>
          <a:xfrm>
            <a:off x="7144578" y="2162193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48" name="CaixaDeTexto 47"/>
          <p:cNvSpPr txBox="1"/>
          <p:nvPr/>
        </p:nvSpPr>
        <p:spPr>
          <a:xfrm>
            <a:off x="957676" y="3077091"/>
            <a:ext cx="22281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BP(f) 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(f)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d, e }</a:t>
            </a:r>
            <a:endParaRPr lang="pt-BR" sz="1600" dirty="0"/>
          </a:p>
        </p:txBody>
      </p:sp>
      <p:cxnSp>
        <p:nvCxnSpPr>
          <p:cNvPr id="47" name="Conector de seta reta 46"/>
          <p:cNvCxnSpPr>
            <a:stCxn id="49" idx="0"/>
          </p:cNvCxnSpPr>
          <p:nvPr/>
        </p:nvCxnSpPr>
        <p:spPr>
          <a:xfrm flipV="1">
            <a:off x="7259627" y="2387158"/>
            <a:ext cx="0" cy="37087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/>
          <p:cNvSpPr/>
          <p:nvPr/>
        </p:nvSpPr>
        <p:spPr>
          <a:xfrm>
            <a:off x="7144578" y="275802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51" name="CaixaDeTexto 50"/>
          <p:cNvSpPr txBox="1"/>
          <p:nvPr/>
        </p:nvSpPr>
        <p:spPr>
          <a:xfrm>
            <a:off x="957676" y="3379974"/>
            <a:ext cx="24192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BP(b)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= { </a:t>
            </a:r>
            <a:r>
              <a:rPr lang="pt-BR" sz="1600" b="1" dirty="0">
                <a:solidFill>
                  <a:srgbClr val="00B0F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a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f }</a:t>
            </a:r>
            <a:endParaRPr lang="pt-BR" sz="1600" dirty="0"/>
          </a:p>
        </p:txBody>
      </p:sp>
      <p:cxnSp>
        <p:nvCxnSpPr>
          <p:cNvPr id="50" name="Conector de seta reta 49"/>
          <p:cNvCxnSpPr>
            <a:stCxn id="52" idx="7"/>
          </p:cNvCxnSpPr>
          <p:nvPr/>
        </p:nvCxnSpPr>
        <p:spPr>
          <a:xfrm flipV="1">
            <a:off x="6862311" y="2950048"/>
            <a:ext cx="315964" cy="33170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Elipse 51"/>
          <p:cNvSpPr/>
          <p:nvPr/>
        </p:nvSpPr>
        <p:spPr>
          <a:xfrm>
            <a:off x="6665911" y="324880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3248258" y="2769501"/>
            <a:ext cx="19704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BP(d)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53" name="Conector angulado 139"/>
          <p:cNvCxnSpPr/>
          <p:nvPr/>
        </p:nvCxnSpPr>
        <p:spPr>
          <a:xfrm rot="5400000" flipH="1" flipV="1">
            <a:off x="6475705" y="2579932"/>
            <a:ext cx="974129" cy="363618"/>
          </a:xfrm>
          <a:prstGeom prst="curvedConnector2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angulado 147"/>
          <p:cNvCxnSpPr/>
          <p:nvPr/>
        </p:nvCxnSpPr>
        <p:spPr>
          <a:xfrm>
            <a:off x="7374674" y="1678581"/>
            <a:ext cx="1" cy="1191930"/>
          </a:xfrm>
          <a:prstGeom prst="curvedConnector3">
            <a:avLst>
              <a:gd name="adj1" fmla="val 22860100000"/>
            </a:avLst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de seta reta 55"/>
          <p:cNvCxnSpPr>
            <a:stCxn id="57" idx="1"/>
          </p:cNvCxnSpPr>
          <p:nvPr/>
        </p:nvCxnSpPr>
        <p:spPr>
          <a:xfrm flipH="1" flipV="1">
            <a:off x="7340978" y="2950048"/>
            <a:ext cx="315964" cy="331703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Elipse 56"/>
          <p:cNvSpPr/>
          <p:nvPr/>
        </p:nvSpPr>
        <p:spPr>
          <a:xfrm>
            <a:off x="7623245" y="32488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60" name="CaixaDeTexto 59"/>
          <p:cNvSpPr txBox="1"/>
          <p:nvPr/>
        </p:nvSpPr>
        <p:spPr>
          <a:xfrm>
            <a:off x="3248258" y="3071371"/>
            <a:ext cx="22220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BP(a)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(a) 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c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b }</a:t>
            </a:r>
            <a:endParaRPr lang="pt-BR" sz="1600" dirty="0"/>
          </a:p>
        </p:txBody>
      </p:sp>
      <p:cxnSp>
        <p:nvCxnSpPr>
          <p:cNvPr id="62" name="Conector de seta reta 61"/>
          <p:cNvCxnSpPr>
            <a:stCxn id="63" idx="0"/>
            <a:endCxn id="57" idx="5"/>
          </p:cNvCxnSpPr>
          <p:nvPr/>
        </p:nvCxnSpPr>
        <p:spPr>
          <a:xfrm flipH="1" flipV="1">
            <a:off x="7819645" y="3440826"/>
            <a:ext cx="218459" cy="468065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Elipse 62"/>
          <p:cNvSpPr/>
          <p:nvPr/>
        </p:nvSpPr>
        <p:spPr>
          <a:xfrm>
            <a:off x="7923055" y="390889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1" name="CaixaDeTexto 60"/>
          <p:cNvSpPr txBox="1"/>
          <p:nvPr/>
        </p:nvSpPr>
        <p:spPr>
          <a:xfrm>
            <a:off x="3248258" y="3373241"/>
            <a:ext cx="20056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BP(c)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(c)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a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64" name="Conector angulado 161"/>
          <p:cNvCxnSpPr/>
          <p:nvPr/>
        </p:nvCxnSpPr>
        <p:spPr>
          <a:xfrm>
            <a:off x="7374674" y="1678581"/>
            <a:ext cx="778478" cy="2342793"/>
          </a:xfrm>
          <a:prstGeom prst="curvedConnector3">
            <a:avLst>
              <a:gd name="adj1" fmla="val 129365"/>
            </a:avLst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angulado 158"/>
          <p:cNvCxnSpPr/>
          <p:nvPr/>
        </p:nvCxnSpPr>
        <p:spPr>
          <a:xfrm flipH="1" flipV="1">
            <a:off x="7374674" y="1678581"/>
            <a:ext cx="478668" cy="1682708"/>
          </a:xfrm>
          <a:prstGeom prst="curvedConnector3">
            <a:avLst>
              <a:gd name="adj1" fmla="val -47758"/>
            </a:avLst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CaixaDeTexto 67"/>
          <p:cNvSpPr txBox="1"/>
          <p:nvPr/>
        </p:nvSpPr>
        <p:spPr>
          <a:xfrm>
            <a:off x="6362071" y="3734645"/>
            <a:ext cx="129907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dirty="0"/>
              <a:t>Retrocede para continuar a busca</a:t>
            </a:r>
          </a:p>
        </p:txBody>
      </p:sp>
      <p:cxnSp>
        <p:nvCxnSpPr>
          <p:cNvPr id="69" name="Conector de seta reta 68"/>
          <p:cNvCxnSpPr/>
          <p:nvPr/>
        </p:nvCxnSpPr>
        <p:spPr>
          <a:xfrm flipV="1">
            <a:off x="7207218" y="3458845"/>
            <a:ext cx="387083" cy="32663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/>
          <p:cNvSpPr txBox="1"/>
          <p:nvPr/>
        </p:nvSpPr>
        <p:spPr>
          <a:xfrm>
            <a:off x="6510772" y="4166243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65" name="Conector reto 64"/>
          <p:cNvCxnSpPr/>
          <p:nvPr/>
        </p:nvCxnSpPr>
        <p:spPr>
          <a:xfrm>
            <a:off x="6447710" y="1393377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Elipse 69"/>
          <p:cNvSpPr/>
          <p:nvPr/>
        </p:nvSpPr>
        <p:spPr>
          <a:xfrm>
            <a:off x="7144577" y="156609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71" name="Elipse 70"/>
          <p:cNvSpPr/>
          <p:nvPr/>
        </p:nvSpPr>
        <p:spPr>
          <a:xfrm>
            <a:off x="7144578" y="216219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72" name="Elipse 71"/>
          <p:cNvSpPr/>
          <p:nvPr/>
        </p:nvSpPr>
        <p:spPr>
          <a:xfrm>
            <a:off x="7144578" y="275802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3" name="Elipse 72"/>
          <p:cNvSpPr/>
          <p:nvPr/>
        </p:nvSpPr>
        <p:spPr>
          <a:xfrm>
            <a:off x="6665911" y="32488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74" name="Elipse 73"/>
          <p:cNvSpPr/>
          <p:nvPr/>
        </p:nvSpPr>
        <p:spPr>
          <a:xfrm>
            <a:off x="7623245" y="3248807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6" name="Elipse 75"/>
          <p:cNvSpPr/>
          <p:nvPr/>
        </p:nvSpPr>
        <p:spPr>
          <a:xfrm>
            <a:off x="7923055" y="3908892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77" name="Conector de seta reta 76"/>
          <p:cNvCxnSpPr/>
          <p:nvPr/>
        </p:nvCxnSpPr>
        <p:spPr>
          <a:xfrm flipH="1">
            <a:off x="4334212" y="4327960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754899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Exemplo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487030" y="3951361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3" name="Conector de seta reta 32"/>
          <p:cNvCxnSpPr/>
          <p:nvPr/>
        </p:nvCxnSpPr>
        <p:spPr>
          <a:xfrm flipH="1">
            <a:off x="447829" y="4327960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>
            <a:spLocks noChangeAspect="1"/>
          </p:cNvSpPr>
          <p:nvPr/>
        </p:nvSpPr>
        <p:spPr>
          <a:xfrm>
            <a:off x="2614391" y="3951360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7" name="Conector de seta reta 36"/>
          <p:cNvCxnSpPr/>
          <p:nvPr/>
        </p:nvCxnSpPr>
        <p:spPr>
          <a:xfrm flipH="1">
            <a:off x="2565126" y="4327960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>
            <a:spLocks noChangeAspect="1"/>
          </p:cNvSpPr>
          <p:nvPr/>
        </p:nvSpPr>
        <p:spPr>
          <a:xfrm>
            <a:off x="4373413" y="3951360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725501" y="3890165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725501" y="4174072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2848900" y="3890165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4616688" y="3890165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616688" y="4174072"/>
            <a:ext cx="1471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retorno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2848900" y="4174072"/>
            <a:ext cx="139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árvore</a:t>
            </a:r>
          </a:p>
        </p:txBody>
      </p: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de seta reta 103"/>
          <p:cNvCxnSpPr>
            <a:stCxn id="7" idx="6"/>
            <a:endCxn id="9" idx="1"/>
          </p:cNvCxnSpPr>
          <p:nvPr/>
        </p:nvCxnSpPr>
        <p:spPr>
          <a:xfrm>
            <a:off x="2309608" y="1561104"/>
            <a:ext cx="393124" cy="28825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106"/>
          <p:cNvCxnSpPr>
            <a:stCxn id="8" idx="6"/>
            <a:endCxn id="9" idx="3"/>
          </p:cNvCxnSpPr>
          <p:nvPr/>
        </p:nvCxnSpPr>
        <p:spPr>
          <a:xfrm flipV="1">
            <a:off x="2315659" y="2008430"/>
            <a:ext cx="387073" cy="29484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ela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2308362"/>
              </p:ext>
            </p:extLst>
          </p:nvPr>
        </p:nvGraphicFramePr>
        <p:xfrm>
          <a:off x="3353072" y="1312958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f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e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9" name="Elipse 168"/>
          <p:cNvSpPr/>
          <p:nvPr/>
        </p:nvSpPr>
        <p:spPr>
          <a:xfrm>
            <a:off x="7144577" y="156609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957676" y="2774208"/>
            <a:ext cx="23439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BP(e)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</a:t>
            </a:r>
            <a:r>
              <a:rPr lang="pt-BR" sz="1600" b="1" dirty="0">
                <a:solidFill>
                  <a:srgbClr val="00B0F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b, a, c }</a:t>
            </a:r>
            <a:endParaRPr lang="pt-BR" sz="1600" dirty="0"/>
          </a:p>
        </p:txBody>
      </p: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9" name="Elipse 8"/>
          <p:cNvSpPr/>
          <p:nvPr/>
        </p:nvSpPr>
        <p:spPr>
          <a:xfrm>
            <a:off x="2669035" y="1816410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c</a:t>
            </a:r>
          </a:p>
        </p:txBody>
      </p:sp>
      <p:cxnSp>
        <p:nvCxnSpPr>
          <p:cNvPr id="43" name="Conector de seta reta 42"/>
          <p:cNvCxnSpPr>
            <a:stCxn id="46" idx="0"/>
          </p:cNvCxnSpPr>
          <p:nvPr/>
        </p:nvCxnSpPr>
        <p:spPr>
          <a:xfrm flipH="1" flipV="1">
            <a:off x="7259626" y="1791063"/>
            <a:ext cx="1" cy="37113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lipse 45"/>
          <p:cNvSpPr/>
          <p:nvPr/>
        </p:nvSpPr>
        <p:spPr>
          <a:xfrm>
            <a:off x="7144578" y="2162193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48" name="CaixaDeTexto 47"/>
          <p:cNvSpPr txBox="1"/>
          <p:nvPr/>
        </p:nvSpPr>
        <p:spPr>
          <a:xfrm>
            <a:off x="957676" y="3077091"/>
            <a:ext cx="22281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BP(f) 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(f)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d, e }</a:t>
            </a:r>
            <a:endParaRPr lang="pt-BR" sz="1600" dirty="0"/>
          </a:p>
        </p:txBody>
      </p:sp>
      <p:cxnSp>
        <p:nvCxnSpPr>
          <p:cNvPr id="47" name="Conector de seta reta 46"/>
          <p:cNvCxnSpPr>
            <a:stCxn id="49" idx="0"/>
          </p:cNvCxnSpPr>
          <p:nvPr/>
        </p:nvCxnSpPr>
        <p:spPr>
          <a:xfrm flipV="1">
            <a:off x="7259627" y="2387158"/>
            <a:ext cx="0" cy="37087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/>
          <p:cNvSpPr/>
          <p:nvPr/>
        </p:nvSpPr>
        <p:spPr>
          <a:xfrm>
            <a:off x="7144578" y="275802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51" name="CaixaDeTexto 50"/>
          <p:cNvSpPr txBox="1"/>
          <p:nvPr/>
        </p:nvSpPr>
        <p:spPr>
          <a:xfrm>
            <a:off x="957676" y="3379974"/>
            <a:ext cx="24192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BP(b)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= { </a:t>
            </a:r>
            <a:r>
              <a:rPr lang="pt-BR" sz="1600" b="1" dirty="0">
                <a:solidFill>
                  <a:srgbClr val="00B0F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a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f }</a:t>
            </a:r>
            <a:endParaRPr lang="pt-BR" sz="1600" dirty="0"/>
          </a:p>
        </p:txBody>
      </p:sp>
      <p:cxnSp>
        <p:nvCxnSpPr>
          <p:cNvPr id="50" name="Conector de seta reta 49"/>
          <p:cNvCxnSpPr>
            <a:stCxn id="52" idx="7"/>
          </p:cNvCxnSpPr>
          <p:nvPr/>
        </p:nvCxnSpPr>
        <p:spPr>
          <a:xfrm flipV="1">
            <a:off x="6862311" y="2950048"/>
            <a:ext cx="315964" cy="33170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Elipse 51"/>
          <p:cNvSpPr/>
          <p:nvPr/>
        </p:nvSpPr>
        <p:spPr>
          <a:xfrm>
            <a:off x="6665911" y="324880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3248258" y="2769501"/>
            <a:ext cx="19704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BP(d)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53" name="Conector angulado 139"/>
          <p:cNvCxnSpPr/>
          <p:nvPr/>
        </p:nvCxnSpPr>
        <p:spPr>
          <a:xfrm rot="5400000" flipH="1" flipV="1">
            <a:off x="6475705" y="2579932"/>
            <a:ext cx="974129" cy="363618"/>
          </a:xfrm>
          <a:prstGeom prst="curvedConnector2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angulado 147"/>
          <p:cNvCxnSpPr/>
          <p:nvPr/>
        </p:nvCxnSpPr>
        <p:spPr>
          <a:xfrm>
            <a:off x="7374674" y="1678581"/>
            <a:ext cx="1" cy="1191930"/>
          </a:xfrm>
          <a:prstGeom prst="curvedConnector3">
            <a:avLst>
              <a:gd name="adj1" fmla="val 22860100000"/>
            </a:avLst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de seta reta 55"/>
          <p:cNvCxnSpPr>
            <a:stCxn id="57" idx="1"/>
          </p:cNvCxnSpPr>
          <p:nvPr/>
        </p:nvCxnSpPr>
        <p:spPr>
          <a:xfrm flipH="1" flipV="1">
            <a:off x="7340978" y="2950048"/>
            <a:ext cx="315964" cy="331703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Elipse 56"/>
          <p:cNvSpPr/>
          <p:nvPr/>
        </p:nvSpPr>
        <p:spPr>
          <a:xfrm>
            <a:off x="7623245" y="32488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60" name="CaixaDeTexto 59"/>
          <p:cNvSpPr txBox="1"/>
          <p:nvPr/>
        </p:nvSpPr>
        <p:spPr>
          <a:xfrm>
            <a:off x="3248258" y="3071371"/>
            <a:ext cx="22220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BP(a)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(a) 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c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62" name="Conector de seta reta 61"/>
          <p:cNvCxnSpPr>
            <a:stCxn id="63" idx="0"/>
            <a:endCxn id="57" idx="5"/>
          </p:cNvCxnSpPr>
          <p:nvPr/>
        </p:nvCxnSpPr>
        <p:spPr>
          <a:xfrm flipH="1" flipV="1">
            <a:off x="7819645" y="3440826"/>
            <a:ext cx="218459" cy="468065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Elipse 62"/>
          <p:cNvSpPr/>
          <p:nvPr/>
        </p:nvSpPr>
        <p:spPr>
          <a:xfrm>
            <a:off x="7923055" y="390889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1" name="CaixaDeTexto 60"/>
          <p:cNvSpPr txBox="1"/>
          <p:nvPr/>
        </p:nvSpPr>
        <p:spPr>
          <a:xfrm>
            <a:off x="3248258" y="3373241"/>
            <a:ext cx="20056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BP(c)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(c)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a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64" name="Conector angulado 161"/>
          <p:cNvCxnSpPr/>
          <p:nvPr/>
        </p:nvCxnSpPr>
        <p:spPr>
          <a:xfrm>
            <a:off x="7374674" y="1678581"/>
            <a:ext cx="778478" cy="2342793"/>
          </a:xfrm>
          <a:prstGeom prst="curvedConnector3">
            <a:avLst>
              <a:gd name="adj1" fmla="val 129365"/>
            </a:avLst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angulado 158"/>
          <p:cNvCxnSpPr/>
          <p:nvPr/>
        </p:nvCxnSpPr>
        <p:spPr>
          <a:xfrm flipH="1" flipV="1">
            <a:off x="7374674" y="1678581"/>
            <a:ext cx="478668" cy="1682708"/>
          </a:xfrm>
          <a:prstGeom prst="curvedConnector3">
            <a:avLst>
              <a:gd name="adj1" fmla="val -47758"/>
            </a:avLst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/>
          <p:cNvSpPr txBox="1"/>
          <p:nvPr/>
        </p:nvSpPr>
        <p:spPr>
          <a:xfrm>
            <a:off x="6362071" y="3734645"/>
            <a:ext cx="129907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dirty="0"/>
              <a:t>Retrocede para continuar a busca</a:t>
            </a:r>
          </a:p>
        </p:txBody>
      </p:sp>
      <p:cxnSp>
        <p:nvCxnSpPr>
          <p:cNvPr id="65" name="Conector de seta reta 64"/>
          <p:cNvCxnSpPr/>
          <p:nvPr/>
        </p:nvCxnSpPr>
        <p:spPr>
          <a:xfrm flipV="1">
            <a:off x="7207218" y="3458845"/>
            <a:ext cx="387083" cy="32663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CaixaDeTexto 67"/>
          <p:cNvSpPr txBox="1"/>
          <p:nvPr/>
        </p:nvSpPr>
        <p:spPr>
          <a:xfrm>
            <a:off x="6510772" y="4166243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69" name="Conector reto 68"/>
          <p:cNvCxnSpPr/>
          <p:nvPr/>
        </p:nvCxnSpPr>
        <p:spPr>
          <a:xfrm>
            <a:off x="6447710" y="1393377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Elipse 69"/>
          <p:cNvSpPr/>
          <p:nvPr/>
        </p:nvSpPr>
        <p:spPr>
          <a:xfrm>
            <a:off x="7144577" y="156609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71" name="Elipse 70"/>
          <p:cNvSpPr/>
          <p:nvPr/>
        </p:nvSpPr>
        <p:spPr>
          <a:xfrm>
            <a:off x="7144578" y="216219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72" name="Elipse 71"/>
          <p:cNvSpPr/>
          <p:nvPr/>
        </p:nvSpPr>
        <p:spPr>
          <a:xfrm>
            <a:off x="7144578" y="275802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3" name="Elipse 72"/>
          <p:cNvSpPr/>
          <p:nvPr/>
        </p:nvSpPr>
        <p:spPr>
          <a:xfrm>
            <a:off x="6665911" y="32488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74" name="Elipse 73"/>
          <p:cNvSpPr/>
          <p:nvPr/>
        </p:nvSpPr>
        <p:spPr>
          <a:xfrm>
            <a:off x="7623245" y="3248807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6" name="Elipse 75"/>
          <p:cNvSpPr/>
          <p:nvPr/>
        </p:nvSpPr>
        <p:spPr>
          <a:xfrm>
            <a:off x="7923055" y="3908892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77" name="Conector de seta reta 76"/>
          <p:cNvCxnSpPr/>
          <p:nvPr/>
        </p:nvCxnSpPr>
        <p:spPr>
          <a:xfrm flipH="1">
            <a:off x="4334212" y="4327960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296676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Exemplo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487030" y="3951361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3" name="Conector de seta reta 32"/>
          <p:cNvCxnSpPr/>
          <p:nvPr/>
        </p:nvCxnSpPr>
        <p:spPr>
          <a:xfrm flipH="1">
            <a:off x="447829" y="4327960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>
            <a:spLocks noChangeAspect="1"/>
          </p:cNvSpPr>
          <p:nvPr/>
        </p:nvSpPr>
        <p:spPr>
          <a:xfrm>
            <a:off x="2614391" y="3951360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7" name="Conector de seta reta 36"/>
          <p:cNvCxnSpPr/>
          <p:nvPr/>
        </p:nvCxnSpPr>
        <p:spPr>
          <a:xfrm flipH="1">
            <a:off x="2565126" y="4327960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>
            <a:spLocks noChangeAspect="1"/>
          </p:cNvSpPr>
          <p:nvPr/>
        </p:nvSpPr>
        <p:spPr>
          <a:xfrm>
            <a:off x="4373413" y="3951360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725501" y="3890165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725501" y="4174072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2848900" y="3890165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4616688" y="3890165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616688" y="4174072"/>
            <a:ext cx="1471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retorno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2848900" y="4174072"/>
            <a:ext cx="139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árvore</a:t>
            </a:r>
          </a:p>
        </p:txBody>
      </p: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de seta reta 103"/>
          <p:cNvCxnSpPr>
            <a:stCxn id="7" idx="6"/>
            <a:endCxn id="9" idx="1"/>
          </p:cNvCxnSpPr>
          <p:nvPr/>
        </p:nvCxnSpPr>
        <p:spPr>
          <a:xfrm>
            <a:off x="2309608" y="1561104"/>
            <a:ext cx="393124" cy="28825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106"/>
          <p:cNvCxnSpPr>
            <a:stCxn id="8" idx="6"/>
            <a:endCxn id="9" idx="3"/>
          </p:cNvCxnSpPr>
          <p:nvPr/>
        </p:nvCxnSpPr>
        <p:spPr>
          <a:xfrm flipV="1">
            <a:off x="2315659" y="2008430"/>
            <a:ext cx="387073" cy="29484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ela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7049002"/>
              </p:ext>
            </p:extLst>
          </p:nvPr>
        </p:nvGraphicFramePr>
        <p:xfrm>
          <a:off x="3353072" y="1312958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f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e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9" name="Elipse 168"/>
          <p:cNvSpPr/>
          <p:nvPr/>
        </p:nvSpPr>
        <p:spPr>
          <a:xfrm>
            <a:off x="7144577" y="156609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957676" y="2774208"/>
            <a:ext cx="23439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BP(e)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</a:t>
            </a:r>
            <a:r>
              <a:rPr lang="pt-BR" sz="1600" b="1" dirty="0">
                <a:solidFill>
                  <a:srgbClr val="00B0F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b, a, c }</a:t>
            </a:r>
            <a:endParaRPr lang="pt-BR" sz="1600" dirty="0"/>
          </a:p>
        </p:txBody>
      </p: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9" name="Elipse 8"/>
          <p:cNvSpPr/>
          <p:nvPr/>
        </p:nvSpPr>
        <p:spPr>
          <a:xfrm>
            <a:off x="2669035" y="1816410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c</a:t>
            </a:r>
          </a:p>
        </p:txBody>
      </p:sp>
      <p:cxnSp>
        <p:nvCxnSpPr>
          <p:cNvPr id="43" name="Conector de seta reta 42"/>
          <p:cNvCxnSpPr>
            <a:stCxn id="46" idx="0"/>
          </p:cNvCxnSpPr>
          <p:nvPr/>
        </p:nvCxnSpPr>
        <p:spPr>
          <a:xfrm flipH="1" flipV="1">
            <a:off x="7259626" y="1791063"/>
            <a:ext cx="1" cy="37113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lipse 45"/>
          <p:cNvSpPr/>
          <p:nvPr/>
        </p:nvSpPr>
        <p:spPr>
          <a:xfrm>
            <a:off x="7144578" y="2162193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48" name="CaixaDeTexto 47"/>
          <p:cNvSpPr txBox="1"/>
          <p:nvPr/>
        </p:nvSpPr>
        <p:spPr>
          <a:xfrm>
            <a:off x="957676" y="3077091"/>
            <a:ext cx="22281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BP(f) 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(f)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d, e }</a:t>
            </a:r>
            <a:endParaRPr lang="pt-BR" sz="1600" dirty="0"/>
          </a:p>
        </p:txBody>
      </p:sp>
      <p:cxnSp>
        <p:nvCxnSpPr>
          <p:cNvPr id="47" name="Conector de seta reta 46"/>
          <p:cNvCxnSpPr>
            <a:stCxn id="49" idx="0"/>
          </p:cNvCxnSpPr>
          <p:nvPr/>
        </p:nvCxnSpPr>
        <p:spPr>
          <a:xfrm flipV="1">
            <a:off x="7259627" y="2387158"/>
            <a:ext cx="0" cy="37087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/>
          <p:cNvSpPr/>
          <p:nvPr/>
        </p:nvSpPr>
        <p:spPr>
          <a:xfrm>
            <a:off x="7144578" y="275802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51" name="CaixaDeTexto 50"/>
          <p:cNvSpPr txBox="1"/>
          <p:nvPr/>
        </p:nvSpPr>
        <p:spPr>
          <a:xfrm>
            <a:off x="957676" y="3379974"/>
            <a:ext cx="24192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BP(b)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= { </a:t>
            </a:r>
            <a:r>
              <a:rPr lang="pt-BR" sz="1600" b="1" dirty="0">
                <a:solidFill>
                  <a:srgbClr val="00B0F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a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f }</a:t>
            </a:r>
            <a:endParaRPr lang="pt-BR" sz="1600" dirty="0"/>
          </a:p>
        </p:txBody>
      </p:sp>
      <p:cxnSp>
        <p:nvCxnSpPr>
          <p:cNvPr id="50" name="Conector de seta reta 49"/>
          <p:cNvCxnSpPr>
            <a:stCxn id="52" idx="7"/>
          </p:cNvCxnSpPr>
          <p:nvPr/>
        </p:nvCxnSpPr>
        <p:spPr>
          <a:xfrm flipV="1">
            <a:off x="6862311" y="2950048"/>
            <a:ext cx="315964" cy="33170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Elipse 51"/>
          <p:cNvSpPr/>
          <p:nvPr/>
        </p:nvSpPr>
        <p:spPr>
          <a:xfrm>
            <a:off x="6665911" y="324880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3248258" y="2769501"/>
            <a:ext cx="19704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BP(d)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53" name="Conector angulado 139"/>
          <p:cNvCxnSpPr/>
          <p:nvPr/>
        </p:nvCxnSpPr>
        <p:spPr>
          <a:xfrm rot="5400000" flipH="1" flipV="1">
            <a:off x="6475705" y="2579932"/>
            <a:ext cx="974129" cy="363618"/>
          </a:xfrm>
          <a:prstGeom prst="curvedConnector2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angulado 147"/>
          <p:cNvCxnSpPr/>
          <p:nvPr/>
        </p:nvCxnSpPr>
        <p:spPr>
          <a:xfrm>
            <a:off x="7374674" y="1678581"/>
            <a:ext cx="1" cy="1191930"/>
          </a:xfrm>
          <a:prstGeom prst="curvedConnector3">
            <a:avLst>
              <a:gd name="adj1" fmla="val 22860100000"/>
            </a:avLst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de seta reta 55"/>
          <p:cNvCxnSpPr>
            <a:stCxn id="57" idx="1"/>
          </p:cNvCxnSpPr>
          <p:nvPr/>
        </p:nvCxnSpPr>
        <p:spPr>
          <a:xfrm flipH="1" flipV="1">
            <a:off x="7340978" y="2950048"/>
            <a:ext cx="315964" cy="331703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Elipse 56"/>
          <p:cNvSpPr/>
          <p:nvPr/>
        </p:nvSpPr>
        <p:spPr>
          <a:xfrm>
            <a:off x="7623245" y="32488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60" name="CaixaDeTexto 59"/>
          <p:cNvSpPr txBox="1"/>
          <p:nvPr/>
        </p:nvSpPr>
        <p:spPr>
          <a:xfrm>
            <a:off x="3248258" y="3071371"/>
            <a:ext cx="22220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BP(a)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(a) 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c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62" name="Conector de seta reta 61"/>
          <p:cNvCxnSpPr>
            <a:stCxn id="63" idx="0"/>
            <a:endCxn id="57" idx="5"/>
          </p:cNvCxnSpPr>
          <p:nvPr/>
        </p:nvCxnSpPr>
        <p:spPr>
          <a:xfrm flipH="1" flipV="1">
            <a:off x="7819645" y="3440826"/>
            <a:ext cx="218459" cy="468065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Elipse 62"/>
          <p:cNvSpPr/>
          <p:nvPr/>
        </p:nvSpPr>
        <p:spPr>
          <a:xfrm>
            <a:off x="7923055" y="390889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1" name="CaixaDeTexto 60"/>
          <p:cNvSpPr txBox="1"/>
          <p:nvPr/>
        </p:nvSpPr>
        <p:spPr>
          <a:xfrm>
            <a:off x="3248258" y="3373241"/>
            <a:ext cx="20056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BP(c)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(c)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a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64" name="Conector angulado 161"/>
          <p:cNvCxnSpPr/>
          <p:nvPr/>
        </p:nvCxnSpPr>
        <p:spPr>
          <a:xfrm>
            <a:off x="7374674" y="1678581"/>
            <a:ext cx="778478" cy="2342793"/>
          </a:xfrm>
          <a:prstGeom prst="curvedConnector3">
            <a:avLst>
              <a:gd name="adj1" fmla="val 129365"/>
            </a:avLst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angulado 158"/>
          <p:cNvCxnSpPr/>
          <p:nvPr/>
        </p:nvCxnSpPr>
        <p:spPr>
          <a:xfrm flipH="1" flipV="1">
            <a:off x="7374674" y="1678581"/>
            <a:ext cx="478668" cy="1682708"/>
          </a:xfrm>
          <a:prstGeom prst="curvedConnector3">
            <a:avLst>
              <a:gd name="adj1" fmla="val -47758"/>
            </a:avLst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/>
          <p:cNvSpPr txBox="1"/>
          <p:nvPr/>
        </p:nvSpPr>
        <p:spPr>
          <a:xfrm>
            <a:off x="6510772" y="4166243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65" name="Conector reto 64"/>
          <p:cNvCxnSpPr/>
          <p:nvPr/>
        </p:nvCxnSpPr>
        <p:spPr>
          <a:xfrm>
            <a:off x="6447710" y="1393377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Elipse 67"/>
          <p:cNvSpPr/>
          <p:nvPr/>
        </p:nvSpPr>
        <p:spPr>
          <a:xfrm>
            <a:off x="7144577" y="156609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9" name="Elipse 68"/>
          <p:cNvSpPr/>
          <p:nvPr/>
        </p:nvSpPr>
        <p:spPr>
          <a:xfrm>
            <a:off x="7144578" y="216219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70" name="Elipse 69"/>
          <p:cNvSpPr/>
          <p:nvPr/>
        </p:nvSpPr>
        <p:spPr>
          <a:xfrm>
            <a:off x="7144578" y="275802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1" name="Elipse 70"/>
          <p:cNvSpPr/>
          <p:nvPr/>
        </p:nvSpPr>
        <p:spPr>
          <a:xfrm>
            <a:off x="6665911" y="32488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72" name="Elipse 71"/>
          <p:cNvSpPr/>
          <p:nvPr/>
        </p:nvSpPr>
        <p:spPr>
          <a:xfrm>
            <a:off x="7623245" y="3248807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3" name="Elipse 72"/>
          <p:cNvSpPr/>
          <p:nvPr/>
        </p:nvSpPr>
        <p:spPr>
          <a:xfrm>
            <a:off x="7923055" y="3908892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74" name="Conector de seta reta 73"/>
          <p:cNvCxnSpPr/>
          <p:nvPr/>
        </p:nvCxnSpPr>
        <p:spPr>
          <a:xfrm flipH="1">
            <a:off x="4334212" y="4327960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044049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Exemplo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487030" y="3951361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3" name="Conector de seta reta 32"/>
          <p:cNvCxnSpPr/>
          <p:nvPr/>
        </p:nvCxnSpPr>
        <p:spPr>
          <a:xfrm flipH="1">
            <a:off x="447829" y="4327960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>
            <a:spLocks noChangeAspect="1"/>
          </p:cNvSpPr>
          <p:nvPr/>
        </p:nvSpPr>
        <p:spPr>
          <a:xfrm>
            <a:off x="2614391" y="3951360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7" name="Conector de seta reta 36"/>
          <p:cNvCxnSpPr/>
          <p:nvPr/>
        </p:nvCxnSpPr>
        <p:spPr>
          <a:xfrm flipH="1">
            <a:off x="2565126" y="4327960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>
            <a:spLocks noChangeAspect="1"/>
          </p:cNvSpPr>
          <p:nvPr/>
        </p:nvSpPr>
        <p:spPr>
          <a:xfrm>
            <a:off x="4373413" y="3951360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725501" y="3890165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725501" y="4174072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2848900" y="3890165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4616688" y="3890165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616688" y="4174072"/>
            <a:ext cx="1471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retorno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2848900" y="4174072"/>
            <a:ext cx="139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árvore</a:t>
            </a:r>
          </a:p>
        </p:txBody>
      </p: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de seta reta 103"/>
          <p:cNvCxnSpPr>
            <a:stCxn id="7" idx="6"/>
            <a:endCxn id="9" idx="1"/>
          </p:cNvCxnSpPr>
          <p:nvPr/>
        </p:nvCxnSpPr>
        <p:spPr>
          <a:xfrm>
            <a:off x="2309608" y="1561104"/>
            <a:ext cx="393124" cy="28825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106"/>
          <p:cNvCxnSpPr>
            <a:stCxn id="8" idx="6"/>
            <a:endCxn id="9" idx="3"/>
          </p:cNvCxnSpPr>
          <p:nvPr/>
        </p:nvCxnSpPr>
        <p:spPr>
          <a:xfrm flipV="1">
            <a:off x="2315659" y="2008430"/>
            <a:ext cx="387073" cy="29484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ela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7049002"/>
              </p:ext>
            </p:extLst>
          </p:nvPr>
        </p:nvGraphicFramePr>
        <p:xfrm>
          <a:off x="3353072" y="1312958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f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e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9" name="Elipse 168"/>
          <p:cNvSpPr/>
          <p:nvPr/>
        </p:nvSpPr>
        <p:spPr>
          <a:xfrm>
            <a:off x="7144577" y="156609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957676" y="2774208"/>
            <a:ext cx="23439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BP(e)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</a:t>
            </a:r>
            <a:r>
              <a:rPr lang="pt-BR" sz="1600" b="1" dirty="0">
                <a:solidFill>
                  <a:srgbClr val="00B0F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b, a, c }</a:t>
            </a:r>
            <a:endParaRPr lang="pt-BR" sz="1600" dirty="0"/>
          </a:p>
        </p:txBody>
      </p: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9" name="Elipse 8"/>
          <p:cNvSpPr/>
          <p:nvPr/>
        </p:nvSpPr>
        <p:spPr>
          <a:xfrm>
            <a:off x="2669035" y="1816410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c</a:t>
            </a:r>
          </a:p>
        </p:txBody>
      </p:sp>
      <p:cxnSp>
        <p:nvCxnSpPr>
          <p:cNvPr id="43" name="Conector de seta reta 42"/>
          <p:cNvCxnSpPr>
            <a:stCxn id="46" idx="0"/>
          </p:cNvCxnSpPr>
          <p:nvPr/>
        </p:nvCxnSpPr>
        <p:spPr>
          <a:xfrm flipH="1" flipV="1">
            <a:off x="7259626" y="1791063"/>
            <a:ext cx="1" cy="37113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lipse 45"/>
          <p:cNvSpPr/>
          <p:nvPr/>
        </p:nvSpPr>
        <p:spPr>
          <a:xfrm>
            <a:off x="7144578" y="2162193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48" name="CaixaDeTexto 47"/>
          <p:cNvSpPr txBox="1"/>
          <p:nvPr/>
        </p:nvSpPr>
        <p:spPr>
          <a:xfrm>
            <a:off x="957676" y="3077091"/>
            <a:ext cx="22281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BP(f) 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(f)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d, e }</a:t>
            </a:r>
            <a:endParaRPr lang="pt-BR" sz="1600" dirty="0"/>
          </a:p>
        </p:txBody>
      </p:sp>
      <p:cxnSp>
        <p:nvCxnSpPr>
          <p:cNvPr id="47" name="Conector de seta reta 46"/>
          <p:cNvCxnSpPr>
            <a:stCxn id="49" idx="0"/>
          </p:cNvCxnSpPr>
          <p:nvPr/>
        </p:nvCxnSpPr>
        <p:spPr>
          <a:xfrm flipV="1">
            <a:off x="7259627" y="2387158"/>
            <a:ext cx="0" cy="37087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/>
          <p:cNvSpPr/>
          <p:nvPr/>
        </p:nvSpPr>
        <p:spPr>
          <a:xfrm>
            <a:off x="7144578" y="275802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51" name="CaixaDeTexto 50"/>
          <p:cNvSpPr txBox="1"/>
          <p:nvPr/>
        </p:nvSpPr>
        <p:spPr>
          <a:xfrm>
            <a:off x="957676" y="3379974"/>
            <a:ext cx="24192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BP(b)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= { </a:t>
            </a:r>
            <a:r>
              <a:rPr lang="pt-BR" sz="1600" b="1" dirty="0">
                <a:solidFill>
                  <a:srgbClr val="00B0F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a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f }</a:t>
            </a:r>
            <a:endParaRPr lang="pt-BR" sz="1600" dirty="0"/>
          </a:p>
        </p:txBody>
      </p:sp>
      <p:cxnSp>
        <p:nvCxnSpPr>
          <p:cNvPr id="50" name="Conector de seta reta 49"/>
          <p:cNvCxnSpPr>
            <a:stCxn id="52" idx="7"/>
          </p:cNvCxnSpPr>
          <p:nvPr/>
        </p:nvCxnSpPr>
        <p:spPr>
          <a:xfrm flipV="1">
            <a:off x="6862311" y="2950048"/>
            <a:ext cx="315964" cy="33170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Elipse 51"/>
          <p:cNvSpPr/>
          <p:nvPr/>
        </p:nvSpPr>
        <p:spPr>
          <a:xfrm>
            <a:off x="6665911" y="324880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3248258" y="2769501"/>
            <a:ext cx="19704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BP(d)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53" name="Conector angulado 139"/>
          <p:cNvCxnSpPr/>
          <p:nvPr/>
        </p:nvCxnSpPr>
        <p:spPr>
          <a:xfrm rot="5400000" flipH="1" flipV="1">
            <a:off x="6475705" y="2579932"/>
            <a:ext cx="974129" cy="363618"/>
          </a:xfrm>
          <a:prstGeom prst="curvedConnector2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angulado 147"/>
          <p:cNvCxnSpPr/>
          <p:nvPr/>
        </p:nvCxnSpPr>
        <p:spPr>
          <a:xfrm>
            <a:off x="7374674" y="1678581"/>
            <a:ext cx="1" cy="1191930"/>
          </a:xfrm>
          <a:prstGeom prst="curvedConnector3">
            <a:avLst>
              <a:gd name="adj1" fmla="val 22860100000"/>
            </a:avLst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de seta reta 55"/>
          <p:cNvCxnSpPr>
            <a:stCxn id="57" idx="1"/>
          </p:cNvCxnSpPr>
          <p:nvPr/>
        </p:nvCxnSpPr>
        <p:spPr>
          <a:xfrm flipH="1" flipV="1">
            <a:off x="7340978" y="2950048"/>
            <a:ext cx="315964" cy="331703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Elipse 56"/>
          <p:cNvSpPr/>
          <p:nvPr/>
        </p:nvSpPr>
        <p:spPr>
          <a:xfrm>
            <a:off x="7623245" y="32488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60" name="CaixaDeTexto 59"/>
          <p:cNvSpPr txBox="1"/>
          <p:nvPr/>
        </p:nvSpPr>
        <p:spPr>
          <a:xfrm>
            <a:off x="3248258" y="3071371"/>
            <a:ext cx="22220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BP(a)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(a) 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c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62" name="Conector de seta reta 61"/>
          <p:cNvCxnSpPr>
            <a:stCxn id="63" idx="0"/>
            <a:endCxn id="57" idx="5"/>
          </p:cNvCxnSpPr>
          <p:nvPr/>
        </p:nvCxnSpPr>
        <p:spPr>
          <a:xfrm flipH="1" flipV="1">
            <a:off x="7819645" y="3440826"/>
            <a:ext cx="218459" cy="468065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Elipse 62"/>
          <p:cNvSpPr/>
          <p:nvPr/>
        </p:nvSpPr>
        <p:spPr>
          <a:xfrm>
            <a:off x="7923055" y="390889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1" name="CaixaDeTexto 60"/>
          <p:cNvSpPr txBox="1"/>
          <p:nvPr/>
        </p:nvSpPr>
        <p:spPr>
          <a:xfrm>
            <a:off x="3248258" y="3373241"/>
            <a:ext cx="20056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BP(c)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(c)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a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64" name="Conector angulado 161"/>
          <p:cNvCxnSpPr/>
          <p:nvPr/>
        </p:nvCxnSpPr>
        <p:spPr>
          <a:xfrm>
            <a:off x="7374674" y="1678581"/>
            <a:ext cx="778478" cy="2342793"/>
          </a:xfrm>
          <a:prstGeom prst="curvedConnector3">
            <a:avLst>
              <a:gd name="adj1" fmla="val 129365"/>
            </a:avLst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angulado 158"/>
          <p:cNvCxnSpPr/>
          <p:nvPr/>
        </p:nvCxnSpPr>
        <p:spPr>
          <a:xfrm flipH="1" flipV="1">
            <a:off x="7374674" y="1678581"/>
            <a:ext cx="478668" cy="1682708"/>
          </a:xfrm>
          <a:prstGeom prst="curvedConnector3">
            <a:avLst>
              <a:gd name="adj1" fmla="val -47758"/>
            </a:avLst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/>
          <p:cNvSpPr txBox="1"/>
          <p:nvPr/>
        </p:nvSpPr>
        <p:spPr>
          <a:xfrm>
            <a:off x="6397823" y="3683725"/>
            <a:ext cx="129907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dirty="0"/>
              <a:t>Retrocede para continuar a busca</a:t>
            </a:r>
          </a:p>
        </p:txBody>
      </p:sp>
      <p:cxnSp>
        <p:nvCxnSpPr>
          <p:cNvPr id="65" name="Conector de seta reta 64"/>
          <p:cNvCxnSpPr/>
          <p:nvPr/>
        </p:nvCxnSpPr>
        <p:spPr>
          <a:xfrm flipV="1">
            <a:off x="7144577" y="3071373"/>
            <a:ext cx="115049" cy="64715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CaixaDeTexto 67"/>
          <p:cNvSpPr txBox="1"/>
          <p:nvPr/>
        </p:nvSpPr>
        <p:spPr>
          <a:xfrm>
            <a:off x="6510772" y="4166243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69" name="Conector reto 68"/>
          <p:cNvCxnSpPr/>
          <p:nvPr/>
        </p:nvCxnSpPr>
        <p:spPr>
          <a:xfrm>
            <a:off x="6447710" y="1393377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Elipse 69"/>
          <p:cNvSpPr/>
          <p:nvPr/>
        </p:nvSpPr>
        <p:spPr>
          <a:xfrm>
            <a:off x="7144577" y="156609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71" name="Elipse 70"/>
          <p:cNvSpPr/>
          <p:nvPr/>
        </p:nvSpPr>
        <p:spPr>
          <a:xfrm>
            <a:off x="7144578" y="216219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72" name="Elipse 71"/>
          <p:cNvSpPr/>
          <p:nvPr/>
        </p:nvSpPr>
        <p:spPr>
          <a:xfrm>
            <a:off x="7144578" y="275802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3" name="Elipse 72"/>
          <p:cNvSpPr/>
          <p:nvPr/>
        </p:nvSpPr>
        <p:spPr>
          <a:xfrm>
            <a:off x="6665911" y="32488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74" name="Elipse 73"/>
          <p:cNvSpPr/>
          <p:nvPr/>
        </p:nvSpPr>
        <p:spPr>
          <a:xfrm>
            <a:off x="7623245" y="3248807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6" name="Elipse 75"/>
          <p:cNvSpPr/>
          <p:nvPr/>
        </p:nvSpPr>
        <p:spPr>
          <a:xfrm>
            <a:off x="7923055" y="3908892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77" name="Conector de seta reta 76"/>
          <p:cNvCxnSpPr/>
          <p:nvPr/>
        </p:nvCxnSpPr>
        <p:spPr>
          <a:xfrm flipH="1">
            <a:off x="4334212" y="4327960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426365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Exemplo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487030" y="3951361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3" name="Conector de seta reta 32"/>
          <p:cNvCxnSpPr/>
          <p:nvPr/>
        </p:nvCxnSpPr>
        <p:spPr>
          <a:xfrm flipH="1">
            <a:off x="447829" y="4327960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>
            <a:spLocks noChangeAspect="1"/>
          </p:cNvSpPr>
          <p:nvPr/>
        </p:nvSpPr>
        <p:spPr>
          <a:xfrm>
            <a:off x="2614391" y="3951360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7" name="Conector de seta reta 36"/>
          <p:cNvCxnSpPr/>
          <p:nvPr/>
        </p:nvCxnSpPr>
        <p:spPr>
          <a:xfrm flipH="1">
            <a:off x="2565126" y="4327960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>
            <a:spLocks noChangeAspect="1"/>
          </p:cNvSpPr>
          <p:nvPr/>
        </p:nvSpPr>
        <p:spPr>
          <a:xfrm>
            <a:off x="4373413" y="3951360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725501" y="3890165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725501" y="4174072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2848900" y="3890165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4616688" y="3890165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616688" y="4174072"/>
            <a:ext cx="1471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retorno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2848900" y="4174072"/>
            <a:ext cx="139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árvore</a:t>
            </a:r>
          </a:p>
        </p:txBody>
      </p: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de seta reta 103"/>
          <p:cNvCxnSpPr>
            <a:stCxn id="7" idx="6"/>
            <a:endCxn id="9" idx="1"/>
          </p:cNvCxnSpPr>
          <p:nvPr/>
        </p:nvCxnSpPr>
        <p:spPr>
          <a:xfrm>
            <a:off x="2309608" y="1561104"/>
            <a:ext cx="393124" cy="28825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106"/>
          <p:cNvCxnSpPr>
            <a:stCxn id="8" idx="6"/>
            <a:endCxn id="9" idx="3"/>
          </p:cNvCxnSpPr>
          <p:nvPr/>
        </p:nvCxnSpPr>
        <p:spPr>
          <a:xfrm flipV="1">
            <a:off x="2315659" y="2008430"/>
            <a:ext cx="387073" cy="29484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ela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7049002"/>
              </p:ext>
            </p:extLst>
          </p:nvPr>
        </p:nvGraphicFramePr>
        <p:xfrm>
          <a:off x="3353072" y="1312958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f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e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9" name="Elipse 168"/>
          <p:cNvSpPr/>
          <p:nvPr/>
        </p:nvSpPr>
        <p:spPr>
          <a:xfrm>
            <a:off x="7144577" y="156609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957676" y="2774208"/>
            <a:ext cx="23439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BP(e)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</a:t>
            </a:r>
            <a:r>
              <a:rPr lang="pt-BR" sz="1600" b="1" dirty="0">
                <a:solidFill>
                  <a:srgbClr val="00B0F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b, a, c }</a:t>
            </a:r>
            <a:endParaRPr lang="pt-BR" sz="1600" dirty="0"/>
          </a:p>
        </p:txBody>
      </p: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9" name="Elipse 8"/>
          <p:cNvSpPr/>
          <p:nvPr/>
        </p:nvSpPr>
        <p:spPr>
          <a:xfrm>
            <a:off x="2669035" y="1816410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c</a:t>
            </a:r>
          </a:p>
        </p:txBody>
      </p:sp>
      <p:cxnSp>
        <p:nvCxnSpPr>
          <p:cNvPr id="43" name="Conector de seta reta 42"/>
          <p:cNvCxnSpPr>
            <a:stCxn id="46" idx="0"/>
          </p:cNvCxnSpPr>
          <p:nvPr/>
        </p:nvCxnSpPr>
        <p:spPr>
          <a:xfrm flipH="1" flipV="1">
            <a:off x="7259626" y="1791063"/>
            <a:ext cx="1" cy="37113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lipse 45"/>
          <p:cNvSpPr/>
          <p:nvPr/>
        </p:nvSpPr>
        <p:spPr>
          <a:xfrm>
            <a:off x="7144578" y="2162193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48" name="CaixaDeTexto 47"/>
          <p:cNvSpPr txBox="1"/>
          <p:nvPr/>
        </p:nvSpPr>
        <p:spPr>
          <a:xfrm>
            <a:off x="957676" y="3077091"/>
            <a:ext cx="22281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BP(f) 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(f)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d, e }</a:t>
            </a:r>
            <a:endParaRPr lang="pt-BR" sz="1600" dirty="0"/>
          </a:p>
        </p:txBody>
      </p:sp>
      <p:cxnSp>
        <p:nvCxnSpPr>
          <p:cNvPr id="47" name="Conector de seta reta 46"/>
          <p:cNvCxnSpPr>
            <a:stCxn id="49" idx="0"/>
          </p:cNvCxnSpPr>
          <p:nvPr/>
        </p:nvCxnSpPr>
        <p:spPr>
          <a:xfrm flipV="1">
            <a:off x="7259627" y="2387158"/>
            <a:ext cx="0" cy="37087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/>
          <p:cNvSpPr/>
          <p:nvPr/>
        </p:nvSpPr>
        <p:spPr>
          <a:xfrm>
            <a:off x="7144578" y="275802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51" name="CaixaDeTexto 50"/>
          <p:cNvSpPr txBox="1"/>
          <p:nvPr/>
        </p:nvSpPr>
        <p:spPr>
          <a:xfrm>
            <a:off x="957676" y="3379974"/>
            <a:ext cx="24192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BP(b)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= { </a:t>
            </a:r>
            <a:r>
              <a:rPr lang="pt-BR" sz="1600" b="1" dirty="0">
                <a:solidFill>
                  <a:srgbClr val="00B0F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a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50" name="Conector de seta reta 49"/>
          <p:cNvCxnSpPr>
            <a:stCxn id="52" idx="7"/>
          </p:cNvCxnSpPr>
          <p:nvPr/>
        </p:nvCxnSpPr>
        <p:spPr>
          <a:xfrm flipV="1">
            <a:off x="6862311" y="2950048"/>
            <a:ext cx="315964" cy="33170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Elipse 51"/>
          <p:cNvSpPr/>
          <p:nvPr/>
        </p:nvSpPr>
        <p:spPr>
          <a:xfrm>
            <a:off x="6665911" y="324880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3248258" y="2769501"/>
            <a:ext cx="19704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BP(d)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53" name="Conector angulado 139"/>
          <p:cNvCxnSpPr/>
          <p:nvPr/>
        </p:nvCxnSpPr>
        <p:spPr>
          <a:xfrm rot="5400000" flipH="1" flipV="1">
            <a:off x="6475705" y="2579932"/>
            <a:ext cx="974129" cy="363618"/>
          </a:xfrm>
          <a:prstGeom prst="curvedConnector2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angulado 147"/>
          <p:cNvCxnSpPr/>
          <p:nvPr/>
        </p:nvCxnSpPr>
        <p:spPr>
          <a:xfrm>
            <a:off x="7374674" y="1678581"/>
            <a:ext cx="1" cy="1191930"/>
          </a:xfrm>
          <a:prstGeom prst="curvedConnector3">
            <a:avLst>
              <a:gd name="adj1" fmla="val 22860100000"/>
            </a:avLst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de seta reta 55"/>
          <p:cNvCxnSpPr>
            <a:stCxn id="57" idx="1"/>
          </p:cNvCxnSpPr>
          <p:nvPr/>
        </p:nvCxnSpPr>
        <p:spPr>
          <a:xfrm flipH="1" flipV="1">
            <a:off x="7340978" y="2950048"/>
            <a:ext cx="315964" cy="331703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Elipse 56"/>
          <p:cNvSpPr/>
          <p:nvPr/>
        </p:nvSpPr>
        <p:spPr>
          <a:xfrm>
            <a:off x="7623245" y="32488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60" name="CaixaDeTexto 59"/>
          <p:cNvSpPr txBox="1"/>
          <p:nvPr/>
        </p:nvSpPr>
        <p:spPr>
          <a:xfrm>
            <a:off x="3248258" y="3071371"/>
            <a:ext cx="22220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BP(a)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(a) 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c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62" name="Conector de seta reta 61"/>
          <p:cNvCxnSpPr>
            <a:stCxn id="63" idx="0"/>
            <a:endCxn id="57" idx="5"/>
          </p:cNvCxnSpPr>
          <p:nvPr/>
        </p:nvCxnSpPr>
        <p:spPr>
          <a:xfrm flipH="1" flipV="1">
            <a:off x="7819645" y="3440826"/>
            <a:ext cx="218459" cy="468065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Elipse 62"/>
          <p:cNvSpPr/>
          <p:nvPr/>
        </p:nvSpPr>
        <p:spPr>
          <a:xfrm>
            <a:off x="7923055" y="390889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1" name="CaixaDeTexto 60"/>
          <p:cNvSpPr txBox="1"/>
          <p:nvPr/>
        </p:nvSpPr>
        <p:spPr>
          <a:xfrm>
            <a:off x="3248258" y="3373241"/>
            <a:ext cx="20056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BP(c)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(c)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a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64" name="Conector angulado 161"/>
          <p:cNvCxnSpPr/>
          <p:nvPr/>
        </p:nvCxnSpPr>
        <p:spPr>
          <a:xfrm>
            <a:off x="7374674" y="1678581"/>
            <a:ext cx="778478" cy="2342793"/>
          </a:xfrm>
          <a:prstGeom prst="curvedConnector3">
            <a:avLst>
              <a:gd name="adj1" fmla="val 129365"/>
            </a:avLst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angulado 158"/>
          <p:cNvCxnSpPr/>
          <p:nvPr/>
        </p:nvCxnSpPr>
        <p:spPr>
          <a:xfrm flipH="1" flipV="1">
            <a:off x="7374674" y="1678581"/>
            <a:ext cx="478668" cy="1682708"/>
          </a:xfrm>
          <a:prstGeom prst="curvedConnector3">
            <a:avLst>
              <a:gd name="adj1" fmla="val -47758"/>
            </a:avLst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/>
          <p:cNvSpPr txBox="1"/>
          <p:nvPr/>
        </p:nvSpPr>
        <p:spPr>
          <a:xfrm>
            <a:off x="6397823" y="3683725"/>
            <a:ext cx="129907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dirty="0"/>
              <a:t>Retrocede para continuar a busca</a:t>
            </a:r>
          </a:p>
        </p:txBody>
      </p:sp>
      <p:cxnSp>
        <p:nvCxnSpPr>
          <p:cNvPr id="65" name="Conector de seta reta 64"/>
          <p:cNvCxnSpPr/>
          <p:nvPr/>
        </p:nvCxnSpPr>
        <p:spPr>
          <a:xfrm flipV="1">
            <a:off x="7144577" y="3071373"/>
            <a:ext cx="115049" cy="64715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CaixaDeTexto 67"/>
          <p:cNvSpPr txBox="1"/>
          <p:nvPr/>
        </p:nvSpPr>
        <p:spPr>
          <a:xfrm>
            <a:off x="6510772" y="4166243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69" name="Conector reto 68"/>
          <p:cNvCxnSpPr/>
          <p:nvPr/>
        </p:nvCxnSpPr>
        <p:spPr>
          <a:xfrm>
            <a:off x="6447710" y="1393377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Elipse 69"/>
          <p:cNvSpPr/>
          <p:nvPr/>
        </p:nvSpPr>
        <p:spPr>
          <a:xfrm>
            <a:off x="7144577" y="156609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71" name="Elipse 70"/>
          <p:cNvSpPr/>
          <p:nvPr/>
        </p:nvSpPr>
        <p:spPr>
          <a:xfrm>
            <a:off x="7144578" y="216219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72" name="Elipse 71"/>
          <p:cNvSpPr/>
          <p:nvPr/>
        </p:nvSpPr>
        <p:spPr>
          <a:xfrm>
            <a:off x="7144578" y="275802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3" name="Elipse 72"/>
          <p:cNvSpPr/>
          <p:nvPr/>
        </p:nvSpPr>
        <p:spPr>
          <a:xfrm>
            <a:off x="6665911" y="32488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74" name="Elipse 73"/>
          <p:cNvSpPr/>
          <p:nvPr/>
        </p:nvSpPr>
        <p:spPr>
          <a:xfrm>
            <a:off x="7623245" y="3248807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6" name="Elipse 75"/>
          <p:cNvSpPr/>
          <p:nvPr/>
        </p:nvSpPr>
        <p:spPr>
          <a:xfrm>
            <a:off x="7923055" y="3908892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77" name="Conector de seta reta 76"/>
          <p:cNvCxnSpPr/>
          <p:nvPr/>
        </p:nvCxnSpPr>
        <p:spPr>
          <a:xfrm flipH="1">
            <a:off x="4334212" y="4327960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066611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Exemplo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487030" y="3951361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3" name="Conector de seta reta 32"/>
          <p:cNvCxnSpPr/>
          <p:nvPr/>
        </p:nvCxnSpPr>
        <p:spPr>
          <a:xfrm flipH="1">
            <a:off x="447829" y="4327960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>
            <a:spLocks noChangeAspect="1"/>
          </p:cNvSpPr>
          <p:nvPr/>
        </p:nvSpPr>
        <p:spPr>
          <a:xfrm>
            <a:off x="2614391" y="3951360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7" name="Conector de seta reta 36"/>
          <p:cNvCxnSpPr/>
          <p:nvPr/>
        </p:nvCxnSpPr>
        <p:spPr>
          <a:xfrm flipH="1">
            <a:off x="2565126" y="4327960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>
            <a:spLocks noChangeAspect="1"/>
          </p:cNvSpPr>
          <p:nvPr/>
        </p:nvSpPr>
        <p:spPr>
          <a:xfrm>
            <a:off x="4373413" y="3951360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725501" y="3890165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725501" y="4174072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2848900" y="3890165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4616688" y="3890165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616688" y="4174072"/>
            <a:ext cx="1471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retorno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2848900" y="4174072"/>
            <a:ext cx="139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árvore</a:t>
            </a:r>
          </a:p>
        </p:txBody>
      </p: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de seta reta 103"/>
          <p:cNvCxnSpPr>
            <a:stCxn id="7" idx="6"/>
            <a:endCxn id="9" idx="1"/>
          </p:cNvCxnSpPr>
          <p:nvPr/>
        </p:nvCxnSpPr>
        <p:spPr>
          <a:xfrm>
            <a:off x="2309608" y="1561104"/>
            <a:ext cx="393124" cy="28825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106"/>
          <p:cNvCxnSpPr>
            <a:stCxn id="8" idx="6"/>
            <a:endCxn id="9" idx="3"/>
          </p:cNvCxnSpPr>
          <p:nvPr/>
        </p:nvCxnSpPr>
        <p:spPr>
          <a:xfrm flipV="1">
            <a:off x="2315659" y="2008430"/>
            <a:ext cx="387073" cy="29484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ela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1808468"/>
              </p:ext>
            </p:extLst>
          </p:nvPr>
        </p:nvGraphicFramePr>
        <p:xfrm>
          <a:off x="3353072" y="1312958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f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e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9" name="Elipse 168"/>
          <p:cNvSpPr/>
          <p:nvPr/>
        </p:nvSpPr>
        <p:spPr>
          <a:xfrm>
            <a:off x="7144577" y="156609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957676" y="2774208"/>
            <a:ext cx="23439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BP(e)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</a:t>
            </a:r>
            <a:r>
              <a:rPr lang="pt-BR" sz="1600" b="1" dirty="0">
                <a:solidFill>
                  <a:srgbClr val="00B0F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b, a, c }</a:t>
            </a:r>
            <a:endParaRPr lang="pt-BR" sz="1600" dirty="0"/>
          </a:p>
        </p:txBody>
      </p: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9" name="Elipse 8"/>
          <p:cNvSpPr/>
          <p:nvPr/>
        </p:nvSpPr>
        <p:spPr>
          <a:xfrm>
            <a:off x="2669035" y="1816410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c</a:t>
            </a:r>
          </a:p>
        </p:txBody>
      </p:sp>
      <p:cxnSp>
        <p:nvCxnSpPr>
          <p:cNvPr id="43" name="Conector de seta reta 42"/>
          <p:cNvCxnSpPr>
            <a:stCxn id="46" idx="0"/>
          </p:cNvCxnSpPr>
          <p:nvPr/>
        </p:nvCxnSpPr>
        <p:spPr>
          <a:xfrm flipH="1" flipV="1">
            <a:off x="7259626" y="1791063"/>
            <a:ext cx="1" cy="37113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lipse 45"/>
          <p:cNvSpPr/>
          <p:nvPr/>
        </p:nvSpPr>
        <p:spPr>
          <a:xfrm>
            <a:off x="7144578" y="2162193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48" name="CaixaDeTexto 47"/>
          <p:cNvSpPr txBox="1"/>
          <p:nvPr/>
        </p:nvSpPr>
        <p:spPr>
          <a:xfrm>
            <a:off x="957676" y="3077091"/>
            <a:ext cx="22281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BP(f) 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(f)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d, e }</a:t>
            </a:r>
            <a:endParaRPr lang="pt-BR" sz="1600" dirty="0"/>
          </a:p>
        </p:txBody>
      </p:sp>
      <p:cxnSp>
        <p:nvCxnSpPr>
          <p:cNvPr id="47" name="Conector de seta reta 46"/>
          <p:cNvCxnSpPr>
            <a:stCxn id="49" idx="0"/>
          </p:cNvCxnSpPr>
          <p:nvPr/>
        </p:nvCxnSpPr>
        <p:spPr>
          <a:xfrm flipV="1">
            <a:off x="7259627" y="2387158"/>
            <a:ext cx="0" cy="37087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/>
          <p:cNvSpPr/>
          <p:nvPr/>
        </p:nvSpPr>
        <p:spPr>
          <a:xfrm>
            <a:off x="7144578" y="275802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51" name="CaixaDeTexto 50"/>
          <p:cNvSpPr txBox="1"/>
          <p:nvPr/>
        </p:nvSpPr>
        <p:spPr>
          <a:xfrm>
            <a:off x="957676" y="3379974"/>
            <a:ext cx="24224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BP(b)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= { </a:t>
            </a:r>
            <a:r>
              <a:rPr lang="pt-BR" sz="1600" b="1" dirty="0">
                <a:solidFill>
                  <a:srgbClr val="00B0F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a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50" name="Conector de seta reta 49"/>
          <p:cNvCxnSpPr>
            <a:stCxn id="52" idx="7"/>
          </p:cNvCxnSpPr>
          <p:nvPr/>
        </p:nvCxnSpPr>
        <p:spPr>
          <a:xfrm flipV="1">
            <a:off x="6862311" y="2950048"/>
            <a:ext cx="315964" cy="33170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Elipse 51"/>
          <p:cNvSpPr/>
          <p:nvPr/>
        </p:nvSpPr>
        <p:spPr>
          <a:xfrm>
            <a:off x="6665911" y="324880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3248258" y="2769501"/>
            <a:ext cx="19704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BP(d)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53" name="Conector angulado 139"/>
          <p:cNvCxnSpPr/>
          <p:nvPr/>
        </p:nvCxnSpPr>
        <p:spPr>
          <a:xfrm rot="5400000" flipH="1" flipV="1">
            <a:off x="6475705" y="2579932"/>
            <a:ext cx="974129" cy="363618"/>
          </a:xfrm>
          <a:prstGeom prst="curvedConnector2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angulado 147"/>
          <p:cNvCxnSpPr/>
          <p:nvPr/>
        </p:nvCxnSpPr>
        <p:spPr>
          <a:xfrm>
            <a:off x="7374674" y="1678581"/>
            <a:ext cx="1" cy="1191930"/>
          </a:xfrm>
          <a:prstGeom prst="curvedConnector3">
            <a:avLst>
              <a:gd name="adj1" fmla="val 22860100000"/>
            </a:avLst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de seta reta 55"/>
          <p:cNvCxnSpPr>
            <a:stCxn id="57" idx="1"/>
          </p:cNvCxnSpPr>
          <p:nvPr/>
        </p:nvCxnSpPr>
        <p:spPr>
          <a:xfrm flipH="1" flipV="1">
            <a:off x="7340978" y="2950048"/>
            <a:ext cx="315964" cy="331703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Elipse 56"/>
          <p:cNvSpPr/>
          <p:nvPr/>
        </p:nvSpPr>
        <p:spPr>
          <a:xfrm>
            <a:off x="7623245" y="32488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60" name="CaixaDeTexto 59"/>
          <p:cNvSpPr txBox="1"/>
          <p:nvPr/>
        </p:nvSpPr>
        <p:spPr>
          <a:xfrm>
            <a:off x="3248258" y="3071371"/>
            <a:ext cx="22220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BP(a)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(a) 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c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62" name="Conector de seta reta 61"/>
          <p:cNvCxnSpPr>
            <a:stCxn id="63" idx="0"/>
            <a:endCxn id="57" idx="5"/>
          </p:cNvCxnSpPr>
          <p:nvPr/>
        </p:nvCxnSpPr>
        <p:spPr>
          <a:xfrm flipH="1" flipV="1">
            <a:off x="7819645" y="3440826"/>
            <a:ext cx="218459" cy="468065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Elipse 62"/>
          <p:cNvSpPr/>
          <p:nvPr/>
        </p:nvSpPr>
        <p:spPr>
          <a:xfrm>
            <a:off x="7923055" y="390889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1" name="CaixaDeTexto 60"/>
          <p:cNvSpPr txBox="1"/>
          <p:nvPr/>
        </p:nvSpPr>
        <p:spPr>
          <a:xfrm>
            <a:off x="3248258" y="3373241"/>
            <a:ext cx="20056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BP(c)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(c)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a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64" name="Conector angulado 161"/>
          <p:cNvCxnSpPr/>
          <p:nvPr/>
        </p:nvCxnSpPr>
        <p:spPr>
          <a:xfrm>
            <a:off x="7374674" y="1678581"/>
            <a:ext cx="778478" cy="2342793"/>
          </a:xfrm>
          <a:prstGeom prst="curvedConnector3">
            <a:avLst>
              <a:gd name="adj1" fmla="val 129365"/>
            </a:avLst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angulado 158"/>
          <p:cNvCxnSpPr/>
          <p:nvPr/>
        </p:nvCxnSpPr>
        <p:spPr>
          <a:xfrm flipH="1" flipV="1">
            <a:off x="7374674" y="1678581"/>
            <a:ext cx="478668" cy="1682708"/>
          </a:xfrm>
          <a:prstGeom prst="curvedConnector3">
            <a:avLst>
              <a:gd name="adj1" fmla="val -47758"/>
            </a:avLst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/>
          <p:cNvSpPr txBox="1"/>
          <p:nvPr/>
        </p:nvSpPr>
        <p:spPr>
          <a:xfrm>
            <a:off x="6510772" y="4166243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65" name="Conector reto 64"/>
          <p:cNvCxnSpPr/>
          <p:nvPr/>
        </p:nvCxnSpPr>
        <p:spPr>
          <a:xfrm>
            <a:off x="6447710" y="1393377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Elipse 67"/>
          <p:cNvSpPr/>
          <p:nvPr/>
        </p:nvSpPr>
        <p:spPr>
          <a:xfrm>
            <a:off x="7144577" y="156609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9" name="Elipse 68"/>
          <p:cNvSpPr/>
          <p:nvPr/>
        </p:nvSpPr>
        <p:spPr>
          <a:xfrm>
            <a:off x="7144578" y="216219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70" name="Elipse 69"/>
          <p:cNvSpPr/>
          <p:nvPr/>
        </p:nvSpPr>
        <p:spPr>
          <a:xfrm>
            <a:off x="7144578" y="275802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1" name="Elipse 70"/>
          <p:cNvSpPr/>
          <p:nvPr/>
        </p:nvSpPr>
        <p:spPr>
          <a:xfrm>
            <a:off x="6665911" y="32488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72" name="Elipse 71"/>
          <p:cNvSpPr/>
          <p:nvPr/>
        </p:nvSpPr>
        <p:spPr>
          <a:xfrm>
            <a:off x="7623245" y="3248807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3" name="Elipse 72"/>
          <p:cNvSpPr/>
          <p:nvPr/>
        </p:nvSpPr>
        <p:spPr>
          <a:xfrm>
            <a:off x="7923055" y="3908892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74" name="Conector de seta reta 73"/>
          <p:cNvCxnSpPr/>
          <p:nvPr/>
        </p:nvCxnSpPr>
        <p:spPr>
          <a:xfrm flipH="1">
            <a:off x="4334212" y="4327960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046873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Exemplo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487030" y="3951361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3" name="Conector de seta reta 32"/>
          <p:cNvCxnSpPr/>
          <p:nvPr/>
        </p:nvCxnSpPr>
        <p:spPr>
          <a:xfrm flipH="1">
            <a:off x="447829" y="4327960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>
            <a:spLocks noChangeAspect="1"/>
          </p:cNvSpPr>
          <p:nvPr/>
        </p:nvSpPr>
        <p:spPr>
          <a:xfrm>
            <a:off x="2614391" y="3951360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7" name="Conector de seta reta 36"/>
          <p:cNvCxnSpPr/>
          <p:nvPr/>
        </p:nvCxnSpPr>
        <p:spPr>
          <a:xfrm flipH="1">
            <a:off x="2565126" y="4327960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>
            <a:spLocks noChangeAspect="1"/>
          </p:cNvSpPr>
          <p:nvPr/>
        </p:nvSpPr>
        <p:spPr>
          <a:xfrm>
            <a:off x="4373413" y="3951360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725501" y="3890165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725501" y="4174072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2848900" y="3890165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4616688" y="3890165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616688" y="4174072"/>
            <a:ext cx="1471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retorno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2848900" y="4174072"/>
            <a:ext cx="139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árvore</a:t>
            </a:r>
          </a:p>
        </p:txBody>
      </p: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de seta reta 103"/>
          <p:cNvCxnSpPr>
            <a:stCxn id="7" idx="6"/>
            <a:endCxn id="9" idx="1"/>
          </p:cNvCxnSpPr>
          <p:nvPr/>
        </p:nvCxnSpPr>
        <p:spPr>
          <a:xfrm>
            <a:off x="2309608" y="1561104"/>
            <a:ext cx="393124" cy="28825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106"/>
          <p:cNvCxnSpPr>
            <a:stCxn id="8" idx="6"/>
            <a:endCxn id="9" idx="3"/>
          </p:cNvCxnSpPr>
          <p:nvPr/>
        </p:nvCxnSpPr>
        <p:spPr>
          <a:xfrm flipV="1">
            <a:off x="2315659" y="2008430"/>
            <a:ext cx="387073" cy="29484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ela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1808468"/>
              </p:ext>
            </p:extLst>
          </p:nvPr>
        </p:nvGraphicFramePr>
        <p:xfrm>
          <a:off x="3353072" y="1312958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f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e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9" name="Elipse 168"/>
          <p:cNvSpPr/>
          <p:nvPr/>
        </p:nvSpPr>
        <p:spPr>
          <a:xfrm>
            <a:off x="7144577" y="156609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957676" y="2774208"/>
            <a:ext cx="23439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BP(e)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</a:t>
            </a:r>
            <a:r>
              <a:rPr lang="pt-BR" sz="1600" b="1" dirty="0">
                <a:solidFill>
                  <a:srgbClr val="00B0F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b, a, c }</a:t>
            </a:r>
            <a:endParaRPr lang="pt-BR" sz="1600" dirty="0"/>
          </a:p>
        </p:txBody>
      </p: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9" name="Elipse 8"/>
          <p:cNvSpPr/>
          <p:nvPr/>
        </p:nvSpPr>
        <p:spPr>
          <a:xfrm>
            <a:off x="2669035" y="1816410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c</a:t>
            </a:r>
          </a:p>
        </p:txBody>
      </p:sp>
      <p:cxnSp>
        <p:nvCxnSpPr>
          <p:cNvPr id="43" name="Conector de seta reta 42"/>
          <p:cNvCxnSpPr>
            <a:stCxn id="46" idx="0"/>
          </p:cNvCxnSpPr>
          <p:nvPr/>
        </p:nvCxnSpPr>
        <p:spPr>
          <a:xfrm flipH="1" flipV="1">
            <a:off x="7259626" y="1791063"/>
            <a:ext cx="1" cy="37113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lipse 45"/>
          <p:cNvSpPr/>
          <p:nvPr/>
        </p:nvSpPr>
        <p:spPr>
          <a:xfrm>
            <a:off x="7144578" y="2162193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48" name="CaixaDeTexto 47"/>
          <p:cNvSpPr txBox="1"/>
          <p:nvPr/>
        </p:nvSpPr>
        <p:spPr>
          <a:xfrm>
            <a:off x="957676" y="3077091"/>
            <a:ext cx="22281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BP(f) 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(f)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d, e }</a:t>
            </a:r>
            <a:endParaRPr lang="pt-BR" sz="1600" dirty="0"/>
          </a:p>
        </p:txBody>
      </p:sp>
      <p:cxnSp>
        <p:nvCxnSpPr>
          <p:cNvPr id="47" name="Conector de seta reta 46"/>
          <p:cNvCxnSpPr>
            <a:stCxn id="49" idx="0"/>
          </p:cNvCxnSpPr>
          <p:nvPr/>
        </p:nvCxnSpPr>
        <p:spPr>
          <a:xfrm flipV="1">
            <a:off x="7259627" y="2387158"/>
            <a:ext cx="0" cy="37087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/>
          <p:cNvSpPr/>
          <p:nvPr/>
        </p:nvSpPr>
        <p:spPr>
          <a:xfrm>
            <a:off x="7144578" y="275802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51" name="CaixaDeTexto 50"/>
          <p:cNvSpPr txBox="1"/>
          <p:nvPr/>
        </p:nvSpPr>
        <p:spPr>
          <a:xfrm>
            <a:off x="957676" y="3379974"/>
            <a:ext cx="24224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BP(b)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= { </a:t>
            </a:r>
            <a:r>
              <a:rPr lang="pt-BR" sz="1600" b="1" dirty="0">
                <a:solidFill>
                  <a:srgbClr val="00B0F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a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50" name="Conector de seta reta 49"/>
          <p:cNvCxnSpPr>
            <a:stCxn id="52" idx="7"/>
          </p:cNvCxnSpPr>
          <p:nvPr/>
        </p:nvCxnSpPr>
        <p:spPr>
          <a:xfrm flipV="1">
            <a:off x="6862311" y="2950048"/>
            <a:ext cx="315964" cy="33170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Elipse 51"/>
          <p:cNvSpPr/>
          <p:nvPr/>
        </p:nvSpPr>
        <p:spPr>
          <a:xfrm>
            <a:off x="6665911" y="324880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3248258" y="2769501"/>
            <a:ext cx="19704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BP(d)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53" name="Conector angulado 139"/>
          <p:cNvCxnSpPr/>
          <p:nvPr/>
        </p:nvCxnSpPr>
        <p:spPr>
          <a:xfrm rot="5400000" flipH="1" flipV="1">
            <a:off x="6475705" y="2579932"/>
            <a:ext cx="974129" cy="363618"/>
          </a:xfrm>
          <a:prstGeom prst="curvedConnector2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angulado 147"/>
          <p:cNvCxnSpPr/>
          <p:nvPr/>
        </p:nvCxnSpPr>
        <p:spPr>
          <a:xfrm>
            <a:off x="7374674" y="1678581"/>
            <a:ext cx="1" cy="1191930"/>
          </a:xfrm>
          <a:prstGeom prst="curvedConnector3">
            <a:avLst>
              <a:gd name="adj1" fmla="val 22860100000"/>
            </a:avLst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de seta reta 55"/>
          <p:cNvCxnSpPr>
            <a:stCxn id="57" idx="1"/>
          </p:cNvCxnSpPr>
          <p:nvPr/>
        </p:nvCxnSpPr>
        <p:spPr>
          <a:xfrm flipH="1" flipV="1">
            <a:off x="7340978" y="2950048"/>
            <a:ext cx="315964" cy="331703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Elipse 56"/>
          <p:cNvSpPr/>
          <p:nvPr/>
        </p:nvSpPr>
        <p:spPr>
          <a:xfrm>
            <a:off x="7623245" y="32488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60" name="CaixaDeTexto 59"/>
          <p:cNvSpPr txBox="1"/>
          <p:nvPr/>
        </p:nvSpPr>
        <p:spPr>
          <a:xfrm>
            <a:off x="3248258" y="3071371"/>
            <a:ext cx="22220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BP(a)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(a) 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c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62" name="Conector de seta reta 61"/>
          <p:cNvCxnSpPr>
            <a:stCxn id="63" idx="0"/>
            <a:endCxn id="57" idx="5"/>
          </p:cNvCxnSpPr>
          <p:nvPr/>
        </p:nvCxnSpPr>
        <p:spPr>
          <a:xfrm flipH="1" flipV="1">
            <a:off x="7819645" y="3440826"/>
            <a:ext cx="218459" cy="468065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Elipse 62"/>
          <p:cNvSpPr/>
          <p:nvPr/>
        </p:nvSpPr>
        <p:spPr>
          <a:xfrm>
            <a:off x="7923055" y="390889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1" name="CaixaDeTexto 60"/>
          <p:cNvSpPr txBox="1"/>
          <p:nvPr/>
        </p:nvSpPr>
        <p:spPr>
          <a:xfrm>
            <a:off x="3248258" y="3373241"/>
            <a:ext cx="20056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BP(c)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(c)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a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64" name="Conector angulado 161"/>
          <p:cNvCxnSpPr/>
          <p:nvPr/>
        </p:nvCxnSpPr>
        <p:spPr>
          <a:xfrm>
            <a:off x="7374674" y="1678581"/>
            <a:ext cx="778478" cy="2342793"/>
          </a:xfrm>
          <a:prstGeom prst="curvedConnector3">
            <a:avLst>
              <a:gd name="adj1" fmla="val 129365"/>
            </a:avLst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angulado 158"/>
          <p:cNvCxnSpPr/>
          <p:nvPr/>
        </p:nvCxnSpPr>
        <p:spPr>
          <a:xfrm flipH="1" flipV="1">
            <a:off x="7374674" y="1678581"/>
            <a:ext cx="478668" cy="1682708"/>
          </a:xfrm>
          <a:prstGeom prst="curvedConnector3">
            <a:avLst>
              <a:gd name="adj1" fmla="val -47758"/>
            </a:avLst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/>
          <p:cNvSpPr txBox="1"/>
          <p:nvPr/>
        </p:nvSpPr>
        <p:spPr>
          <a:xfrm>
            <a:off x="7593402" y="1127010"/>
            <a:ext cx="129907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dirty="0"/>
              <a:t>Retrocede para continuar a busca</a:t>
            </a:r>
          </a:p>
        </p:txBody>
      </p:sp>
      <p:cxnSp>
        <p:nvCxnSpPr>
          <p:cNvPr id="65" name="Conector de seta reta 64"/>
          <p:cNvCxnSpPr/>
          <p:nvPr/>
        </p:nvCxnSpPr>
        <p:spPr>
          <a:xfrm flipH="1">
            <a:off x="7404914" y="1561103"/>
            <a:ext cx="644827" cy="62969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CaixaDeTexto 67"/>
          <p:cNvSpPr txBox="1"/>
          <p:nvPr/>
        </p:nvSpPr>
        <p:spPr>
          <a:xfrm>
            <a:off x="6510772" y="4166243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69" name="Conector reto 68"/>
          <p:cNvCxnSpPr/>
          <p:nvPr/>
        </p:nvCxnSpPr>
        <p:spPr>
          <a:xfrm>
            <a:off x="6447710" y="1393377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Elipse 69"/>
          <p:cNvSpPr/>
          <p:nvPr/>
        </p:nvSpPr>
        <p:spPr>
          <a:xfrm>
            <a:off x="7144577" y="156609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71" name="Elipse 70"/>
          <p:cNvSpPr/>
          <p:nvPr/>
        </p:nvSpPr>
        <p:spPr>
          <a:xfrm>
            <a:off x="7144578" y="216219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72" name="Elipse 71"/>
          <p:cNvSpPr/>
          <p:nvPr/>
        </p:nvSpPr>
        <p:spPr>
          <a:xfrm>
            <a:off x="7144578" y="275802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3" name="Elipse 72"/>
          <p:cNvSpPr/>
          <p:nvPr/>
        </p:nvSpPr>
        <p:spPr>
          <a:xfrm>
            <a:off x="6665911" y="32488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74" name="Elipse 73"/>
          <p:cNvSpPr/>
          <p:nvPr/>
        </p:nvSpPr>
        <p:spPr>
          <a:xfrm>
            <a:off x="7623245" y="3248807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6" name="Elipse 75"/>
          <p:cNvSpPr/>
          <p:nvPr/>
        </p:nvSpPr>
        <p:spPr>
          <a:xfrm>
            <a:off x="7923055" y="3908892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77" name="Conector de seta reta 76"/>
          <p:cNvCxnSpPr/>
          <p:nvPr/>
        </p:nvCxnSpPr>
        <p:spPr>
          <a:xfrm flipH="1">
            <a:off x="4334212" y="4327960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838053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Exemplo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487030" y="3951361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3" name="Conector de seta reta 32"/>
          <p:cNvCxnSpPr/>
          <p:nvPr/>
        </p:nvCxnSpPr>
        <p:spPr>
          <a:xfrm flipH="1">
            <a:off x="447829" y="4327960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>
            <a:spLocks noChangeAspect="1"/>
          </p:cNvSpPr>
          <p:nvPr/>
        </p:nvSpPr>
        <p:spPr>
          <a:xfrm>
            <a:off x="2614391" y="3951360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7" name="Conector de seta reta 36"/>
          <p:cNvCxnSpPr/>
          <p:nvPr/>
        </p:nvCxnSpPr>
        <p:spPr>
          <a:xfrm flipH="1">
            <a:off x="2565126" y="4327960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>
            <a:spLocks noChangeAspect="1"/>
          </p:cNvSpPr>
          <p:nvPr/>
        </p:nvSpPr>
        <p:spPr>
          <a:xfrm>
            <a:off x="4373413" y="3951360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725501" y="3890165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725501" y="4174072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2848900" y="3890165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4616688" y="3890165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616688" y="4174072"/>
            <a:ext cx="1471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retorno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2848900" y="4174072"/>
            <a:ext cx="139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árvore</a:t>
            </a:r>
          </a:p>
        </p:txBody>
      </p: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de seta reta 103"/>
          <p:cNvCxnSpPr>
            <a:stCxn id="7" idx="6"/>
            <a:endCxn id="9" idx="1"/>
          </p:cNvCxnSpPr>
          <p:nvPr/>
        </p:nvCxnSpPr>
        <p:spPr>
          <a:xfrm>
            <a:off x="2309608" y="1561104"/>
            <a:ext cx="393124" cy="28825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106"/>
          <p:cNvCxnSpPr>
            <a:stCxn id="8" idx="6"/>
            <a:endCxn id="9" idx="3"/>
          </p:cNvCxnSpPr>
          <p:nvPr/>
        </p:nvCxnSpPr>
        <p:spPr>
          <a:xfrm flipV="1">
            <a:off x="2315659" y="2008430"/>
            <a:ext cx="387073" cy="29484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ela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1808468"/>
              </p:ext>
            </p:extLst>
          </p:nvPr>
        </p:nvGraphicFramePr>
        <p:xfrm>
          <a:off x="3353072" y="1312958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f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e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9" name="Elipse 168"/>
          <p:cNvSpPr/>
          <p:nvPr/>
        </p:nvSpPr>
        <p:spPr>
          <a:xfrm>
            <a:off x="7144577" y="156609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957676" y="2774208"/>
            <a:ext cx="23439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BP(e)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</a:t>
            </a:r>
            <a:r>
              <a:rPr lang="pt-BR" sz="1600" b="1" dirty="0">
                <a:solidFill>
                  <a:srgbClr val="00B0F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b, a, c }</a:t>
            </a:r>
            <a:endParaRPr lang="pt-BR" sz="1600" dirty="0"/>
          </a:p>
        </p:txBody>
      </p: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9" name="Elipse 8"/>
          <p:cNvSpPr/>
          <p:nvPr/>
        </p:nvSpPr>
        <p:spPr>
          <a:xfrm>
            <a:off x="2669035" y="1816410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c</a:t>
            </a:r>
          </a:p>
        </p:txBody>
      </p:sp>
      <p:cxnSp>
        <p:nvCxnSpPr>
          <p:cNvPr id="43" name="Conector de seta reta 42"/>
          <p:cNvCxnSpPr>
            <a:stCxn id="46" idx="0"/>
          </p:cNvCxnSpPr>
          <p:nvPr/>
        </p:nvCxnSpPr>
        <p:spPr>
          <a:xfrm flipH="1" flipV="1">
            <a:off x="7259626" y="1791063"/>
            <a:ext cx="1" cy="37113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lipse 45"/>
          <p:cNvSpPr/>
          <p:nvPr/>
        </p:nvSpPr>
        <p:spPr>
          <a:xfrm>
            <a:off x="7144578" y="2162193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48" name="CaixaDeTexto 47"/>
          <p:cNvSpPr txBox="1"/>
          <p:nvPr/>
        </p:nvSpPr>
        <p:spPr>
          <a:xfrm>
            <a:off x="957676" y="3077091"/>
            <a:ext cx="22281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BP(f) 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(f)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e }</a:t>
            </a:r>
            <a:endParaRPr lang="pt-BR" sz="1600" dirty="0"/>
          </a:p>
        </p:txBody>
      </p:sp>
      <p:cxnSp>
        <p:nvCxnSpPr>
          <p:cNvPr id="47" name="Conector de seta reta 46"/>
          <p:cNvCxnSpPr>
            <a:stCxn id="49" idx="0"/>
          </p:cNvCxnSpPr>
          <p:nvPr/>
        </p:nvCxnSpPr>
        <p:spPr>
          <a:xfrm flipV="1">
            <a:off x="7259627" y="2387158"/>
            <a:ext cx="0" cy="37087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/>
          <p:cNvSpPr/>
          <p:nvPr/>
        </p:nvSpPr>
        <p:spPr>
          <a:xfrm>
            <a:off x="7144578" y="275802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51" name="CaixaDeTexto 50"/>
          <p:cNvSpPr txBox="1"/>
          <p:nvPr/>
        </p:nvSpPr>
        <p:spPr>
          <a:xfrm>
            <a:off x="957676" y="3379974"/>
            <a:ext cx="24224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BP(b)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= { </a:t>
            </a:r>
            <a:r>
              <a:rPr lang="pt-BR" sz="1600" b="1" dirty="0">
                <a:solidFill>
                  <a:srgbClr val="00B0F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a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50" name="Conector de seta reta 49"/>
          <p:cNvCxnSpPr>
            <a:stCxn id="52" idx="7"/>
          </p:cNvCxnSpPr>
          <p:nvPr/>
        </p:nvCxnSpPr>
        <p:spPr>
          <a:xfrm flipV="1">
            <a:off x="6862311" y="2950048"/>
            <a:ext cx="315964" cy="33170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Elipse 51"/>
          <p:cNvSpPr/>
          <p:nvPr/>
        </p:nvSpPr>
        <p:spPr>
          <a:xfrm>
            <a:off x="6665911" y="324880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3248258" y="2769501"/>
            <a:ext cx="19704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BP(d)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53" name="Conector angulado 139"/>
          <p:cNvCxnSpPr/>
          <p:nvPr/>
        </p:nvCxnSpPr>
        <p:spPr>
          <a:xfrm rot="5400000" flipH="1" flipV="1">
            <a:off x="6475705" y="2579932"/>
            <a:ext cx="974129" cy="363618"/>
          </a:xfrm>
          <a:prstGeom prst="curvedConnector2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angulado 147"/>
          <p:cNvCxnSpPr/>
          <p:nvPr/>
        </p:nvCxnSpPr>
        <p:spPr>
          <a:xfrm>
            <a:off x="7374674" y="1678581"/>
            <a:ext cx="1" cy="1191930"/>
          </a:xfrm>
          <a:prstGeom prst="curvedConnector3">
            <a:avLst>
              <a:gd name="adj1" fmla="val 22860100000"/>
            </a:avLst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de seta reta 55"/>
          <p:cNvCxnSpPr>
            <a:stCxn id="57" idx="1"/>
          </p:cNvCxnSpPr>
          <p:nvPr/>
        </p:nvCxnSpPr>
        <p:spPr>
          <a:xfrm flipH="1" flipV="1">
            <a:off x="7340978" y="2950048"/>
            <a:ext cx="315964" cy="331703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Elipse 56"/>
          <p:cNvSpPr/>
          <p:nvPr/>
        </p:nvSpPr>
        <p:spPr>
          <a:xfrm>
            <a:off x="7623245" y="32488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60" name="CaixaDeTexto 59"/>
          <p:cNvSpPr txBox="1"/>
          <p:nvPr/>
        </p:nvSpPr>
        <p:spPr>
          <a:xfrm>
            <a:off x="3248258" y="3071371"/>
            <a:ext cx="22220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BP(a)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(a) 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c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62" name="Conector de seta reta 61"/>
          <p:cNvCxnSpPr>
            <a:stCxn id="63" idx="0"/>
            <a:endCxn id="57" idx="5"/>
          </p:cNvCxnSpPr>
          <p:nvPr/>
        </p:nvCxnSpPr>
        <p:spPr>
          <a:xfrm flipH="1" flipV="1">
            <a:off x="7819645" y="3440826"/>
            <a:ext cx="218459" cy="468065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Elipse 62"/>
          <p:cNvSpPr/>
          <p:nvPr/>
        </p:nvSpPr>
        <p:spPr>
          <a:xfrm>
            <a:off x="7923055" y="390889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1" name="CaixaDeTexto 60"/>
          <p:cNvSpPr txBox="1"/>
          <p:nvPr/>
        </p:nvSpPr>
        <p:spPr>
          <a:xfrm>
            <a:off x="3248258" y="3373241"/>
            <a:ext cx="20056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BP(c)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(c)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a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64" name="Conector angulado 161"/>
          <p:cNvCxnSpPr/>
          <p:nvPr/>
        </p:nvCxnSpPr>
        <p:spPr>
          <a:xfrm>
            <a:off x="7374674" y="1678581"/>
            <a:ext cx="778478" cy="2342793"/>
          </a:xfrm>
          <a:prstGeom prst="curvedConnector3">
            <a:avLst>
              <a:gd name="adj1" fmla="val 129365"/>
            </a:avLst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angulado 158"/>
          <p:cNvCxnSpPr/>
          <p:nvPr/>
        </p:nvCxnSpPr>
        <p:spPr>
          <a:xfrm flipH="1" flipV="1">
            <a:off x="7374674" y="1678581"/>
            <a:ext cx="478668" cy="1682708"/>
          </a:xfrm>
          <a:prstGeom prst="curvedConnector3">
            <a:avLst>
              <a:gd name="adj1" fmla="val -47758"/>
            </a:avLst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/>
          <p:cNvSpPr txBox="1"/>
          <p:nvPr/>
        </p:nvSpPr>
        <p:spPr>
          <a:xfrm>
            <a:off x="7593402" y="1127010"/>
            <a:ext cx="129907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dirty="0"/>
              <a:t>Retrocede para continuar a busca</a:t>
            </a:r>
          </a:p>
        </p:txBody>
      </p:sp>
      <p:cxnSp>
        <p:nvCxnSpPr>
          <p:cNvPr id="65" name="Conector de seta reta 64"/>
          <p:cNvCxnSpPr/>
          <p:nvPr/>
        </p:nvCxnSpPr>
        <p:spPr>
          <a:xfrm flipH="1">
            <a:off x="7404914" y="1561103"/>
            <a:ext cx="644827" cy="62969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CaixaDeTexto 67"/>
          <p:cNvSpPr txBox="1"/>
          <p:nvPr/>
        </p:nvSpPr>
        <p:spPr>
          <a:xfrm>
            <a:off x="6510772" y="4166243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69" name="Conector reto 68"/>
          <p:cNvCxnSpPr/>
          <p:nvPr/>
        </p:nvCxnSpPr>
        <p:spPr>
          <a:xfrm>
            <a:off x="6447710" y="1393377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Elipse 69"/>
          <p:cNvSpPr/>
          <p:nvPr/>
        </p:nvSpPr>
        <p:spPr>
          <a:xfrm>
            <a:off x="7144577" y="156609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71" name="Elipse 70"/>
          <p:cNvSpPr/>
          <p:nvPr/>
        </p:nvSpPr>
        <p:spPr>
          <a:xfrm>
            <a:off x="7144578" y="216219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72" name="Elipse 71"/>
          <p:cNvSpPr/>
          <p:nvPr/>
        </p:nvSpPr>
        <p:spPr>
          <a:xfrm>
            <a:off x="7144578" y="275802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3" name="Elipse 72"/>
          <p:cNvSpPr/>
          <p:nvPr/>
        </p:nvSpPr>
        <p:spPr>
          <a:xfrm>
            <a:off x="6665911" y="32488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74" name="Elipse 73"/>
          <p:cNvSpPr/>
          <p:nvPr/>
        </p:nvSpPr>
        <p:spPr>
          <a:xfrm>
            <a:off x="7623245" y="3248807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6" name="Elipse 75"/>
          <p:cNvSpPr/>
          <p:nvPr/>
        </p:nvSpPr>
        <p:spPr>
          <a:xfrm>
            <a:off x="7923055" y="3908892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77" name="Conector de seta reta 76"/>
          <p:cNvCxnSpPr/>
          <p:nvPr/>
        </p:nvCxnSpPr>
        <p:spPr>
          <a:xfrm flipH="1">
            <a:off x="4334212" y="4327960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617275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Exemplo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487030" y="3951361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3" name="Conector de seta reta 32"/>
          <p:cNvCxnSpPr/>
          <p:nvPr/>
        </p:nvCxnSpPr>
        <p:spPr>
          <a:xfrm flipH="1">
            <a:off x="447829" y="4327960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>
            <a:spLocks noChangeAspect="1"/>
          </p:cNvSpPr>
          <p:nvPr/>
        </p:nvSpPr>
        <p:spPr>
          <a:xfrm>
            <a:off x="2614391" y="3951360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7" name="Conector de seta reta 36"/>
          <p:cNvCxnSpPr/>
          <p:nvPr/>
        </p:nvCxnSpPr>
        <p:spPr>
          <a:xfrm flipH="1">
            <a:off x="2565126" y="4327960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>
            <a:spLocks noChangeAspect="1"/>
          </p:cNvSpPr>
          <p:nvPr/>
        </p:nvSpPr>
        <p:spPr>
          <a:xfrm>
            <a:off x="4373413" y="3951360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725501" y="3890165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725501" y="4174072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2848900" y="3890165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4616688" y="3890165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616688" y="4174072"/>
            <a:ext cx="1471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retorno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2848900" y="4174072"/>
            <a:ext cx="139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árvore</a:t>
            </a:r>
          </a:p>
        </p:txBody>
      </p: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de seta reta 103"/>
          <p:cNvCxnSpPr>
            <a:stCxn id="7" idx="6"/>
            <a:endCxn id="9" idx="1"/>
          </p:cNvCxnSpPr>
          <p:nvPr/>
        </p:nvCxnSpPr>
        <p:spPr>
          <a:xfrm>
            <a:off x="2309608" y="1561104"/>
            <a:ext cx="393124" cy="28825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106"/>
          <p:cNvCxnSpPr>
            <a:stCxn id="8" idx="6"/>
            <a:endCxn id="9" idx="3"/>
          </p:cNvCxnSpPr>
          <p:nvPr/>
        </p:nvCxnSpPr>
        <p:spPr>
          <a:xfrm flipV="1">
            <a:off x="2315659" y="2008430"/>
            <a:ext cx="387073" cy="29484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ela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1808468"/>
              </p:ext>
            </p:extLst>
          </p:nvPr>
        </p:nvGraphicFramePr>
        <p:xfrm>
          <a:off x="3353072" y="1312958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f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e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9" name="Elipse 168"/>
          <p:cNvSpPr/>
          <p:nvPr/>
        </p:nvSpPr>
        <p:spPr>
          <a:xfrm>
            <a:off x="7144577" y="156609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957676" y="2774208"/>
            <a:ext cx="23439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BP(e)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</a:t>
            </a:r>
            <a:r>
              <a:rPr lang="pt-BR" sz="1600" b="1" dirty="0">
                <a:solidFill>
                  <a:srgbClr val="00B0F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b, a, c }</a:t>
            </a:r>
            <a:endParaRPr lang="pt-BR" sz="1600" dirty="0"/>
          </a:p>
        </p:txBody>
      </p: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9" name="Elipse 8"/>
          <p:cNvSpPr/>
          <p:nvPr/>
        </p:nvSpPr>
        <p:spPr>
          <a:xfrm>
            <a:off x="2669035" y="1816410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c</a:t>
            </a:r>
          </a:p>
        </p:txBody>
      </p:sp>
      <p:cxnSp>
        <p:nvCxnSpPr>
          <p:cNvPr id="43" name="Conector de seta reta 42"/>
          <p:cNvCxnSpPr>
            <a:stCxn id="46" idx="0"/>
          </p:cNvCxnSpPr>
          <p:nvPr/>
        </p:nvCxnSpPr>
        <p:spPr>
          <a:xfrm flipH="1" flipV="1">
            <a:off x="7259626" y="1791063"/>
            <a:ext cx="1" cy="37113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lipse 45"/>
          <p:cNvSpPr/>
          <p:nvPr/>
        </p:nvSpPr>
        <p:spPr>
          <a:xfrm>
            <a:off x="7144578" y="2162193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48" name="CaixaDeTexto 47"/>
          <p:cNvSpPr txBox="1"/>
          <p:nvPr/>
        </p:nvSpPr>
        <p:spPr>
          <a:xfrm>
            <a:off x="957676" y="3077091"/>
            <a:ext cx="22281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BP(f) 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(f)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47" name="Conector de seta reta 46"/>
          <p:cNvCxnSpPr>
            <a:stCxn id="49" idx="0"/>
          </p:cNvCxnSpPr>
          <p:nvPr/>
        </p:nvCxnSpPr>
        <p:spPr>
          <a:xfrm flipV="1">
            <a:off x="7259627" y="2387158"/>
            <a:ext cx="0" cy="37087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/>
          <p:cNvSpPr/>
          <p:nvPr/>
        </p:nvSpPr>
        <p:spPr>
          <a:xfrm>
            <a:off x="7144578" y="275802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51" name="CaixaDeTexto 50"/>
          <p:cNvSpPr txBox="1"/>
          <p:nvPr/>
        </p:nvSpPr>
        <p:spPr>
          <a:xfrm>
            <a:off x="957676" y="3379974"/>
            <a:ext cx="24224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BP(b)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= { </a:t>
            </a:r>
            <a:r>
              <a:rPr lang="pt-BR" sz="1600" b="1" dirty="0">
                <a:solidFill>
                  <a:srgbClr val="00B0F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a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50" name="Conector de seta reta 49"/>
          <p:cNvCxnSpPr>
            <a:stCxn id="52" idx="7"/>
          </p:cNvCxnSpPr>
          <p:nvPr/>
        </p:nvCxnSpPr>
        <p:spPr>
          <a:xfrm flipV="1">
            <a:off x="6862311" y="2950048"/>
            <a:ext cx="315964" cy="33170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Elipse 51"/>
          <p:cNvSpPr/>
          <p:nvPr/>
        </p:nvSpPr>
        <p:spPr>
          <a:xfrm>
            <a:off x="6665911" y="324880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3248258" y="2769501"/>
            <a:ext cx="19704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BP(d)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53" name="Conector angulado 139"/>
          <p:cNvCxnSpPr/>
          <p:nvPr/>
        </p:nvCxnSpPr>
        <p:spPr>
          <a:xfrm rot="5400000" flipH="1" flipV="1">
            <a:off x="6475705" y="2579932"/>
            <a:ext cx="974129" cy="363618"/>
          </a:xfrm>
          <a:prstGeom prst="curvedConnector2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angulado 147"/>
          <p:cNvCxnSpPr/>
          <p:nvPr/>
        </p:nvCxnSpPr>
        <p:spPr>
          <a:xfrm>
            <a:off x="7374674" y="1678581"/>
            <a:ext cx="1" cy="1191930"/>
          </a:xfrm>
          <a:prstGeom prst="curvedConnector3">
            <a:avLst>
              <a:gd name="adj1" fmla="val 22860100000"/>
            </a:avLst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de seta reta 55"/>
          <p:cNvCxnSpPr>
            <a:stCxn id="57" idx="1"/>
          </p:cNvCxnSpPr>
          <p:nvPr/>
        </p:nvCxnSpPr>
        <p:spPr>
          <a:xfrm flipH="1" flipV="1">
            <a:off x="7340978" y="2950048"/>
            <a:ext cx="315964" cy="331703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Elipse 56"/>
          <p:cNvSpPr/>
          <p:nvPr/>
        </p:nvSpPr>
        <p:spPr>
          <a:xfrm>
            <a:off x="7623245" y="32488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60" name="CaixaDeTexto 59"/>
          <p:cNvSpPr txBox="1"/>
          <p:nvPr/>
        </p:nvSpPr>
        <p:spPr>
          <a:xfrm>
            <a:off x="3248258" y="3071371"/>
            <a:ext cx="22220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BP(a)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(a) 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c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62" name="Conector de seta reta 61"/>
          <p:cNvCxnSpPr>
            <a:stCxn id="63" idx="0"/>
            <a:endCxn id="57" idx="5"/>
          </p:cNvCxnSpPr>
          <p:nvPr/>
        </p:nvCxnSpPr>
        <p:spPr>
          <a:xfrm flipH="1" flipV="1">
            <a:off x="7819645" y="3440826"/>
            <a:ext cx="218459" cy="468065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Elipse 62"/>
          <p:cNvSpPr/>
          <p:nvPr/>
        </p:nvSpPr>
        <p:spPr>
          <a:xfrm>
            <a:off x="7923055" y="390889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1" name="CaixaDeTexto 60"/>
          <p:cNvSpPr txBox="1"/>
          <p:nvPr/>
        </p:nvSpPr>
        <p:spPr>
          <a:xfrm>
            <a:off x="3248258" y="3373241"/>
            <a:ext cx="20056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BP(c)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(c)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a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64" name="Conector angulado 161"/>
          <p:cNvCxnSpPr/>
          <p:nvPr/>
        </p:nvCxnSpPr>
        <p:spPr>
          <a:xfrm>
            <a:off x="7374674" y="1678581"/>
            <a:ext cx="778478" cy="2342793"/>
          </a:xfrm>
          <a:prstGeom prst="curvedConnector3">
            <a:avLst>
              <a:gd name="adj1" fmla="val 129365"/>
            </a:avLst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angulado 158"/>
          <p:cNvCxnSpPr/>
          <p:nvPr/>
        </p:nvCxnSpPr>
        <p:spPr>
          <a:xfrm flipH="1" flipV="1">
            <a:off x="7374674" y="1678581"/>
            <a:ext cx="478668" cy="1682708"/>
          </a:xfrm>
          <a:prstGeom prst="curvedConnector3">
            <a:avLst>
              <a:gd name="adj1" fmla="val -47758"/>
            </a:avLst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/>
          <p:cNvSpPr txBox="1"/>
          <p:nvPr/>
        </p:nvSpPr>
        <p:spPr>
          <a:xfrm>
            <a:off x="7593402" y="1127010"/>
            <a:ext cx="129907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dirty="0"/>
              <a:t>Retrocede para continuar a busca</a:t>
            </a:r>
          </a:p>
        </p:txBody>
      </p:sp>
      <p:cxnSp>
        <p:nvCxnSpPr>
          <p:cNvPr id="65" name="Conector de seta reta 64"/>
          <p:cNvCxnSpPr/>
          <p:nvPr/>
        </p:nvCxnSpPr>
        <p:spPr>
          <a:xfrm flipH="1">
            <a:off x="7404914" y="1561103"/>
            <a:ext cx="644827" cy="62969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CaixaDeTexto 67"/>
          <p:cNvSpPr txBox="1"/>
          <p:nvPr/>
        </p:nvSpPr>
        <p:spPr>
          <a:xfrm>
            <a:off x="6510772" y="4166243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69" name="Conector reto 68"/>
          <p:cNvCxnSpPr/>
          <p:nvPr/>
        </p:nvCxnSpPr>
        <p:spPr>
          <a:xfrm>
            <a:off x="6447710" y="1393377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Elipse 69"/>
          <p:cNvSpPr/>
          <p:nvPr/>
        </p:nvSpPr>
        <p:spPr>
          <a:xfrm>
            <a:off x="7144577" y="156609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71" name="Elipse 70"/>
          <p:cNvSpPr/>
          <p:nvPr/>
        </p:nvSpPr>
        <p:spPr>
          <a:xfrm>
            <a:off x="7144578" y="216219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72" name="Elipse 71"/>
          <p:cNvSpPr/>
          <p:nvPr/>
        </p:nvSpPr>
        <p:spPr>
          <a:xfrm>
            <a:off x="7144578" y="275802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3" name="Elipse 72"/>
          <p:cNvSpPr/>
          <p:nvPr/>
        </p:nvSpPr>
        <p:spPr>
          <a:xfrm>
            <a:off x="6665911" y="32488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74" name="Elipse 73"/>
          <p:cNvSpPr/>
          <p:nvPr/>
        </p:nvSpPr>
        <p:spPr>
          <a:xfrm>
            <a:off x="7623245" y="3248807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6" name="Elipse 75"/>
          <p:cNvSpPr/>
          <p:nvPr/>
        </p:nvSpPr>
        <p:spPr>
          <a:xfrm>
            <a:off x="7923055" y="3908892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77" name="Conector de seta reta 76"/>
          <p:cNvCxnSpPr/>
          <p:nvPr/>
        </p:nvCxnSpPr>
        <p:spPr>
          <a:xfrm flipH="1">
            <a:off x="4334212" y="4327960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23520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Exemplo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487030" y="3951361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3" name="Conector de seta reta 32"/>
          <p:cNvCxnSpPr/>
          <p:nvPr/>
        </p:nvCxnSpPr>
        <p:spPr>
          <a:xfrm flipH="1">
            <a:off x="447829" y="4327960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>
            <a:spLocks noChangeAspect="1"/>
          </p:cNvSpPr>
          <p:nvPr/>
        </p:nvSpPr>
        <p:spPr>
          <a:xfrm>
            <a:off x="2614391" y="3951360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7" name="Conector de seta reta 36"/>
          <p:cNvCxnSpPr/>
          <p:nvPr/>
        </p:nvCxnSpPr>
        <p:spPr>
          <a:xfrm flipH="1">
            <a:off x="2565126" y="4327960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>
            <a:spLocks noChangeAspect="1"/>
          </p:cNvSpPr>
          <p:nvPr/>
        </p:nvSpPr>
        <p:spPr>
          <a:xfrm>
            <a:off x="4373413" y="3951360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725501" y="3890165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725501" y="4174072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2848900" y="3890165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4616688" y="3890165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616688" y="4174072"/>
            <a:ext cx="1471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retorno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2848900" y="4174072"/>
            <a:ext cx="139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árvore</a:t>
            </a:r>
          </a:p>
        </p:txBody>
      </p: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de seta reta 103"/>
          <p:cNvCxnSpPr>
            <a:stCxn id="7" idx="6"/>
            <a:endCxn id="9" idx="1"/>
          </p:cNvCxnSpPr>
          <p:nvPr/>
        </p:nvCxnSpPr>
        <p:spPr>
          <a:xfrm>
            <a:off x="2309608" y="1561104"/>
            <a:ext cx="393124" cy="28825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106"/>
          <p:cNvCxnSpPr>
            <a:stCxn id="8" idx="6"/>
            <a:endCxn id="9" idx="3"/>
          </p:cNvCxnSpPr>
          <p:nvPr/>
        </p:nvCxnSpPr>
        <p:spPr>
          <a:xfrm flipV="1">
            <a:off x="2315659" y="2008430"/>
            <a:ext cx="387073" cy="29484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ela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1787550"/>
              </p:ext>
            </p:extLst>
          </p:nvPr>
        </p:nvGraphicFramePr>
        <p:xfrm>
          <a:off x="3353072" y="1312958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f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e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9" name="Elipse 168"/>
          <p:cNvSpPr/>
          <p:nvPr/>
        </p:nvSpPr>
        <p:spPr>
          <a:xfrm>
            <a:off x="7144577" y="156609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957676" y="2774208"/>
            <a:ext cx="23439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BP(e)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</a:t>
            </a:r>
            <a:r>
              <a:rPr lang="pt-BR" sz="1600" b="1" dirty="0">
                <a:solidFill>
                  <a:srgbClr val="00B0F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b, a, c }</a:t>
            </a:r>
            <a:endParaRPr lang="pt-BR" sz="1600" dirty="0"/>
          </a:p>
        </p:txBody>
      </p: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9" name="Elipse 8"/>
          <p:cNvSpPr/>
          <p:nvPr/>
        </p:nvSpPr>
        <p:spPr>
          <a:xfrm>
            <a:off x="2669035" y="1816410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c</a:t>
            </a:r>
          </a:p>
        </p:txBody>
      </p:sp>
      <p:cxnSp>
        <p:nvCxnSpPr>
          <p:cNvPr id="43" name="Conector de seta reta 42"/>
          <p:cNvCxnSpPr>
            <a:stCxn id="46" idx="0"/>
          </p:cNvCxnSpPr>
          <p:nvPr/>
        </p:nvCxnSpPr>
        <p:spPr>
          <a:xfrm flipH="1" flipV="1">
            <a:off x="7259626" y="1791063"/>
            <a:ext cx="1" cy="37113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lipse 45"/>
          <p:cNvSpPr/>
          <p:nvPr/>
        </p:nvSpPr>
        <p:spPr>
          <a:xfrm>
            <a:off x="7144578" y="2162193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48" name="CaixaDeTexto 47"/>
          <p:cNvSpPr txBox="1"/>
          <p:nvPr/>
        </p:nvSpPr>
        <p:spPr>
          <a:xfrm>
            <a:off x="957676" y="3077091"/>
            <a:ext cx="22281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BP(f) 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(f)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47" name="Conector de seta reta 46"/>
          <p:cNvCxnSpPr>
            <a:stCxn id="49" idx="0"/>
          </p:cNvCxnSpPr>
          <p:nvPr/>
        </p:nvCxnSpPr>
        <p:spPr>
          <a:xfrm flipV="1">
            <a:off x="7259627" y="2387158"/>
            <a:ext cx="0" cy="37087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/>
          <p:cNvSpPr/>
          <p:nvPr/>
        </p:nvSpPr>
        <p:spPr>
          <a:xfrm>
            <a:off x="7144578" y="275802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51" name="CaixaDeTexto 50"/>
          <p:cNvSpPr txBox="1"/>
          <p:nvPr/>
        </p:nvSpPr>
        <p:spPr>
          <a:xfrm>
            <a:off x="957676" y="3379974"/>
            <a:ext cx="24224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BP(b)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= { </a:t>
            </a:r>
            <a:r>
              <a:rPr lang="pt-BR" sz="1600" b="1" dirty="0">
                <a:solidFill>
                  <a:srgbClr val="00B0F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a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50" name="Conector de seta reta 49"/>
          <p:cNvCxnSpPr>
            <a:stCxn id="52" idx="7"/>
          </p:cNvCxnSpPr>
          <p:nvPr/>
        </p:nvCxnSpPr>
        <p:spPr>
          <a:xfrm flipV="1">
            <a:off x="6862311" y="2950048"/>
            <a:ext cx="315964" cy="33170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Elipse 51"/>
          <p:cNvSpPr/>
          <p:nvPr/>
        </p:nvSpPr>
        <p:spPr>
          <a:xfrm>
            <a:off x="6665911" y="324880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3248258" y="2769501"/>
            <a:ext cx="19704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BP(d)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53" name="Conector angulado 139"/>
          <p:cNvCxnSpPr/>
          <p:nvPr/>
        </p:nvCxnSpPr>
        <p:spPr>
          <a:xfrm rot="5400000" flipH="1" flipV="1">
            <a:off x="6475705" y="2579932"/>
            <a:ext cx="974129" cy="363618"/>
          </a:xfrm>
          <a:prstGeom prst="curvedConnector2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angulado 147"/>
          <p:cNvCxnSpPr/>
          <p:nvPr/>
        </p:nvCxnSpPr>
        <p:spPr>
          <a:xfrm>
            <a:off x="7374674" y="1678581"/>
            <a:ext cx="1" cy="1191930"/>
          </a:xfrm>
          <a:prstGeom prst="curvedConnector3">
            <a:avLst>
              <a:gd name="adj1" fmla="val 22860100000"/>
            </a:avLst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de seta reta 55"/>
          <p:cNvCxnSpPr>
            <a:stCxn id="57" idx="1"/>
          </p:cNvCxnSpPr>
          <p:nvPr/>
        </p:nvCxnSpPr>
        <p:spPr>
          <a:xfrm flipH="1" flipV="1">
            <a:off x="7340978" y="2950048"/>
            <a:ext cx="315964" cy="331703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Elipse 56"/>
          <p:cNvSpPr/>
          <p:nvPr/>
        </p:nvSpPr>
        <p:spPr>
          <a:xfrm>
            <a:off x="7623245" y="32488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60" name="CaixaDeTexto 59"/>
          <p:cNvSpPr txBox="1"/>
          <p:nvPr/>
        </p:nvSpPr>
        <p:spPr>
          <a:xfrm>
            <a:off x="3248258" y="3071371"/>
            <a:ext cx="22220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BP(a)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(a) 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c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62" name="Conector de seta reta 61"/>
          <p:cNvCxnSpPr>
            <a:stCxn id="63" idx="0"/>
            <a:endCxn id="57" idx="5"/>
          </p:cNvCxnSpPr>
          <p:nvPr/>
        </p:nvCxnSpPr>
        <p:spPr>
          <a:xfrm flipH="1" flipV="1">
            <a:off x="7819645" y="3440826"/>
            <a:ext cx="218459" cy="468065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Elipse 62"/>
          <p:cNvSpPr/>
          <p:nvPr/>
        </p:nvSpPr>
        <p:spPr>
          <a:xfrm>
            <a:off x="7923055" y="390889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1" name="CaixaDeTexto 60"/>
          <p:cNvSpPr txBox="1"/>
          <p:nvPr/>
        </p:nvSpPr>
        <p:spPr>
          <a:xfrm>
            <a:off x="3248258" y="3373241"/>
            <a:ext cx="20056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BP(c)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(c)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a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64" name="Conector angulado 161"/>
          <p:cNvCxnSpPr/>
          <p:nvPr/>
        </p:nvCxnSpPr>
        <p:spPr>
          <a:xfrm>
            <a:off x="7374674" y="1678581"/>
            <a:ext cx="778478" cy="2342793"/>
          </a:xfrm>
          <a:prstGeom prst="curvedConnector3">
            <a:avLst>
              <a:gd name="adj1" fmla="val 129365"/>
            </a:avLst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angulado 158"/>
          <p:cNvCxnSpPr/>
          <p:nvPr/>
        </p:nvCxnSpPr>
        <p:spPr>
          <a:xfrm flipH="1" flipV="1">
            <a:off x="7374674" y="1678581"/>
            <a:ext cx="478668" cy="1682708"/>
          </a:xfrm>
          <a:prstGeom prst="curvedConnector3">
            <a:avLst>
              <a:gd name="adj1" fmla="val -47758"/>
            </a:avLst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/>
          <p:cNvSpPr txBox="1"/>
          <p:nvPr/>
        </p:nvSpPr>
        <p:spPr>
          <a:xfrm>
            <a:off x="6510772" y="4166243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65" name="Conector reto 64"/>
          <p:cNvCxnSpPr/>
          <p:nvPr/>
        </p:nvCxnSpPr>
        <p:spPr>
          <a:xfrm>
            <a:off x="6447710" y="1393377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Elipse 67"/>
          <p:cNvSpPr/>
          <p:nvPr/>
        </p:nvSpPr>
        <p:spPr>
          <a:xfrm>
            <a:off x="7144577" y="156609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9" name="Elipse 68"/>
          <p:cNvSpPr/>
          <p:nvPr/>
        </p:nvSpPr>
        <p:spPr>
          <a:xfrm>
            <a:off x="7144578" y="216219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70" name="Elipse 69"/>
          <p:cNvSpPr/>
          <p:nvPr/>
        </p:nvSpPr>
        <p:spPr>
          <a:xfrm>
            <a:off x="7144578" y="275802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1" name="Elipse 70"/>
          <p:cNvSpPr/>
          <p:nvPr/>
        </p:nvSpPr>
        <p:spPr>
          <a:xfrm>
            <a:off x="6665911" y="32488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72" name="Elipse 71"/>
          <p:cNvSpPr/>
          <p:nvPr/>
        </p:nvSpPr>
        <p:spPr>
          <a:xfrm>
            <a:off x="7623245" y="3248807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3" name="Elipse 72"/>
          <p:cNvSpPr/>
          <p:nvPr/>
        </p:nvSpPr>
        <p:spPr>
          <a:xfrm>
            <a:off x="7923055" y="3908892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74" name="Conector de seta reta 73"/>
          <p:cNvCxnSpPr/>
          <p:nvPr/>
        </p:nvCxnSpPr>
        <p:spPr>
          <a:xfrm flipH="1">
            <a:off x="4334212" y="4327960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243976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Exemplo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487030" y="3951361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3" name="Conector de seta reta 32"/>
          <p:cNvCxnSpPr/>
          <p:nvPr/>
        </p:nvCxnSpPr>
        <p:spPr>
          <a:xfrm flipH="1">
            <a:off x="447829" y="4327960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>
            <a:spLocks noChangeAspect="1"/>
          </p:cNvSpPr>
          <p:nvPr/>
        </p:nvSpPr>
        <p:spPr>
          <a:xfrm>
            <a:off x="2614391" y="3951360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7" name="Conector de seta reta 36"/>
          <p:cNvCxnSpPr/>
          <p:nvPr/>
        </p:nvCxnSpPr>
        <p:spPr>
          <a:xfrm flipH="1">
            <a:off x="2565126" y="4327960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>
            <a:spLocks noChangeAspect="1"/>
          </p:cNvSpPr>
          <p:nvPr/>
        </p:nvSpPr>
        <p:spPr>
          <a:xfrm>
            <a:off x="4373413" y="3951360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725501" y="3890165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725501" y="4174072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2848900" y="3890165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4616688" y="3890165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616688" y="4174072"/>
            <a:ext cx="1471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retorno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2848900" y="4174072"/>
            <a:ext cx="139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árvore</a:t>
            </a:r>
          </a:p>
        </p:txBody>
      </p: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de seta reta 103"/>
          <p:cNvCxnSpPr>
            <a:stCxn id="7" idx="6"/>
            <a:endCxn id="9" idx="1"/>
          </p:cNvCxnSpPr>
          <p:nvPr/>
        </p:nvCxnSpPr>
        <p:spPr>
          <a:xfrm>
            <a:off x="2309608" y="1561104"/>
            <a:ext cx="393124" cy="28825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106"/>
          <p:cNvCxnSpPr>
            <a:stCxn id="8" idx="6"/>
            <a:endCxn id="9" idx="3"/>
          </p:cNvCxnSpPr>
          <p:nvPr/>
        </p:nvCxnSpPr>
        <p:spPr>
          <a:xfrm flipV="1">
            <a:off x="2315659" y="2008430"/>
            <a:ext cx="387073" cy="29484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ela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1787550"/>
              </p:ext>
            </p:extLst>
          </p:nvPr>
        </p:nvGraphicFramePr>
        <p:xfrm>
          <a:off x="3353072" y="1312958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f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e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9" name="Elipse 168"/>
          <p:cNvSpPr/>
          <p:nvPr/>
        </p:nvSpPr>
        <p:spPr>
          <a:xfrm>
            <a:off x="7144577" y="156609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957676" y="2774208"/>
            <a:ext cx="23439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BP(e)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</a:t>
            </a:r>
            <a:r>
              <a:rPr lang="pt-BR" sz="1600" b="1" dirty="0">
                <a:solidFill>
                  <a:srgbClr val="00B0F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b, a, c }</a:t>
            </a:r>
            <a:endParaRPr lang="pt-BR" sz="1600" dirty="0"/>
          </a:p>
        </p:txBody>
      </p: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9" name="Elipse 8"/>
          <p:cNvSpPr/>
          <p:nvPr/>
        </p:nvSpPr>
        <p:spPr>
          <a:xfrm>
            <a:off x="2669035" y="1816410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c</a:t>
            </a:r>
          </a:p>
        </p:txBody>
      </p:sp>
      <p:cxnSp>
        <p:nvCxnSpPr>
          <p:cNvPr id="43" name="Conector de seta reta 42"/>
          <p:cNvCxnSpPr>
            <a:stCxn id="46" idx="0"/>
          </p:cNvCxnSpPr>
          <p:nvPr/>
        </p:nvCxnSpPr>
        <p:spPr>
          <a:xfrm flipH="1" flipV="1">
            <a:off x="7259626" y="1791063"/>
            <a:ext cx="1" cy="37113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lipse 45"/>
          <p:cNvSpPr/>
          <p:nvPr/>
        </p:nvSpPr>
        <p:spPr>
          <a:xfrm>
            <a:off x="7144578" y="2162193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48" name="CaixaDeTexto 47"/>
          <p:cNvSpPr txBox="1"/>
          <p:nvPr/>
        </p:nvSpPr>
        <p:spPr>
          <a:xfrm>
            <a:off x="957676" y="3077091"/>
            <a:ext cx="22281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BP(f) 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(f)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47" name="Conector de seta reta 46"/>
          <p:cNvCxnSpPr>
            <a:stCxn id="49" idx="0"/>
          </p:cNvCxnSpPr>
          <p:nvPr/>
        </p:nvCxnSpPr>
        <p:spPr>
          <a:xfrm flipV="1">
            <a:off x="7259627" y="2387158"/>
            <a:ext cx="0" cy="37087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/>
          <p:cNvSpPr/>
          <p:nvPr/>
        </p:nvSpPr>
        <p:spPr>
          <a:xfrm>
            <a:off x="7144578" y="275802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51" name="CaixaDeTexto 50"/>
          <p:cNvSpPr txBox="1"/>
          <p:nvPr/>
        </p:nvSpPr>
        <p:spPr>
          <a:xfrm>
            <a:off x="957676" y="3379974"/>
            <a:ext cx="24224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BP(b)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= { </a:t>
            </a:r>
            <a:r>
              <a:rPr lang="pt-BR" sz="1600" b="1" dirty="0">
                <a:solidFill>
                  <a:srgbClr val="00B0F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a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50" name="Conector de seta reta 49"/>
          <p:cNvCxnSpPr>
            <a:stCxn id="52" idx="7"/>
          </p:cNvCxnSpPr>
          <p:nvPr/>
        </p:nvCxnSpPr>
        <p:spPr>
          <a:xfrm flipV="1">
            <a:off x="6862311" y="2950048"/>
            <a:ext cx="315964" cy="33170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Elipse 51"/>
          <p:cNvSpPr/>
          <p:nvPr/>
        </p:nvSpPr>
        <p:spPr>
          <a:xfrm>
            <a:off x="6665911" y="324880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3248258" y="2769501"/>
            <a:ext cx="19704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BP(d)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53" name="Conector angulado 139"/>
          <p:cNvCxnSpPr/>
          <p:nvPr/>
        </p:nvCxnSpPr>
        <p:spPr>
          <a:xfrm rot="5400000" flipH="1" flipV="1">
            <a:off x="6475705" y="2579932"/>
            <a:ext cx="974129" cy="363618"/>
          </a:xfrm>
          <a:prstGeom prst="curvedConnector2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angulado 147"/>
          <p:cNvCxnSpPr/>
          <p:nvPr/>
        </p:nvCxnSpPr>
        <p:spPr>
          <a:xfrm>
            <a:off x="7374674" y="1678581"/>
            <a:ext cx="1" cy="1191930"/>
          </a:xfrm>
          <a:prstGeom prst="curvedConnector3">
            <a:avLst>
              <a:gd name="adj1" fmla="val 22860100000"/>
            </a:avLst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de seta reta 55"/>
          <p:cNvCxnSpPr>
            <a:stCxn id="57" idx="1"/>
          </p:cNvCxnSpPr>
          <p:nvPr/>
        </p:nvCxnSpPr>
        <p:spPr>
          <a:xfrm flipH="1" flipV="1">
            <a:off x="7340978" y="2950048"/>
            <a:ext cx="315964" cy="331703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Elipse 56"/>
          <p:cNvSpPr/>
          <p:nvPr/>
        </p:nvSpPr>
        <p:spPr>
          <a:xfrm>
            <a:off x="7623245" y="32488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60" name="CaixaDeTexto 59"/>
          <p:cNvSpPr txBox="1"/>
          <p:nvPr/>
        </p:nvSpPr>
        <p:spPr>
          <a:xfrm>
            <a:off x="3248258" y="3071371"/>
            <a:ext cx="22220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BP(a)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(a) 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c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62" name="Conector de seta reta 61"/>
          <p:cNvCxnSpPr>
            <a:stCxn id="63" idx="0"/>
            <a:endCxn id="57" idx="5"/>
          </p:cNvCxnSpPr>
          <p:nvPr/>
        </p:nvCxnSpPr>
        <p:spPr>
          <a:xfrm flipH="1" flipV="1">
            <a:off x="7819645" y="3440826"/>
            <a:ext cx="218459" cy="468065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Elipse 62"/>
          <p:cNvSpPr/>
          <p:nvPr/>
        </p:nvSpPr>
        <p:spPr>
          <a:xfrm>
            <a:off x="7923055" y="390889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1" name="CaixaDeTexto 60"/>
          <p:cNvSpPr txBox="1"/>
          <p:nvPr/>
        </p:nvSpPr>
        <p:spPr>
          <a:xfrm>
            <a:off x="3248258" y="3373241"/>
            <a:ext cx="20056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BP(c)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(c)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a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64" name="Conector angulado 161"/>
          <p:cNvCxnSpPr/>
          <p:nvPr/>
        </p:nvCxnSpPr>
        <p:spPr>
          <a:xfrm>
            <a:off x="7374674" y="1678581"/>
            <a:ext cx="778478" cy="2342793"/>
          </a:xfrm>
          <a:prstGeom prst="curvedConnector3">
            <a:avLst>
              <a:gd name="adj1" fmla="val 129365"/>
            </a:avLst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angulado 158"/>
          <p:cNvCxnSpPr/>
          <p:nvPr/>
        </p:nvCxnSpPr>
        <p:spPr>
          <a:xfrm flipH="1" flipV="1">
            <a:off x="7374674" y="1678581"/>
            <a:ext cx="478668" cy="1682708"/>
          </a:xfrm>
          <a:prstGeom prst="curvedConnector3">
            <a:avLst>
              <a:gd name="adj1" fmla="val -47758"/>
            </a:avLst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de seta reta 64"/>
          <p:cNvCxnSpPr/>
          <p:nvPr/>
        </p:nvCxnSpPr>
        <p:spPr>
          <a:xfrm flipH="1">
            <a:off x="7370517" y="1456406"/>
            <a:ext cx="231759" cy="1016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CaixaDeTexto 67"/>
          <p:cNvSpPr txBox="1"/>
          <p:nvPr/>
        </p:nvSpPr>
        <p:spPr>
          <a:xfrm>
            <a:off x="6510772" y="4166243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69" name="Conector reto 68"/>
          <p:cNvCxnSpPr/>
          <p:nvPr/>
        </p:nvCxnSpPr>
        <p:spPr>
          <a:xfrm>
            <a:off x="6447710" y="1393377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Elipse 69"/>
          <p:cNvSpPr/>
          <p:nvPr/>
        </p:nvSpPr>
        <p:spPr>
          <a:xfrm>
            <a:off x="7144577" y="156609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71" name="Elipse 70"/>
          <p:cNvSpPr/>
          <p:nvPr/>
        </p:nvSpPr>
        <p:spPr>
          <a:xfrm>
            <a:off x="7144578" y="216219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72" name="Elipse 71"/>
          <p:cNvSpPr/>
          <p:nvPr/>
        </p:nvSpPr>
        <p:spPr>
          <a:xfrm>
            <a:off x="7144578" y="275802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3" name="Elipse 72"/>
          <p:cNvSpPr/>
          <p:nvPr/>
        </p:nvSpPr>
        <p:spPr>
          <a:xfrm>
            <a:off x="6665911" y="32488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74" name="Elipse 73"/>
          <p:cNvSpPr/>
          <p:nvPr/>
        </p:nvSpPr>
        <p:spPr>
          <a:xfrm>
            <a:off x="7623245" y="3248807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6" name="Elipse 75"/>
          <p:cNvSpPr/>
          <p:nvPr/>
        </p:nvSpPr>
        <p:spPr>
          <a:xfrm>
            <a:off x="7923055" y="3908892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78" name="CaixaDeTexto 77"/>
          <p:cNvSpPr txBox="1"/>
          <p:nvPr/>
        </p:nvSpPr>
        <p:spPr>
          <a:xfrm>
            <a:off x="7528180" y="1168156"/>
            <a:ext cx="129907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dirty="0"/>
              <a:t>Retrocede para continuar a busca</a:t>
            </a:r>
          </a:p>
        </p:txBody>
      </p:sp>
      <p:cxnSp>
        <p:nvCxnSpPr>
          <p:cNvPr id="77" name="Conector de seta reta 76"/>
          <p:cNvCxnSpPr/>
          <p:nvPr/>
        </p:nvCxnSpPr>
        <p:spPr>
          <a:xfrm flipH="1">
            <a:off x="4334212" y="4327960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26177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Exemplo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487030" y="3951361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3" name="Conector de seta reta 32"/>
          <p:cNvCxnSpPr/>
          <p:nvPr/>
        </p:nvCxnSpPr>
        <p:spPr>
          <a:xfrm flipH="1">
            <a:off x="447829" y="4327960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>
            <a:spLocks noChangeAspect="1"/>
          </p:cNvSpPr>
          <p:nvPr/>
        </p:nvSpPr>
        <p:spPr>
          <a:xfrm>
            <a:off x="2614391" y="3951360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7" name="Conector de seta reta 36"/>
          <p:cNvCxnSpPr/>
          <p:nvPr/>
        </p:nvCxnSpPr>
        <p:spPr>
          <a:xfrm flipH="1">
            <a:off x="2565126" y="4327960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>
            <a:spLocks noChangeAspect="1"/>
          </p:cNvSpPr>
          <p:nvPr/>
        </p:nvSpPr>
        <p:spPr>
          <a:xfrm>
            <a:off x="4373413" y="3951360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725501" y="3890165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725501" y="4174072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2848900" y="3890165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4616688" y="3890165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616688" y="4174072"/>
            <a:ext cx="1471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retorno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2848900" y="4174072"/>
            <a:ext cx="139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árvore</a:t>
            </a:r>
          </a:p>
        </p:txBody>
      </p: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de seta reta 103"/>
          <p:cNvCxnSpPr>
            <a:stCxn id="7" idx="6"/>
            <a:endCxn id="9" idx="1"/>
          </p:cNvCxnSpPr>
          <p:nvPr/>
        </p:nvCxnSpPr>
        <p:spPr>
          <a:xfrm>
            <a:off x="2309608" y="1561104"/>
            <a:ext cx="393124" cy="28825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106"/>
          <p:cNvCxnSpPr>
            <a:stCxn id="8" idx="6"/>
            <a:endCxn id="9" idx="3"/>
          </p:cNvCxnSpPr>
          <p:nvPr/>
        </p:nvCxnSpPr>
        <p:spPr>
          <a:xfrm flipV="1">
            <a:off x="2315659" y="2008430"/>
            <a:ext cx="387073" cy="29484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ela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1787550"/>
              </p:ext>
            </p:extLst>
          </p:nvPr>
        </p:nvGraphicFramePr>
        <p:xfrm>
          <a:off x="3353072" y="1312958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f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e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9" name="Elipse 168"/>
          <p:cNvSpPr/>
          <p:nvPr/>
        </p:nvSpPr>
        <p:spPr>
          <a:xfrm>
            <a:off x="7144577" y="156609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957676" y="2774208"/>
            <a:ext cx="23471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BP(e)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</a:t>
            </a:r>
            <a:r>
              <a:rPr lang="pt-BR" sz="1600" b="1" dirty="0">
                <a:solidFill>
                  <a:srgbClr val="00B0F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a, c }</a:t>
            </a:r>
            <a:endParaRPr lang="pt-BR" sz="1600" dirty="0"/>
          </a:p>
        </p:txBody>
      </p: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9" name="Elipse 8"/>
          <p:cNvSpPr/>
          <p:nvPr/>
        </p:nvSpPr>
        <p:spPr>
          <a:xfrm>
            <a:off x="2669035" y="1816410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c</a:t>
            </a:r>
          </a:p>
        </p:txBody>
      </p:sp>
      <p:cxnSp>
        <p:nvCxnSpPr>
          <p:cNvPr id="43" name="Conector de seta reta 42"/>
          <p:cNvCxnSpPr>
            <a:stCxn id="46" idx="0"/>
          </p:cNvCxnSpPr>
          <p:nvPr/>
        </p:nvCxnSpPr>
        <p:spPr>
          <a:xfrm flipH="1" flipV="1">
            <a:off x="7259626" y="1791063"/>
            <a:ext cx="1" cy="37113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lipse 45"/>
          <p:cNvSpPr/>
          <p:nvPr/>
        </p:nvSpPr>
        <p:spPr>
          <a:xfrm>
            <a:off x="7144578" y="2162193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48" name="CaixaDeTexto 47"/>
          <p:cNvSpPr txBox="1"/>
          <p:nvPr/>
        </p:nvSpPr>
        <p:spPr>
          <a:xfrm>
            <a:off x="957676" y="3077091"/>
            <a:ext cx="22281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BP(f) 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(f)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47" name="Conector de seta reta 46"/>
          <p:cNvCxnSpPr>
            <a:stCxn id="49" idx="0"/>
          </p:cNvCxnSpPr>
          <p:nvPr/>
        </p:nvCxnSpPr>
        <p:spPr>
          <a:xfrm flipV="1">
            <a:off x="7259627" y="2387158"/>
            <a:ext cx="0" cy="37087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/>
          <p:cNvSpPr/>
          <p:nvPr/>
        </p:nvSpPr>
        <p:spPr>
          <a:xfrm>
            <a:off x="7144578" y="275802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51" name="CaixaDeTexto 50"/>
          <p:cNvSpPr txBox="1"/>
          <p:nvPr/>
        </p:nvSpPr>
        <p:spPr>
          <a:xfrm>
            <a:off x="957676" y="3379974"/>
            <a:ext cx="24224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BP(b)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= { </a:t>
            </a:r>
            <a:r>
              <a:rPr lang="pt-BR" sz="1600" b="1" dirty="0">
                <a:solidFill>
                  <a:srgbClr val="00B0F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a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50" name="Conector de seta reta 49"/>
          <p:cNvCxnSpPr>
            <a:stCxn id="52" idx="7"/>
          </p:cNvCxnSpPr>
          <p:nvPr/>
        </p:nvCxnSpPr>
        <p:spPr>
          <a:xfrm flipV="1">
            <a:off x="6862311" y="2950048"/>
            <a:ext cx="315964" cy="33170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Elipse 51"/>
          <p:cNvSpPr/>
          <p:nvPr/>
        </p:nvSpPr>
        <p:spPr>
          <a:xfrm>
            <a:off x="6665911" y="324880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3248258" y="2769501"/>
            <a:ext cx="19704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BP(d)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53" name="Conector angulado 139"/>
          <p:cNvCxnSpPr/>
          <p:nvPr/>
        </p:nvCxnSpPr>
        <p:spPr>
          <a:xfrm rot="5400000" flipH="1" flipV="1">
            <a:off x="6475705" y="2579932"/>
            <a:ext cx="974129" cy="363618"/>
          </a:xfrm>
          <a:prstGeom prst="curvedConnector2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angulado 147"/>
          <p:cNvCxnSpPr/>
          <p:nvPr/>
        </p:nvCxnSpPr>
        <p:spPr>
          <a:xfrm>
            <a:off x="7374674" y="1678581"/>
            <a:ext cx="1" cy="1191930"/>
          </a:xfrm>
          <a:prstGeom prst="curvedConnector3">
            <a:avLst>
              <a:gd name="adj1" fmla="val 22860100000"/>
            </a:avLst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de seta reta 55"/>
          <p:cNvCxnSpPr>
            <a:stCxn id="57" idx="1"/>
          </p:cNvCxnSpPr>
          <p:nvPr/>
        </p:nvCxnSpPr>
        <p:spPr>
          <a:xfrm flipH="1" flipV="1">
            <a:off x="7340978" y="2950048"/>
            <a:ext cx="315964" cy="331703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Elipse 56"/>
          <p:cNvSpPr/>
          <p:nvPr/>
        </p:nvSpPr>
        <p:spPr>
          <a:xfrm>
            <a:off x="7623245" y="32488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60" name="CaixaDeTexto 59"/>
          <p:cNvSpPr txBox="1"/>
          <p:nvPr/>
        </p:nvSpPr>
        <p:spPr>
          <a:xfrm>
            <a:off x="3248258" y="3071371"/>
            <a:ext cx="22220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BP(a)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(a) 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c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62" name="Conector de seta reta 61"/>
          <p:cNvCxnSpPr>
            <a:stCxn id="63" idx="0"/>
            <a:endCxn id="57" idx="5"/>
          </p:cNvCxnSpPr>
          <p:nvPr/>
        </p:nvCxnSpPr>
        <p:spPr>
          <a:xfrm flipH="1" flipV="1">
            <a:off x="7819645" y="3440826"/>
            <a:ext cx="218459" cy="468065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Elipse 62"/>
          <p:cNvSpPr/>
          <p:nvPr/>
        </p:nvSpPr>
        <p:spPr>
          <a:xfrm>
            <a:off x="7923055" y="390889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1" name="CaixaDeTexto 60"/>
          <p:cNvSpPr txBox="1"/>
          <p:nvPr/>
        </p:nvSpPr>
        <p:spPr>
          <a:xfrm>
            <a:off x="3248258" y="3373241"/>
            <a:ext cx="20056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BP(c)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(c)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a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64" name="Conector angulado 161"/>
          <p:cNvCxnSpPr/>
          <p:nvPr/>
        </p:nvCxnSpPr>
        <p:spPr>
          <a:xfrm>
            <a:off x="7374674" y="1678581"/>
            <a:ext cx="778478" cy="2342793"/>
          </a:xfrm>
          <a:prstGeom prst="curvedConnector3">
            <a:avLst>
              <a:gd name="adj1" fmla="val 129365"/>
            </a:avLst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angulado 158"/>
          <p:cNvCxnSpPr/>
          <p:nvPr/>
        </p:nvCxnSpPr>
        <p:spPr>
          <a:xfrm flipH="1" flipV="1">
            <a:off x="7374674" y="1678581"/>
            <a:ext cx="478668" cy="1682708"/>
          </a:xfrm>
          <a:prstGeom prst="curvedConnector3">
            <a:avLst>
              <a:gd name="adj1" fmla="val -47758"/>
            </a:avLst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de seta reta 64"/>
          <p:cNvCxnSpPr/>
          <p:nvPr/>
        </p:nvCxnSpPr>
        <p:spPr>
          <a:xfrm flipH="1">
            <a:off x="7370517" y="1456406"/>
            <a:ext cx="231759" cy="1016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CaixaDeTexto 67"/>
          <p:cNvSpPr txBox="1"/>
          <p:nvPr/>
        </p:nvSpPr>
        <p:spPr>
          <a:xfrm>
            <a:off x="6510772" y="4166243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69" name="Conector reto 68"/>
          <p:cNvCxnSpPr/>
          <p:nvPr/>
        </p:nvCxnSpPr>
        <p:spPr>
          <a:xfrm>
            <a:off x="6447710" y="1393377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Elipse 69"/>
          <p:cNvSpPr/>
          <p:nvPr/>
        </p:nvSpPr>
        <p:spPr>
          <a:xfrm>
            <a:off x="7144577" y="156609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71" name="Elipse 70"/>
          <p:cNvSpPr/>
          <p:nvPr/>
        </p:nvSpPr>
        <p:spPr>
          <a:xfrm>
            <a:off x="7144578" y="216219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72" name="Elipse 71"/>
          <p:cNvSpPr/>
          <p:nvPr/>
        </p:nvSpPr>
        <p:spPr>
          <a:xfrm>
            <a:off x="7144578" y="275802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3" name="Elipse 72"/>
          <p:cNvSpPr/>
          <p:nvPr/>
        </p:nvSpPr>
        <p:spPr>
          <a:xfrm>
            <a:off x="6665911" y="32488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74" name="Elipse 73"/>
          <p:cNvSpPr/>
          <p:nvPr/>
        </p:nvSpPr>
        <p:spPr>
          <a:xfrm>
            <a:off x="7623245" y="3248807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6" name="Elipse 75"/>
          <p:cNvSpPr/>
          <p:nvPr/>
        </p:nvSpPr>
        <p:spPr>
          <a:xfrm>
            <a:off x="7923055" y="3908892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78" name="CaixaDeTexto 77"/>
          <p:cNvSpPr txBox="1"/>
          <p:nvPr/>
        </p:nvSpPr>
        <p:spPr>
          <a:xfrm>
            <a:off x="7528180" y="1168156"/>
            <a:ext cx="129907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dirty="0"/>
              <a:t>Retrocede para continuar a busca</a:t>
            </a:r>
          </a:p>
        </p:txBody>
      </p:sp>
      <p:cxnSp>
        <p:nvCxnSpPr>
          <p:cNvPr id="77" name="Conector de seta reta 76"/>
          <p:cNvCxnSpPr/>
          <p:nvPr/>
        </p:nvCxnSpPr>
        <p:spPr>
          <a:xfrm flipH="1">
            <a:off x="4334212" y="4327960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073848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Exemplo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487030" y="3951361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3" name="Conector de seta reta 32"/>
          <p:cNvCxnSpPr/>
          <p:nvPr/>
        </p:nvCxnSpPr>
        <p:spPr>
          <a:xfrm flipH="1">
            <a:off x="447829" y="4327960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>
            <a:spLocks noChangeAspect="1"/>
          </p:cNvSpPr>
          <p:nvPr/>
        </p:nvSpPr>
        <p:spPr>
          <a:xfrm>
            <a:off x="2614391" y="3951360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7" name="Conector de seta reta 36"/>
          <p:cNvCxnSpPr/>
          <p:nvPr/>
        </p:nvCxnSpPr>
        <p:spPr>
          <a:xfrm flipH="1">
            <a:off x="2565126" y="4327960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>
            <a:spLocks noChangeAspect="1"/>
          </p:cNvSpPr>
          <p:nvPr/>
        </p:nvSpPr>
        <p:spPr>
          <a:xfrm>
            <a:off x="4373413" y="3951360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725501" y="3890165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725501" y="4174072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2848900" y="3890165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4616688" y="3890165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616688" y="4174072"/>
            <a:ext cx="1471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retorno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2848900" y="4174072"/>
            <a:ext cx="139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árvore</a:t>
            </a:r>
          </a:p>
        </p:txBody>
      </p: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de seta reta 103"/>
          <p:cNvCxnSpPr>
            <a:stCxn id="7" idx="6"/>
            <a:endCxn id="9" idx="1"/>
          </p:cNvCxnSpPr>
          <p:nvPr/>
        </p:nvCxnSpPr>
        <p:spPr>
          <a:xfrm>
            <a:off x="2309608" y="1561104"/>
            <a:ext cx="393124" cy="28825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106"/>
          <p:cNvCxnSpPr>
            <a:stCxn id="8" idx="6"/>
            <a:endCxn id="9" idx="3"/>
          </p:cNvCxnSpPr>
          <p:nvPr/>
        </p:nvCxnSpPr>
        <p:spPr>
          <a:xfrm flipV="1">
            <a:off x="2315659" y="2008430"/>
            <a:ext cx="387073" cy="29484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ela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1787550"/>
              </p:ext>
            </p:extLst>
          </p:nvPr>
        </p:nvGraphicFramePr>
        <p:xfrm>
          <a:off x="3353072" y="1312958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f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e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9" name="Elipse 168"/>
          <p:cNvSpPr/>
          <p:nvPr/>
        </p:nvSpPr>
        <p:spPr>
          <a:xfrm>
            <a:off x="7144577" y="156609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957676" y="2774208"/>
            <a:ext cx="23503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BP(e)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</a:t>
            </a:r>
            <a:r>
              <a:rPr lang="pt-BR" sz="1600" b="1" dirty="0">
                <a:solidFill>
                  <a:srgbClr val="00B0F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a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c }</a:t>
            </a:r>
            <a:endParaRPr lang="pt-BR" sz="1600" dirty="0"/>
          </a:p>
        </p:txBody>
      </p: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9" name="Elipse 8"/>
          <p:cNvSpPr/>
          <p:nvPr/>
        </p:nvSpPr>
        <p:spPr>
          <a:xfrm>
            <a:off x="2669035" y="1816410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c</a:t>
            </a:r>
          </a:p>
        </p:txBody>
      </p:sp>
      <p:cxnSp>
        <p:nvCxnSpPr>
          <p:cNvPr id="43" name="Conector de seta reta 42"/>
          <p:cNvCxnSpPr>
            <a:stCxn id="46" idx="0"/>
          </p:cNvCxnSpPr>
          <p:nvPr/>
        </p:nvCxnSpPr>
        <p:spPr>
          <a:xfrm flipH="1" flipV="1">
            <a:off x="7259626" y="1791063"/>
            <a:ext cx="1" cy="37113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lipse 45"/>
          <p:cNvSpPr/>
          <p:nvPr/>
        </p:nvSpPr>
        <p:spPr>
          <a:xfrm>
            <a:off x="7144578" y="2162193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48" name="CaixaDeTexto 47"/>
          <p:cNvSpPr txBox="1"/>
          <p:nvPr/>
        </p:nvSpPr>
        <p:spPr>
          <a:xfrm>
            <a:off x="957676" y="3077091"/>
            <a:ext cx="22281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BP(f) 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(f)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47" name="Conector de seta reta 46"/>
          <p:cNvCxnSpPr>
            <a:stCxn id="49" idx="0"/>
          </p:cNvCxnSpPr>
          <p:nvPr/>
        </p:nvCxnSpPr>
        <p:spPr>
          <a:xfrm flipV="1">
            <a:off x="7259627" y="2387158"/>
            <a:ext cx="0" cy="37087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/>
          <p:cNvSpPr/>
          <p:nvPr/>
        </p:nvSpPr>
        <p:spPr>
          <a:xfrm>
            <a:off x="7144578" y="275802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51" name="CaixaDeTexto 50"/>
          <p:cNvSpPr txBox="1"/>
          <p:nvPr/>
        </p:nvSpPr>
        <p:spPr>
          <a:xfrm>
            <a:off x="957676" y="3379974"/>
            <a:ext cx="24224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BP(b)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= { </a:t>
            </a:r>
            <a:r>
              <a:rPr lang="pt-BR" sz="1600" b="1" dirty="0">
                <a:solidFill>
                  <a:srgbClr val="00B0F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a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50" name="Conector de seta reta 49"/>
          <p:cNvCxnSpPr>
            <a:stCxn id="52" idx="7"/>
          </p:cNvCxnSpPr>
          <p:nvPr/>
        </p:nvCxnSpPr>
        <p:spPr>
          <a:xfrm flipV="1">
            <a:off x="6862311" y="2950048"/>
            <a:ext cx="315964" cy="33170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Elipse 51"/>
          <p:cNvSpPr/>
          <p:nvPr/>
        </p:nvSpPr>
        <p:spPr>
          <a:xfrm>
            <a:off x="6665911" y="324880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3248258" y="2769501"/>
            <a:ext cx="19704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BP(d)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53" name="Conector angulado 139"/>
          <p:cNvCxnSpPr/>
          <p:nvPr/>
        </p:nvCxnSpPr>
        <p:spPr>
          <a:xfrm rot="5400000" flipH="1" flipV="1">
            <a:off x="6475705" y="2579932"/>
            <a:ext cx="974129" cy="363618"/>
          </a:xfrm>
          <a:prstGeom prst="curvedConnector2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angulado 147"/>
          <p:cNvCxnSpPr/>
          <p:nvPr/>
        </p:nvCxnSpPr>
        <p:spPr>
          <a:xfrm>
            <a:off x="7374674" y="1678581"/>
            <a:ext cx="1" cy="1191930"/>
          </a:xfrm>
          <a:prstGeom prst="curvedConnector3">
            <a:avLst>
              <a:gd name="adj1" fmla="val 22860100000"/>
            </a:avLst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de seta reta 55"/>
          <p:cNvCxnSpPr>
            <a:stCxn id="57" idx="1"/>
          </p:cNvCxnSpPr>
          <p:nvPr/>
        </p:nvCxnSpPr>
        <p:spPr>
          <a:xfrm flipH="1" flipV="1">
            <a:off x="7340978" y="2950048"/>
            <a:ext cx="315964" cy="331703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Elipse 56"/>
          <p:cNvSpPr/>
          <p:nvPr/>
        </p:nvSpPr>
        <p:spPr>
          <a:xfrm>
            <a:off x="7623245" y="32488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60" name="CaixaDeTexto 59"/>
          <p:cNvSpPr txBox="1"/>
          <p:nvPr/>
        </p:nvSpPr>
        <p:spPr>
          <a:xfrm>
            <a:off x="3248258" y="3071371"/>
            <a:ext cx="22220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BP(a)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(a) 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c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62" name="Conector de seta reta 61"/>
          <p:cNvCxnSpPr>
            <a:stCxn id="63" idx="0"/>
            <a:endCxn id="57" idx="5"/>
          </p:cNvCxnSpPr>
          <p:nvPr/>
        </p:nvCxnSpPr>
        <p:spPr>
          <a:xfrm flipH="1" flipV="1">
            <a:off x="7819645" y="3440826"/>
            <a:ext cx="218459" cy="468065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Elipse 62"/>
          <p:cNvSpPr/>
          <p:nvPr/>
        </p:nvSpPr>
        <p:spPr>
          <a:xfrm>
            <a:off x="7923055" y="390889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1" name="CaixaDeTexto 60"/>
          <p:cNvSpPr txBox="1"/>
          <p:nvPr/>
        </p:nvSpPr>
        <p:spPr>
          <a:xfrm>
            <a:off x="3248258" y="3373241"/>
            <a:ext cx="20056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BP(c)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(c)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a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64" name="Conector angulado 161"/>
          <p:cNvCxnSpPr/>
          <p:nvPr/>
        </p:nvCxnSpPr>
        <p:spPr>
          <a:xfrm>
            <a:off x="7374674" y="1678581"/>
            <a:ext cx="778478" cy="2342793"/>
          </a:xfrm>
          <a:prstGeom prst="curvedConnector3">
            <a:avLst>
              <a:gd name="adj1" fmla="val 129365"/>
            </a:avLst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angulado 158"/>
          <p:cNvCxnSpPr/>
          <p:nvPr/>
        </p:nvCxnSpPr>
        <p:spPr>
          <a:xfrm flipH="1" flipV="1">
            <a:off x="7374674" y="1678581"/>
            <a:ext cx="478668" cy="1682708"/>
          </a:xfrm>
          <a:prstGeom prst="curvedConnector3">
            <a:avLst>
              <a:gd name="adj1" fmla="val -47758"/>
            </a:avLst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de seta reta 64"/>
          <p:cNvCxnSpPr/>
          <p:nvPr/>
        </p:nvCxnSpPr>
        <p:spPr>
          <a:xfrm flipH="1">
            <a:off x="7370517" y="1456406"/>
            <a:ext cx="231759" cy="1016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CaixaDeTexto 67"/>
          <p:cNvSpPr txBox="1"/>
          <p:nvPr/>
        </p:nvSpPr>
        <p:spPr>
          <a:xfrm>
            <a:off x="6510772" y="4166243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69" name="Conector reto 68"/>
          <p:cNvCxnSpPr/>
          <p:nvPr/>
        </p:nvCxnSpPr>
        <p:spPr>
          <a:xfrm>
            <a:off x="6447710" y="1393377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Elipse 69"/>
          <p:cNvSpPr/>
          <p:nvPr/>
        </p:nvSpPr>
        <p:spPr>
          <a:xfrm>
            <a:off x="7144577" y="156609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71" name="Elipse 70"/>
          <p:cNvSpPr/>
          <p:nvPr/>
        </p:nvSpPr>
        <p:spPr>
          <a:xfrm>
            <a:off x="7144578" y="216219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72" name="Elipse 71"/>
          <p:cNvSpPr/>
          <p:nvPr/>
        </p:nvSpPr>
        <p:spPr>
          <a:xfrm>
            <a:off x="7144578" y="275802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3" name="Elipse 72"/>
          <p:cNvSpPr/>
          <p:nvPr/>
        </p:nvSpPr>
        <p:spPr>
          <a:xfrm>
            <a:off x="6665911" y="32488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74" name="Elipse 73"/>
          <p:cNvSpPr/>
          <p:nvPr/>
        </p:nvSpPr>
        <p:spPr>
          <a:xfrm>
            <a:off x="7623245" y="3248807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6" name="Elipse 75"/>
          <p:cNvSpPr/>
          <p:nvPr/>
        </p:nvSpPr>
        <p:spPr>
          <a:xfrm>
            <a:off x="7923055" y="3908892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77" name="CaixaDeTexto 76"/>
          <p:cNvSpPr txBox="1"/>
          <p:nvPr/>
        </p:nvSpPr>
        <p:spPr>
          <a:xfrm>
            <a:off x="7528180" y="1168156"/>
            <a:ext cx="129907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dirty="0"/>
              <a:t>Retrocede para continuar a busca</a:t>
            </a:r>
          </a:p>
        </p:txBody>
      </p:sp>
      <p:cxnSp>
        <p:nvCxnSpPr>
          <p:cNvPr id="78" name="Conector de seta reta 77"/>
          <p:cNvCxnSpPr/>
          <p:nvPr/>
        </p:nvCxnSpPr>
        <p:spPr>
          <a:xfrm flipH="1">
            <a:off x="4334212" y="4327960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018101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Exemplo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487030" y="3951361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3" name="Conector de seta reta 32"/>
          <p:cNvCxnSpPr/>
          <p:nvPr/>
        </p:nvCxnSpPr>
        <p:spPr>
          <a:xfrm flipH="1">
            <a:off x="447829" y="4327960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>
            <a:spLocks noChangeAspect="1"/>
          </p:cNvSpPr>
          <p:nvPr/>
        </p:nvSpPr>
        <p:spPr>
          <a:xfrm>
            <a:off x="2614391" y="3951360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7" name="Conector de seta reta 36"/>
          <p:cNvCxnSpPr/>
          <p:nvPr/>
        </p:nvCxnSpPr>
        <p:spPr>
          <a:xfrm flipH="1">
            <a:off x="2565126" y="4327960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>
            <a:spLocks noChangeAspect="1"/>
          </p:cNvSpPr>
          <p:nvPr/>
        </p:nvSpPr>
        <p:spPr>
          <a:xfrm>
            <a:off x="4373413" y="3951360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725501" y="3890165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725501" y="4174072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2848900" y="3890165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4616688" y="3890165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616688" y="4174072"/>
            <a:ext cx="1471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retorno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2848900" y="4174072"/>
            <a:ext cx="139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árvore</a:t>
            </a:r>
          </a:p>
        </p:txBody>
      </p: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de seta reta 103"/>
          <p:cNvCxnSpPr>
            <a:stCxn id="7" idx="6"/>
            <a:endCxn id="9" idx="1"/>
          </p:cNvCxnSpPr>
          <p:nvPr/>
        </p:nvCxnSpPr>
        <p:spPr>
          <a:xfrm>
            <a:off x="2309608" y="1561104"/>
            <a:ext cx="393124" cy="28825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106"/>
          <p:cNvCxnSpPr>
            <a:stCxn id="8" idx="6"/>
            <a:endCxn id="9" idx="3"/>
          </p:cNvCxnSpPr>
          <p:nvPr/>
        </p:nvCxnSpPr>
        <p:spPr>
          <a:xfrm flipV="1">
            <a:off x="2315659" y="2008430"/>
            <a:ext cx="387073" cy="29484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ela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1787550"/>
              </p:ext>
            </p:extLst>
          </p:nvPr>
        </p:nvGraphicFramePr>
        <p:xfrm>
          <a:off x="3353072" y="1312958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f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e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9" name="Elipse 168"/>
          <p:cNvSpPr/>
          <p:nvPr/>
        </p:nvSpPr>
        <p:spPr>
          <a:xfrm>
            <a:off x="7144577" y="156609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957676" y="2774208"/>
            <a:ext cx="23503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BP(e)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</a:t>
            </a:r>
            <a:r>
              <a:rPr lang="pt-BR" sz="1600" b="1" dirty="0">
                <a:solidFill>
                  <a:srgbClr val="00B0F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a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c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9" name="Elipse 8"/>
          <p:cNvSpPr/>
          <p:nvPr/>
        </p:nvSpPr>
        <p:spPr>
          <a:xfrm>
            <a:off x="2669035" y="1816410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c</a:t>
            </a:r>
          </a:p>
        </p:txBody>
      </p:sp>
      <p:cxnSp>
        <p:nvCxnSpPr>
          <p:cNvPr id="43" name="Conector de seta reta 42"/>
          <p:cNvCxnSpPr>
            <a:stCxn id="46" idx="0"/>
          </p:cNvCxnSpPr>
          <p:nvPr/>
        </p:nvCxnSpPr>
        <p:spPr>
          <a:xfrm flipH="1" flipV="1">
            <a:off x="7259626" y="1791063"/>
            <a:ext cx="1" cy="37113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lipse 45"/>
          <p:cNvSpPr/>
          <p:nvPr/>
        </p:nvSpPr>
        <p:spPr>
          <a:xfrm>
            <a:off x="7144578" y="2162193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48" name="CaixaDeTexto 47"/>
          <p:cNvSpPr txBox="1"/>
          <p:nvPr/>
        </p:nvSpPr>
        <p:spPr>
          <a:xfrm>
            <a:off x="957676" y="3077091"/>
            <a:ext cx="22281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BP(f) 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(f)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47" name="Conector de seta reta 46"/>
          <p:cNvCxnSpPr>
            <a:stCxn id="49" idx="0"/>
          </p:cNvCxnSpPr>
          <p:nvPr/>
        </p:nvCxnSpPr>
        <p:spPr>
          <a:xfrm flipV="1">
            <a:off x="7259627" y="2387158"/>
            <a:ext cx="0" cy="37087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/>
          <p:cNvSpPr/>
          <p:nvPr/>
        </p:nvSpPr>
        <p:spPr>
          <a:xfrm>
            <a:off x="7144578" y="275802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51" name="CaixaDeTexto 50"/>
          <p:cNvSpPr txBox="1"/>
          <p:nvPr/>
        </p:nvSpPr>
        <p:spPr>
          <a:xfrm>
            <a:off x="957676" y="3379974"/>
            <a:ext cx="24224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BP(b)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= { </a:t>
            </a:r>
            <a:r>
              <a:rPr lang="pt-BR" sz="1600" b="1" dirty="0">
                <a:solidFill>
                  <a:srgbClr val="00B0F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a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50" name="Conector de seta reta 49"/>
          <p:cNvCxnSpPr>
            <a:stCxn id="52" idx="7"/>
          </p:cNvCxnSpPr>
          <p:nvPr/>
        </p:nvCxnSpPr>
        <p:spPr>
          <a:xfrm flipV="1">
            <a:off x="6862311" y="2950048"/>
            <a:ext cx="315964" cy="33170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Elipse 51"/>
          <p:cNvSpPr/>
          <p:nvPr/>
        </p:nvSpPr>
        <p:spPr>
          <a:xfrm>
            <a:off x="6665911" y="324880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3248258" y="2769501"/>
            <a:ext cx="19704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BP(d)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53" name="Conector angulado 139"/>
          <p:cNvCxnSpPr/>
          <p:nvPr/>
        </p:nvCxnSpPr>
        <p:spPr>
          <a:xfrm rot="5400000" flipH="1" flipV="1">
            <a:off x="6475705" y="2579932"/>
            <a:ext cx="974129" cy="363618"/>
          </a:xfrm>
          <a:prstGeom prst="curvedConnector2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angulado 147"/>
          <p:cNvCxnSpPr/>
          <p:nvPr/>
        </p:nvCxnSpPr>
        <p:spPr>
          <a:xfrm>
            <a:off x="7374674" y="1678581"/>
            <a:ext cx="1" cy="1191930"/>
          </a:xfrm>
          <a:prstGeom prst="curvedConnector3">
            <a:avLst>
              <a:gd name="adj1" fmla="val 22860100000"/>
            </a:avLst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de seta reta 55"/>
          <p:cNvCxnSpPr>
            <a:stCxn id="57" idx="1"/>
          </p:cNvCxnSpPr>
          <p:nvPr/>
        </p:nvCxnSpPr>
        <p:spPr>
          <a:xfrm flipH="1" flipV="1">
            <a:off x="7340978" y="2950048"/>
            <a:ext cx="315964" cy="331703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Elipse 56"/>
          <p:cNvSpPr/>
          <p:nvPr/>
        </p:nvSpPr>
        <p:spPr>
          <a:xfrm>
            <a:off x="7623245" y="32488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60" name="CaixaDeTexto 59"/>
          <p:cNvSpPr txBox="1"/>
          <p:nvPr/>
        </p:nvSpPr>
        <p:spPr>
          <a:xfrm>
            <a:off x="3248258" y="3071371"/>
            <a:ext cx="22220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BP(a)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(a) 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c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62" name="Conector de seta reta 61"/>
          <p:cNvCxnSpPr>
            <a:stCxn id="63" idx="0"/>
            <a:endCxn id="57" idx="5"/>
          </p:cNvCxnSpPr>
          <p:nvPr/>
        </p:nvCxnSpPr>
        <p:spPr>
          <a:xfrm flipH="1" flipV="1">
            <a:off x="7819645" y="3440826"/>
            <a:ext cx="218459" cy="468065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Elipse 62"/>
          <p:cNvSpPr/>
          <p:nvPr/>
        </p:nvSpPr>
        <p:spPr>
          <a:xfrm>
            <a:off x="7923055" y="390889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1" name="CaixaDeTexto 60"/>
          <p:cNvSpPr txBox="1"/>
          <p:nvPr/>
        </p:nvSpPr>
        <p:spPr>
          <a:xfrm>
            <a:off x="3248258" y="3373241"/>
            <a:ext cx="20056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BP(c)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(c)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a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64" name="Conector angulado 161"/>
          <p:cNvCxnSpPr/>
          <p:nvPr/>
        </p:nvCxnSpPr>
        <p:spPr>
          <a:xfrm>
            <a:off x="7374674" y="1678581"/>
            <a:ext cx="778478" cy="2342793"/>
          </a:xfrm>
          <a:prstGeom prst="curvedConnector3">
            <a:avLst>
              <a:gd name="adj1" fmla="val 129365"/>
            </a:avLst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angulado 158"/>
          <p:cNvCxnSpPr/>
          <p:nvPr/>
        </p:nvCxnSpPr>
        <p:spPr>
          <a:xfrm flipH="1" flipV="1">
            <a:off x="7374674" y="1678581"/>
            <a:ext cx="478668" cy="1682708"/>
          </a:xfrm>
          <a:prstGeom prst="curvedConnector3">
            <a:avLst>
              <a:gd name="adj1" fmla="val -47758"/>
            </a:avLst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de seta reta 64"/>
          <p:cNvCxnSpPr/>
          <p:nvPr/>
        </p:nvCxnSpPr>
        <p:spPr>
          <a:xfrm flipH="1">
            <a:off x="7370517" y="1456406"/>
            <a:ext cx="231759" cy="1016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CaixaDeTexto 67"/>
          <p:cNvSpPr txBox="1"/>
          <p:nvPr/>
        </p:nvSpPr>
        <p:spPr>
          <a:xfrm>
            <a:off x="6510772" y="4166243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69" name="Conector reto 68"/>
          <p:cNvCxnSpPr/>
          <p:nvPr/>
        </p:nvCxnSpPr>
        <p:spPr>
          <a:xfrm>
            <a:off x="6447710" y="1393377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Elipse 69"/>
          <p:cNvSpPr/>
          <p:nvPr/>
        </p:nvSpPr>
        <p:spPr>
          <a:xfrm>
            <a:off x="7144577" y="156609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71" name="Elipse 70"/>
          <p:cNvSpPr/>
          <p:nvPr/>
        </p:nvSpPr>
        <p:spPr>
          <a:xfrm>
            <a:off x="7144578" y="216219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72" name="Elipse 71"/>
          <p:cNvSpPr/>
          <p:nvPr/>
        </p:nvSpPr>
        <p:spPr>
          <a:xfrm>
            <a:off x="7144578" y="275802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3" name="Elipse 72"/>
          <p:cNvSpPr/>
          <p:nvPr/>
        </p:nvSpPr>
        <p:spPr>
          <a:xfrm>
            <a:off x="6665911" y="32488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74" name="Elipse 73"/>
          <p:cNvSpPr/>
          <p:nvPr/>
        </p:nvSpPr>
        <p:spPr>
          <a:xfrm>
            <a:off x="7623245" y="3248807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6" name="Elipse 75"/>
          <p:cNvSpPr/>
          <p:nvPr/>
        </p:nvSpPr>
        <p:spPr>
          <a:xfrm>
            <a:off x="7923055" y="3908892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77" name="CaixaDeTexto 76"/>
          <p:cNvSpPr txBox="1"/>
          <p:nvPr/>
        </p:nvSpPr>
        <p:spPr>
          <a:xfrm>
            <a:off x="7528180" y="1168156"/>
            <a:ext cx="129907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dirty="0"/>
              <a:t>Retrocede para continuar a busca</a:t>
            </a:r>
          </a:p>
        </p:txBody>
      </p:sp>
      <p:cxnSp>
        <p:nvCxnSpPr>
          <p:cNvPr id="78" name="Conector de seta reta 77"/>
          <p:cNvCxnSpPr/>
          <p:nvPr/>
        </p:nvCxnSpPr>
        <p:spPr>
          <a:xfrm flipH="1">
            <a:off x="4334212" y="4327960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339701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Exemplo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487030" y="3951361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3" name="Conector de seta reta 32"/>
          <p:cNvCxnSpPr/>
          <p:nvPr/>
        </p:nvCxnSpPr>
        <p:spPr>
          <a:xfrm flipH="1">
            <a:off x="447829" y="4327960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>
            <a:spLocks noChangeAspect="1"/>
          </p:cNvSpPr>
          <p:nvPr/>
        </p:nvSpPr>
        <p:spPr>
          <a:xfrm>
            <a:off x="2614391" y="3951360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6" name="Conector de seta reta 35"/>
          <p:cNvCxnSpPr/>
          <p:nvPr/>
        </p:nvCxnSpPr>
        <p:spPr>
          <a:xfrm flipH="1">
            <a:off x="4334212" y="4327960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de seta reta 36"/>
          <p:cNvCxnSpPr/>
          <p:nvPr/>
        </p:nvCxnSpPr>
        <p:spPr>
          <a:xfrm flipH="1">
            <a:off x="2565126" y="4327960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>
            <a:spLocks noChangeAspect="1"/>
          </p:cNvSpPr>
          <p:nvPr/>
        </p:nvSpPr>
        <p:spPr>
          <a:xfrm>
            <a:off x="4373413" y="3951360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725501" y="3890165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725501" y="4174072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2848900" y="3890165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4616688" y="3890165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616688" y="4174072"/>
            <a:ext cx="1471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retorno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2848900" y="4174072"/>
            <a:ext cx="139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árvore</a:t>
            </a:r>
          </a:p>
        </p:txBody>
      </p: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de seta reta 103"/>
          <p:cNvCxnSpPr>
            <a:stCxn id="7" idx="6"/>
            <a:endCxn id="9" idx="1"/>
          </p:cNvCxnSpPr>
          <p:nvPr/>
        </p:nvCxnSpPr>
        <p:spPr>
          <a:xfrm>
            <a:off x="2309608" y="1561104"/>
            <a:ext cx="393124" cy="28825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106"/>
          <p:cNvCxnSpPr>
            <a:stCxn id="8" idx="6"/>
            <a:endCxn id="9" idx="3"/>
          </p:cNvCxnSpPr>
          <p:nvPr/>
        </p:nvCxnSpPr>
        <p:spPr>
          <a:xfrm flipV="1">
            <a:off x="2315659" y="2008430"/>
            <a:ext cx="387073" cy="29484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ela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7721315"/>
              </p:ext>
            </p:extLst>
          </p:nvPr>
        </p:nvGraphicFramePr>
        <p:xfrm>
          <a:off x="3353072" y="1312958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f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e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9" name="Elipse 168"/>
          <p:cNvSpPr/>
          <p:nvPr/>
        </p:nvSpPr>
        <p:spPr>
          <a:xfrm>
            <a:off x="7144577" y="156609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957676" y="2774208"/>
            <a:ext cx="23968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BP(e)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</a:t>
            </a:r>
            <a:r>
              <a:rPr lang="pt-BR" sz="1600" b="1" dirty="0">
                <a:solidFill>
                  <a:srgbClr val="00B0F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a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c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9" name="Elipse 8"/>
          <p:cNvSpPr/>
          <p:nvPr/>
        </p:nvSpPr>
        <p:spPr>
          <a:xfrm>
            <a:off x="2669035" y="1816410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c</a:t>
            </a:r>
          </a:p>
        </p:txBody>
      </p:sp>
      <p:cxnSp>
        <p:nvCxnSpPr>
          <p:cNvPr id="43" name="Conector de seta reta 42"/>
          <p:cNvCxnSpPr>
            <a:stCxn id="46" idx="0"/>
          </p:cNvCxnSpPr>
          <p:nvPr/>
        </p:nvCxnSpPr>
        <p:spPr>
          <a:xfrm flipH="1" flipV="1">
            <a:off x="7259626" y="1791063"/>
            <a:ext cx="1" cy="37113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lipse 45"/>
          <p:cNvSpPr/>
          <p:nvPr/>
        </p:nvSpPr>
        <p:spPr>
          <a:xfrm>
            <a:off x="7144578" y="2162193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48" name="CaixaDeTexto 47"/>
          <p:cNvSpPr txBox="1"/>
          <p:nvPr/>
        </p:nvSpPr>
        <p:spPr>
          <a:xfrm>
            <a:off x="957676" y="3077091"/>
            <a:ext cx="22281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BP(f) 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(f)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47" name="Conector de seta reta 46"/>
          <p:cNvCxnSpPr>
            <a:stCxn id="49" idx="0"/>
          </p:cNvCxnSpPr>
          <p:nvPr/>
        </p:nvCxnSpPr>
        <p:spPr>
          <a:xfrm flipV="1">
            <a:off x="7259627" y="2387158"/>
            <a:ext cx="0" cy="37087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/>
          <p:cNvSpPr/>
          <p:nvPr/>
        </p:nvSpPr>
        <p:spPr>
          <a:xfrm>
            <a:off x="7144578" y="275802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51" name="CaixaDeTexto 50"/>
          <p:cNvSpPr txBox="1"/>
          <p:nvPr/>
        </p:nvSpPr>
        <p:spPr>
          <a:xfrm>
            <a:off x="957676" y="3379974"/>
            <a:ext cx="24224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BP(b)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= { </a:t>
            </a:r>
            <a:r>
              <a:rPr lang="pt-BR" sz="1600" b="1" dirty="0">
                <a:solidFill>
                  <a:srgbClr val="00B0F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a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50" name="Conector de seta reta 49"/>
          <p:cNvCxnSpPr>
            <a:stCxn id="52" idx="7"/>
          </p:cNvCxnSpPr>
          <p:nvPr/>
        </p:nvCxnSpPr>
        <p:spPr>
          <a:xfrm flipV="1">
            <a:off x="6862311" y="2950048"/>
            <a:ext cx="315964" cy="33170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Elipse 51"/>
          <p:cNvSpPr/>
          <p:nvPr/>
        </p:nvSpPr>
        <p:spPr>
          <a:xfrm>
            <a:off x="6665911" y="324880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3248258" y="2769501"/>
            <a:ext cx="19704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BP(d)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53" name="Conector angulado 139"/>
          <p:cNvCxnSpPr/>
          <p:nvPr/>
        </p:nvCxnSpPr>
        <p:spPr>
          <a:xfrm rot="5400000" flipH="1" flipV="1">
            <a:off x="6475705" y="2579932"/>
            <a:ext cx="974129" cy="363618"/>
          </a:xfrm>
          <a:prstGeom prst="curvedConnector2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angulado 147"/>
          <p:cNvCxnSpPr/>
          <p:nvPr/>
        </p:nvCxnSpPr>
        <p:spPr>
          <a:xfrm>
            <a:off x="7374674" y="1678581"/>
            <a:ext cx="1" cy="1191930"/>
          </a:xfrm>
          <a:prstGeom prst="curvedConnector3">
            <a:avLst>
              <a:gd name="adj1" fmla="val 22860100000"/>
            </a:avLst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de seta reta 55"/>
          <p:cNvCxnSpPr>
            <a:stCxn id="57" idx="1"/>
          </p:cNvCxnSpPr>
          <p:nvPr/>
        </p:nvCxnSpPr>
        <p:spPr>
          <a:xfrm flipH="1" flipV="1">
            <a:off x="7340978" y="2950048"/>
            <a:ext cx="315964" cy="331703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Elipse 56"/>
          <p:cNvSpPr/>
          <p:nvPr/>
        </p:nvSpPr>
        <p:spPr>
          <a:xfrm>
            <a:off x="7623245" y="32488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60" name="CaixaDeTexto 59"/>
          <p:cNvSpPr txBox="1"/>
          <p:nvPr/>
        </p:nvSpPr>
        <p:spPr>
          <a:xfrm>
            <a:off x="3248258" y="3071371"/>
            <a:ext cx="22220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BP(a)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(a) 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c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62" name="Conector de seta reta 61"/>
          <p:cNvCxnSpPr>
            <a:stCxn id="63" idx="0"/>
            <a:endCxn id="57" idx="5"/>
          </p:cNvCxnSpPr>
          <p:nvPr/>
        </p:nvCxnSpPr>
        <p:spPr>
          <a:xfrm flipH="1" flipV="1">
            <a:off x="7819645" y="3440826"/>
            <a:ext cx="218459" cy="468065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Elipse 62"/>
          <p:cNvSpPr/>
          <p:nvPr/>
        </p:nvSpPr>
        <p:spPr>
          <a:xfrm>
            <a:off x="7923055" y="390889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1" name="CaixaDeTexto 60"/>
          <p:cNvSpPr txBox="1"/>
          <p:nvPr/>
        </p:nvSpPr>
        <p:spPr>
          <a:xfrm>
            <a:off x="3248258" y="3373241"/>
            <a:ext cx="20056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BP(c)  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(c)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a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64" name="Conector angulado 161"/>
          <p:cNvCxnSpPr/>
          <p:nvPr/>
        </p:nvCxnSpPr>
        <p:spPr>
          <a:xfrm>
            <a:off x="7374674" y="1678581"/>
            <a:ext cx="778478" cy="2342793"/>
          </a:xfrm>
          <a:prstGeom prst="curvedConnector3">
            <a:avLst>
              <a:gd name="adj1" fmla="val 129365"/>
            </a:avLst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angulado 158"/>
          <p:cNvCxnSpPr/>
          <p:nvPr/>
        </p:nvCxnSpPr>
        <p:spPr>
          <a:xfrm flipH="1" flipV="1">
            <a:off x="7374674" y="1678581"/>
            <a:ext cx="478668" cy="1682708"/>
          </a:xfrm>
          <a:prstGeom prst="curvedConnector3">
            <a:avLst>
              <a:gd name="adj1" fmla="val -47758"/>
            </a:avLst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ixaDeTexto 2"/>
          <p:cNvSpPr txBox="1"/>
          <p:nvPr/>
        </p:nvSpPr>
        <p:spPr>
          <a:xfrm>
            <a:off x="6510772" y="4166243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11" name="Conector reto 10"/>
          <p:cNvCxnSpPr/>
          <p:nvPr/>
        </p:nvCxnSpPr>
        <p:spPr>
          <a:xfrm>
            <a:off x="6447710" y="1393377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Elipse 58"/>
          <p:cNvSpPr/>
          <p:nvPr/>
        </p:nvSpPr>
        <p:spPr>
          <a:xfrm>
            <a:off x="7144577" y="156609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5" name="Elipse 64"/>
          <p:cNvSpPr/>
          <p:nvPr/>
        </p:nvSpPr>
        <p:spPr>
          <a:xfrm>
            <a:off x="7144578" y="216219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68" name="Elipse 67"/>
          <p:cNvSpPr/>
          <p:nvPr/>
        </p:nvSpPr>
        <p:spPr>
          <a:xfrm>
            <a:off x="7144578" y="275802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69" name="Elipse 68"/>
          <p:cNvSpPr/>
          <p:nvPr/>
        </p:nvSpPr>
        <p:spPr>
          <a:xfrm>
            <a:off x="6665911" y="32488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70" name="Elipse 69"/>
          <p:cNvSpPr/>
          <p:nvPr/>
        </p:nvSpPr>
        <p:spPr>
          <a:xfrm>
            <a:off x="7623245" y="3248807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1" name="Elipse 70"/>
          <p:cNvSpPr/>
          <p:nvPr/>
        </p:nvSpPr>
        <p:spPr>
          <a:xfrm>
            <a:off x="7923055" y="3908892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51093376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Intervalos de Vida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5" y="1203960"/>
            <a:ext cx="8407929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Ao final da busca em profundidade, TD[</a:t>
            </a:r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 &lt; TT[</a:t>
            </a:r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], para um dado vértice </a:t>
            </a:r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pPr>
              <a:spcAft>
                <a:spcPts val="1200"/>
              </a:spcAft>
            </a:pP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 vértice </a:t>
            </a:r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é dito ativo ou “vivo” durante o intervalo [TD[</a:t>
            </a:r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], TT[</a:t>
            </a:r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]] e ao final do intervalo se diz que o vértice </a:t>
            </a:r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“morre”.</a:t>
            </a:r>
          </a:p>
          <a:p>
            <a:pPr>
              <a:spcAft>
                <a:spcPts val="1200"/>
              </a:spcAft>
            </a:pP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Qualquer outro vértice </a:t>
            </a:r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descoberto durante o intervalo de vida de </a:t>
            </a:r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“morre” antes do final do intervalo de vida de </a:t>
            </a:r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pPr>
              <a:spcAft>
                <a:spcPts val="1200"/>
              </a:spcAft>
            </a:pP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Portanto, os intervalos de vida de todos os vértices são encaixados (contidos) uns dentro dos outros. </a:t>
            </a:r>
          </a:p>
          <a:p>
            <a:pPr>
              <a:spcAft>
                <a:spcPts val="1200"/>
              </a:spcAft>
            </a:pP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 vértice </a:t>
            </a:r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é descendente do vértice v se e somente se seu intervalo de vida está contido no intervalo de </a:t>
            </a:r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48405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Intervalos de Vida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5" y="1203960"/>
            <a:ext cx="8407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cxnSp>
        <p:nvCxnSpPr>
          <p:cNvPr id="4" name="Conector de seta reta 3"/>
          <p:cNvCxnSpPr>
            <a:stCxn id="17" idx="4"/>
            <a:endCxn id="16" idx="0"/>
          </p:cNvCxnSpPr>
          <p:nvPr/>
        </p:nvCxnSpPr>
        <p:spPr>
          <a:xfrm flipH="1">
            <a:off x="1525006" y="1750854"/>
            <a:ext cx="3816" cy="51514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de seta reta 5"/>
          <p:cNvCxnSpPr>
            <a:stCxn id="17" idx="6"/>
            <a:endCxn id="18" idx="2"/>
          </p:cNvCxnSpPr>
          <p:nvPr/>
        </p:nvCxnSpPr>
        <p:spPr>
          <a:xfrm flipV="1">
            <a:off x="1643870" y="1633378"/>
            <a:ext cx="695078" cy="4994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/>
          <p:cNvSpPr txBox="1"/>
          <p:nvPr/>
        </p:nvSpPr>
        <p:spPr>
          <a:xfrm>
            <a:off x="849749" y="1388626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8" name="Conector de seta reta 7"/>
          <p:cNvCxnSpPr>
            <a:stCxn id="16" idx="6"/>
            <a:endCxn id="19" idx="2"/>
          </p:cNvCxnSpPr>
          <p:nvPr/>
        </p:nvCxnSpPr>
        <p:spPr>
          <a:xfrm flipV="1">
            <a:off x="1640054" y="2375552"/>
            <a:ext cx="704945" cy="2926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de seta reta 8"/>
          <p:cNvCxnSpPr>
            <a:stCxn id="18" idx="4"/>
            <a:endCxn id="19" idx="0"/>
          </p:cNvCxnSpPr>
          <p:nvPr/>
        </p:nvCxnSpPr>
        <p:spPr>
          <a:xfrm>
            <a:off x="2453997" y="1745860"/>
            <a:ext cx="6051" cy="517209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/>
          <p:cNvCxnSpPr>
            <a:stCxn id="16" idx="7"/>
            <a:endCxn id="18" idx="3"/>
          </p:cNvCxnSpPr>
          <p:nvPr/>
        </p:nvCxnSpPr>
        <p:spPr>
          <a:xfrm flipV="1">
            <a:off x="1606357" y="1712915"/>
            <a:ext cx="766288" cy="586025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stCxn id="17" idx="2"/>
            <a:endCxn id="21" idx="7"/>
          </p:cNvCxnSpPr>
          <p:nvPr/>
        </p:nvCxnSpPr>
        <p:spPr>
          <a:xfrm flipH="1">
            <a:off x="1027114" y="1638372"/>
            <a:ext cx="386659" cy="286553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stCxn id="16" idx="2"/>
            <a:endCxn id="21" idx="5"/>
          </p:cNvCxnSpPr>
          <p:nvPr/>
        </p:nvCxnSpPr>
        <p:spPr>
          <a:xfrm flipH="1" flipV="1">
            <a:off x="1027114" y="2084000"/>
            <a:ext cx="382843" cy="29447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18" idx="6"/>
            <a:endCxn id="20" idx="1"/>
          </p:cNvCxnSpPr>
          <p:nvPr/>
        </p:nvCxnSpPr>
        <p:spPr>
          <a:xfrm>
            <a:off x="2569045" y="1633378"/>
            <a:ext cx="393124" cy="28825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19" idx="6"/>
            <a:endCxn id="20" idx="3"/>
          </p:cNvCxnSpPr>
          <p:nvPr/>
        </p:nvCxnSpPr>
        <p:spPr>
          <a:xfrm flipV="1">
            <a:off x="2575096" y="2080704"/>
            <a:ext cx="387073" cy="29484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abela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1187266"/>
              </p:ext>
            </p:extLst>
          </p:nvPr>
        </p:nvGraphicFramePr>
        <p:xfrm>
          <a:off x="504264" y="2868555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f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e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Elipse 15"/>
          <p:cNvSpPr/>
          <p:nvPr/>
        </p:nvSpPr>
        <p:spPr>
          <a:xfrm>
            <a:off x="1409957" y="2265995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7" name="Elipse 16"/>
          <p:cNvSpPr/>
          <p:nvPr/>
        </p:nvSpPr>
        <p:spPr>
          <a:xfrm>
            <a:off x="1413773" y="1525889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8" name="Elipse 17"/>
          <p:cNvSpPr/>
          <p:nvPr/>
        </p:nvSpPr>
        <p:spPr>
          <a:xfrm>
            <a:off x="2338948" y="1520895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9" name="Elipse 18"/>
          <p:cNvSpPr/>
          <p:nvPr/>
        </p:nvSpPr>
        <p:spPr>
          <a:xfrm>
            <a:off x="2344999" y="2263069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20" name="Elipse 19"/>
          <p:cNvSpPr/>
          <p:nvPr/>
        </p:nvSpPr>
        <p:spPr>
          <a:xfrm>
            <a:off x="2928472" y="1888684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21" name="Elipse 20"/>
          <p:cNvSpPr/>
          <p:nvPr/>
        </p:nvSpPr>
        <p:spPr>
          <a:xfrm>
            <a:off x="830714" y="1891980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c</a:t>
            </a:r>
          </a:p>
        </p:txBody>
      </p:sp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2755110"/>
              </p:ext>
            </p:extLst>
          </p:nvPr>
        </p:nvGraphicFramePr>
        <p:xfrm>
          <a:off x="4062447" y="1656297"/>
          <a:ext cx="4570130" cy="2364802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597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68001">
                <a:tc rowSpan="2"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Vértice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Tempo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001">
                <a:tc vMerge="1"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cxnSp>
        <p:nvCxnSpPr>
          <p:cNvPr id="23" name="Conector de seta reta 22"/>
          <p:cNvCxnSpPr/>
          <p:nvPr/>
        </p:nvCxnSpPr>
        <p:spPr>
          <a:xfrm>
            <a:off x="3920357" y="2237832"/>
            <a:ext cx="12613" cy="1783267"/>
          </a:xfrm>
          <a:prstGeom prst="straightConnector1">
            <a:avLst/>
          </a:prstGeom>
          <a:ln w="22225"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aixaDeTexto 27"/>
          <p:cNvSpPr txBox="1"/>
          <p:nvPr/>
        </p:nvSpPr>
        <p:spPr>
          <a:xfrm rot="16200000">
            <a:off x="2869395" y="2949106"/>
            <a:ext cx="18669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Em ordem crescente de TD</a:t>
            </a:r>
          </a:p>
        </p:txBody>
      </p:sp>
    </p:spTree>
    <p:extLst>
      <p:ext uri="{BB962C8B-B14F-4D97-AF65-F5344CB8AC3E}">
        <p14:creationId xmlns:p14="http://schemas.microsoft.com/office/powerpoint/2010/main" val="121413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Intervalos de Vida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5" y="1203960"/>
            <a:ext cx="8407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cxnSp>
        <p:nvCxnSpPr>
          <p:cNvPr id="4" name="Conector de seta reta 3"/>
          <p:cNvCxnSpPr>
            <a:stCxn id="17" idx="4"/>
            <a:endCxn id="16" idx="0"/>
          </p:cNvCxnSpPr>
          <p:nvPr/>
        </p:nvCxnSpPr>
        <p:spPr>
          <a:xfrm flipH="1">
            <a:off x="1525006" y="1750854"/>
            <a:ext cx="3816" cy="51514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de seta reta 5"/>
          <p:cNvCxnSpPr>
            <a:stCxn id="17" idx="6"/>
            <a:endCxn id="18" idx="2"/>
          </p:cNvCxnSpPr>
          <p:nvPr/>
        </p:nvCxnSpPr>
        <p:spPr>
          <a:xfrm flipV="1">
            <a:off x="1643870" y="1633378"/>
            <a:ext cx="695078" cy="4994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/>
          <p:cNvSpPr txBox="1"/>
          <p:nvPr/>
        </p:nvSpPr>
        <p:spPr>
          <a:xfrm>
            <a:off x="849749" y="1388626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8" name="Conector de seta reta 7"/>
          <p:cNvCxnSpPr>
            <a:stCxn id="16" idx="6"/>
            <a:endCxn id="19" idx="2"/>
          </p:cNvCxnSpPr>
          <p:nvPr/>
        </p:nvCxnSpPr>
        <p:spPr>
          <a:xfrm flipV="1">
            <a:off x="1640054" y="2375552"/>
            <a:ext cx="704945" cy="2926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de seta reta 8"/>
          <p:cNvCxnSpPr>
            <a:stCxn id="18" idx="4"/>
            <a:endCxn id="19" idx="0"/>
          </p:cNvCxnSpPr>
          <p:nvPr/>
        </p:nvCxnSpPr>
        <p:spPr>
          <a:xfrm>
            <a:off x="2453997" y="1745860"/>
            <a:ext cx="6051" cy="517209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/>
          <p:cNvCxnSpPr>
            <a:stCxn id="16" idx="7"/>
            <a:endCxn id="18" idx="3"/>
          </p:cNvCxnSpPr>
          <p:nvPr/>
        </p:nvCxnSpPr>
        <p:spPr>
          <a:xfrm flipV="1">
            <a:off x="1606357" y="1712915"/>
            <a:ext cx="766288" cy="586025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stCxn id="17" idx="2"/>
            <a:endCxn id="21" idx="7"/>
          </p:cNvCxnSpPr>
          <p:nvPr/>
        </p:nvCxnSpPr>
        <p:spPr>
          <a:xfrm flipH="1">
            <a:off x="1027114" y="1638372"/>
            <a:ext cx="386659" cy="286553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stCxn id="16" idx="2"/>
            <a:endCxn id="21" idx="5"/>
          </p:cNvCxnSpPr>
          <p:nvPr/>
        </p:nvCxnSpPr>
        <p:spPr>
          <a:xfrm flipH="1" flipV="1">
            <a:off x="1027114" y="2084000"/>
            <a:ext cx="382843" cy="29447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18" idx="6"/>
            <a:endCxn id="20" idx="1"/>
          </p:cNvCxnSpPr>
          <p:nvPr/>
        </p:nvCxnSpPr>
        <p:spPr>
          <a:xfrm>
            <a:off x="2569045" y="1633378"/>
            <a:ext cx="393124" cy="28825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19" idx="6"/>
            <a:endCxn id="20" idx="3"/>
          </p:cNvCxnSpPr>
          <p:nvPr/>
        </p:nvCxnSpPr>
        <p:spPr>
          <a:xfrm flipV="1">
            <a:off x="2575096" y="2080704"/>
            <a:ext cx="387073" cy="29484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abela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1187266"/>
              </p:ext>
            </p:extLst>
          </p:nvPr>
        </p:nvGraphicFramePr>
        <p:xfrm>
          <a:off x="504264" y="2868555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f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e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Elipse 15"/>
          <p:cNvSpPr/>
          <p:nvPr/>
        </p:nvSpPr>
        <p:spPr>
          <a:xfrm>
            <a:off x="1409957" y="2265995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7" name="Elipse 16"/>
          <p:cNvSpPr/>
          <p:nvPr/>
        </p:nvSpPr>
        <p:spPr>
          <a:xfrm>
            <a:off x="1413773" y="1525889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8" name="Elipse 17"/>
          <p:cNvSpPr/>
          <p:nvPr/>
        </p:nvSpPr>
        <p:spPr>
          <a:xfrm>
            <a:off x="2338948" y="1520895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9" name="Elipse 18"/>
          <p:cNvSpPr/>
          <p:nvPr/>
        </p:nvSpPr>
        <p:spPr>
          <a:xfrm>
            <a:off x="2344999" y="2263069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20" name="Elipse 19"/>
          <p:cNvSpPr/>
          <p:nvPr/>
        </p:nvSpPr>
        <p:spPr>
          <a:xfrm>
            <a:off x="2928472" y="1888684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21" name="Elipse 20"/>
          <p:cNvSpPr/>
          <p:nvPr/>
        </p:nvSpPr>
        <p:spPr>
          <a:xfrm>
            <a:off x="830714" y="1891980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c</a:t>
            </a:r>
          </a:p>
        </p:txBody>
      </p:sp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4988908"/>
              </p:ext>
            </p:extLst>
          </p:nvPr>
        </p:nvGraphicFramePr>
        <p:xfrm>
          <a:off x="4062447" y="1656297"/>
          <a:ext cx="4570130" cy="2364802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597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68001">
                <a:tc rowSpan="2"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Vértice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Tempo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001">
                <a:tc vMerge="1"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cxnSp>
        <p:nvCxnSpPr>
          <p:cNvPr id="23" name="Conector de seta reta 22"/>
          <p:cNvCxnSpPr/>
          <p:nvPr/>
        </p:nvCxnSpPr>
        <p:spPr>
          <a:xfrm>
            <a:off x="3920357" y="2237832"/>
            <a:ext cx="12613" cy="1783267"/>
          </a:xfrm>
          <a:prstGeom prst="straightConnector1">
            <a:avLst/>
          </a:prstGeom>
          <a:ln w="22225"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aixaDeTexto 27"/>
          <p:cNvSpPr txBox="1"/>
          <p:nvPr/>
        </p:nvSpPr>
        <p:spPr>
          <a:xfrm rot="16200000">
            <a:off x="2869395" y="2949106"/>
            <a:ext cx="18669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Em ordem crescente de TD</a:t>
            </a:r>
          </a:p>
        </p:txBody>
      </p:sp>
    </p:spTree>
    <p:extLst>
      <p:ext uri="{BB962C8B-B14F-4D97-AF65-F5344CB8AC3E}">
        <p14:creationId xmlns:p14="http://schemas.microsoft.com/office/powerpoint/2010/main" val="4271134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Intervalos de Vida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5" y="1203960"/>
            <a:ext cx="8407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cxnSp>
        <p:nvCxnSpPr>
          <p:cNvPr id="4" name="Conector de seta reta 3"/>
          <p:cNvCxnSpPr>
            <a:stCxn id="17" idx="4"/>
            <a:endCxn id="16" idx="0"/>
          </p:cNvCxnSpPr>
          <p:nvPr/>
        </p:nvCxnSpPr>
        <p:spPr>
          <a:xfrm flipH="1">
            <a:off x="1525006" y="1750854"/>
            <a:ext cx="3816" cy="51514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de seta reta 5"/>
          <p:cNvCxnSpPr>
            <a:stCxn id="17" idx="6"/>
            <a:endCxn id="18" idx="2"/>
          </p:cNvCxnSpPr>
          <p:nvPr/>
        </p:nvCxnSpPr>
        <p:spPr>
          <a:xfrm flipV="1">
            <a:off x="1643870" y="1633378"/>
            <a:ext cx="695078" cy="4994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/>
          <p:cNvSpPr txBox="1"/>
          <p:nvPr/>
        </p:nvSpPr>
        <p:spPr>
          <a:xfrm>
            <a:off x="849749" y="1388626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8" name="Conector de seta reta 7"/>
          <p:cNvCxnSpPr>
            <a:stCxn id="16" idx="6"/>
            <a:endCxn id="19" idx="2"/>
          </p:cNvCxnSpPr>
          <p:nvPr/>
        </p:nvCxnSpPr>
        <p:spPr>
          <a:xfrm flipV="1">
            <a:off x="1640054" y="2375552"/>
            <a:ext cx="704945" cy="2926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de seta reta 8"/>
          <p:cNvCxnSpPr>
            <a:stCxn id="18" idx="4"/>
            <a:endCxn id="19" idx="0"/>
          </p:cNvCxnSpPr>
          <p:nvPr/>
        </p:nvCxnSpPr>
        <p:spPr>
          <a:xfrm>
            <a:off x="2453997" y="1745860"/>
            <a:ext cx="6051" cy="517209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/>
          <p:cNvCxnSpPr>
            <a:stCxn id="16" idx="7"/>
            <a:endCxn id="18" idx="3"/>
          </p:cNvCxnSpPr>
          <p:nvPr/>
        </p:nvCxnSpPr>
        <p:spPr>
          <a:xfrm flipV="1">
            <a:off x="1606357" y="1712915"/>
            <a:ext cx="766288" cy="586025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stCxn id="17" idx="2"/>
            <a:endCxn id="21" idx="7"/>
          </p:cNvCxnSpPr>
          <p:nvPr/>
        </p:nvCxnSpPr>
        <p:spPr>
          <a:xfrm flipH="1">
            <a:off x="1027114" y="1638372"/>
            <a:ext cx="386659" cy="286553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stCxn id="16" idx="2"/>
            <a:endCxn id="21" idx="5"/>
          </p:cNvCxnSpPr>
          <p:nvPr/>
        </p:nvCxnSpPr>
        <p:spPr>
          <a:xfrm flipH="1" flipV="1">
            <a:off x="1027114" y="2084000"/>
            <a:ext cx="382843" cy="29447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18" idx="6"/>
            <a:endCxn id="20" idx="1"/>
          </p:cNvCxnSpPr>
          <p:nvPr/>
        </p:nvCxnSpPr>
        <p:spPr>
          <a:xfrm>
            <a:off x="2569045" y="1633378"/>
            <a:ext cx="393124" cy="28825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19" idx="6"/>
            <a:endCxn id="20" idx="3"/>
          </p:cNvCxnSpPr>
          <p:nvPr/>
        </p:nvCxnSpPr>
        <p:spPr>
          <a:xfrm flipV="1">
            <a:off x="2575096" y="2080704"/>
            <a:ext cx="387073" cy="29484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abela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1187266"/>
              </p:ext>
            </p:extLst>
          </p:nvPr>
        </p:nvGraphicFramePr>
        <p:xfrm>
          <a:off x="504264" y="2868555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f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e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Elipse 15"/>
          <p:cNvSpPr/>
          <p:nvPr/>
        </p:nvSpPr>
        <p:spPr>
          <a:xfrm>
            <a:off x="1409957" y="2265995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7" name="Elipse 16"/>
          <p:cNvSpPr/>
          <p:nvPr/>
        </p:nvSpPr>
        <p:spPr>
          <a:xfrm>
            <a:off x="1413773" y="1525889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8" name="Elipse 17"/>
          <p:cNvSpPr/>
          <p:nvPr/>
        </p:nvSpPr>
        <p:spPr>
          <a:xfrm>
            <a:off x="2338948" y="1520895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9" name="Elipse 18"/>
          <p:cNvSpPr/>
          <p:nvPr/>
        </p:nvSpPr>
        <p:spPr>
          <a:xfrm>
            <a:off x="2344999" y="2263069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20" name="Elipse 19"/>
          <p:cNvSpPr/>
          <p:nvPr/>
        </p:nvSpPr>
        <p:spPr>
          <a:xfrm>
            <a:off x="2928472" y="1888684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21" name="Elipse 20"/>
          <p:cNvSpPr/>
          <p:nvPr/>
        </p:nvSpPr>
        <p:spPr>
          <a:xfrm>
            <a:off x="830714" y="1891980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c</a:t>
            </a:r>
          </a:p>
        </p:txBody>
      </p:sp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3478414"/>
              </p:ext>
            </p:extLst>
          </p:nvPr>
        </p:nvGraphicFramePr>
        <p:xfrm>
          <a:off x="4062447" y="1656297"/>
          <a:ext cx="4570130" cy="2364802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597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68001">
                <a:tc rowSpan="2"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Vértice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Tempo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001">
                <a:tc vMerge="1"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cxnSp>
        <p:nvCxnSpPr>
          <p:cNvPr id="23" name="Conector de seta reta 22"/>
          <p:cNvCxnSpPr/>
          <p:nvPr/>
        </p:nvCxnSpPr>
        <p:spPr>
          <a:xfrm>
            <a:off x="3920357" y="2237832"/>
            <a:ext cx="12613" cy="1783267"/>
          </a:xfrm>
          <a:prstGeom prst="straightConnector1">
            <a:avLst/>
          </a:prstGeom>
          <a:ln w="22225"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aixaDeTexto 27"/>
          <p:cNvSpPr txBox="1"/>
          <p:nvPr/>
        </p:nvSpPr>
        <p:spPr>
          <a:xfrm rot="16200000">
            <a:off x="2869395" y="2949106"/>
            <a:ext cx="18669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Em ordem crescente de TD</a:t>
            </a:r>
          </a:p>
        </p:txBody>
      </p:sp>
    </p:spTree>
    <p:extLst>
      <p:ext uri="{BB962C8B-B14F-4D97-AF65-F5344CB8AC3E}">
        <p14:creationId xmlns:p14="http://schemas.microsoft.com/office/powerpoint/2010/main" val="776611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Intervalos de Vida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5" y="1203960"/>
            <a:ext cx="8407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cxnSp>
        <p:nvCxnSpPr>
          <p:cNvPr id="4" name="Conector de seta reta 3"/>
          <p:cNvCxnSpPr>
            <a:stCxn id="17" idx="4"/>
            <a:endCxn id="16" idx="0"/>
          </p:cNvCxnSpPr>
          <p:nvPr/>
        </p:nvCxnSpPr>
        <p:spPr>
          <a:xfrm flipH="1">
            <a:off x="1525006" y="1750854"/>
            <a:ext cx="3816" cy="51514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de seta reta 5"/>
          <p:cNvCxnSpPr>
            <a:stCxn id="17" idx="6"/>
            <a:endCxn id="18" idx="2"/>
          </p:cNvCxnSpPr>
          <p:nvPr/>
        </p:nvCxnSpPr>
        <p:spPr>
          <a:xfrm flipV="1">
            <a:off x="1643870" y="1633378"/>
            <a:ext cx="695078" cy="4994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/>
          <p:cNvSpPr txBox="1"/>
          <p:nvPr/>
        </p:nvSpPr>
        <p:spPr>
          <a:xfrm>
            <a:off x="849749" y="1388626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8" name="Conector de seta reta 7"/>
          <p:cNvCxnSpPr>
            <a:stCxn id="16" idx="6"/>
            <a:endCxn id="19" idx="2"/>
          </p:cNvCxnSpPr>
          <p:nvPr/>
        </p:nvCxnSpPr>
        <p:spPr>
          <a:xfrm flipV="1">
            <a:off x="1640054" y="2375552"/>
            <a:ext cx="704945" cy="2926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de seta reta 8"/>
          <p:cNvCxnSpPr>
            <a:stCxn id="18" idx="4"/>
            <a:endCxn id="19" idx="0"/>
          </p:cNvCxnSpPr>
          <p:nvPr/>
        </p:nvCxnSpPr>
        <p:spPr>
          <a:xfrm>
            <a:off x="2453997" y="1745860"/>
            <a:ext cx="6051" cy="517209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/>
          <p:cNvCxnSpPr>
            <a:stCxn id="16" idx="7"/>
            <a:endCxn id="18" idx="3"/>
          </p:cNvCxnSpPr>
          <p:nvPr/>
        </p:nvCxnSpPr>
        <p:spPr>
          <a:xfrm flipV="1">
            <a:off x="1606357" y="1712915"/>
            <a:ext cx="766288" cy="586025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stCxn id="17" idx="2"/>
            <a:endCxn id="21" idx="7"/>
          </p:cNvCxnSpPr>
          <p:nvPr/>
        </p:nvCxnSpPr>
        <p:spPr>
          <a:xfrm flipH="1">
            <a:off x="1027114" y="1638372"/>
            <a:ext cx="386659" cy="286553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stCxn id="16" idx="2"/>
            <a:endCxn id="21" idx="5"/>
          </p:cNvCxnSpPr>
          <p:nvPr/>
        </p:nvCxnSpPr>
        <p:spPr>
          <a:xfrm flipH="1" flipV="1">
            <a:off x="1027114" y="2084000"/>
            <a:ext cx="382843" cy="29447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18" idx="6"/>
            <a:endCxn id="20" idx="1"/>
          </p:cNvCxnSpPr>
          <p:nvPr/>
        </p:nvCxnSpPr>
        <p:spPr>
          <a:xfrm>
            <a:off x="2569045" y="1633378"/>
            <a:ext cx="393124" cy="28825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19" idx="6"/>
            <a:endCxn id="20" idx="3"/>
          </p:cNvCxnSpPr>
          <p:nvPr/>
        </p:nvCxnSpPr>
        <p:spPr>
          <a:xfrm flipV="1">
            <a:off x="2575096" y="2080704"/>
            <a:ext cx="387073" cy="29484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abela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1187266"/>
              </p:ext>
            </p:extLst>
          </p:nvPr>
        </p:nvGraphicFramePr>
        <p:xfrm>
          <a:off x="504264" y="2868555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f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e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Elipse 15"/>
          <p:cNvSpPr/>
          <p:nvPr/>
        </p:nvSpPr>
        <p:spPr>
          <a:xfrm>
            <a:off x="1409957" y="2265995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7" name="Elipse 16"/>
          <p:cNvSpPr/>
          <p:nvPr/>
        </p:nvSpPr>
        <p:spPr>
          <a:xfrm>
            <a:off x="1413773" y="1525889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8" name="Elipse 17"/>
          <p:cNvSpPr/>
          <p:nvPr/>
        </p:nvSpPr>
        <p:spPr>
          <a:xfrm>
            <a:off x="2338948" y="1520895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9" name="Elipse 18"/>
          <p:cNvSpPr/>
          <p:nvPr/>
        </p:nvSpPr>
        <p:spPr>
          <a:xfrm>
            <a:off x="2344999" y="2263069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20" name="Elipse 19"/>
          <p:cNvSpPr/>
          <p:nvPr/>
        </p:nvSpPr>
        <p:spPr>
          <a:xfrm>
            <a:off x="2928472" y="1888684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21" name="Elipse 20"/>
          <p:cNvSpPr/>
          <p:nvPr/>
        </p:nvSpPr>
        <p:spPr>
          <a:xfrm>
            <a:off x="830714" y="1891980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c</a:t>
            </a:r>
          </a:p>
        </p:txBody>
      </p:sp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2023324"/>
              </p:ext>
            </p:extLst>
          </p:nvPr>
        </p:nvGraphicFramePr>
        <p:xfrm>
          <a:off x="4062447" y="1656297"/>
          <a:ext cx="4570130" cy="2364802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597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68001">
                <a:tc rowSpan="2"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Vértice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Tempo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001">
                <a:tc vMerge="1"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cxnSp>
        <p:nvCxnSpPr>
          <p:cNvPr id="23" name="Conector de seta reta 22"/>
          <p:cNvCxnSpPr/>
          <p:nvPr/>
        </p:nvCxnSpPr>
        <p:spPr>
          <a:xfrm>
            <a:off x="3920357" y="2237832"/>
            <a:ext cx="12613" cy="1783267"/>
          </a:xfrm>
          <a:prstGeom prst="straightConnector1">
            <a:avLst/>
          </a:prstGeom>
          <a:ln w="22225"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aixaDeTexto 27"/>
          <p:cNvSpPr txBox="1"/>
          <p:nvPr/>
        </p:nvSpPr>
        <p:spPr>
          <a:xfrm rot="16200000">
            <a:off x="2869395" y="2949106"/>
            <a:ext cx="18669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Em ordem crescente de TD</a:t>
            </a:r>
          </a:p>
        </p:txBody>
      </p:sp>
    </p:spTree>
    <p:extLst>
      <p:ext uri="{BB962C8B-B14F-4D97-AF65-F5344CB8AC3E}">
        <p14:creationId xmlns:p14="http://schemas.microsoft.com/office/powerpoint/2010/main" val="194546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Intervalos de Vida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5" y="1203960"/>
            <a:ext cx="8407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cxnSp>
        <p:nvCxnSpPr>
          <p:cNvPr id="4" name="Conector de seta reta 3"/>
          <p:cNvCxnSpPr>
            <a:stCxn id="17" idx="4"/>
            <a:endCxn id="16" idx="0"/>
          </p:cNvCxnSpPr>
          <p:nvPr/>
        </p:nvCxnSpPr>
        <p:spPr>
          <a:xfrm flipH="1">
            <a:off x="1525006" y="1750854"/>
            <a:ext cx="3816" cy="51514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de seta reta 5"/>
          <p:cNvCxnSpPr>
            <a:stCxn id="17" idx="6"/>
            <a:endCxn id="18" idx="2"/>
          </p:cNvCxnSpPr>
          <p:nvPr/>
        </p:nvCxnSpPr>
        <p:spPr>
          <a:xfrm flipV="1">
            <a:off x="1643870" y="1633378"/>
            <a:ext cx="695078" cy="4994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/>
          <p:cNvSpPr txBox="1"/>
          <p:nvPr/>
        </p:nvSpPr>
        <p:spPr>
          <a:xfrm>
            <a:off x="849749" y="1388626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8" name="Conector de seta reta 7"/>
          <p:cNvCxnSpPr>
            <a:stCxn id="16" idx="6"/>
            <a:endCxn id="19" idx="2"/>
          </p:cNvCxnSpPr>
          <p:nvPr/>
        </p:nvCxnSpPr>
        <p:spPr>
          <a:xfrm flipV="1">
            <a:off x="1640054" y="2375552"/>
            <a:ext cx="704945" cy="2926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de seta reta 8"/>
          <p:cNvCxnSpPr>
            <a:stCxn id="18" idx="4"/>
            <a:endCxn id="19" idx="0"/>
          </p:cNvCxnSpPr>
          <p:nvPr/>
        </p:nvCxnSpPr>
        <p:spPr>
          <a:xfrm>
            <a:off x="2453997" y="1745860"/>
            <a:ext cx="6051" cy="517209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/>
          <p:cNvCxnSpPr>
            <a:stCxn id="16" idx="7"/>
            <a:endCxn id="18" idx="3"/>
          </p:cNvCxnSpPr>
          <p:nvPr/>
        </p:nvCxnSpPr>
        <p:spPr>
          <a:xfrm flipV="1">
            <a:off x="1606357" y="1712915"/>
            <a:ext cx="766288" cy="586025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stCxn id="17" idx="2"/>
            <a:endCxn id="21" idx="7"/>
          </p:cNvCxnSpPr>
          <p:nvPr/>
        </p:nvCxnSpPr>
        <p:spPr>
          <a:xfrm flipH="1">
            <a:off x="1027114" y="1638372"/>
            <a:ext cx="386659" cy="286553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stCxn id="16" idx="2"/>
            <a:endCxn id="21" idx="5"/>
          </p:cNvCxnSpPr>
          <p:nvPr/>
        </p:nvCxnSpPr>
        <p:spPr>
          <a:xfrm flipH="1" flipV="1">
            <a:off x="1027114" y="2084000"/>
            <a:ext cx="382843" cy="29447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18" idx="6"/>
            <a:endCxn id="20" idx="1"/>
          </p:cNvCxnSpPr>
          <p:nvPr/>
        </p:nvCxnSpPr>
        <p:spPr>
          <a:xfrm>
            <a:off x="2569045" y="1633378"/>
            <a:ext cx="393124" cy="28825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19" idx="6"/>
            <a:endCxn id="20" idx="3"/>
          </p:cNvCxnSpPr>
          <p:nvPr/>
        </p:nvCxnSpPr>
        <p:spPr>
          <a:xfrm flipV="1">
            <a:off x="2575096" y="2080704"/>
            <a:ext cx="387073" cy="29484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abela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1187266"/>
              </p:ext>
            </p:extLst>
          </p:nvPr>
        </p:nvGraphicFramePr>
        <p:xfrm>
          <a:off x="504264" y="2868555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f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e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Elipse 15"/>
          <p:cNvSpPr/>
          <p:nvPr/>
        </p:nvSpPr>
        <p:spPr>
          <a:xfrm>
            <a:off x="1409957" y="2265995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7" name="Elipse 16"/>
          <p:cNvSpPr/>
          <p:nvPr/>
        </p:nvSpPr>
        <p:spPr>
          <a:xfrm>
            <a:off x="1413773" y="1525889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8" name="Elipse 17"/>
          <p:cNvSpPr/>
          <p:nvPr/>
        </p:nvSpPr>
        <p:spPr>
          <a:xfrm>
            <a:off x="2338948" y="1520895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9" name="Elipse 18"/>
          <p:cNvSpPr/>
          <p:nvPr/>
        </p:nvSpPr>
        <p:spPr>
          <a:xfrm>
            <a:off x="2344999" y="2263069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20" name="Elipse 19"/>
          <p:cNvSpPr/>
          <p:nvPr/>
        </p:nvSpPr>
        <p:spPr>
          <a:xfrm>
            <a:off x="2928472" y="1888684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21" name="Elipse 20"/>
          <p:cNvSpPr/>
          <p:nvPr/>
        </p:nvSpPr>
        <p:spPr>
          <a:xfrm>
            <a:off x="830714" y="1891980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c</a:t>
            </a:r>
          </a:p>
        </p:txBody>
      </p:sp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6815083"/>
              </p:ext>
            </p:extLst>
          </p:nvPr>
        </p:nvGraphicFramePr>
        <p:xfrm>
          <a:off x="4062447" y="1656297"/>
          <a:ext cx="4570130" cy="2364802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597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68001">
                <a:tc rowSpan="2"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Vértice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Tempo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001">
                <a:tc vMerge="1"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cxnSp>
        <p:nvCxnSpPr>
          <p:cNvPr id="23" name="Conector de seta reta 22"/>
          <p:cNvCxnSpPr/>
          <p:nvPr/>
        </p:nvCxnSpPr>
        <p:spPr>
          <a:xfrm>
            <a:off x="3920357" y="2237832"/>
            <a:ext cx="12613" cy="1783267"/>
          </a:xfrm>
          <a:prstGeom prst="straightConnector1">
            <a:avLst/>
          </a:prstGeom>
          <a:ln w="22225"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aixaDeTexto 27"/>
          <p:cNvSpPr txBox="1"/>
          <p:nvPr/>
        </p:nvSpPr>
        <p:spPr>
          <a:xfrm rot="16200000">
            <a:off x="2869395" y="2949106"/>
            <a:ext cx="18669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Em ordem crescente de TD</a:t>
            </a:r>
          </a:p>
        </p:txBody>
      </p:sp>
    </p:spTree>
    <p:extLst>
      <p:ext uri="{BB962C8B-B14F-4D97-AF65-F5344CB8AC3E}">
        <p14:creationId xmlns:p14="http://schemas.microsoft.com/office/powerpoint/2010/main" val="651110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Intervalos de Vida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5" y="1203960"/>
            <a:ext cx="8407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cxnSp>
        <p:nvCxnSpPr>
          <p:cNvPr id="4" name="Conector de seta reta 3"/>
          <p:cNvCxnSpPr>
            <a:stCxn id="17" idx="4"/>
            <a:endCxn id="16" idx="0"/>
          </p:cNvCxnSpPr>
          <p:nvPr/>
        </p:nvCxnSpPr>
        <p:spPr>
          <a:xfrm flipH="1">
            <a:off x="1525006" y="1750854"/>
            <a:ext cx="3816" cy="51514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de seta reta 5"/>
          <p:cNvCxnSpPr>
            <a:stCxn id="17" idx="6"/>
            <a:endCxn id="18" idx="2"/>
          </p:cNvCxnSpPr>
          <p:nvPr/>
        </p:nvCxnSpPr>
        <p:spPr>
          <a:xfrm flipV="1">
            <a:off x="1643870" y="1633378"/>
            <a:ext cx="695078" cy="4994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/>
          <p:cNvSpPr txBox="1"/>
          <p:nvPr/>
        </p:nvSpPr>
        <p:spPr>
          <a:xfrm>
            <a:off x="849749" y="1388626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8" name="Conector de seta reta 7"/>
          <p:cNvCxnSpPr>
            <a:stCxn id="16" idx="6"/>
            <a:endCxn id="19" idx="2"/>
          </p:cNvCxnSpPr>
          <p:nvPr/>
        </p:nvCxnSpPr>
        <p:spPr>
          <a:xfrm flipV="1">
            <a:off x="1640054" y="2375552"/>
            <a:ext cx="704945" cy="2926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de seta reta 8"/>
          <p:cNvCxnSpPr>
            <a:stCxn id="18" idx="4"/>
            <a:endCxn id="19" idx="0"/>
          </p:cNvCxnSpPr>
          <p:nvPr/>
        </p:nvCxnSpPr>
        <p:spPr>
          <a:xfrm>
            <a:off x="2453997" y="1745860"/>
            <a:ext cx="6051" cy="517209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/>
          <p:cNvCxnSpPr>
            <a:stCxn id="16" idx="7"/>
            <a:endCxn id="18" idx="3"/>
          </p:cNvCxnSpPr>
          <p:nvPr/>
        </p:nvCxnSpPr>
        <p:spPr>
          <a:xfrm flipV="1">
            <a:off x="1606357" y="1712915"/>
            <a:ext cx="766288" cy="586025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stCxn id="17" idx="2"/>
            <a:endCxn id="21" idx="7"/>
          </p:cNvCxnSpPr>
          <p:nvPr/>
        </p:nvCxnSpPr>
        <p:spPr>
          <a:xfrm flipH="1">
            <a:off x="1027114" y="1638372"/>
            <a:ext cx="386659" cy="286553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stCxn id="16" idx="2"/>
            <a:endCxn id="21" idx="5"/>
          </p:cNvCxnSpPr>
          <p:nvPr/>
        </p:nvCxnSpPr>
        <p:spPr>
          <a:xfrm flipH="1" flipV="1">
            <a:off x="1027114" y="2084000"/>
            <a:ext cx="382843" cy="29447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18" idx="6"/>
            <a:endCxn id="20" idx="1"/>
          </p:cNvCxnSpPr>
          <p:nvPr/>
        </p:nvCxnSpPr>
        <p:spPr>
          <a:xfrm>
            <a:off x="2569045" y="1633378"/>
            <a:ext cx="393124" cy="28825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19" idx="6"/>
            <a:endCxn id="20" idx="3"/>
          </p:cNvCxnSpPr>
          <p:nvPr/>
        </p:nvCxnSpPr>
        <p:spPr>
          <a:xfrm flipV="1">
            <a:off x="2575096" y="2080704"/>
            <a:ext cx="387073" cy="29484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abela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1187266"/>
              </p:ext>
            </p:extLst>
          </p:nvPr>
        </p:nvGraphicFramePr>
        <p:xfrm>
          <a:off x="504264" y="2868555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f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e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Elipse 15"/>
          <p:cNvSpPr/>
          <p:nvPr/>
        </p:nvSpPr>
        <p:spPr>
          <a:xfrm>
            <a:off x="1409957" y="2265995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7" name="Elipse 16"/>
          <p:cNvSpPr/>
          <p:nvPr/>
        </p:nvSpPr>
        <p:spPr>
          <a:xfrm>
            <a:off x="1413773" y="1525889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8" name="Elipse 17"/>
          <p:cNvSpPr/>
          <p:nvPr/>
        </p:nvSpPr>
        <p:spPr>
          <a:xfrm>
            <a:off x="2338948" y="1520895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9" name="Elipse 18"/>
          <p:cNvSpPr/>
          <p:nvPr/>
        </p:nvSpPr>
        <p:spPr>
          <a:xfrm>
            <a:off x="2344999" y="2263069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20" name="Elipse 19"/>
          <p:cNvSpPr/>
          <p:nvPr/>
        </p:nvSpPr>
        <p:spPr>
          <a:xfrm>
            <a:off x="2928472" y="1888684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21" name="Elipse 20"/>
          <p:cNvSpPr/>
          <p:nvPr/>
        </p:nvSpPr>
        <p:spPr>
          <a:xfrm>
            <a:off x="830714" y="1891980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c</a:t>
            </a:r>
          </a:p>
        </p:txBody>
      </p:sp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6156989"/>
              </p:ext>
            </p:extLst>
          </p:nvPr>
        </p:nvGraphicFramePr>
        <p:xfrm>
          <a:off x="4062447" y="1656297"/>
          <a:ext cx="4570130" cy="2364802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597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68001">
                <a:tc rowSpan="2"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Vértice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Tempo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001">
                <a:tc vMerge="1"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cxnSp>
        <p:nvCxnSpPr>
          <p:cNvPr id="23" name="Conector de seta reta 22"/>
          <p:cNvCxnSpPr/>
          <p:nvPr/>
        </p:nvCxnSpPr>
        <p:spPr>
          <a:xfrm>
            <a:off x="3920357" y="2237832"/>
            <a:ext cx="12613" cy="1783267"/>
          </a:xfrm>
          <a:prstGeom prst="straightConnector1">
            <a:avLst/>
          </a:prstGeom>
          <a:ln w="22225"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aixaDeTexto 27"/>
          <p:cNvSpPr txBox="1"/>
          <p:nvPr/>
        </p:nvSpPr>
        <p:spPr>
          <a:xfrm rot="16200000">
            <a:off x="2869395" y="2949106"/>
            <a:ext cx="18669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Em ordem crescente de TD</a:t>
            </a:r>
          </a:p>
        </p:txBody>
      </p:sp>
    </p:spTree>
    <p:extLst>
      <p:ext uri="{BB962C8B-B14F-4D97-AF65-F5344CB8AC3E}">
        <p14:creationId xmlns:p14="http://schemas.microsoft.com/office/powerpoint/2010/main" val="671338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Intervalos de Vida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5" y="1203960"/>
            <a:ext cx="8407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cxnSp>
        <p:nvCxnSpPr>
          <p:cNvPr id="4" name="Conector de seta reta 3"/>
          <p:cNvCxnSpPr>
            <a:stCxn id="17" idx="4"/>
            <a:endCxn id="16" idx="0"/>
          </p:cNvCxnSpPr>
          <p:nvPr/>
        </p:nvCxnSpPr>
        <p:spPr>
          <a:xfrm flipH="1">
            <a:off x="1525006" y="1750854"/>
            <a:ext cx="3816" cy="51514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de seta reta 5"/>
          <p:cNvCxnSpPr>
            <a:stCxn id="17" idx="6"/>
            <a:endCxn id="18" idx="2"/>
          </p:cNvCxnSpPr>
          <p:nvPr/>
        </p:nvCxnSpPr>
        <p:spPr>
          <a:xfrm flipV="1">
            <a:off x="1643870" y="1633378"/>
            <a:ext cx="695078" cy="4994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/>
          <p:cNvSpPr txBox="1"/>
          <p:nvPr/>
        </p:nvSpPr>
        <p:spPr>
          <a:xfrm>
            <a:off x="849749" y="1388626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8" name="Conector de seta reta 7"/>
          <p:cNvCxnSpPr>
            <a:stCxn id="16" idx="6"/>
            <a:endCxn id="19" idx="2"/>
          </p:cNvCxnSpPr>
          <p:nvPr/>
        </p:nvCxnSpPr>
        <p:spPr>
          <a:xfrm flipV="1">
            <a:off x="1640054" y="2375552"/>
            <a:ext cx="704945" cy="2926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de seta reta 8"/>
          <p:cNvCxnSpPr>
            <a:stCxn id="18" idx="4"/>
            <a:endCxn id="19" idx="0"/>
          </p:cNvCxnSpPr>
          <p:nvPr/>
        </p:nvCxnSpPr>
        <p:spPr>
          <a:xfrm>
            <a:off x="2453997" y="1745860"/>
            <a:ext cx="6051" cy="517209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/>
          <p:cNvCxnSpPr>
            <a:stCxn id="16" idx="7"/>
            <a:endCxn id="18" idx="3"/>
          </p:cNvCxnSpPr>
          <p:nvPr/>
        </p:nvCxnSpPr>
        <p:spPr>
          <a:xfrm flipV="1">
            <a:off x="1606357" y="1712915"/>
            <a:ext cx="766288" cy="586025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stCxn id="17" idx="2"/>
            <a:endCxn id="21" idx="7"/>
          </p:cNvCxnSpPr>
          <p:nvPr/>
        </p:nvCxnSpPr>
        <p:spPr>
          <a:xfrm flipH="1">
            <a:off x="1027114" y="1638372"/>
            <a:ext cx="386659" cy="286553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stCxn id="16" idx="2"/>
            <a:endCxn id="21" idx="5"/>
          </p:cNvCxnSpPr>
          <p:nvPr/>
        </p:nvCxnSpPr>
        <p:spPr>
          <a:xfrm flipH="1" flipV="1">
            <a:off x="1027114" y="2084000"/>
            <a:ext cx="382843" cy="29447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18" idx="6"/>
            <a:endCxn id="20" idx="1"/>
          </p:cNvCxnSpPr>
          <p:nvPr/>
        </p:nvCxnSpPr>
        <p:spPr>
          <a:xfrm>
            <a:off x="2569045" y="1633378"/>
            <a:ext cx="393124" cy="28825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19" idx="6"/>
            <a:endCxn id="20" idx="3"/>
          </p:cNvCxnSpPr>
          <p:nvPr/>
        </p:nvCxnSpPr>
        <p:spPr>
          <a:xfrm flipV="1">
            <a:off x="2575096" y="2080704"/>
            <a:ext cx="387073" cy="29484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abela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1187266"/>
              </p:ext>
            </p:extLst>
          </p:nvPr>
        </p:nvGraphicFramePr>
        <p:xfrm>
          <a:off x="504264" y="2868555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f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e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Elipse 15"/>
          <p:cNvSpPr/>
          <p:nvPr/>
        </p:nvSpPr>
        <p:spPr>
          <a:xfrm>
            <a:off x="1409957" y="2265995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7" name="Elipse 16"/>
          <p:cNvSpPr/>
          <p:nvPr/>
        </p:nvSpPr>
        <p:spPr>
          <a:xfrm>
            <a:off x="1413773" y="1525889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8" name="Elipse 17"/>
          <p:cNvSpPr/>
          <p:nvPr/>
        </p:nvSpPr>
        <p:spPr>
          <a:xfrm>
            <a:off x="2338948" y="1520895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9" name="Elipse 18"/>
          <p:cNvSpPr/>
          <p:nvPr/>
        </p:nvSpPr>
        <p:spPr>
          <a:xfrm>
            <a:off x="2344999" y="2263069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20" name="Elipse 19"/>
          <p:cNvSpPr/>
          <p:nvPr/>
        </p:nvSpPr>
        <p:spPr>
          <a:xfrm>
            <a:off x="2928472" y="1888684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21" name="Elipse 20"/>
          <p:cNvSpPr/>
          <p:nvPr/>
        </p:nvSpPr>
        <p:spPr>
          <a:xfrm>
            <a:off x="830714" y="1891980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c</a:t>
            </a:r>
          </a:p>
        </p:txBody>
      </p:sp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6537015"/>
              </p:ext>
            </p:extLst>
          </p:nvPr>
        </p:nvGraphicFramePr>
        <p:xfrm>
          <a:off x="4062447" y="1656297"/>
          <a:ext cx="4570130" cy="2364802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597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68001">
                <a:tc rowSpan="2"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Vértice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Tempo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001">
                <a:tc vMerge="1"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cxnSp>
        <p:nvCxnSpPr>
          <p:cNvPr id="23" name="Conector de seta reta 22"/>
          <p:cNvCxnSpPr/>
          <p:nvPr/>
        </p:nvCxnSpPr>
        <p:spPr>
          <a:xfrm>
            <a:off x="3920357" y="2237832"/>
            <a:ext cx="12613" cy="1783267"/>
          </a:xfrm>
          <a:prstGeom prst="straightConnector1">
            <a:avLst/>
          </a:prstGeom>
          <a:ln w="22225"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aixaDeTexto 27"/>
          <p:cNvSpPr txBox="1"/>
          <p:nvPr/>
        </p:nvSpPr>
        <p:spPr>
          <a:xfrm rot="16200000">
            <a:off x="2869395" y="2949106"/>
            <a:ext cx="18669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Em ordem crescente de TD</a:t>
            </a:r>
          </a:p>
        </p:txBody>
      </p:sp>
    </p:spTree>
    <p:extLst>
      <p:ext uri="{BB962C8B-B14F-4D97-AF65-F5344CB8AC3E}">
        <p14:creationId xmlns:p14="http://schemas.microsoft.com/office/powerpoint/2010/main" val="3355061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Intervalos de Vida</a:t>
            </a:r>
          </a:p>
        </p:txBody>
      </p:sp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0296284"/>
              </p:ext>
            </p:extLst>
          </p:nvPr>
        </p:nvGraphicFramePr>
        <p:xfrm>
          <a:off x="4062447" y="1656297"/>
          <a:ext cx="4570130" cy="2364802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597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68001">
                <a:tc rowSpan="2"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Vértice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Tempo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001">
                <a:tc vMerge="1"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cxnSp>
        <p:nvCxnSpPr>
          <p:cNvPr id="23" name="Conector de seta reta 22"/>
          <p:cNvCxnSpPr/>
          <p:nvPr/>
        </p:nvCxnSpPr>
        <p:spPr>
          <a:xfrm>
            <a:off x="3920357" y="2237832"/>
            <a:ext cx="12613" cy="1783267"/>
          </a:xfrm>
          <a:prstGeom prst="straightConnector1">
            <a:avLst/>
          </a:prstGeom>
          <a:ln w="22225"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aixaDeTexto 27"/>
          <p:cNvSpPr txBox="1"/>
          <p:nvPr/>
        </p:nvSpPr>
        <p:spPr>
          <a:xfrm rot="16200000">
            <a:off x="2869395" y="2949106"/>
            <a:ext cx="18669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Em ordem crescente de TD</a:t>
            </a:r>
          </a:p>
        </p:txBody>
      </p:sp>
      <p:sp>
        <p:nvSpPr>
          <p:cNvPr id="24" name="Elipse 23"/>
          <p:cNvSpPr/>
          <p:nvPr/>
        </p:nvSpPr>
        <p:spPr>
          <a:xfrm>
            <a:off x="1722060" y="1600100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25" name="Conector de seta reta 24"/>
          <p:cNvCxnSpPr>
            <a:stCxn id="26" idx="0"/>
          </p:cNvCxnSpPr>
          <p:nvPr/>
        </p:nvCxnSpPr>
        <p:spPr>
          <a:xfrm flipH="1" flipV="1">
            <a:off x="1837109" y="1825065"/>
            <a:ext cx="1" cy="37113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Elipse 25"/>
          <p:cNvSpPr/>
          <p:nvPr/>
        </p:nvSpPr>
        <p:spPr>
          <a:xfrm>
            <a:off x="1722061" y="219619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27" name="Conector de seta reta 26"/>
          <p:cNvCxnSpPr>
            <a:stCxn id="29" idx="0"/>
          </p:cNvCxnSpPr>
          <p:nvPr/>
        </p:nvCxnSpPr>
        <p:spPr>
          <a:xfrm flipV="1">
            <a:off x="1837110" y="2421160"/>
            <a:ext cx="0" cy="37087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Elipse 28"/>
          <p:cNvSpPr/>
          <p:nvPr/>
        </p:nvSpPr>
        <p:spPr>
          <a:xfrm>
            <a:off x="1722061" y="2792030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30" name="Conector de seta reta 29"/>
          <p:cNvCxnSpPr>
            <a:stCxn id="31" idx="7"/>
          </p:cNvCxnSpPr>
          <p:nvPr/>
        </p:nvCxnSpPr>
        <p:spPr>
          <a:xfrm flipV="1">
            <a:off x="1439794" y="2984050"/>
            <a:ext cx="315964" cy="33170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Elipse 30"/>
          <p:cNvSpPr/>
          <p:nvPr/>
        </p:nvSpPr>
        <p:spPr>
          <a:xfrm>
            <a:off x="1243394" y="3282807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32" name="Conector angulado 139"/>
          <p:cNvCxnSpPr/>
          <p:nvPr/>
        </p:nvCxnSpPr>
        <p:spPr>
          <a:xfrm rot="5400000" flipH="1" flipV="1">
            <a:off x="1053188" y="2613934"/>
            <a:ext cx="974129" cy="363618"/>
          </a:xfrm>
          <a:prstGeom prst="curvedConnector2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angulado 147"/>
          <p:cNvCxnSpPr/>
          <p:nvPr/>
        </p:nvCxnSpPr>
        <p:spPr>
          <a:xfrm>
            <a:off x="1952157" y="1712583"/>
            <a:ext cx="1" cy="1191930"/>
          </a:xfrm>
          <a:prstGeom prst="curvedConnector3">
            <a:avLst>
              <a:gd name="adj1" fmla="val 22860100000"/>
            </a:avLst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de seta reta 33"/>
          <p:cNvCxnSpPr>
            <a:stCxn id="35" idx="1"/>
          </p:cNvCxnSpPr>
          <p:nvPr/>
        </p:nvCxnSpPr>
        <p:spPr>
          <a:xfrm flipH="1" flipV="1">
            <a:off x="1918461" y="2984050"/>
            <a:ext cx="315964" cy="331703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ipse 34"/>
          <p:cNvSpPr/>
          <p:nvPr/>
        </p:nvSpPr>
        <p:spPr>
          <a:xfrm>
            <a:off x="2200728" y="328280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cxnSp>
        <p:nvCxnSpPr>
          <p:cNvPr id="36" name="Conector de seta reta 35"/>
          <p:cNvCxnSpPr>
            <a:stCxn id="37" idx="0"/>
            <a:endCxn id="35" idx="5"/>
          </p:cNvCxnSpPr>
          <p:nvPr/>
        </p:nvCxnSpPr>
        <p:spPr>
          <a:xfrm flipH="1" flipV="1">
            <a:off x="2397128" y="3474828"/>
            <a:ext cx="218459" cy="468065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Elipse 36"/>
          <p:cNvSpPr/>
          <p:nvPr/>
        </p:nvSpPr>
        <p:spPr>
          <a:xfrm>
            <a:off x="2500538" y="3942893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38" name="Conector angulado 161"/>
          <p:cNvCxnSpPr/>
          <p:nvPr/>
        </p:nvCxnSpPr>
        <p:spPr>
          <a:xfrm>
            <a:off x="1952157" y="1712583"/>
            <a:ext cx="778478" cy="2342793"/>
          </a:xfrm>
          <a:prstGeom prst="curvedConnector3">
            <a:avLst>
              <a:gd name="adj1" fmla="val 129365"/>
            </a:avLst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angulado 158"/>
          <p:cNvCxnSpPr/>
          <p:nvPr/>
        </p:nvCxnSpPr>
        <p:spPr>
          <a:xfrm flipH="1" flipV="1">
            <a:off x="1952157" y="1712583"/>
            <a:ext cx="478668" cy="1682708"/>
          </a:xfrm>
          <a:prstGeom prst="curvedConnector3">
            <a:avLst>
              <a:gd name="adj1" fmla="val -47758"/>
            </a:avLst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Elipse 39"/>
          <p:cNvSpPr/>
          <p:nvPr/>
        </p:nvSpPr>
        <p:spPr>
          <a:xfrm>
            <a:off x="1722060" y="160010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41" name="Elipse 40"/>
          <p:cNvSpPr/>
          <p:nvPr/>
        </p:nvSpPr>
        <p:spPr>
          <a:xfrm>
            <a:off x="1722061" y="219619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42" name="Elipse 41"/>
          <p:cNvSpPr/>
          <p:nvPr/>
        </p:nvSpPr>
        <p:spPr>
          <a:xfrm>
            <a:off x="1722061" y="279203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43" name="Elipse 42"/>
          <p:cNvSpPr/>
          <p:nvPr/>
        </p:nvSpPr>
        <p:spPr>
          <a:xfrm>
            <a:off x="1243394" y="328280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44" name="Elipse 43"/>
          <p:cNvSpPr/>
          <p:nvPr/>
        </p:nvSpPr>
        <p:spPr>
          <a:xfrm>
            <a:off x="2200728" y="328280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45" name="Elipse 44"/>
          <p:cNvSpPr/>
          <p:nvPr/>
        </p:nvSpPr>
        <p:spPr>
          <a:xfrm>
            <a:off x="2500538" y="394289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46" name="CaixaDeTexto 45"/>
          <p:cNvSpPr txBox="1"/>
          <p:nvPr/>
        </p:nvSpPr>
        <p:spPr>
          <a:xfrm>
            <a:off x="395535" y="1183179"/>
            <a:ext cx="8407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Seja 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o intervalo de vida do vértice </a:t>
            </a:r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 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ou 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= [ TD[</a:t>
            </a:r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], TT[</a:t>
            </a:r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 ].</a:t>
            </a:r>
          </a:p>
        </p:txBody>
      </p:sp>
      <p:sp>
        <p:nvSpPr>
          <p:cNvPr id="47" name="CaixaDeTexto 46"/>
          <p:cNvSpPr txBox="1"/>
          <p:nvPr/>
        </p:nvSpPr>
        <p:spPr>
          <a:xfrm>
            <a:off x="224676" y="3620254"/>
            <a:ext cx="20853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 {</a:t>
            </a:r>
            <a:r>
              <a:rPr lang="pt-BR" sz="1400" i="1" dirty="0"/>
              <a:t>v</a:t>
            </a:r>
            <a:r>
              <a:rPr lang="pt-BR" sz="1400" dirty="0"/>
              <a:t>, </a:t>
            </a:r>
            <a:r>
              <a:rPr lang="pt-BR" sz="1400" i="1" dirty="0"/>
              <a:t>w</a:t>
            </a:r>
            <a:r>
              <a:rPr lang="pt-BR" sz="1400" dirty="0"/>
              <a:t>} é aresta de </a:t>
            </a:r>
            <a:r>
              <a:rPr lang="pt-BR" sz="1400" b="1" dirty="0">
                <a:solidFill>
                  <a:srgbClr val="FF0000"/>
                </a:solidFill>
              </a:rPr>
              <a:t>retorno</a:t>
            </a:r>
          </a:p>
        </p:txBody>
      </p:sp>
      <p:sp>
        <p:nvSpPr>
          <p:cNvPr id="48" name="CaixaDeTexto 47"/>
          <p:cNvSpPr txBox="1"/>
          <p:nvPr/>
        </p:nvSpPr>
        <p:spPr>
          <a:xfrm>
            <a:off x="311950" y="4175288"/>
            <a:ext cx="28607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pt-BR" sz="1400" dirty="0"/>
              <a:t>(</a:t>
            </a:r>
            <a:r>
              <a:rPr lang="pt-BR" sz="1400" i="1" dirty="0"/>
              <a:t>v</a:t>
            </a:r>
            <a:r>
              <a:rPr lang="pt-BR" sz="1400" dirty="0"/>
              <a:t>) está contido em 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pt-BR" sz="1400" dirty="0"/>
              <a:t>(</a:t>
            </a:r>
            <a:r>
              <a:rPr lang="pt-BR" sz="1400" i="1" dirty="0"/>
              <a:t>w</a:t>
            </a:r>
            <a:r>
              <a:rPr lang="pt-BR" sz="1400" dirty="0"/>
              <a:t>) e pai[</a:t>
            </a:r>
            <a:r>
              <a:rPr lang="pt-BR" sz="1400" i="1" dirty="0"/>
              <a:t>v</a:t>
            </a:r>
            <a:r>
              <a:rPr lang="pt-BR" sz="1400" dirty="0"/>
              <a:t>] </a:t>
            </a:r>
            <a:r>
              <a:rPr lang="pt-BR" sz="1400" dirty="0">
                <a:sym typeface="Symbol" panose="05050102010706020507" pitchFamily="18" charset="2"/>
              </a:rPr>
              <a:t></a:t>
            </a:r>
            <a:r>
              <a:rPr lang="pt-BR" sz="1400" dirty="0"/>
              <a:t> </a:t>
            </a:r>
            <a:r>
              <a:rPr lang="pt-BR" sz="1400" i="1" dirty="0"/>
              <a:t>w</a:t>
            </a:r>
          </a:p>
        </p:txBody>
      </p:sp>
      <p:sp>
        <p:nvSpPr>
          <p:cNvPr id="49" name="Seta para cima e para baixo 48"/>
          <p:cNvSpPr/>
          <p:nvPr/>
        </p:nvSpPr>
        <p:spPr>
          <a:xfrm>
            <a:off x="1207186" y="3922665"/>
            <a:ext cx="120293" cy="252623"/>
          </a:xfrm>
          <a:prstGeom prst="upDown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416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48" grpId="0"/>
      <p:bldP spid="49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Propriedades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4195383" cy="3277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Sabendo que um grafo conexo e acíclico é denominado árvore. </a:t>
            </a:r>
          </a:p>
          <a:p>
            <a:pPr>
              <a:spcAft>
                <a:spcPts val="1800"/>
              </a:spcAft>
            </a:pP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 representação formada por todos os vértices e apenas as arestas de árvore formam uma árvore de profundidade.</a:t>
            </a:r>
            <a:endParaRPr lang="pt-BR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spcAft>
                <a:spcPts val="1800"/>
              </a:spcAft>
            </a:pP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Caso o grafo seja desconexo, a busca irá produzir várias árvores de profundidade.</a:t>
            </a:r>
          </a:p>
          <a:p>
            <a:pPr>
              <a:spcAft>
                <a:spcPts val="1800"/>
              </a:spcAft>
            </a:pP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As arestas de retorno sempre representam um ciclo no grafo original.</a:t>
            </a:r>
          </a:p>
        </p:txBody>
      </p:sp>
      <p:sp>
        <p:nvSpPr>
          <p:cNvPr id="4" name="Elipse 3"/>
          <p:cNvSpPr/>
          <p:nvPr/>
        </p:nvSpPr>
        <p:spPr>
          <a:xfrm>
            <a:off x="5198711" y="146774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6" name="Conector de seta reta 5"/>
          <p:cNvCxnSpPr>
            <a:stCxn id="7" idx="0"/>
          </p:cNvCxnSpPr>
          <p:nvPr/>
        </p:nvCxnSpPr>
        <p:spPr>
          <a:xfrm flipH="1" flipV="1">
            <a:off x="5313760" y="1692710"/>
            <a:ext cx="1" cy="37113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lipse 6"/>
          <p:cNvSpPr/>
          <p:nvPr/>
        </p:nvSpPr>
        <p:spPr>
          <a:xfrm>
            <a:off x="5198712" y="2063840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8" name="Conector de seta reta 7"/>
          <p:cNvCxnSpPr>
            <a:stCxn id="9" idx="0"/>
          </p:cNvCxnSpPr>
          <p:nvPr/>
        </p:nvCxnSpPr>
        <p:spPr>
          <a:xfrm flipV="1">
            <a:off x="5313761" y="2288805"/>
            <a:ext cx="0" cy="37087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lipse 8"/>
          <p:cNvSpPr/>
          <p:nvPr/>
        </p:nvSpPr>
        <p:spPr>
          <a:xfrm>
            <a:off x="5198712" y="265967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10" name="Conector de seta reta 9"/>
          <p:cNvCxnSpPr>
            <a:stCxn id="11" idx="7"/>
          </p:cNvCxnSpPr>
          <p:nvPr/>
        </p:nvCxnSpPr>
        <p:spPr>
          <a:xfrm flipV="1">
            <a:off x="4916445" y="2851695"/>
            <a:ext cx="315964" cy="33170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4720045" y="3150452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12" name="Conector angulado 139"/>
          <p:cNvCxnSpPr/>
          <p:nvPr/>
        </p:nvCxnSpPr>
        <p:spPr>
          <a:xfrm rot="5400000" flipH="1" flipV="1">
            <a:off x="4529839" y="2481579"/>
            <a:ext cx="974129" cy="363618"/>
          </a:xfrm>
          <a:prstGeom prst="curvedConnector2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angulado 147"/>
          <p:cNvCxnSpPr/>
          <p:nvPr/>
        </p:nvCxnSpPr>
        <p:spPr>
          <a:xfrm>
            <a:off x="5428808" y="1580228"/>
            <a:ext cx="1" cy="1191930"/>
          </a:xfrm>
          <a:prstGeom prst="curvedConnector3">
            <a:avLst>
              <a:gd name="adj1" fmla="val 22860100000"/>
            </a:avLst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15" idx="1"/>
          </p:cNvCxnSpPr>
          <p:nvPr/>
        </p:nvCxnSpPr>
        <p:spPr>
          <a:xfrm flipH="1" flipV="1">
            <a:off x="5395112" y="2851695"/>
            <a:ext cx="315964" cy="331703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/>
          <p:cNvSpPr/>
          <p:nvPr/>
        </p:nvSpPr>
        <p:spPr>
          <a:xfrm>
            <a:off x="5677379" y="3150453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cxnSp>
        <p:nvCxnSpPr>
          <p:cNvPr id="16" name="Conector de seta reta 15"/>
          <p:cNvCxnSpPr>
            <a:stCxn id="17" idx="0"/>
            <a:endCxn id="15" idx="5"/>
          </p:cNvCxnSpPr>
          <p:nvPr/>
        </p:nvCxnSpPr>
        <p:spPr>
          <a:xfrm flipH="1" flipV="1">
            <a:off x="5873779" y="3342473"/>
            <a:ext cx="218459" cy="468065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/>
          <p:cNvSpPr/>
          <p:nvPr/>
        </p:nvSpPr>
        <p:spPr>
          <a:xfrm>
            <a:off x="5977189" y="381053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18" name="Conector angulado 161"/>
          <p:cNvCxnSpPr/>
          <p:nvPr/>
        </p:nvCxnSpPr>
        <p:spPr>
          <a:xfrm>
            <a:off x="5428808" y="1580228"/>
            <a:ext cx="778478" cy="2342793"/>
          </a:xfrm>
          <a:prstGeom prst="curvedConnector3">
            <a:avLst>
              <a:gd name="adj1" fmla="val 129365"/>
            </a:avLst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angulado 158"/>
          <p:cNvCxnSpPr/>
          <p:nvPr/>
        </p:nvCxnSpPr>
        <p:spPr>
          <a:xfrm flipH="1" flipV="1">
            <a:off x="5428808" y="1580228"/>
            <a:ext cx="478668" cy="1682708"/>
          </a:xfrm>
          <a:prstGeom prst="curvedConnector3">
            <a:avLst>
              <a:gd name="adj1" fmla="val -47758"/>
            </a:avLst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Elipse 19"/>
          <p:cNvSpPr/>
          <p:nvPr/>
        </p:nvSpPr>
        <p:spPr>
          <a:xfrm>
            <a:off x="5198711" y="146774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21" name="Elipse 20"/>
          <p:cNvSpPr/>
          <p:nvPr/>
        </p:nvSpPr>
        <p:spPr>
          <a:xfrm>
            <a:off x="5198712" y="206384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22" name="Elipse 21"/>
          <p:cNvSpPr/>
          <p:nvPr/>
        </p:nvSpPr>
        <p:spPr>
          <a:xfrm>
            <a:off x="5198712" y="265967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23" name="Elipse 22"/>
          <p:cNvSpPr/>
          <p:nvPr/>
        </p:nvSpPr>
        <p:spPr>
          <a:xfrm>
            <a:off x="4720045" y="3150453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24" name="Elipse 23"/>
          <p:cNvSpPr/>
          <p:nvPr/>
        </p:nvSpPr>
        <p:spPr>
          <a:xfrm>
            <a:off x="5677379" y="315045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25" name="Elipse 24"/>
          <p:cNvSpPr/>
          <p:nvPr/>
        </p:nvSpPr>
        <p:spPr>
          <a:xfrm>
            <a:off x="5977189" y="381053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4543074" y="4085533"/>
            <a:ext cx="20200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completa</a:t>
            </a:r>
          </a:p>
        </p:txBody>
      </p:sp>
      <p:sp>
        <p:nvSpPr>
          <p:cNvPr id="27" name="Elipse 26"/>
          <p:cNvSpPr/>
          <p:nvPr/>
        </p:nvSpPr>
        <p:spPr>
          <a:xfrm>
            <a:off x="7438142" y="146774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28" name="Conector de seta reta 27"/>
          <p:cNvCxnSpPr>
            <a:stCxn id="29" idx="0"/>
          </p:cNvCxnSpPr>
          <p:nvPr/>
        </p:nvCxnSpPr>
        <p:spPr>
          <a:xfrm flipH="1" flipV="1">
            <a:off x="7553191" y="1692710"/>
            <a:ext cx="1" cy="37113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Elipse 28"/>
          <p:cNvSpPr/>
          <p:nvPr/>
        </p:nvSpPr>
        <p:spPr>
          <a:xfrm>
            <a:off x="7438143" y="2063840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30" name="Conector de seta reta 29"/>
          <p:cNvCxnSpPr>
            <a:stCxn id="31" idx="0"/>
          </p:cNvCxnSpPr>
          <p:nvPr/>
        </p:nvCxnSpPr>
        <p:spPr>
          <a:xfrm flipV="1">
            <a:off x="7553192" y="2288805"/>
            <a:ext cx="0" cy="37087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Elipse 30"/>
          <p:cNvSpPr/>
          <p:nvPr/>
        </p:nvSpPr>
        <p:spPr>
          <a:xfrm>
            <a:off x="7438143" y="265967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32" name="Conector de seta reta 31"/>
          <p:cNvCxnSpPr>
            <a:stCxn id="33" idx="7"/>
          </p:cNvCxnSpPr>
          <p:nvPr/>
        </p:nvCxnSpPr>
        <p:spPr>
          <a:xfrm flipV="1">
            <a:off x="7155876" y="2851695"/>
            <a:ext cx="315964" cy="33170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Elipse 32"/>
          <p:cNvSpPr/>
          <p:nvPr/>
        </p:nvSpPr>
        <p:spPr>
          <a:xfrm>
            <a:off x="6959476" y="3150452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36" name="Conector de seta reta 35"/>
          <p:cNvCxnSpPr>
            <a:stCxn id="37" idx="1"/>
          </p:cNvCxnSpPr>
          <p:nvPr/>
        </p:nvCxnSpPr>
        <p:spPr>
          <a:xfrm flipH="1" flipV="1">
            <a:off x="7634543" y="2851695"/>
            <a:ext cx="315964" cy="331703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Elipse 36"/>
          <p:cNvSpPr/>
          <p:nvPr/>
        </p:nvSpPr>
        <p:spPr>
          <a:xfrm>
            <a:off x="7916810" y="3150453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cxnSp>
        <p:nvCxnSpPr>
          <p:cNvPr id="38" name="Conector de seta reta 37"/>
          <p:cNvCxnSpPr>
            <a:stCxn id="39" idx="0"/>
            <a:endCxn id="37" idx="5"/>
          </p:cNvCxnSpPr>
          <p:nvPr/>
        </p:nvCxnSpPr>
        <p:spPr>
          <a:xfrm flipH="1" flipV="1">
            <a:off x="8113210" y="3342473"/>
            <a:ext cx="218459" cy="468065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Elipse 38"/>
          <p:cNvSpPr/>
          <p:nvPr/>
        </p:nvSpPr>
        <p:spPr>
          <a:xfrm>
            <a:off x="8216620" y="381053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42" name="Elipse 41"/>
          <p:cNvSpPr/>
          <p:nvPr/>
        </p:nvSpPr>
        <p:spPr>
          <a:xfrm>
            <a:off x="7438142" y="146774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43" name="Elipse 42"/>
          <p:cNvSpPr/>
          <p:nvPr/>
        </p:nvSpPr>
        <p:spPr>
          <a:xfrm>
            <a:off x="7438143" y="206384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44" name="Elipse 43"/>
          <p:cNvSpPr/>
          <p:nvPr/>
        </p:nvSpPr>
        <p:spPr>
          <a:xfrm>
            <a:off x="7438143" y="265967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45" name="Elipse 44"/>
          <p:cNvSpPr/>
          <p:nvPr/>
        </p:nvSpPr>
        <p:spPr>
          <a:xfrm>
            <a:off x="6959476" y="3150453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46" name="Elipse 45"/>
          <p:cNvSpPr/>
          <p:nvPr/>
        </p:nvSpPr>
        <p:spPr>
          <a:xfrm>
            <a:off x="7916810" y="315045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47" name="Elipse 46"/>
          <p:cNvSpPr/>
          <p:nvPr/>
        </p:nvSpPr>
        <p:spPr>
          <a:xfrm>
            <a:off x="8216620" y="381053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48" name="CaixaDeTexto 47"/>
          <p:cNvSpPr txBox="1"/>
          <p:nvPr/>
        </p:nvSpPr>
        <p:spPr>
          <a:xfrm>
            <a:off x="6807730" y="4085533"/>
            <a:ext cx="19709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Árvore de profundidade</a:t>
            </a:r>
          </a:p>
        </p:txBody>
      </p:sp>
    </p:spTree>
    <p:extLst>
      <p:ext uri="{BB962C8B-B14F-4D97-AF65-F5344CB8AC3E}">
        <p14:creationId xmlns:p14="http://schemas.microsoft.com/office/powerpoint/2010/main" val="2792325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9" grpId="0" animBg="1"/>
      <p:bldP spid="11" grpId="0" animBg="1"/>
      <p:bldP spid="15" grpId="0" animBg="1"/>
      <p:bldP spid="17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/>
      <p:bldP spid="27" grpId="0" animBg="1"/>
      <p:bldP spid="29" grpId="0" animBg="1"/>
      <p:bldP spid="31" grpId="0" animBg="1"/>
      <p:bldP spid="33" grpId="0" animBg="1"/>
      <p:bldP spid="37" grpId="0" animBg="1"/>
      <p:bldP spid="39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Propriedades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38170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 busca pode não ser única, portanto pode-se obter mais de uma árvore de profundidade para o mesmo grafo.</a:t>
            </a:r>
          </a:p>
        </p:txBody>
      </p:sp>
      <p:sp>
        <p:nvSpPr>
          <p:cNvPr id="4" name="Elipse 3"/>
          <p:cNvSpPr/>
          <p:nvPr/>
        </p:nvSpPr>
        <p:spPr>
          <a:xfrm>
            <a:off x="1627679" y="343320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" name="Elipse 5"/>
          <p:cNvSpPr/>
          <p:nvPr/>
        </p:nvSpPr>
        <p:spPr>
          <a:xfrm>
            <a:off x="1631495" y="269309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" name="Elipse 6"/>
          <p:cNvSpPr/>
          <p:nvPr/>
        </p:nvSpPr>
        <p:spPr>
          <a:xfrm>
            <a:off x="2556670" y="268810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8" name="Elipse 7"/>
          <p:cNvSpPr/>
          <p:nvPr/>
        </p:nvSpPr>
        <p:spPr>
          <a:xfrm>
            <a:off x="2562721" y="343027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9" name="Elipse 8"/>
          <p:cNvSpPr/>
          <p:nvPr/>
        </p:nvSpPr>
        <p:spPr>
          <a:xfrm>
            <a:off x="3146194" y="3055893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0" name="Elipse 9"/>
          <p:cNvSpPr/>
          <p:nvPr/>
        </p:nvSpPr>
        <p:spPr>
          <a:xfrm>
            <a:off x="1048436" y="305918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11" name="Conector de seta reta 10"/>
          <p:cNvCxnSpPr>
            <a:stCxn id="6" idx="4"/>
            <a:endCxn id="4" idx="0"/>
          </p:cNvCxnSpPr>
          <p:nvPr/>
        </p:nvCxnSpPr>
        <p:spPr>
          <a:xfrm flipH="1">
            <a:off x="1742728" y="2918063"/>
            <a:ext cx="3816" cy="51514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stCxn id="6" idx="6"/>
            <a:endCxn id="7" idx="2"/>
          </p:cNvCxnSpPr>
          <p:nvPr/>
        </p:nvCxnSpPr>
        <p:spPr>
          <a:xfrm flipV="1">
            <a:off x="1861592" y="2800587"/>
            <a:ext cx="695078" cy="49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1067471" y="2555835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14" name="Conector de seta reta 13"/>
          <p:cNvCxnSpPr>
            <a:stCxn id="4" idx="6"/>
            <a:endCxn id="8" idx="2"/>
          </p:cNvCxnSpPr>
          <p:nvPr/>
        </p:nvCxnSpPr>
        <p:spPr>
          <a:xfrm flipV="1">
            <a:off x="1857776" y="3542761"/>
            <a:ext cx="704945" cy="2926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7" idx="4"/>
            <a:endCxn id="8" idx="0"/>
          </p:cNvCxnSpPr>
          <p:nvPr/>
        </p:nvCxnSpPr>
        <p:spPr>
          <a:xfrm>
            <a:off x="2671719" y="2913069"/>
            <a:ext cx="6051" cy="51720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/>
          <p:cNvCxnSpPr>
            <a:stCxn id="4" idx="7"/>
            <a:endCxn id="7" idx="3"/>
          </p:cNvCxnSpPr>
          <p:nvPr/>
        </p:nvCxnSpPr>
        <p:spPr>
          <a:xfrm flipV="1">
            <a:off x="1824079" y="2880124"/>
            <a:ext cx="766288" cy="58602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6" idx="2"/>
            <a:endCxn id="10" idx="7"/>
          </p:cNvCxnSpPr>
          <p:nvPr/>
        </p:nvCxnSpPr>
        <p:spPr>
          <a:xfrm flipH="1">
            <a:off x="1244836" y="2805581"/>
            <a:ext cx="386659" cy="28655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/>
          <p:cNvCxnSpPr>
            <a:stCxn id="4" idx="2"/>
            <a:endCxn id="10" idx="5"/>
          </p:cNvCxnSpPr>
          <p:nvPr/>
        </p:nvCxnSpPr>
        <p:spPr>
          <a:xfrm flipH="1" flipV="1">
            <a:off x="1244836" y="3251209"/>
            <a:ext cx="382843" cy="29447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7" idx="6"/>
            <a:endCxn id="9" idx="1"/>
          </p:cNvCxnSpPr>
          <p:nvPr/>
        </p:nvCxnSpPr>
        <p:spPr>
          <a:xfrm>
            <a:off x="2786767" y="2800587"/>
            <a:ext cx="393124" cy="28825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8" idx="6"/>
            <a:endCxn id="9" idx="3"/>
          </p:cNvCxnSpPr>
          <p:nvPr/>
        </p:nvCxnSpPr>
        <p:spPr>
          <a:xfrm flipV="1">
            <a:off x="2792818" y="3247913"/>
            <a:ext cx="387073" cy="29484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lipse 20"/>
          <p:cNvSpPr/>
          <p:nvPr/>
        </p:nvSpPr>
        <p:spPr>
          <a:xfrm>
            <a:off x="4839333" y="1573540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22" name="Conector de seta reta 21"/>
          <p:cNvCxnSpPr>
            <a:stCxn id="23" idx="0"/>
          </p:cNvCxnSpPr>
          <p:nvPr/>
        </p:nvCxnSpPr>
        <p:spPr>
          <a:xfrm flipH="1" flipV="1">
            <a:off x="4954382" y="1798505"/>
            <a:ext cx="1" cy="37113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Elipse 22"/>
          <p:cNvSpPr/>
          <p:nvPr/>
        </p:nvSpPr>
        <p:spPr>
          <a:xfrm>
            <a:off x="4839334" y="216963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24" name="Conector de seta reta 23"/>
          <p:cNvCxnSpPr>
            <a:stCxn id="25" idx="0"/>
          </p:cNvCxnSpPr>
          <p:nvPr/>
        </p:nvCxnSpPr>
        <p:spPr>
          <a:xfrm flipV="1">
            <a:off x="4954383" y="2394600"/>
            <a:ext cx="0" cy="37087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lipse 24"/>
          <p:cNvSpPr/>
          <p:nvPr/>
        </p:nvSpPr>
        <p:spPr>
          <a:xfrm>
            <a:off x="4839334" y="2765470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26" name="Conector de seta reta 25"/>
          <p:cNvCxnSpPr>
            <a:stCxn id="27" idx="7"/>
          </p:cNvCxnSpPr>
          <p:nvPr/>
        </p:nvCxnSpPr>
        <p:spPr>
          <a:xfrm flipV="1">
            <a:off x="4557067" y="2957490"/>
            <a:ext cx="315964" cy="33170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Elipse 26"/>
          <p:cNvSpPr/>
          <p:nvPr/>
        </p:nvSpPr>
        <p:spPr>
          <a:xfrm>
            <a:off x="4360667" y="3256247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28" name="Conector angulado 139"/>
          <p:cNvCxnSpPr/>
          <p:nvPr/>
        </p:nvCxnSpPr>
        <p:spPr>
          <a:xfrm rot="5400000" flipH="1" flipV="1">
            <a:off x="4170461" y="2587374"/>
            <a:ext cx="974129" cy="363618"/>
          </a:xfrm>
          <a:prstGeom prst="curvedConnector2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angulado 147"/>
          <p:cNvCxnSpPr/>
          <p:nvPr/>
        </p:nvCxnSpPr>
        <p:spPr>
          <a:xfrm>
            <a:off x="5069430" y="1686023"/>
            <a:ext cx="1" cy="1191930"/>
          </a:xfrm>
          <a:prstGeom prst="curvedConnector3">
            <a:avLst>
              <a:gd name="adj1" fmla="val 22860100000"/>
            </a:avLst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de seta reta 29"/>
          <p:cNvCxnSpPr>
            <a:stCxn id="31" idx="1"/>
          </p:cNvCxnSpPr>
          <p:nvPr/>
        </p:nvCxnSpPr>
        <p:spPr>
          <a:xfrm flipH="1" flipV="1">
            <a:off x="5035734" y="2957490"/>
            <a:ext cx="315964" cy="331703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Elipse 30"/>
          <p:cNvSpPr/>
          <p:nvPr/>
        </p:nvSpPr>
        <p:spPr>
          <a:xfrm>
            <a:off x="5318001" y="325624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cxnSp>
        <p:nvCxnSpPr>
          <p:cNvPr id="32" name="Conector de seta reta 31"/>
          <p:cNvCxnSpPr>
            <a:stCxn id="33" idx="0"/>
            <a:endCxn id="31" idx="5"/>
          </p:cNvCxnSpPr>
          <p:nvPr/>
        </p:nvCxnSpPr>
        <p:spPr>
          <a:xfrm flipH="1" flipV="1">
            <a:off x="5514401" y="3448268"/>
            <a:ext cx="218459" cy="468065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Elipse 32"/>
          <p:cNvSpPr/>
          <p:nvPr/>
        </p:nvSpPr>
        <p:spPr>
          <a:xfrm>
            <a:off x="5617811" y="3916333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34" name="Conector angulado 161"/>
          <p:cNvCxnSpPr/>
          <p:nvPr/>
        </p:nvCxnSpPr>
        <p:spPr>
          <a:xfrm>
            <a:off x="5069430" y="1686023"/>
            <a:ext cx="778478" cy="2342793"/>
          </a:xfrm>
          <a:prstGeom prst="curvedConnector3">
            <a:avLst>
              <a:gd name="adj1" fmla="val 129365"/>
            </a:avLst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angulado 158"/>
          <p:cNvCxnSpPr/>
          <p:nvPr/>
        </p:nvCxnSpPr>
        <p:spPr>
          <a:xfrm flipH="1" flipV="1">
            <a:off x="5069430" y="1686023"/>
            <a:ext cx="478668" cy="1682708"/>
          </a:xfrm>
          <a:prstGeom prst="curvedConnector3">
            <a:avLst>
              <a:gd name="adj1" fmla="val -47758"/>
            </a:avLst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ipse 35"/>
          <p:cNvSpPr/>
          <p:nvPr/>
        </p:nvSpPr>
        <p:spPr>
          <a:xfrm>
            <a:off x="4839333" y="157354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37" name="Elipse 36"/>
          <p:cNvSpPr/>
          <p:nvPr/>
        </p:nvSpPr>
        <p:spPr>
          <a:xfrm>
            <a:off x="4839334" y="216963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38" name="Elipse 37"/>
          <p:cNvSpPr/>
          <p:nvPr/>
        </p:nvSpPr>
        <p:spPr>
          <a:xfrm>
            <a:off x="4839334" y="276547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39" name="Elipse 38"/>
          <p:cNvSpPr/>
          <p:nvPr/>
        </p:nvSpPr>
        <p:spPr>
          <a:xfrm>
            <a:off x="4360667" y="325624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40" name="Elipse 39"/>
          <p:cNvSpPr/>
          <p:nvPr/>
        </p:nvSpPr>
        <p:spPr>
          <a:xfrm>
            <a:off x="5318001" y="325624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41" name="Elipse 40"/>
          <p:cNvSpPr/>
          <p:nvPr/>
        </p:nvSpPr>
        <p:spPr>
          <a:xfrm>
            <a:off x="5617811" y="391633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42" name="Elipse 41"/>
          <p:cNvSpPr/>
          <p:nvPr/>
        </p:nvSpPr>
        <p:spPr>
          <a:xfrm>
            <a:off x="7149643" y="1573540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43" name="Conector de seta reta 42"/>
          <p:cNvCxnSpPr/>
          <p:nvPr/>
        </p:nvCxnSpPr>
        <p:spPr>
          <a:xfrm flipV="1">
            <a:off x="7264692" y="1798505"/>
            <a:ext cx="0" cy="37087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de seta reta 43"/>
          <p:cNvCxnSpPr>
            <a:stCxn id="51" idx="7"/>
          </p:cNvCxnSpPr>
          <p:nvPr/>
        </p:nvCxnSpPr>
        <p:spPr>
          <a:xfrm flipV="1">
            <a:off x="6867376" y="2361395"/>
            <a:ext cx="315964" cy="331703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angulado 139"/>
          <p:cNvCxnSpPr/>
          <p:nvPr/>
        </p:nvCxnSpPr>
        <p:spPr>
          <a:xfrm rot="5400000" flipH="1" flipV="1">
            <a:off x="6480770" y="1991279"/>
            <a:ext cx="974129" cy="363618"/>
          </a:xfrm>
          <a:prstGeom prst="curvedConnector2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de seta reta 45"/>
          <p:cNvCxnSpPr/>
          <p:nvPr/>
        </p:nvCxnSpPr>
        <p:spPr>
          <a:xfrm flipH="1" flipV="1">
            <a:off x="7346043" y="2361395"/>
            <a:ext cx="315964" cy="331703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de seta reta 46"/>
          <p:cNvCxnSpPr>
            <a:stCxn id="48" idx="0"/>
          </p:cNvCxnSpPr>
          <p:nvPr/>
        </p:nvCxnSpPr>
        <p:spPr>
          <a:xfrm flipH="1" flipV="1">
            <a:off x="7824710" y="2852173"/>
            <a:ext cx="218459" cy="468065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Elipse 47"/>
          <p:cNvSpPr/>
          <p:nvPr/>
        </p:nvSpPr>
        <p:spPr>
          <a:xfrm>
            <a:off x="7928120" y="332023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49" name="Elipse 48"/>
          <p:cNvSpPr/>
          <p:nvPr/>
        </p:nvSpPr>
        <p:spPr>
          <a:xfrm>
            <a:off x="7149643" y="216937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0" name="Elipse 49"/>
          <p:cNvSpPr/>
          <p:nvPr/>
        </p:nvSpPr>
        <p:spPr>
          <a:xfrm>
            <a:off x="7628310" y="266015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51" name="Elipse 50"/>
          <p:cNvSpPr/>
          <p:nvPr/>
        </p:nvSpPr>
        <p:spPr>
          <a:xfrm>
            <a:off x="6670976" y="2660153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57" name="Conector de seta reta 56"/>
          <p:cNvCxnSpPr>
            <a:stCxn id="58" idx="0"/>
            <a:endCxn id="48" idx="5"/>
          </p:cNvCxnSpPr>
          <p:nvPr/>
        </p:nvCxnSpPr>
        <p:spPr>
          <a:xfrm flipH="1" flipV="1">
            <a:off x="8124520" y="3512258"/>
            <a:ext cx="211806" cy="473325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Elipse 57"/>
          <p:cNvSpPr/>
          <p:nvPr/>
        </p:nvSpPr>
        <p:spPr>
          <a:xfrm>
            <a:off x="8221277" y="3985583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61" name="Conector angulado 60"/>
          <p:cNvCxnSpPr>
            <a:stCxn id="42" idx="6"/>
            <a:endCxn id="50" idx="7"/>
          </p:cNvCxnSpPr>
          <p:nvPr/>
        </p:nvCxnSpPr>
        <p:spPr>
          <a:xfrm>
            <a:off x="7379740" y="1686023"/>
            <a:ext cx="444970" cy="1007076"/>
          </a:xfrm>
          <a:prstGeom prst="curvedConnector2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angulado 62"/>
          <p:cNvCxnSpPr>
            <a:stCxn id="42" idx="6"/>
            <a:endCxn id="48" idx="6"/>
          </p:cNvCxnSpPr>
          <p:nvPr/>
        </p:nvCxnSpPr>
        <p:spPr>
          <a:xfrm>
            <a:off x="7379740" y="1686023"/>
            <a:ext cx="778477" cy="1746698"/>
          </a:xfrm>
          <a:prstGeom prst="curvedConnector3">
            <a:avLst>
              <a:gd name="adj1" fmla="val 129365"/>
            </a:avLst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65"/>
          <p:cNvCxnSpPr>
            <a:stCxn id="50" idx="2"/>
            <a:endCxn id="58" idx="2"/>
          </p:cNvCxnSpPr>
          <p:nvPr/>
        </p:nvCxnSpPr>
        <p:spPr>
          <a:xfrm rot="10800000" flipH="1" flipV="1">
            <a:off x="7628309" y="2772636"/>
            <a:ext cx="592967" cy="1325429"/>
          </a:xfrm>
          <a:prstGeom prst="curvedConnector3">
            <a:avLst>
              <a:gd name="adj1" fmla="val -38552"/>
            </a:avLst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3587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  <p:bldP spid="13" grpId="0"/>
      <p:bldP spid="21" grpId="0" animBg="1"/>
      <p:bldP spid="23" grpId="0" animBg="1"/>
      <p:bldP spid="25" grpId="0" animBg="1"/>
      <p:bldP spid="27" grpId="0" animBg="1"/>
      <p:bldP spid="31" grpId="0" animBg="1"/>
      <p:bldP spid="33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8" grpId="0" animBg="1"/>
      <p:bldP spid="49" grpId="0" animBg="1"/>
      <p:bldP spid="50" grpId="0" animBg="1"/>
      <p:bldP spid="51" grpId="0" animBg="1"/>
      <p:bldP spid="58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000" dirty="0"/>
              <a:t>Busca em Profundidade</a:t>
            </a:r>
            <a:br>
              <a:rPr lang="pt-BR" sz="4000" dirty="0"/>
            </a:br>
            <a:r>
              <a:rPr lang="pt-BR" sz="4000" dirty="0"/>
              <a:t>em Grafo Direcionado</a:t>
            </a:r>
          </a:p>
        </p:txBody>
      </p:sp>
    </p:spTree>
    <p:extLst>
      <p:ext uri="{BB962C8B-B14F-4D97-AF65-F5344CB8AC3E}">
        <p14:creationId xmlns:p14="http://schemas.microsoft.com/office/powerpoint/2010/main" val="200478512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Grafo Direcionado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76617" y="1203960"/>
            <a:ext cx="8546665" cy="324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Em grafos direcionados, a busca em profundidade pode ser feita de forma análoga a realizada em grafo não direcionado.</a:t>
            </a:r>
          </a:p>
          <a:p>
            <a:pPr>
              <a:spcAft>
                <a:spcPts val="6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Durante uma busca em profundidade em um grafo direcionado, a aresta (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>
                <a:solidFill>
                  <a:schemeClr val="tx1">
                    <a:lumMod val="65000"/>
                    <a:lumOff val="35000"/>
                  </a:schemeClr>
                </a:solidFill>
              </a:rPr>
              <a:t>) pode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ser rotulada de uma das </a:t>
            </a:r>
            <a:r>
              <a:rPr lang="pt-BR" sz="2000">
                <a:solidFill>
                  <a:schemeClr val="tx1">
                    <a:lumMod val="65000"/>
                    <a:lumOff val="35000"/>
                  </a:schemeClr>
                </a:solidFill>
              </a:rPr>
              <a:t>seguintes quatro formas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</a:t>
            </a:r>
            <a:r>
              <a:rPr lang="pt-BR" dirty="0">
                <a:solidFill>
                  <a:srgbClr val="00B0F0"/>
                </a:solidFill>
              </a:rPr>
              <a:t>árvore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quando a aresta (v, w) é usada para visitar w pela 1ª vez;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</a:t>
            </a:r>
            <a:r>
              <a:rPr lang="pt-BR" dirty="0">
                <a:solidFill>
                  <a:srgbClr val="FF0000"/>
                </a:solidFill>
              </a:rPr>
              <a:t>retorno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caso w seja ancestral de v, mas não seu pai;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</a:t>
            </a:r>
            <a:r>
              <a:rPr lang="pt-BR" dirty="0">
                <a:solidFill>
                  <a:srgbClr val="00B050"/>
                </a:solidFill>
              </a:rPr>
              <a:t>avanço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caso w seja descendente de v, mas v não seja pai dele; e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</a:t>
            </a:r>
            <a:r>
              <a:rPr lang="pt-BR" dirty="0">
                <a:solidFill>
                  <a:srgbClr val="FFC000"/>
                </a:solidFill>
              </a:rPr>
              <a:t>cruzamento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quando </a:t>
            </a:r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não é descendente de </a:t>
            </a:r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 nem </a:t>
            </a:r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é descendente de </a:t>
            </a:r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12097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Grafo Direcionado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89746" y="1203959"/>
            <a:ext cx="8502733" cy="31316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9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Inicialização / Chamada inicial 			</a:t>
            </a:r>
            <a:r>
              <a:rPr lang="pt-BR" sz="1600" dirty="0">
                <a:solidFill>
                  <a:srgbClr val="0070C0"/>
                </a:solidFill>
              </a:rPr>
              <a:t>// Idêntico ao anterior</a:t>
            </a: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 0; 					</a:t>
            </a:r>
            <a:r>
              <a:rPr lang="pt-BR" sz="1600" dirty="0">
                <a:solidFill>
                  <a:srgbClr val="0070C0"/>
                </a:solidFill>
                <a:sym typeface="Symbol" panose="05050102010706020507" pitchFamily="18" charset="2"/>
              </a:rPr>
              <a:t>// Inicializar tempo global</a:t>
            </a:r>
            <a:endParaRPr lang="pt-BR" sz="2000" dirty="0">
              <a:solidFill>
                <a:srgbClr val="0070C0"/>
              </a:solidFill>
            </a:endParaRP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pt-BR" sz="20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para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todo vértice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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V(G) </a:t>
            </a:r>
            <a:r>
              <a:rPr lang="pt-BR" sz="20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faça</a:t>
            </a:r>
          </a:p>
          <a:p>
            <a:pPr marL="914400" lvl="1" indent="-457200">
              <a:spcAft>
                <a:spcPts val="600"/>
              </a:spcAft>
              <a:buFont typeface="+mj-lt"/>
              <a:buAutoNum type="alphaLcPeriod"/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TD[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 </a:t>
            </a:r>
            <a:r>
              <a:rPr lang="pt-B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 0; 				</a:t>
            </a:r>
            <a:r>
              <a:rPr lang="pt-BR" sz="1600" dirty="0">
                <a:solidFill>
                  <a:srgbClr val="0070C0"/>
                </a:solidFill>
                <a:sym typeface="Symbol" panose="05050102010706020507" pitchFamily="18" charset="2"/>
              </a:rPr>
              <a:t>// Inicializar tempo de descoberta</a:t>
            </a:r>
            <a:endParaRPr lang="pt-BR" sz="2000" dirty="0">
              <a:solidFill>
                <a:srgbClr val="0070C0"/>
              </a:solidFill>
              <a:sym typeface="Symbol" panose="05050102010706020507" pitchFamily="18" charset="2"/>
            </a:endParaRPr>
          </a:p>
          <a:p>
            <a:pPr marL="914400" lvl="1" indent="-457200">
              <a:spcAft>
                <a:spcPts val="600"/>
              </a:spcAft>
              <a:buFont typeface="+mj-lt"/>
              <a:buAutoNum type="alphaLcPeriod"/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TT[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]   0;				</a:t>
            </a:r>
            <a:r>
              <a:rPr lang="pt-BR" sz="1600" dirty="0">
                <a:solidFill>
                  <a:srgbClr val="0070C0"/>
                </a:solidFill>
                <a:sym typeface="Symbol" panose="05050102010706020507" pitchFamily="18" charset="2"/>
              </a:rPr>
              <a:t>// Inicializar tempo de término</a:t>
            </a:r>
            <a:endParaRPr lang="pt-BR" sz="2000" dirty="0">
              <a:solidFill>
                <a:srgbClr val="0070C0"/>
              </a:solidFill>
            </a:endParaRPr>
          </a:p>
          <a:p>
            <a:pPr marL="914400" lvl="1" indent="-457200">
              <a:spcAft>
                <a:spcPts val="600"/>
              </a:spcAft>
              <a:buFont typeface="+mj-lt"/>
              <a:buAutoNum type="alphaLcPeriod"/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pai[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 </a:t>
            </a:r>
            <a:r>
              <a:rPr lang="pt-BR" sz="2000" dirty="0" err="1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null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;				</a:t>
            </a:r>
            <a:r>
              <a:rPr lang="pt-BR" sz="1600" dirty="0">
                <a:solidFill>
                  <a:srgbClr val="0070C0"/>
                </a:solidFill>
                <a:sym typeface="Symbol" panose="05050102010706020507" pitchFamily="18" charset="2"/>
              </a:rPr>
              <a:t>// Inicializar predecessor ou pai</a:t>
            </a:r>
            <a:endParaRPr lang="pt-BR" sz="2000" dirty="0">
              <a:solidFill>
                <a:srgbClr val="0070C0"/>
              </a:solidFill>
            </a:endParaRP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pt-BR" sz="20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enquanto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existir algum vértice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tal que TD[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 = 0 </a:t>
            </a:r>
            <a:r>
              <a:rPr lang="pt-BR" sz="20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efetuar</a:t>
            </a:r>
          </a:p>
          <a:p>
            <a:pPr marL="914400" lvl="1" indent="-457200">
              <a:spcAft>
                <a:spcPts val="600"/>
              </a:spcAft>
              <a:buFont typeface="+mj-lt"/>
              <a:buAutoNum type="alphaLcPeriod"/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Executar </a:t>
            </a:r>
            <a:r>
              <a:rPr lang="pt-BR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Busca_Profundidade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);		</a:t>
            </a:r>
            <a:r>
              <a:rPr lang="pt-BR" sz="1600" dirty="0">
                <a:solidFill>
                  <a:srgbClr val="0070C0"/>
                </a:solidFill>
              </a:rPr>
              <a:t>// Executar busca para raiz </a:t>
            </a:r>
            <a:r>
              <a:rPr lang="pt-BR" sz="1600" i="1" dirty="0">
                <a:solidFill>
                  <a:srgbClr val="0070C0"/>
                </a:solidFill>
              </a:rPr>
              <a:t>v</a:t>
            </a:r>
            <a:endParaRPr lang="pt-BR" sz="2000" i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1594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Grafo Direcionado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89747" y="1140899"/>
            <a:ext cx="8424936" cy="3470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00"/>
              </a:spcAft>
            </a:pPr>
            <a:r>
              <a:rPr lang="pt-BR" sz="16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Busca_Profundidade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</a:p>
          <a:p>
            <a:pPr marL="457200" indent="-457200">
              <a:spcAft>
                <a:spcPts val="200"/>
              </a:spcAft>
              <a:buFont typeface="+mj-lt"/>
              <a:buAutoNum type="arabicPeriod"/>
            </a:pP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 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t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+ 1;  TD[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]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 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t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;				         </a:t>
            </a:r>
            <a:r>
              <a:rPr lang="pt-BR" sz="1400" dirty="0">
                <a:solidFill>
                  <a:srgbClr val="0070C0"/>
                </a:solidFill>
                <a:sym typeface="Symbol" panose="05050102010706020507" pitchFamily="18" charset="2"/>
              </a:rPr>
              <a:t>// Definir tempo de descoberta</a:t>
            </a:r>
            <a:endParaRPr lang="pt-BR" sz="1600" dirty="0">
              <a:solidFill>
                <a:srgbClr val="0070C0"/>
              </a:solidFill>
            </a:endParaRPr>
          </a:p>
          <a:p>
            <a:pPr marL="457200" indent="-457200">
              <a:spcAft>
                <a:spcPts val="200"/>
              </a:spcAft>
              <a:buFont typeface="+mj-lt"/>
              <a:buAutoNum type="arabicPeriod"/>
            </a:pPr>
            <a:r>
              <a:rPr lang="pt-BR" sz="16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para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todo vértice 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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7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</a:t>
            </a:r>
            <a:r>
              <a:rPr lang="pt-BR" sz="16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faça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			         </a:t>
            </a:r>
            <a:r>
              <a:rPr lang="pt-BR" sz="1400" dirty="0">
                <a:solidFill>
                  <a:srgbClr val="0070C0"/>
                </a:solidFill>
              </a:rPr>
              <a:t>// Para toda a vizinhança de v</a:t>
            </a:r>
            <a:endParaRPr lang="pt-BR" dirty="0">
              <a:solidFill>
                <a:srgbClr val="0070C0"/>
              </a:solidFill>
            </a:endParaRPr>
          </a:p>
          <a:p>
            <a:pPr marL="914400" lvl="1" indent="-457200">
              <a:spcAft>
                <a:spcPts val="200"/>
              </a:spcAft>
              <a:buFont typeface="+mj-lt"/>
              <a:buAutoNum type="alphaLcPeriod"/>
            </a:pPr>
            <a:r>
              <a:rPr lang="pt-BR" sz="1600" u="sng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se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TD[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w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] = 0 </a:t>
            </a:r>
            <a:r>
              <a:rPr lang="pt-BR" sz="1600" u="sng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então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				         </a:t>
            </a:r>
            <a:r>
              <a:rPr lang="pt-BR" sz="1400" dirty="0">
                <a:solidFill>
                  <a:srgbClr val="0070C0"/>
                </a:solidFill>
                <a:sym typeface="Symbol" panose="05050102010706020507" pitchFamily="18" charset="2"/>
              </a:rPr>
              <a:t>// Se w é visitado pela 1ª vez</a:t>
            </a:r>
            <a:endParaRPr lang="pt-BR" sz="1600" dirty="0">
              <a:solidFill>
                <a:srgbClr val="0070C0"/>
              </a:solidFill>
              <a:sym typeface="Symbol" panose="05050102010706020507" pitchFamily="18" charset="2"/>
            </a:endParaRPr>
          </a:p>
          <a:p>
            <a:pPr lvl="3">
              <a:spcAft>
                <a:spcPts val="200"/>
              </a:spcAft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Visitar aresta de </a:t>
            </a:r>
            <a:r>
              <a:rPr lang="pt-BR" sz="1600" dirty="0">
                <a:solidFill>
                  <a:srgbClr val="00B0F0"/>
                </a:solidFill>
                <a:sym typeface="Symbol" panose="05050102010706020507" pitchFamily="18" charset="2"/>
              </a:rPr>
              <a:t>árvore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(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, 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w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);         pai[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w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]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 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;</a:t>
            </a:r>
            <a:endParaRPr lang="pt-BR" sz="1600" dirty="0">
              <a:solidFill>
                <a:srgbClr val="0070C0"/>
              </a:solidFill>
            </a:endParaRPr>
          </a:p>
          <a:p>
            <a:pPr lvl="3">
              <a:spcAft>
                <a:spcPts val="200"/>
              </a:spcAft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Executar </a:t>
            </a:r>
            <a:r>
              <a:rPr lang="pt-BR" sz="1600" b="1" dirty="0" err="1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Busca_Profundidade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(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w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);</a:t>
            </a:r>
          </a:p>
          <a:p>
            <a:pPr marL="914400" lvl="1" indent="-457200">
              <a:spcAft>
                <a:spcPts val="200"/>
              </a:spcAft>
              <a:buFont typeface="+mj-lt"/>
              <a:buAutoNum type="alphaLcPeriod"/>
            </a:pPr>
            <a:r>
              <a:rPr lang="pt-BR" sz="16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senão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  <a:p>
            <a:pPr marL="1371600" lvl="2" indent="-457200">
              <a:spcAft>
                <a:spcPts val="200"/>
              </a:spcAft>
              <a:buFont typeface="+mj-lt"/>
              <a:buAutoNum type="romanLcPeriod"/>
            </a:pPr>
            <a:r>
              <a:rPr lang="pt-BR" sz="16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TT[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 = 0 </a:t>
            </a:r>
            <a:r>
              <a:rPr lang="pt-BR" sz="16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então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</a:t>
            </a:r>
          </a:p>
          <a:p>
            <a:pPr lvl="2">
              <a:spcAft>
                <a:spcPts val="200"/>
              </a:spcAft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Visitar aresta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de </a:t>
            </a:r>
            <a:r>
              <a:rPr lang="pt-BR" sz="1600" dirty="0">
                <a:solidFill>
                  <a:srgbClr val="FF0000"/>
                </a:solidFill>
                <a:sym typeface="Symbol" panose="05050102010706020507" pitchFamily="18" charset="2"/>
              </a:rPr>
              <a:t>retorno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);</a:t>
            </a:r>
            <a:endParaRPr lang="pt-BR" sz="1600" dirty="0">
              <a:solidFill>
                <a:srgbClr val="0070C0"/>
              </a:solidFill>
            </a:endParaRPr>
          </a:p>
          <a:p>
            <a:pPr marL="1371600" lvl="2" indent="-457200">
              <a:spcAft>
                <a:spcPts val="200"/>
              </a:spcAft>
              <a:buFont typeface="+mj-lt"/>
              <a:buAutoNum type="romanLcPeriod" startAt="2"/>
            </a:pPr>
            <a:r>
              <a:rPr lang="pt-BR" sz="16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senão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TD[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 &lt; TD[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 </a:t>
            </a:r>
            <a:r>
              <a:rPr lang="pt-BR" sz="16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então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Visitar aresta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de </a:t>
            </a:r>
            <a:r>
              <a:rPr lang="pt-BR" sz="1600" dirty="0">
                <a:solidFill>
                  <a:srgbClr val="00B050"/>
                </a:solidFill>
                <a:sym typeface="Symbol" panose="05050102010706020507" pitchFamily="18" charset="2"/>
              </a:rPr>
              <a:t>avanço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);</a:t>
            </a:r>
            <a:endParaRPr lang="pt-BR" sz="1600" dirty="0">
              <a:solidFill>
                <a:srgbClr val="0070C0"/>
              </a:solidFill>
            </a:endParaRPr>
          </a:p>
          <a:p>
            <a:pPr lvl="4">
              <a:spcAft>
                <a:spcPts val="200"/>
              </a:spcAft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pt-BR" sz="16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senão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                        Visitar aresta de </a:t>
            </a:r>
            <a:r>
              <a:rPr lang="pt-BR" sz="1600" dirty="0">
                <a:solidFill>
                  <a:srgbClr val="FFC000"/>
                </a:solidFill>
              </a:rPr>
              <a:t>cruzamento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);</a:t>
            </a:r>
            <a:endParaRPr lang="pt-BR" sz="1600" dirty="0">
              <a:solidFill>
                <a:srgbClr val="0070C0"/>
              </a:solidFill>
            </a:endParaRPr>
          </a:p>
          <a:p>
            <a:pPr marL="457200" indent="-457200">
              <a:spcAft>
                <a:spcPts val="200"/>
              </a:spcAft>
              <a:buFont typeface="+mj-lt"/>
              <a:buAutoNum type="arabicPeriod"/>
            </a:pP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 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t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+ 1;  TT[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]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 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t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;				         </a:t>
            </a:r>
            <a:r>
              <a:rPr lang="pt-BR" sz="1400" dirty="0">
                <a:solidFill>
                  <a:srgbClr val="0070C0"/>
                </a:solidFill>
                <a:sym typeface="Symbol" panose="05050102010706020507" pitchFamily="18" charset="2"/>
              </a:rPr>
              <a:t>// Definir tempo de término</a:t>
            </a:r>
            <a:endParaRPr lang="pt-BR" sz="1600" u="sng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2891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Grafo Direcionado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89747" y="1140899"/>
            <a:ext cx="8424936" cy="3470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00"/>
              </a:spcAft>
            </a:pPr>
            <a:r>
              <a:rPr lang="pt-BR" sz="16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Busca_Profundidade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</a:p>
          <a:p>
            <a:pPr marL="457200" indent="-457200">
              <a:spcAft>
                <a:spcPts val="200"/>
              </a:spcAft>
              <a:buFont typeface="+mj-lt"/>
              <a:buAutoNum type="arabicPeriod"/>
            </a:pP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 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t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+ 1;  TD[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]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 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t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;				         </a:t>
            </a:r>
            <a:r>
              <a:rPr lang="pt-BR" sz="1400" dirty="0">
                <a:solidFill>
                  <a:srgbClr val="0070C0"/>
                </a:solidFill>
                <a:sym typeface="Symbol" panose="05050102010706020507" pitchFamily="18" charset="2"/>
              </a:rPr>
              <a:t>// Definir tempo de descoberta</a:t>
            </a:r>
            <a:endParaRPr lang="pt-BR" sz="1600" dirty="0">
              <a:solidFill>
                <a:srgbClr val="0070C0"/>
              </a:solidFill>
            </a:endParaRPr>
          </a:p>
          <a:p>
            <a:pPr marL="457200" indent="-457200">
              <a:spcAft>
                <a:spcPts val="200"/>
              </a:spcAft>
              <a:buFont typeface="+mj-lt"/>
              <a:buAutoNum type="arabicPeriod"/>
            </a:pPr>
            <a:r>
              <a:rPr lang="pt-BR" sz="16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para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todo vértice 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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7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</a:t>
            </a:r>
            <a:r>
              <a:rPr lang="pt-BR" sz="16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faça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			         </a:t>
            </a:r>
            <a:r>
              <a:rPr lang="pt-BR" sz="1400" dirty="0">
                <a:solidFill>
                  <a:srgbClr val="0070C0"/>
                </a:solidFill>
              </a:rPr>
              <a:t>// Para toda a vizinhança de v</a:t>
            </a:r>
            <a:endParaRPr lang="pt-BR" dirty="0">
              <a:solidFill>
                <a:srgbClr val="0070C0"/>
              </a:solidFill>
            </a:endParaRPr>
          </a:p>
          <a:p>
            <a:pPr marL="914400" lvl="1" indent="-457200">
              <a:spcAft>
                <a:spcPts val="200"/>
              </a:spcAft>
              <a:buFont typeface="+mj-lt"/>
              <a:buAutoNum type="alphaLcPeriod"/>
            </a:pPr>
            <a:r>
              <a:rPr lang="pt-BR" sz="1600" u="sng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se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TD[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w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] = 0 </a:t>
            </a:r>
            <a:r>
              <a:rPr lang="pt-BR" sz="1600" u="sng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então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				         </a:t>
            </a:r>
            <a:r>
              <a:rPr lang="pt-BR" sz="1400" dirty="0">
                <a:solidFill>
                  <a:srgbClr val="0070C0"/>
                </a:solidFill>
                <a:sym typeface="Symbol" panose="05050102010706020507" pitchFamily="18" charset="2"/>
              </a:rPr>
              <a:t>// Se w é visitado pela 1ª vez</a:t>
            </a:r>
            <a:endParaRPr lang="pt-BR" sz="1600" dirty="0">
              <a:solidFill>
                <a:srgbClr val="0070C0"/>
              </a:solidFill>
              <a:sym typeface="Symbol" panose="05050102010706020507" pitchFamily="18" charset="2"/>
            </a:endParaRPr>
          </a:p>
          <a:p>
            <a:pPr lvl="3">
              <a:spcAft>
                <a:spcPts val="200"/>
              </a:spcAft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Visitar aresta de </a:t>
            </a:r>
            <a:r>
              <a:rPr lang="pt-BR" sz="1600" dirty="0">
                <a:solidFill>
                  <a:srgbClr val="00B0F0"/>
                </a:solidFill>
                <a:sym typeface="Symbol" panose="05050102010706020507" pitchFamily="18" charset="2"/>
              </a:rPr>
              <a:t>árvore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(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, 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w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);         pai[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w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]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 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;</a:t>
            </a:r>
            <a:endParaRPr lang="pt-BR" sz="1600" dirty="0">
              <a:solidFill>
                <a:srgbClr val="0070C0"/>
              </a:solidFill>
            </a:endParaRPr>
          </a:p>
          <a:p>
            <a:pPr lvl="3">
              <a:spcAft>
                <a:spcPts val="200"/>
              </a:spcAft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Executar </a:t>
            </a:r>
            <a:r>
              <a:rPr lang="pt-BR" sz="1600" dirty="0" err="1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Busca_Profundidade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(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w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);</a:t>
            </a:r>
          </a:p>
          <a:p>
            <a:pPr marL="914400" lvl="1" indent="-457200">
              <a:spcAft>
                <a:spcPts val="200"/>
              </a:spcAft>
              <a:buFont typeface="+mj-lt"/>
              <a:buAutoNum type="alphaLcPeriod"/>
            </a:pPr>
            <a:r>
              <a:rPr lang="pt-BR" sz="16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senão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  <a:p>
            <a:pPr marL="1371600" lvl="2" indent="-457200">
              <a:spcAft>
                <a:spcPts val="200"/>
              </a:spcAft>
              <a:buFont typeface="+mj-lt"/>
              <a:buAutoNum type="romanLcPeriod"/>
            </a:pPr>
            <a:r>
              <a:rPr lang="pt-BR" sz="16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TT[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 = 0 </a:t>
            </a:r>
            <a:r>
              <a:rPr lang="pt-BR" sz="16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então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</a:t>
            </a:r>
          </a:p>
          <a:p>
            <a:pPr lvl="2">
              <a:spcAft>
                <a:spcPts val="200"/>
              </a:spcAft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Visitar aresta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de </a:t>
            </a:r>
            <a:r>
              <a:rPr lang="pt-BR" sz="1600" dirty="0">
                <a:solidFill>
                  <a:srgbClr val="FF0000"/>
                </a:solidFill>
                <a:sym typeface="Symbol" panose="05050102010706020507" pitchFamily="18" charset="2"/>
              </a:rPr>
              <a:t>retorno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);</a:t>
            </a:r>
            <a:endParaRPr lang="pt-BR" sz="1600" dirty="0">
              <a:solidFill>
                <a:srgbClr val="0070C0"/>
              </a:solidFill>
            </a:endParaRPr>
          </a:p>
          <a:p>
            <a:pPr marL="1371600" lvl="2" indent="-457200">
              <a:spcAft>
                <a:spcPts val="200"/>
              </a:spcAft>
              <a:buFont typeface="+mj-lt"/>
              <a:buAutoNum type="romanLcPeriod" startAt="2"/>
            </a:pPr>
            <a:r>
              <a:rPr lang="pt-BR" sz="16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senão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TD[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 &lt; TD[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 </a:t>
            </a:r>
            <a:r>
              <a:rPr lang="pt-BR" sz="16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então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Visitar aresta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de </a:t>
            </a:r>
            <a:r>
              <a:rPr lang="pt-BR" sz="1600" dirty="0">
                <a:solidFill>
                  <a:srgbClr val="00B050"/>
                </a:solidFill>
                <a:sym typeface="Symbol" panose="05050102010706020507" pitchFamily="18" charset="2"/>
              </a:rPr>
              <a:t>avanço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);</a:t>
            </a:r>
            <a:endParaRPr lang="pt-BR" sz="1600" dirty="0">
              <a:solidFill>
                <a:srgbClr val="0070C0"/>
              </a:solidFill>
            </a:endParaRPr>
          </a:p>
          <a:p>
            <a:pPr lvl="4">
              <a:spcAft>
                <a:spcPts val="200"/>
              </a:spcAft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pt-BR" sz="16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senão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                        Visitar aresta de </a:t>
            </a:r>
            <a:r>
              <a:rPr lang="pt-BR" sz="1600" dirty="0">
                <a:solidFill>
                  <a:srgbClr val="FFC000"/>
                </a:solidFill>
              </a:rPr>
              <a:t>cruzamento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);</a:t>
            </a:r>
            <a:endParaRPr lang="pt-BR" sz="1600" dirty="0">
              <a:solidFill>
                <a:srgbClr val="0070C0"/>
              </a:solidFill>
            </a:endParaRPr>
          </a:p>
          <a:p>
            <a:pPr marL="457200" indent="-457200">
              <a:spcAft>
                <a:spcPts val="200"/>
              </a:spcAft>
              <a:buFont typeface="+mj-lt"/>
              <a:buAutoNum type="arabicPeriod"/>
            </a:pP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 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t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+ 1;  TT[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]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 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t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;				         </a:t>
            </a:r>
            <a:r>
              <a:rPr lang="pt-BR" sz="1400" dirty="0">
                <a:solidFill>
                  <a:srgbClr val="0070C0"/>
                </a:solidFill>
                <a:sym typeface="Symbol" panose="05050102010706020507" pitchFamily="18" charset="2"/>
              </a:rPr>
              <a:t>// Definir tempo de término</a:t>
            </a:r>
            <a:endParaRPr lang="pt-BR" sz="1600" u="sng" dirty="0">
              <a:solidFill>
                <a:srgbClr val="0070C0"/>
              </a:solidFill>
            </a:endParaRPr>
          </a:p>
        </p:txBody>
      </p:sp>
      <p:sp>
        <p:nvSpPr>
          <p:cNvPr id="4" name="Retângulo de cantos arredondados 3"/>
          <p:cNvSpPr/>
          <p:nvPr/>
        </p:nvSpPr>
        <p:spPr>
          <a:xfrm>
            <a:off x="1860331" y="1901527"/>
            <a:ext cx="5215233" cy="1866637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pt-BR" sz="2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Custo da busca é O(</a:t>
            </a:r>
            <a:r>
              <a:rPr lang="pt-BR" sz="2400" b="1" i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n</a:t>
            </a:r>
            <a:r>
              <a:rPr lang="pt-BR" sz="2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+ </a:t>
            </a:r>
            <a:r>
              <a:rPr lang="pt-BR" sz="2400" b="1" i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m</a:t>
            </a:r>
            <a:r>
              <a:rPr lang="pt-BR" sz="2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), </a:t>
            </a:r>
          </a:p>
          <a:p>
            <a:pPr algn="ctr">
              <a:spcAft>
                <a:spcPts val="600"/>
              </a:spcAft>
            </a:pPr>
            <a:r>
              <a:rPr lang="pt-BR" sz="2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em que </a:t>
            </a:r>
            <a:r>
              <a:rPr lang="pt-BR" sz="2400" b="1" i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n</a:t>
            </a:r>
            <a:r>
              <a:rPr lang="pt-BR" sz="2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= |V(G)| e </a:t>
            </a:r>
            <a:r>
              <a:rPr lang="pt-BR" sz="2400" b="1" i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m</a:t>
            </a:r>
            <a:r>
              <a:rPr lang="pt-BR" sz="2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= |E(G)|</a:t>
            </a:r>
          </a:p>
        </p:txBody>
      </p:sp>
    </p:spTree>
    <p:extLst>
      <p:ext uri="{BB962C8B-B14F-4D97-AF65-F5344CB8AC3E}">
        <p14:creationId xmlns:p14="http://schemas.microsoft.com/office/powerpoint/2010/main" val="643206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Exemplo</a:t>
            </a:r>
          </a:p>
        </p:txBody>
      </p: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9" name="Elipse 8"/>
          <p:cNvSpPr/>
          <p:nvPr/>
        </p:nvSpPr>
        <p:spPr>
          <a:xfrm>
            <a:off x="2669035" y="1816410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13" name="Conector de seta reta 12"/>
          <p:cNvCxnSpPr>
            <a:stCxn id="6" idx="5"/>
            <a:endCxn id="8" idx="1"/>
          </p:cNvCxnSpPr>
          <p:nvPr/>
        </p:nvCxnSpPr>
        <p:spPr>
          <a:xfrm>
            <a:off x="1350736" y="1645635"/>
            <a:ext cx="768523" cy="57810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459840" y="3673888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33" name="Conector de seta reta 32"/>
          <p:cNvCxnSpPr/>
          <p:nvPr/>
        </p:nvCxnSpPr>
        <p:spPr>
          <a:xfrm flipH="1">
            <a:off x="420639" y="4050487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>
            <a:spLocks noChangeAspect="1"/>
          </p:cNvSpPr>
          <p:nvPr/>
        </p:nvSpPr>
        <p:spPr>
          <a:xfrm>
            <a:off x="2587201" y="3673887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36" name="Conector de seta reta 35"/>
          <p:cNvCxnSpPr/>
          <p:nvPr/>
        </p:nvCxnSpPr>
        <p:spPr>
          <a:xfrm flipH="1">
            <a:off x="4307022" y="4050487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de seta reta 36"/>
          <p:cNvCxnSpPr/>
          <p:nvPr/>
        </p:nvCxnSpPr>
        <p:spPr>
          <a:xfrm flipH="1">
            <a:off x="2537936" y="4050487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>
            <a:spLocks noChangeAspect="1"/>
          </p:cNvSpPr>
          <p:nvPr/>
        </p:nvSpPr>
        <p:spPr>
          <a:xfrm>
            <a:off x="4346223" y="3673887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39" name="CaixaDeTexto 38"/>
          <p:cNvSpPr txBox="1"/>
          <p:nvPr/>
        </p:nvSpPr>
        <p:spPr>
          <a:xfrm>
            <a:off x="698311" y="3612692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698311" y="3896599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2821710" y="3612692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4589498" y="3612692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589498" y="3896599"/>
            <a:ext cx="1471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retorno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2821710" y="3896599"/>
            <a:ext cx="139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árvore</a:t>
            </a:r>
          </a:p>
        </p:txBody>
      </p: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de seta reta 103"/>
          <p:cNvCxnSpPr>
            <a:stCxn id="7" idx="6"/>
            <a:endCxn id="9" idx="1"/>
          </p:cNvCxnSpPr>
          <p:nvPr/>
        </p:nvCxnSpPr>
        <p:spPr>
          <a:xfrm>
            <a:off x="2309608" y="1561104"/>
            <a:ext cx="393124" cy="28825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106"/>
          <p:cNvCxnSpPr>
            <a:stCxn id="8" idx="6"/>
            <a:endCxn id="9" idx="3"/>
          </p:cNvCxnSpPr>
          <p:nvPr/>
        </p:nvCxnSpPr>
        <p:spPr>
          <a:xfrm flipV="1">
            <a:off x="2315659" y="2008430"/>
            <a:ext cx="387073" cy="294848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/>
          <p:cNvCxnSpPr/>
          <p:nvPr/>
        </p:nvCxnSpPr>
        <p:spPr>
          <a:xfrm flipH="1">
            <a:off x="4315078" y="433439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e seta reta 34"/>
          <p:cNvCxnSpPr/>
          <p:nvPr/>
        </p:nvCxnSpPr>
        <p:spPr>
          <a:xfrm flipH="1">
            <a:off x="2545992" y="4334394"/>
            <a:ext cx="262480" cy="1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aixaDeTexto 42"/>
          <p:cNvSpPr txBox="1"/>
          <p:nvPr/>
        </p:nvSpPr>
        <p:spPr>
          <a:xfrm>
            <a:off x="4597554" y="4180506"/>
            <a:ext cx="17827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cruzamento</a:t>
            </a:r>
          </a:p>
        </p:txBody>
      </p:sp>
      <p:sp>
        <p:nvSpPr>
          <p:cNvPr id="46" name="CaixaDeTexto 45"/>
          <p:cNvSpPr txBox="1"/>
          <p:nvPr/>
        </p:nvSpPr>
        <p:spPr>
          <a:xfrm>
            <a:off x="2829766" y="4180506"/>
            <a:ext cx="14294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avanço</a:t>
            </a:r>
          </a:p>
        </p:txBody>
      </p:sp>
    </p:spTree>
    <p:extLst>
      <p:ext uri="{BB962C8B-B14F-4D97-AF65-F5344CB8AC3E}">
        <p14:creationId xmlns:p14="http://schemas.microsoft.com/office/powerpoint/2010/main" val="172084307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Exemplo</a:t>
            </a:r>
          </a:p>
        </p:txBody>
      </p: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9" name="Elipse 8"/>
          <p:cNvSpPr/>
          <p:nvPr/>
        </p:nvSpPr>
        <p:spPr>
          <a:xfrm>
            <a:off x="2669035" y="1816410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13" name="Conector de seta reta 12"/>
          <p:cNvCxnSpPr>
            <a:stCxn id="6" idx="5"/>
            <a:endCxn id="8" idx="1"/>
          </p:cNvCxnSpPr>
          <p:nvPr/>
        </p:nvCxnSpPr>
        <p:spPr>
          <a:xfrm>
            <a:off x="1350736" y="1645635"/>
            <a:ext cx="768523" cy="57810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459840" y="3673888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33" name="Conector de seta reta 32"/>
          <p:cNvCxnSpPr/>
          <p:nvPr/>
        </p:nvCxnSpPr>
        <p:spPr>
          <a:xfrm flipH="1">
            <a:off x="420639" y="4050487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>
            <a:spLocks noChangeAspect="1"/>
          </p:cNvSpPr>
          <p:nvPr/>
        </p:nvSpPr>
        <p:spPr>
          <a:xfrm>
            <a:off x="2587201" y="3673887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36" name="Conector de seta reta 35"/>
          <p:cNvCxnSpPr/>
          <p:nvPr/>
        </p:nvCxnSpPr>
        <p:spPr>
          <a:xfrm flipH="1">
            <a:off x="4307022" y="4050487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de seta reta 36"/>
          <p:cNvCxnSpPr/>
          <p:nvPr/>
        </p:nvCxnSpPr>
        <p:spPr>
          <a:xfrm flipH="1">
            <a:off x="2537936" y="4050487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>
            <a:spLocks noChangeAspect="1"/>
          </p:cNvSpPr>
          <p:nvPr/>
        </p:nvSpPr>
        <p:spPr>
          <a:xfrm>
            <a:off x="4346223" y="3673887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39" name="CaixaDeTexto 38"/>
          <p:cNvSpPr txBox="1"/>
          <p:nvPr/>
        </p:nvSpPr>
        <p:spPr>
          <a:xfrm>
            <a:off x="698311" y="3612692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698311" y="3896599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2821710" y="3612692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4589498" y="3612692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589498" y="3896599"/>
            <a:ext cx="1471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retorno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2821710" y="3896599"/>
            <a:ext cx="139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árvore</a:t>
            </a:r>
          </a:p>
        </p:txBody>
      </p: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de seta reta 103"/>
          <p:cNvCxnSpPr>
            <a:stCxn id="7" idx="6"/>
            <a:endCxn id="9" idx="1"/>
          </p:cNvCxnSpPr>
          <p:nvPr/>
        </p:nvCxnSpPr>
        <p:spPr>
          <a:xfrm>
            <a:off x="2309608" y="1561104"/>
            <a:ext cx="393124" cy="28825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106"/>
          <p:cNvCxnSpPr>
            <a:stCxn id="8" idx="6"/>
            <a:endCxn id="9" idx="3"/>
          </p:cNvCxnSpPr>
          <p:nvPr/>
        </p:nvCxnSpPr>
        <p:spPr>
          <a:xfrm flipV="1">
            <a:off x="2315659" y="2008430"/>
            <a:ext cx="387073" cy="294848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/>
          <p:cNvCxnSpPr/>
          <p:nvPr/>
        </p:nvCxnSpPr>
        <p:spPr>
          <a:xfrm flipH="1">
            <a:off x="4315078" y="433439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e seta reta 34"/>
          <p:cNvCxnSpPr/>
          <p:nvPr/>
        </p:nvCxnSpPr>
        <p:spPr>
          <a:xfrm flipH="1">
            <a:off x="2545992" y="4334394"/>
            <a:ext cx="262480" cy="1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aixaDeTexto 42"/>
          <p:cNvSpPr txBox="1"/>
          <p:nvPr/>
        </p:nvSpPr>
        <p:spPr>
          <a:xfrm>
            <a:off x="4597554" y="4180506"/>
            <a:ext cx="17827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cruzamento</a:t>
            </a:r>
          </a:p>
        </p:txBody>
      </p:sp>
      <p:sp>
        <p:nvSpPr>
          <p:cNvPr id="46" name="CaixaDeTexto 45"/>
          <p:cNvSpPr txBox="1"/>
          <p:nvPr/>
        </p:nvSpPr>
        <p:spPr>
          <a:xfrm>
            <a:off x="2829766" y="4180506"/>
            <a:ext cx="14294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avanço</a:t>
            </a:r>
          </a:p>
        </p:txBody>
      </p:sp>
      <p:graphicFrame>
        <p:nvGraphicFramePr>
          <p:cNvPr id="53" name="Tabela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8374042"/>
              </p:ext>
            </p:extLst>
          </p:nvPr>
        </p:nvGraphicFramePr>
        <p:xfrm>
          <a:off x="3158661" y="1273066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072515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Exemplo</a:t>
            </a:r>
          </a:p>
        </p:txBody>
      </p: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9" name="Elipse 8"/>
          <p:cNvSpPr/>
          <p:nvPr/>
        </p:nvSpPr>
        <p:spPr>
          <a:xfrm>
            <a:off x="2669035" y="1816410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13" name="Conector de seta reta 12"/>
          <p:cNvCxnSpPr>
            <a:stCxn id="6" idx="5"/>
            <a:endCxn id="8" idx="1"/>
          </p:cNvCxnSpPr>
          <p:nvPr/>
        </p:nvCxnSpPr>
        <p:spPr>
          <a:xfrm>
            <a:off x="1350736" y="1645635"/>
            <a:ext cx="768523" cy="57810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459840" y="3673888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33" name="Conector de seta reta 32"/>
          <p:cNvCxnSpPr/>
          <p:nvPr/>
        </p:nvCxnSpPr>
        <p:spPr>
          <a:xfrm flipH="1">
            <a:off x="420639" y="4050487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>
            <a:spLocks noChangeAspect="1"/>
          </p:cNvSpPr>
          <p:nvPr/>
        </p:nvSpPr>
        <p:spPr>
          <a:xfrm>
            <a:off x="2587201" y="3673887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36" name="Conector de seta reta 35"/>
          <p:cNvCxnSpPr/>
          <p:nvPr/>
        </p:nvCxnSpPr>
        <p:spPr>
          <a:xfrm flipH="1">
            <a:off x="4307022" y="4050487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de seta reta 36"/>
          <p:cNvCxnSpPr/>
          <p:nvPr/>
        </p:nvCxnSpPr>
        <p:spPr>
          <a:xfrm flipH="1">
            <a:off x="2537936" y="4050487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>
            <a:spLocks noChangeAspect="1"/>
          </p:cNvSpPr>
          <p:nvPr/>
        </p:nvSpPr>
        <p:spPr>
          <a:xfrm>
            <a:off x="4346223" y="3673887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39" name="CaixaDeTexto 38"/>
          <p:cNvSpPr txBox="1"/>
          <p:nvPr/>
        </p:nvSpPr>
        <p:spPr>
          <a:xfrm>
            <a:off x="698311" y="3612692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698311" y="3896599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2821710" y="3612692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4589498" y="3612692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589498" y="3896599"/>
            <a:ext cx="1471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retorno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2821710" y="3896599"/>
            <a:ext cx="139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árvore</a:t>
            </a:r>
          </a:p>
        </p:txBody>
      </p: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de seta reta 103"/>
          <p:cNvCxnSpPr>
            <a:stCxn id="7" idx="6"/>
            <a:endCxn id="9" idx="1"/>
          </p:cNvCxnSpPr>
          <p:nvPr/>
        </p:nvCxnSpPr>
        <p:spPr>
          <a:xfrm>
            <a:off x="2309608" y="1561104"/>
            <a:ext cx="393124" cy="28825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106"/>
          <p:cNvCxnSpPr>
            <a:stCxn id="8" idx="6"/>
            <a:endCxn id="9" idx="3"/>
          </p:cNvCxnSpPr>
          <p:nvPr/>
        </p:nvCxnSpPr>
        <p:spPr>
          <a:xfrm flipV="1">
            <a:off x="2315659" y="2008430"/>
            <a:ext cx="387073" cy="294848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/>
          <p:cNvCxnSpPr/>
          <p:nvPr/>
        </p:nvCxnSpPr>
        <p:spPr>
          <a:xfrm flipH="1">
            <a:off x="4315078" y="433439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e seta reta 34"/>
          <p:cNvCxnSpPr/>
          <p:nvPr/>
        </p:nvCxnSpPr>
        <p:spPr>
          <a:xfrm flipH="1">
            <a:off x="2545992" y="4334394"/>
            <a:ext cx="262480" cy="1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aixaDeTexto 42"/>
          <p:cNvSpPr txBox="1"/>
          <p:nvPr/>
        </p:nvSpPr>
        <p:spPr>
          <a:xfrm>
            <a:off x="4597554" y="4180506"/>
            <a:ext cx="17827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cruzamento</a:t>
            </a:r>
          </a:p>
        </p:txBody>
      </p:sp>
      <p:sp>
        <p:nvSpPr>
          <p:cNvPr id="46" name="CaixaDeTexto 45"/>
          <p:cNvSpPr txBox="1"/>
          <p:nvPr/>
        </p:nvSpPr>
        <p:spPr>
          <a:xfrm>
            <a:off x="2829766" y="4180506"/>
            <a:ext cx="14294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avanço</a:t>
            </a:r>
          </a:p>
        </p:txBody>
      </p:sp>
      <p:graphicFrame>
        <p:nvGraphicFramePr>
          <p:cNvPr id="53" name="Tabela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8374042"/>
              </p:ext>
            </p:extLst>
          </p:nvPr>
        </p:nvGraphicFramePr>
        <p:xfrm>
          <a:off x="3158661" y="1273066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7" name="CaixaDeTexto 46"/>
          <p:cNvSpPr txBox="1"/>
          <p:nvPr/>
        </p:nvSpPr>
        <p:spPr>
          <a:xfrm>
            <a:off x="332985" y="2365105"/>
            <a:ext cx="6270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Raiz da</a:t>
            </a:r>
          </a:p>
          <a:p>
            <a:pPr algn="ctr"/>
            <a:r>
              <a:rPr lang="pt-BR" sz="1200" dirty="0"/>
              <a:t>busca</a:t>
            </a:r>
          </a:p>
        </p:txBody>
      </p:sp>
      <p:cxnSp>
        <p:nvCxnSpPr>
          <p:cNvPr id="48" name="Conector de seta reta 47"/>
          <p:cNvCxnSpPr/>
          <p:nvPr/>
        </p:nvCxnSpPr>
        <p:spPr>
          <a:xfrm flipV="1">
            <a:off x="910921" y="2452144"/>
            <a:ext cx="230097" cy="156871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847696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Exemplo</a:t>
            </a:r>
          </a:p>
        </p:txBody>
      </p: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9" name="Elipse 8"/>
          <p:cNvSpPr/>
          <p:nvPr/>
        </p:nvSpPr>
        <p:spPr>
          <a:xfrm>
            <a:off x="2669035" y="1816410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13" name="Conector de seta reta 12"/>
          <p:cNvCxnSpPr>
            <a:stCxn id="6" idx="5"/>
            <a:endCxn id="8" idx="1"/>
          </p:cNvCxnSpPr>
          <p:nvPr/>
        </p:nvCxnSpPr>
        <p:spPr>
          <a:xfrm>
            <a:off x="1350736" y="1645635"/>
            <a:ext cx="768523" cy="57810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459840" y="3673888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3" name="Conector de seta reta 32"/>
          <p:cNvCxnSpPr/>
          <p:nvPr/>
        </p:nvCxnSpPr>
        <p:spPr>
          <a:xfrm flipH="1">
            <a:off x="420639" y="4050487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>
            <a:spLocks noChangeAspect="1"/>
          </p:cNvSpPr>
          <p:nvPr/>
        </p:nvSpPr>
        <p:spPr>
          <a:xfrm>
            <a:off x="2587201" y="3673887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36" name="Conector de seta reta 35"/>
          <p:cNvCxnSpPr/>
          <p:nvPr/>
        </p:nvCxnSpPr>
        <p:spPr>
          <a:xfrm flipH="1">
            <a:off x="4307022" y="4050487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de seta reta 36"/>
          <p:cNvCxnSpPr/>
          <p:nvPr/>
        </p:nvCxnSpPr>
        <p:spPr>
          <a:xfrm flipH="1">
            <a:off x="2537936" y="4050487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>
            <a:spLocks noChangeAspect="1"/>
          </p:cNvSpPr>
          <p:nvPr/>
        </p:nvSpPr>
        <p:spPr>
          <a:xfrm>
            <a:off x="4346223" y="3673887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698311" y="3612692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698311" y="3896599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2821710" y="3612692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4589498" y="3612692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589498" y="3896599"/>
            <a:ext cx="1471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retorno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2821710" y="3896599"/>
            <a:ext cx="139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árvore</a:t>
            </a:r>
          </a:p>
        </p:txBody>
      </p: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de seta reta 103"/>
          <p:cNvCxnSpPr>
            <a:stCxn id="7" idx="6"/>
            <a:endCxn id="9" idx="1"/>
          </p:cNvCxnSpPr>
          <p:nvPr/>
        </p:nvCxnSpPr>
        <p:spPr>
          <a:xfrm>
            <a:off x="2309608" y="1561104"/>
            <a:ext cx="393124" cy="28825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106"/>
          <p:cNvCxnSpPr>
            <a:stCxn id="8" idx="6"/>
            <a:endCxn id="9" idx="3"/>
          </p:cNvCxnSpPr>
          <p:nvPr/>
        </p:nvCxnSpPr>
        <p:spPr>
          <a:xfrm flipV="1">
            <a:off x="2315659" y="2008430"/>
            <a:ext cx="387073" cy="294848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/>
          <p:cNvCxnSpPr/>
          <p:nvPr/>
        </p:nvCxnSpPr>
        <p:spPr>
          <a:xfrm flipH="1">
            <a:off x="4315078" y="433439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e seta reta 34"/>
          <p:cNvCxnSpPr/>
          <p:nvPr/>
        </p:nvCxnSpPr>
        <p:spPr>
          <a:xfrm flipH="1">
            <a:off x="2545992" y="4334394"/>
            <a:ext cx="262480" cy="1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aixaDeTexto 42"/>
          <p:cNvSpPr txBox="1"/>
          <p:nvPr/>
        </p:nvSpPr>
        <p:spPr>
          <a:xfrm>
            <a:off x="4597554" y="4180506"/>
            <a:ext cx="17827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cruzamento</a:t>
            </a:r>
          </a:p>
        </p:txBody>
      </p:sp>
      <p:sp>
        <p:nvSpPr>
          <p:cNvPr id="46" name="CaixaDeTexto 45"/>
          <p:cNvSpPr txBox="1"/>
          <p:nvPr/>
        </p:nvSpPr>
        <p:spPr>
          <a:xfrm>
            <a:off x="2829766" y="4180506"/>
            <a:ext cx="14294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avanço</a:t>
            </a:r>
          </a:p>
        </p:txBody>
      </p:sp>
      <p:graphicFrame>
        <p:nvGraphicFramePr>
          <p:cNvPr id="53" name="Tabela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4602686"/>
              </p:ext>
            </p:extLst>
          </p:nvPr>
        </p:nvGraphicFramePr>
        <p:xfrm>
          <a:off x="3158661" y="1273066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7" name="CaixaDeTexto 46"/>
          <p:cNvSpPr txBox="1"/>
          <p:nvPr/>
        </p:nvSpPr>
        <p:spPr>
          <a:xfrm>
            <a:off x="332985" y="2365105"/>
            <a:ext cx="6270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Raiz da</a:t>
            </a:r>
          </a:p>
          <a:p>
            <a:pPr algn="ctr"/>
            <a:r>
              <a:rPr lang="pt-BR" sz="1200" dirty="0"/>
              <a:t>busca</a:t>
            </a:r>
          </a:p>
        </p:txBody>
      </p:sp>
      <p:cxnSp>
        <p:nvCxnSpPr>
          <p:cNvPr id="48" name="Conector de seta reta 47"/>
          <p:cNvCxnSpPr/>
          <p:nvPr/>
        </p:nvCxnSpPr>
        <p:spPr>
          <a:xfrm flipV="1">
            <a:off x="910921" y="2452144"/>
            <a:ext cx="230097" cy="156871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CaixaDeTexto 48"/>
          <p:cNvSpPr txBox="1"/>
          <p:nvPr/>
        </p:nvSpPr>
        <p:spPr>
          <a:xfrm>
            <a:off x="914804" y="2617084"/>
            <a:ext cx="6303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BP(e)</a:t>
            </a:r>
            <a:endParaRPr lang="pt-BR" sz="1600" dirty="0"/>
          </a:p>
        </p:txBody>
      </p:sp>
      <p:sp>
        <p:nvSpPr>
          <p:cNvPr id="50" name="CaixaDeTexto 49"/>
          <p:cNvSpPr txBox="1"/>
          <p:nvPr/>
        </p:nvSpPr>
        <p:spPr>
          <a:xfrm>
            <a:off x="6665906" y="3766580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51" name="Conector reto 50"/>
          <p:cNvCxnSpPr/>
          <p:nvPr/>
        </p:nvCxnSpPr>
        <p:spPr>
          <a:xfrm>
            <a:off x="6349033" y="1369930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Elipse 51"/>
          <p:cNvSpPr/>
          <p:nvPr/>
        </p:nvSpPr>
        <p:spPr>
          <a:xfrm>
            <a:off x="7128893" y="162924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43395855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Exemplo</a:t>
            </a:r>
          </a:p>
        </p:txBody>
      </p: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9" name="Elipse 8"/>
          <p:cNvSpPr/>
          <p:nvPr/>
        </p:nvSpPr>
        <p:spPr>
          <a:xfrm>
            <a:off x="2669035" y="1816410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13" name="Conector de seta reta 12"/>
          <p:cNvCxnSpPr>
            <a:stCxn id="6" idx="5"/>
            <a:endCxn id="8" idx="1"/>
          </p:cNvCxnSpPr>
          <p:nvPr/>
        </p:nvCxnSpPr>
        <p:spPr>
          <a:xfrm>
            <a:off x="1350736" y="1645635"/>
            <a:ext cx="768523" cy="57810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459840" y="3673888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3" name="Conector de seta reta 32"/>
          <p:cNvCxnSpPr/>
          <p:nvPr/>
        </p:nvCxnSpPr>
        <p:spPr>
          <a:xfrm flipH="1">
            <a:off x="420639" y="4050487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>
            <a:spLocks noChangeAspect="1"/>
          </p:cNvSpPr>
          <p:nvPr/>
        </p:nvSpPr>
        <p:spPr>
          <a:xfrm>
            <a:off x="2587201" y="3673887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36" name="Conector de seta reta 35"/>
          <p:cNvCxnSpPr/>
          <p:nvPr/>
        </p:nvCxnSpPr>
        <p:spPr>
          <a:xfrm flipH="1">
            <a:off x="4307022" y="4050487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de seta reta 36"/>
          <p:cNvCxnSpPr/>
          <p:nvPr/>
        </p:nvCxnSpPr>
        <p:spPr>
          <a:xfrm flipH="1">
            <a:off x="2537936" y="4050487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>
            <a:spLocks noChangeAspect="1"/>
          </p:cNvSpPr>
          <p:nvPr/>
        </p:nvSpPr>
        <p:spPr>
          <a:xfrm>
            <a:off x="4346223" y="3673887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698311" y="3612692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698311" y="3896599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2821710" y="3612692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4589498" y="3612692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589498" y="3896599"/>
            <a:ext cx="1471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retorno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2821710" y="3896599"/>
            <a:ext cx="139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árvore</a:t>
            </a:r>
          </a:p>
        </p:txBody>
      </p: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de seta reta 103"/>
          <p:cNvCxnSpPr>
            <a:stCxn id="7" idx="6"/>
            <a:endCxn id="9" idx="1"/>
          </p:cNvCxnSpPr>
          <p:nvPr/>
        </p:nvCxnSpPr>
        <p:spPr>
          <a:xfrm>
            <a:off x="2309608" y="1561104"/>
            <a:ext cx="393124" cy="28825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106"/>
          <p:cNvCxnSpPr>
            <a:stCxn id="8" idx="6"/>
            <a:endCxn id="9" idx="3"/>
          </p:cNvCxnSpPr>
          <p:nvPr/>
        </p:nvCxnSpPr>
        <p:spPr>
          <a:xfrm flipV="1">
            <a:off x="2315659" y="2008430"/>
            <a:ext cx="387073" cy="294848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/>
          <p:cNvCxnSpPr/>
          <p:nvPr/>
        </p:nvCxnSpPr>
        <p:spPr>
          <a:xfrm flipH="1">
            <a:off x="4315078" y="433439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e seta reta 34"/>
          <p:cNvCxnSpPr/>
          <p:nvPr/>
        </p:nvCxnSpPr>
        <p:spPr>
          <a:xfrm flipH="1">
            <a:off x="2545992" y="4334394"/>
            <a:ext cx="262480" cy="1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aixaDeTexto 42"/>
          <p:cNvSpPr txBox="1"/>
          <p:nvPr/>
        </p:nvSpPr>
        <p:spPr>
          <a:xfrm>
            <a:off x="4597554" y="4180506"/>
            <a:ext cx="17827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cruzamento</a:t>
            </a:r>
          </a:p>
        </p:txBody>
      </p:sp>
      <p:sp>
        <p:nvSpPr>
          <p:cNvPr id="46" name="CaixaDeTexto 45"/>
          <p:cNvSpPr txBox="1"/>
          <p:nvPr/>
        </p:nvSpPr>
        <p:spPr>
          <a:xfrm>
            <a:off x="2829766" y="4180506"/>
            <a:ext cx="14294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avanço</a:t>
            </a:r>
          </a:p>
        </p:txBody>
      </p:sp>
      <p:graphicFrame>
        <p:nvGraphicFramePr>
          <p:cNvPr id="53" name="Tabela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4602686"/>
              </p:ext>
            </p:extLst>
          </p:nvPr>
        </p:nvGraphicFramePr>
        <p:xfrm>
          <a:off x="3158661" y="1273066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0" name="CaixaDeTexto 49"/>
          <p:cNvSpPr txBox="1"/>
          <p:nvPr/>
        </p:nvSpPr>
        <p:spPr>
          <a:xfrm>
            <a:off x="6665906" y="3766580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51" name="Conector reto 50"/>
          <p:cNvCxnSpPr/>
          <p:nvPr/>
        </p:nvCxnSpPr>
        <p:spPr>
          <a:xfrm>
            <a:off x="6349033" y="1369930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Elipse 51"/>
          <p:cNvSpPr/>
          <p:nvPr/>
        </p:nvSpPr>
        <p:spPr>
          <a:xfrm>
            <a:off x="7128893" y="162924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914804" y="2617084"/>
            <a:ext cx="20649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BP(e)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f, b }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253023739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Exemplo</a:t>
            </a:r>
          </a:p>
        </p:txBody>
      </p: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9" name="Elipse 8"/>
          <p:cNvSpPr/>
          <p:nvPr/>
        </p:nvSpPr>
        <p:spPr>
          <a:xfrm>
            <a:off x="2669035" y="1816410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13" name="Conector de seta reta 12"/>
          <p:cNvCxnSpPr>
            <a:stCxn id="6" idx="5"/>
            <a:endCxn id="8" idx="1"/>
          </p:cNvCxnSpPr>
          <p:nvPr/>
        </p:nvCxnSpPr>
        <p:spPr>
          <a:xfrm>
            <a:off x="1350736" y="1645635"/>
            <a:ext cx="768523" cy="57810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459840" y="3673888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3" name="Conector de seta reta 32"/>
          <p:cNvCxnSpPr/>
          <p:nvPr/>
        </p:nvCxnSpPr>
        <p:spPr>
          <a:xfrm flipH="1">
            <a:off x="420639" y="4050487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>
            <a:spLocks noChangeAspect="1"/>
          </p:cNvSpPr>
          <p:nvPr/>
        </p:nvSpPr>
        <p:spPr>
          <a:xfrm>
            <a:off x="2587201" y="3673887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36" name="Conector de seta reta 35"/>
          <p:cNvCxnSpPr/>
          <p:nvPr/>
        </p:nvCxnSpPr>
        <p:spPr>
          <a:xfrm flipH="1">
            <a:off x="4307022" y="4050487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de seta reta 36"/>
          <p:cNvCxnSpPr/>
          <p:nvPr/>
        </p:nvCxnSpPr>
        <p:spPr>
          <a:xfrm flipH="1">
            <a:off x="2537936" y="4050487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>
            <a:spLocks noChangeAspect="1"/>
          </p:cNvSpPr>
          <p:nvPr/>
        </p:nvSpPr>
        <p:spPr>
          <a:xfrm>
            <a:off x="4346223" y="3673887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698311" y="3612692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698311" y="3896599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2821710" y="3612692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4589498" y="3612692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589498" y="3896599"/>
            <a:ext cx="1471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retorno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2821710" y="3896599"/>
            <a:ext cx="139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árvore</a:t>
            </a:r>
          </a:p>
        </p:txBody>
      </p: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de seta reta 103"/>
          <p:cNvCxnSpPr>
            <a:stCxn id="7" idx="6"/>
            <a:endCxn id="9" idx="1"/>
          </p:cNvCxnSpPr>
          <p:nvPr/>
        </p:nvCxnSpPr>
        <p:spPr>
          <a:xfrm>
            <a:off x="2309608" y="1561104"/>
            <a:ext cx="393124" cy="28825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106"/>
          <p:cNvCxnSpPr>
            <a:stCxn id="8" idx="6"/>
            <a:endCxn id="9" idx="3"/>
          </p:cNvCxnSpPr>
          <p:nvPr/>
        </p:nvCxnSpPr>
        <p:spPr>
          <a:xfrm flipV="1">
            <a:off x="2315659" y="2008430"/>
            <a:ext cx="387073" cy="294848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/>
          <p:cNvCxnSpPr/>
          <p:nvPr/>
        </p:nvCxnSpPr>
        <p:spPr>
          <a:xfrm flipH="1">
            <a:off x="4315078" y="433439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e seta reta 34"/>
          <p:cNvCxnSpPr/>
          <p:nvPr/>
        </p:nvCxnSpPr>
        <p:spPr>
          <a:xfrm flipH="1">
            <a:off x="2545992" y="4334394"/>
            <a:ext cx="262480" cy="1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aixaDeTexto 42"/>
          <p:cNvSpPr txBox="1"/>
          <p:nvPr/>
        </p:nvSpPr>
        <p:spPr>
          <a:xfrm>
            <a:off x="4597554" y="4180506"/>
            <a:ext cx="17827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cruzamento</a:t>
            </a:r>
          </a:p>
        </p:txBody>
      </p:sp>
      <p:sp>
        <p:nvSpPr>
          <p:cNvPr id="46" name="CaixaDeTexto 45"/>
          <p:cNvSpPr txBox="1"/>
          <p:nvPr/>
        </p:nvSpPr>
        <p:spPr>
          <a:xfrm>
            <a:off x="2829766" y="4180506"/>
            <a:ext cx="14294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avanço</a:t>
            </a:r>
          </a:p>
        </p:txBody>
      </p:sp>
      <p:graphicFrame>
        <p:nvGraphicFramePr>
          <p:cNvPr id="53" name="Tabela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614130"/>
              </p:ext>
            </p:extLst>
          </p:nvPr>
        </p:nvGraphicFramePr>
        <p:xfrm>
          <a:off x="3158661" y="1273066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e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0" name="CaixaDeTexto 49"/>
          <p:cNvSpPr txBox="1"/>
          <p:nvPr/>
        </p:nvSpPr>
        <p:spPr>
          <a:xfrm>
            <a:off x="6665906" y="3766580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51" name="Conector reto 50"/>
          <p:cNvCxnSpPr/>
          <p:nvPr/>
        </p:nvCxnSpPr>
        <p:spPr>
          <a:xfrm>
            <a:off x="6349033" y="1369930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Elipse 51"/>
          <p:cNvSpPr/>
          <p:nvPr/>
        </p:nvSpPr>
        <p:spPr>
          <a:xfrm>
            <a:off x="7128893" y="162924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914804" y="2617084"/>
            <a:ext cx="20649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BP(e)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</a:t>
            </a:r>
            <a:r>
              <a:rPr lang="pt-BR" sz="1600" b="1" dirty="0">
                <a:solidFill>
                  <a:srgbClr val="00B0F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b }</a:t>
            </a:r>
            <a:endParaRPr lang="pt-BR" sz="1600" dirty="0"/>
          </a:p>
        </p:txBody>
      </p:sp>
      <p:cxnSp>
        <p:nvCxnSpPr>
          <p:cNvPr id="49" name="Conector de seta reta 48"/>
          <p:cNvCxnSpPr>
            <a:stCxn id="56" idx="0"/>
          </p:cNvCxnSpPr>
          <p:nvPr/>
        </p:nvCxnSpPr>
        <p:spPr>
          <a:xfrm flipH="1" flipV="1">
            <a:off x="7243942" y="1854214"/>
            <a:ext cx="1" cy="371130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/>
          <p:cNvSpPr/>
          <p:nvPr/>
        </p:nvSpPr>
        <p:spPr>
          <a:xfrm>
            <a:off x="7128894" y="222534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246994171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Exemplo</a:t>
            </a:r>
          </a:p>
        </p:txBody>
      </p: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9" name="Elipse 8"/>
          <p:cNvSpPr/>
          <p:nvPr/>
        </p:nvSpPr>
        <p:spPr>
          <a:xfrm>
            <a:off x="2669035" y="1816410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13" name="Conector de seta reta 12"/>
          <p:cNvCxnSpPr>
            <a:stCxn id="6" idx="5"/>
            <a:endCxn id="8" idx="1"/>
          </p:cNvCxnSpPr>
          <p:nvPr/>
        </p:nvCxnSpPr>
        <p:spPr>
          <a:xfrm>
            <a:off x="1350736" y="1645635"/>
            <a:ext cx="768523" cy="57810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459840" y="3673888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3" name="Conector de seta reta 32"/>
          <p:cNvCxnSpPr/>
          <p:nvPr/>
        </p:nvCxnSpPr>
        <p:spPr>
          <a:xfrm flipH="1">
            <a:off x="420639" y="4050487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>
            <a:spLocks noChangeAspect="1"/>
          </p:cNvSpPr>
          <p:nvPr/>
        </p:nvSpPr>
        <p:spPr>
          <a:xfrm>
            <a:off x="2587201" y="3673887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6" name="Conector de seta reta 35"/>
          <p:cNvCxnSpPr/>
          <p:nvPr/>
        </p:nvCxnSpPr>
        <p:spPr>
          <a:xfrm flipH="1">
            <a:off x="4307022" y="4050487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de seta reta 36"/>
          <p:cNvCxnSpPr/>
          <p:nvPr/>
        </p:nvCxnSpPr>
        <p:spPr>
          <a:xfrm flipH="1">
            <a:off x="2537936" y="4050487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>
            <a:spLocks noChangeAspect="1"/>
          </p:cNvSpPr>
          <p:nvPr/>
        </p:nvSpPr>
        <p:spPr>
          <a:xfrm>
            <a:off x="4346223" y="3673887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698311" y="3612692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698311" y="3896599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2821710" y="3612692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4589498" y="3612692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589498" y="3896599"/>
            <a:ext cx="1471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retorno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2821710" y="3896599"/>
            <a:ext cx="139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árvore</a:t>
            </a:r>
          </a:p>
        </p:txBody>
      </p: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de seta reta 103"/>
          <p:cNvCxnSpPr>
            <a:stCxn id="7" idx="6"/>
            <a:endCxn id="9" idx="1"/>
          </p:cNvCxnSpPr>
          <p:nvPr/>
        </p:nvCxnSpPr>
        <p:spPr>
          <a:xfrm>
            <a:off x="2309608" y="1561104"/>
            <a:ext cx="393124" cy="28825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106"/>
          <p:cNvCxnSpPr>
            <a:stCxn id="8" idx="6"/>
            <a:endCxn id="9" idx="3"/>
          </p:cNvCxnSpPr>
          <p:nvPr/>
        </p:nvCxnSpPr>
        <p:spPr>
          <a:xfrm flipV="1">
            <a:off x="2315659" y="2008430"/>
            <a:ext cx="387073" cy="294848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/>
          <p:cNvCxnSpPr/>
          <p:nvPr/>
        </p:nvCxnSpPr>
        <p:spPr>
          <a:xfrm flipH="1">
            <a:off x="4315078" y="433439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e seta reta 34"/>
          <p:cNvCxnSpPr/>
          <p:nvPr/>
        </p:nvCxnSpPr>
        <p:spPr>
          <a:xfrm flipH="1">
            <a:off x="2545992" y="4334394"/>
            <a:ext cx="262480" cy="1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aixaDeTexto 42"/>
          <p:cNvSpPr txBox="1"/>
          <p:nvPr/>
        </p:nvSpPr>
        <p:spPr>
          <a:xfrm>
            <a:off x="4597554" y="4180506"/>
            <a:ext cx="17827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cruzamento</a:t>
            </a:r>
          </a:p>
        </p:txBody>
      </p:sp>
      <p:sp>
        <p:nvSpPr>
          <p:cNvPr id="46" name="CaixaDeTexto 45"/>
          <p:cNvSpPr txBox="1"/>
          <p:nvPr/>
        </p:nvSpPr>
        <p:spPr>
          <a:xfrm>
            <a:off x="2829766" y="4180506"/>
            <a:ext cx="14294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avanço</a:t>
            </a:r>
          </a:p>
        </p:txBody>
      </p:sp>
      <p:graphicFrame>
        <p:nvGraphicFramePr>
          <p:cNvPr id="53" name="Tabela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6619752"/>
              </p:ext>
            </p:extLst>
          </p:nvPr>
        </p:nvGraphicFramePr>
        <p:xfrm>
          <a:off x="3158661" y="1273066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e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0" name="CaixaDeTexto 49"/>
          <p:cNvSpPr txBox="1"/>
          <p:nvPr/>
        </p:nvSpPr>
        <p:spPr>
          <a:xfrm>
            <a:off x="6665906" y="3766580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51" name="Conector reto 50"/>
          <p:cNvCxnSpPr/>
          <p:nvPr/>
        </p:nvCxnSpPr>
        <p:spPr>
          <a:xfrm>
            <a:off x="6349033" y="1369930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Elipse 51"/>
          <p:cNvSpPr/>
          <p:nvPr/>
        </p:nvSpPr>
        <p:spPr>
          <a:xfrm>
            <a:off x="7128893" y="162924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914804" y="2617084"/>
            <a:ext cx="20649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BP(e)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</a:t>
            </a:r>
            <a:r>
              <a:rPr lang="pt-BR" sz="1600" b="1" dirty="0">
                <a:solidFill>
                  <a:srgbClr val="00B0F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b }</a:t>
            </a:r>
            <a:endParaRPr lang="pt-BR" sz="1600" dirty="0"/>
          </a:p>
        </p:txBody>
      </p:sp>
      <p:cxnSp>
        <p:nvCxnSpPr>
          <p:cNvPr id="49" name="Conector de seta reta 48"/>
          <p:cNvCxnSpPr>
            <a:stCxn id="56" idx="0"/>
          </p:cNvCxnSpPr>
          <p:nvPr/>
        </p:nvCxnSpPr>
        <p:spPr>
          <a:xfrm flipH="1" flipV="1">
            <a:off x="7243942" y="1854214"/>
            <a:ext cx="1" cy="371130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/>
          <p:cNvSpPr/>
          <p:nvPr/>
        </p:nvSpPr>
        <p:spPr>
          <a:xfrm>
            <a:off x="7128894" y="222534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57" name="CaixaDeTexto 56"/>
          <p:cNvSpPr txBox="1"/>
          <p:nvPr/>
        </p:nvSpPr>
        <p:spPr>
          <a:xfrm>
            <a:off x="914804" y="2919967"/>
            <a:ext cx="5932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BP(f)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213802201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Exemplo</a:t>
            </a:r>
          </a:p>
        </p:txBody>
      </p: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9" name="Elipse 8"/>
          <p:cNvSpPr/>
          <p:nvPr/>
        </p:nvSpPr>
        <p:spPr>
          <a:xfrm>
            <a:off x="2669035" y="1816410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13" name="Conector de seta reta 12"/>
          <p:cNvCxnSpPr>
            <a:stCxn id="6" idx="5"/>
            <a:endCxn id="8" idx="1"/>
          </p:cNvCxnSpPr>
          <p:nvPr/>
        </p:nvCxnSpPr>
        <p:spPr>
          <a:xfrm>
            <a:off x="1350736" y="1645635"/>
            <a:ext cx="768523" cy="57810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459840" y="3673888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3" name="Conector de seta reta 32"/>
          <p:cNvCxnSpPr/>
          <p:nvPr/>
        </p:nvCxnSpPr>
        <p:spPr>
          <a:xfrm flipH="1">
            <a:off x="420639" y="4050487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>
            <a:spLocks noChangeAspect="1"/>
          </p:cNvSpPr>
          <p:nvPr/>
        </p:nvSpPr>
        <p:spPr>
          <a:xfrm>
            <a:off x="2587201" y="3673887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6" name="Conector de seta reta 35"/>
          <p:cNvCxnSpPr/>
          <p:nvPr/>
        </p:nvCxnSpPr>
        <p:spPr>
          <a:xfrm flipH="1">
            <a:off x="4307022" y="4050487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de seta reta 36"/>
          <p:cNvCxnSpPr/>
          <p:nvPr/>
        </p:nvCxnSpPr>
        <p:spPr>
          <a:xfrm flipH="1">
            <a:off x="2537936" y="4050487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>
            <a:spLocks noChangeAspect="1"/>
          </p:cNvSpPr>
          <p:nvPr/>
        </p:nvSpPr>
        <p:spPr>
          <a:xfrm>
            <a:off x="4346223" y="3673887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698311" y="3612692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698311" y="3896599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2821710" y="3612692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4589498" y="3612692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589498" y="3896599"/>
            <a:ext cx="1471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retorno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2821710" y="3896599"/>
            <a:ext cx="139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árvore</a:t>
            </a:r>
          </a:p>
        </p:txBody>
      </p: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de seta reta 103"/>
          <p:cNvCxnSpPr>
            <a:stCxn id="7" idx="6"/>
            <a:endCxn id="9" idx="1"/>
          </p:cNvCxnSpPr>
          <p:nvPr/>
        </p:nvCxnSpPr>
        <p:spPr>
          <a:xfrm>
            <a:off x="2309608" y="1561104"/>
            <a:ext cx="393124" cy="28825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106"/>
          <p:cNvCxnSpPr>
            <a:stCxn id="8" idx="6"/>
            <a:endCxn id="9" idx="3"/>
          </p:cNvCxnSpPr>
          <p:nvPr/>
        </p:nvCxnSpPr>
        <p:spPr>
          <a:xfrm flipV="1">
            <a:off x="2315659" y="2008430"/>
            <a:ext cx="387073" cy="294848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/>
          <p:cNvCxnSpPr/>
          <p:nvPr/>
        </p:nvCxnSpPr>
        <p:spPr>
          <a:xfrm flipH="1">
            <a:off x="4315078" y="433439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e seta reta 34"/>
          <p:cNvCxnSpPr/>
          <p:nvPr/>
        </p:nvCxnSpPr>
        <p:spPr>
          <a:xfrm flipH="1">
            <a:off x="2545992" y="4334394"/>
            <a:ext cx="262480" cy="1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aixaDeTexto 42"/>
          <p:cNvSpPr txBox="1"/>
          <p:nvPr/>
        </p:nvSpPr>
        <p:spPr>
          <a:xfrm>
            <a:off x="4597554" y="4180506"/>
            <a:ext cx="17827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cruzamento</a:t>
            </a:r>
          </a:p>
        </p:txBody>
      </p:sp>
      <p:sp>
        <p:nvSpPr>
          <p:cNvPr id="46" name="CaixaDeTexto 45"/>
          <p:cNvSpPr txBox="1"/>
          <p:nvPr/>
        </p:nvSpPr>
        <p:spPr>
          <a:xfrm>
            <a:off x="2829766" y="4180506"/>
            <a:ext cx="14294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avanço</a:t>
            </a:r>
          </a:p>
        </p:txBody>
      </p:sp>
      <p:graphicFrame>
        <p:nvGraphicFramePr>
          <p:cNvPr id="53" name="Tabela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1588763"/>
              </p:ext>
            </p:extLst>
          </p:nvPr>
        </p:nvGraphicFramePr>
        <p:xfrm>
          <a:off x="3158661" y="1273066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e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0" name="CaixaDeTexto 49"/>
          <p:cNvSpPr txBox="1"/>
          <p:nvPr/>
        </p:nvSpPr>
        <p:spPr>
          <a:xfrm>
            <a:off x="6665906" y="3766580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51" name="Conector reto 50"/>
          <p:cNvCxnSpPr/>
          <p:nvPr/>
        </p:nvCxnSpPr>
        <p:spPr>
          <a:xfrm>
            <a:off x="6349033" y="1369930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Elipse 51"/>
          <p:cNvSpPr/>
          <p:nvPr/>
        </p:nvSpPr>
        <p:spPr>
          <a:xfrm>
            <a:off x="7128893" y="162924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914804" y="2617084"/>
            <a:ext cx="20649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BP(e)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</a:t>
            </a:r>
            <a:r>
              <a:rPr lang="pt-BR" sz="1600" b="1" dirty="0">
                <a:solidFill>
                  <a:srgbClr val="00B0F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b }</a:t>
            </a:r>
            <a:endParaRPr lang="pt-BR" sz="1600" dirty="0"/>
          </a:p>
        </p:txBody>
      </p:sp>
      <p:cxnSp>
        <p:nvCxnSpPr>
          <p:cNvPr id="49" name="Conector de seta reta 48"/>
          <p:cNvCxnSpPr>
            <a:stCxn id="56" idx="0"/>
          </p:cNvCxnSpPr>
          <p:nvPr/>
        </p:nvCxnSpPr>
        <p:spPr>
          <a:xfrm flipH="1" flipV="1">
            <a:off x="7243942" y="1854214"/>
            <a:ext cx="1" cy="371130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/>
          <p:cNvSpPr/>
          <p:nvPr/>
        </p:nvSpPr>
        <p:spPr>
          <a:xfrm>
            <a:off x="7128894" y="222534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58" name="CaixaDeTexto 57"/>
          <p:cNvSpPr txBox="1"/>
          <p:nvPr/>
        </p:nvSpPr>
        <p:spPr>
          <a:xfrm>
            <a:off x="914804" y="2919967"/>
            <a:ext cx="19059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BP(f) 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(f)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b }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72767834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Exemplo</a:t>
            </a:r>
          </a:p>
        </p:txBody>
      </p: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9" name="Elipse 8"/>
          <p:cNvSpPr/>
          <p:nvPr/>
        </p:nvSpPr>
        <p:spPr>
          <a:xfrm>
            <a:off x="2669035" y="1816410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13" name="Conector de seta reta 12"/>
          <p:cNvCxnSpPr>
            <a:stCxn id="6" idx="5"/>
            <a:endCxn id="8" idx="1"/>
          </p:cNvCxnSpPr>
          <p:nvPr/>
        </p:nvCxnSpPr>
        <p:spPr>
          <a:xfrm>
            <a:off x="1350736" y="1645635"/>
            <a:ext cx="768523" cy="57810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459840" y="3673888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3" name="Conector de seta reta 32"/>
          <p:cNvCxnSpPr/>
          <p:nvPr/>
        </p:nvCxnSpPr>
        <p:spPr>
          <a:xfrm flipH="1">
            <a:off x="420639" y="4050487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>
            <a:spLocks noChangeAspect="1"/>
          </p:cNvSpPr>
          <p:nvPr/>
        </p:nvSpPr>
        <p:spPr>
          <a:xfrm>
            <a:off x="2587201" y="3673887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6" name="Conector de seta reta 35"/>
          <p:cNvCxnSpPr/>
          <p:nvPr/>
        </p:nvCxnSpPr>
        <p:spPr>
          <a:xfrm flipH="1">
            <a:off x="4307022" y="4050487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de seta reta 36"/>
          <p:cNvCxnSpPr/>
          <p:nvPr/>
        </p:nvCxnSpPr>
        <p:spPr>
          <a:xfrm flipH="1">
            <a:off x="2537936" y="4050487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>
            <a:spLocks noChangeAspect="1"/>
          </p:cNvSpPr>
          <p:nvPr/>
        </p:nvSpPr>
        <p:spPr>
          <a:xfrm>
            <a:off x="4346223" y="3673887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698311" y="3612692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698311" y="3896599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2821710" y="3612692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4589498" y="3612692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589498" y="3896599"/>
            <a:ext cx="1471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retorno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2821710" y="3896599"/>
            <a:ext cx="139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árvore</a:t>
            </a:r>
          </a:p>
        </p:txBody>
      </p: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de seta reta 103"/>
          <p:cNvCxnSpPr>
            <a:stCxn id="7" idx="6"/>
            <a:endCxn id="9" idx="1"/>
          </p:cNvCxnSpPr>
          <p:nvPr/>
        </p:nvCxnSpPr>
        <p:spPr>
          <a:xfrm>
            <a:off x="2309608" y="1561104"/>
            <a:ext cx="393124" cy="28825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106"/>
          <p:cNvCxnSpPr>
            <a:stCxn id="8" idx="6"/>
            <a:endCxn id="9" idx="3"/>
          </p:cNvCxnSpPr>
          <p:nvPr/>
        </p:nvCxnSpPr>
        <p:spPr>
          <a:xfrm flipV="1">
            <a:off x="2315659" y="2008430"/>
            <a:ext cx="387073" cy="294848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/>
          <p:cNvCxnSpPr/>
          <p:nvPr/>
        </p:nvCxnSpPr>
        <p:spPr>
          <a:xfrm flipH="1">
            <a:off x="4315078" y="433439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e seta reta 34"/>
          <p:cNvCxnSpPr/>
          <p:nvPr/>
        </p:nvCxnSpPr>
        <p:spPr>
          <a:xfrm flipH="1">
            <a:off x="2545992" y="4334394"/>
            <a:ext cx="262480" cy="1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aixaDeTexto 42"/>
          <p:cNvSpPr txBox="1"/>
          <p:nvPr/>
        </p:nvSpPr>
        <p:spPr>
          <a:xfrm>
            <a:off x="4597554" y="4180506"/>
            <a:ext cx="17827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cruzamento</a:t>
            </a:r>
          </a:p>
        </p:txBody>
      </p:sp>
      <p:sp>
        <p:nvSpPr>
          <p:cNvPr id="46" name="CaixaDeTexto 45"/>
          <p:cNvSpPr txBox="1"/>
          <p:nvPr/>
        </p:nvSpPr>
        <p:spPr>
          <a:xfrm>
            <a:off x="2829766" y="4180506"/>
            <a:ext cx="14294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avanço</a:t>
            </a:r>
          </a:p>
        </p:txBody>
      </p:sp>
      <p:graphicFrame>
        <p:nvGraphicFramePr>
          <p:cNvPr id="53" name="Tabela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20860"/>
              </p:ext>
            </p:extLst>
          </p:nvPr>
        </p:nvGraphicFramePr>
        <p:xfrm>
          <a:off x="3158661" y="1273066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f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e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0" name="CaixaDeTexto 49"/>
          <p:cNvSpPr txBox="1"/>
          <p:nvPr/>
        </p:nvSpPr>
        <p:spPr>
          <a:xfrm>
            <a:off x="6665906" y="3766580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51" name="Conector reto 50"/>
          <p:cNvCxnSpPr/>
          <p:nvPr/>
        </p:nvCxnSpPr>
        <p:spPr>
          <a:xfrm>
            <a:off x="6349033" y="1369930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Elipse 51"/>
          <p:cNvSpPr/>
          <p:nvPr/>
        </p:nvSpPr>
        <p:spPr>
          <a:xfrm>
            <a:off x="7128893" y="162924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914804" y="2617084"/>
            <a:ext cx="20649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BP(e)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</a:t>
            </a:r>
            <a:r>
              <a:rPr lang="pt-BR" sz="1600" b="1" dirty="0">
                <a:solidFill>
                  <a:srgbClr val="00B0F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b }</a:t>
            </a:r>
            <a:endParaRPr lang="pt-BR" sz="1600" dirty="0"/>
          </a:p>
        </p:txBody>
      </p:sp>
      <p:cxnSp>
        <p:nvCxnSpPr>
          <p:cNvPr id="49" name="Conector de seta reta 48"/>
          <p:cNvCxnSpPr>
            <a:stCxn id="56" idx="0"/>
          </p:cNvCxnSpPr>
          <p:nvPr/>
        </p:nvCxnSpPr>
        <p:spPr>
          <a:xfrm flipH="1" flipV="1">
            <a:off x="7243942" y="1854214"/>
            <a:ext cx="1" cy="371130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/>
          <p:cNvSpPr/>
          <p:nvPr/>
        </p:nvSpPr>
        <p:spPr>
          <a:xfrm>
            <a:off x="7128894" y="222534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58" name="CaixaDeTexto 57"/>
          <p:cNvSpPr txBox="1"/>
          <p:nvPr/>
        </p:nvSpPr>
        <p:spPr>
          <a:xfrm>
            <a:off x="914804" y="2919967"/>
            <a:ext cx="19059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BP(f) 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(f)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57" name="Conector de seta reta 56"/>
          <p:cNvCxnSpPr>
            <a:stCxn id="59" idx="0"/>
          </p:cNvCxnSpPr>
          <p:nvPr/>
        </p:nvCxnSpPr>
        <p:spPr>
          <a:xfrm flipV="1">
            <a:off x="7243943" y="2450309"/>
            <a:ext cx="0" cy="370870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Elipse 58"/>
          <p:cNvSpPr/>
          <p:nvPr/>
        </p:nvSpPr>
        <p:spPr>
          <a:xfrm>
            <a:off x="7128894" y="282117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254450299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Exemplo</a:t>
            </a:r>
          </a:p>
        </p:txBody>
      </p: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9" name="Elipse 8"/>
          <p:cNvSpPr/>
          <p:nvPr/>
        </p:nvSpPr>
        <p:spPr>
          <a:xfrm>
            <a:off x="2669035" y="1816410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13" name="Conector de seta reta 12"/>
          <p:cNvCxnSpPr>
            <a:stCxn id="6" idx="5"/>
            <a:endCxn id="8" idx="1"/>
          </p:cNvCxnSpPr>
          <p:nvPr/>
        </p:nvCxnSpPr>
        <p:spPr>
          <a:xfrm>
            <a:off x="1350736" y="1645635"/>
            <a:ext cx="768523" cy="57810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459840" y="3673888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3" name="Conector de seta reta 32"/>
          <p:cNvCxnSpPr/>
          <p:nvPr/>
        </p:nvCxnSpPr>
        <p:spPr>
          <a:xfrm flipH="1">
            <a:off x="420639" y="4050487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>
            <a:spLocks noChangeAspect="1"/>
          </p:cNvSpPr>
          <p:nvPr/>
        </p:nvSpPr>
        <p:spPr>
          <a:xfrm>
            <a:off x="2587201" y="3673887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6" name="Conector de seta reta 35"/>
          <p:cNvCxnSpPr/>
          <p:nvPr/>
        </p:nvCxnSpPr>
        <p:spPr>
          <a:xfrm flipH="1">
            <a:off x="4307022" y="4050487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de seta reta 36"/>
          <p:cNvCxnSpPr/>
          <p:nvPr/>
        </p:nvCxnSpPr>
        <p:spPr>
          <a:xfrm flipH="1">
            <a:off x="2537936" y="4050487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>
            <a:spLocks noChangeAspect="1"/>
          </p:cNvSpPr>
          <p:nvPr/>
        </p:nvSpPr>
        <p:spPr>
          <a:xfrm>
            <a:off x="4346223" y="3673887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698311" y="3612692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698311" y="3896599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2821710" y="3612692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4589498" y="3612692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589498" y="3896599"/>
            <a:ext cx="1471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retorno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2821710" y="3896599"/>
            <a:ext cx="139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árvore</a:t>
            </a:r>
          </a:p>
        </p:txBody>
      </p: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de seta reta 103"/>
          <p:cNvCxnSpPr>
            <a:stCxn id="7" idx="6"/>
            <a:endCxn id="9" idx="1"/>
          </p:cNvCxnSpPr>
          <p:nvPr/>
        </p:nvCxnSpPr>
        <p:spPr>
          <a:xfrm>
            <a:off x="2309608" y="1561104"/>
            <a:ext cx="393124" cy="28825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106"/>
          <p:cNvCxnSpPr>
            <a:stCxn id="8" idx="6"/>
            <a:endCxn id="9" idx="3"/>
          </p:cNvCxnSpPr>
          <p:nvPr/>
        </p:nvCxnSpPr>
        <p:spPr>
          <a:xfrm flipV="1">
            <a:off x="2315659" y="2008430"/>
            <a:ext cx="387073" cy="294848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/>
          <p:cNvCxnSpPr/>
          <p:nvPr/>
        </p:nvCxnSpPr>
        <p:spPr>
          <a:xfrm flipH="1">
            <a:off x="4315078" y="433439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e seta reta 34"/>
          <p:cNvCxnSpPr/>
          <p:nvPr/>
        </p:nvCxnSpPr>
        <p:spPr>
          <a:xfrm flipH="1">
            <a:off x="2545992" y="4334394"/>
            <a:ext cx="262480" cy="1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aixaDeTexto 42"/>
          <p:cNvSpPr txBox="1"/>
          <p:nvPr/>
        </p:nvSpPr>
        <p:spPr>
          <a:xfrm>
            <a:off x="4597554" y="4180506"/>
            <a:ext cx="17827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cruzamento</a:t>
            </a:r>
          </a:p>
        </p:txBody>
      </p:sp>
      <p:sp>
        <p:nvSpPr>
          <p:cNvPr id="46" name="CaixaDeTexto 45"/>
          <p:cNvSpPr txBox="1"/>
          <p:nvPr/>
        </p:nvSpPr>
        <p:spPr>
          <a:xfrm>
            <a:off x="2829766" y="4180506"/>
            <a:ext cx="14294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avanço</a:t>
            </a:r>
          </a:p>
        </p:txBody>
      </p:sp>
      <p:graphicFrame>
        <p:nvGraphicFramePr>
          <p:cNvPr id="53" name="Tabela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6514598"/>
              </p:ext>
            </p:extLst>
          </p:nvPr>
        </p:nvGraphicFramePr>
        <p:xfrm>
          <a:off x="3158661" y="1273066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f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e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0" name="CaixaDeTexto 49"/>
          <p:cNvSpPr txBox="1"/>
          <p:nvPr/>
        </p:nvSpPr>
        <p:spPr>
          <a:xfrm>
            <a:off x="6665906" y="3766580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51" name="Conector reto 50"/>
          <p:cNvCxnSpPr/>
          <p:nvPr/>
        </p:nvCxnSpPr>
        <p:spPr>
          <a:xfrm>
            <a:off x="6349033" y="1369930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Elipse 51"/>
          <p:cNvSpPr/>
          <p:nvPr/>
        </p:nvSpPr>
        <p:spPr>
          <a:xfrm>
            <a:off x="7128893" y="162924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914804" y="2617084"/>
            <a:ext cx="20649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BP(e)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</a:t>
            </a:r>
            <a:r>
              <a:rPr lang="pt-BR" sz="1600" b="1" dirty="0">
                <a:solidFill>
                  <a:srgbClr val="00B0F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b }</a:t>
            </a:r>
            <a:endParaRPr lang="pt-BR" sz="1600" dirty="0"/>
          </a:p>
        </p:txBody>
      </p:sp>
      <p:cxnSp>
        <p:nvCxnSpPr>
          <p:cNvPr id="49" name="Conector de seta reta 48"/>
          <p:cNvCxnSpPr>
            <a:stCxn id="56" idx="0"/>
          </p:cNvCxnSpPr>
          <p:nvPr/>
        </p:nvCxnSpPr>
        <p:spPr>
          <a:xfrm flipH="1" flipV="1">
            <a:off x="7243942" y="1854214"/>
            <a:ext cx="1" cy="371130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/>
          <p:cNvSpPr/>
          <p:nvPr/>
        </p:nvSpPr>
        <p:spPr>
          <a:xfrm>
            <a:off x="7128894" y="222534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58" name="CaixaDeTexto 57"/>
          <p:cNvSpPr txBox="1"/>
          <p:nvPr/>
        </p:nvSpPr>
        <p:spPr>
          <a:xfrm>
            <a:off x="914804" y="2919967"/>
            <a:ext cx="19059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BP(f) 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(f)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57" name="Conector de seta reta 56"/>
          <p:cNvCxnSpPr>
            <a:stCxn id="59" idx="0"/>
          </p:cNvCxnSpPr>
          <p:nvPr/>
        </p:nvCxnSpPr>
        <p:spPr>
          <a:xfrm flipV="1">
            <a:off x="7243943" y="2450309"/>
            <a:ext cx="0" cy="370870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Elipse 58"/>
          <p:cNvSpPr/>
          <p:nvPr/>
        </p:nvSpPr>
        <p:spPr>
          <a:xfrm>
            <a:off x="7128894" y="282117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60" name="CaixaDeTexto 59"/>
          <p:cNvSpPr txBox="1"/>
          <p:nvPr/>
        </p:nvSpPr>
        <p:spPr>
          <a:xfrm>
            <a:off x="914804" y="3222850"/>
            <a:ext cx="6351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BP(b)</a:t>
            </a:r>
            <a:endParaRPr lang="pt-BR" sz="1600" dirty="0"/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216768112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Exemplo</a:t>
            </a:r>
          </a:p>
        </p:txBody>
      </p: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9" name="Elipse 8"/>
          <p:cNvSpPr/>
          <p:nvPr/>
        </p:nvSpPr>
        <p:spPr>
          <a:xfrm>
            <a:off x="2669035" y="1816410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13" name="Conector de seta reta 12"/>
          <p:cNvCxnSpPr>
            <a:stCxn id="6" idx="5"/>
            <a:endCxn id="8" idx="1"/>
          </p:cNvCxnSpPr>
          <p:nvPr/>
        </p:nvCxnSpPr>
        <p:spPr>
          <a:xfrm>
            <a:off x="1350736" y="1645635"/>
            <a:ext cx="768523" cy="57810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459840" y="3673888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3" name="Conector de seta reta 32"/>
          <p:cNvCxnSpPr/>
          <p:nvPr/>
        </p:nvCxnSpPr>
        <p:spPr>
          <a:xfrm flipH="1">
            <a:off x="420639" y="4050487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>
            <a:spLocks noChangeAspect="1"/>
          </p:cNvSpPr>
          <p:nvPr/>
        </p:nvSpPr>
        <p:spPr>
          <a:xfrm>
            <a:off x="2587201" y="3673887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6" name="Conector de seta reta 35"/>
          <p:cNvCxnSpPr/>
          <p:nvPr/>
        </p:nvCxnSpPr>
        <p:spPr>
          <a:xfrm flipH="1">
            <a:off x="4307022" y="4050487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de seta reta 36"/>
          <p:cNvCxnSpPr/>
          <p:nvPr/>
        </p:nvCxnSpPr>
        <p:spPr>
          <a:xfrm flipH="1">
            <a:off x="2537936" y="4050487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>
            <a:spLocks noChangeAspect="1"/>
          </p:cNvSpPr>
          <p:nvPr/>
        </p:nvSpPr>
        <p:spPr>
          <a:xfrm>
            <a:off x="4346223" y="3673887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698311" y="3612692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698311" y="3896599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2821710" y="3612692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4589498" y="3612692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589498" y="3896599"/>
            <a:ext cx="1471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retorno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2821710" y="3896599"/>
            <a:ext cx="139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árvore</a:t>
            </a:r>
          </a:p>
        </p:txBody>
      </p: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de seta reta 103"/>
          <p:cNvCxnSpPr>
            <a:stCxn id="7" idx="6"/>
            <a:endCxn id="9" idx="1"/>
          </p:cNvCxnSpPr>
          <p:nvPr/>
        </p:nvCxnSpPr>
        <p:spPr>
          <a:xfrm>
            <a:off x="2309608" y="1561104"/>
            <a:ext cx="393124" cy="28825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106"/>
          <p:cNvCxnSpPr>
            <a:stCxn id="8" idx="6"/>
            <a:endCxn id="9" idx="3"/>
          </p:cNvCxnSpPr>
          <p:nvPr/>
        </p:nvCxnSpPr>
        <p:spPr>
          <a:xfrm flipV="1">
            <a:off x="2315659" y="2008430"/>
            <a:ext cx="387073" cy="294848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/>
          <p:cNvCxnSpPr/>
          <p:nvPr/>
        </p:nvCxnSpPr>
        <p:spPr>
          <a:xfrm flipH="1">
            <a:off x="4315078" y="433439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e seta reta 34"/>
          <p:cNvCxnSpPr/>
          <p:nvPr/>
        </p:nvCxnSpPr>
        <p:spPr>
          <a:xfrm flipH="1">
            <a:off x="2545992" y="4334394"/>
            <a:ext cx="262480" cy="1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aixaDeTexto 42"/>
          <p:cNvSpPr txBox="1"/>
          <p:nvPr/>
        </p:nvSpPr>
        <p:spPr>
          <a:xfrm>
            <a:off x="4597554" y="4180506"/>
            <a:ext cx="17827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cruzamento</a:t>
            </a:r>
          </a:p>
        </p:txBody>
      </p:sp>
      <p:sp>
        <p:nvSpPr>
          <p:cNvPr id="46" name="CaixaDeTexto 45"/>
          <p:cNvSpPr txBox="1"/>
          <p:nvPr/>
        </p:nvSpPr>
        <p:spPr>
          <a:xfrm>
            <a:off x="2829766" y="4180506"/>
            <a:ext cx="14294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avanço</a:t>
            </a:r>
          </a:p>
        </p:txBody>
      </p:sp>
      <p:graphicFrame>
        <p:nvGraphicFramePr>
          <p:cNvPr id="53" name="Tabela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6041413"/>
              </p:ext>
            </p:extLst>
          </p:nvPr>
        </p:nvGraphicFramePr>
        <p:xfrm>
          <a:off x="3158661" y="1273066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f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e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0" name="CaixaDeTexto 49"/>
          <p:cNvSpPr txBox="1"/>
          <p:nvPr/>
        </p:nvSpPr>
        <p:spPr>
          <a:xfrm>
            <a:off x="6665906" y="3766580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51" name="Conector reto 50"/>
          <p:cNvCxnSpPr/>
          <p:nvPr/>
        </p:nvCxnSpPr>
        <p:spPr>
          <a:xfrm>
            <a:off x="6349033" y="1369930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Elipse 51"/>
          <p:cNvSpPr/>
          <p:nvPr/>
        </p:nvSpPr>
        <p:spPr>
          <a:xfrm>
            <a:off x="7128893" y="162924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914804" y="2617084"/>
            <a:ext cx="20649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BP(e)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</a:t>
            </a:r>
            <a:r>
              <a:rPr lang="pt-BR" sz="1600" b="1" dirty="0">
                <a:solidFill>
                  <a:srgbClr val="00B0F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b }</a:t>
            </a:r>
            <a:endParaRPr lang="pt-BR" sz="1600" dirty="0"/>
          </a:p>
        </p:txBody>
      </p:sp>
      <p:cxnSp>
        <p:nvCxnSpPr>
          <p:cNvPr id="49" name="Conector de seta reta 48"/>
          <p:cNvCxnSpPr>
            <a:stCxn id="56" idx="0"/>
          </p:cNvCxnSpPr>
          <p:nvPr/>
        </p:nvCxnSpPr>
        <p:spPr>
          <a:xfrm flipH="1" flipV="1">
            <a:off x="7243942" y="1854214"/>
            <a:ext cx="1" cy="371130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/>
          <p:cNvSpPr/>
          <p:nvPr/>
        </p:nvSpPr>
        <p:spPr>
          <a:xfrm>
            <a:off x="7128894" y="222534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58" name="CaixaDeTexto 57"/>
          <p:cNvSpPr txBox="1"/>
          <p:nvPr/>
        </p:nvSpPr>
        <p:spPr>
          <a:xfrm>
            <a:off x="914804" y="2919967"/>
            <a:ext cx="19059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BP(f) 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(f)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57" name="Conector de seta reta 56"/>
          <p:cNvCxnSpPr>
            <a:stCxn id="59" idx="0"/>
          </p:cNvCxnSpPr>
          <p:nvPr/>
        </p:nvCxnSpPr>
        <p:spPr>
          <a:xfrm flipV="1">
            <a:off x="7243943" y="2450309"/>
            <a:ext cx="0" cy="370870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Elipse 58"/>
          <p:cNvSpPr/>
          <p:nvPr/>
        </p:nvSpPr>
        <p:spPr>
          <a:xfrm>
            <a:off x="7128894" y="282117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62" name="CaixaDeTexto 61"/>
          <p:cNvSpPr txBox="1"/>
          <p:nvPr/>
        </p:nvSpPr>
        <p:spPr>
          <a:xfrm>
            <a:off x="914804" y="3222850"/>
            <a:ext cx="19111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BP(b)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= { d }</a:t>
            </a:r>
            <a:endParaRPr lang="pt-BR" sz="1600" dirty="0"/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1786376082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Exemplo</a:t>
            </a:r>
          </a:p>
        </p:txBody>
      </p: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9" name="Elipse 8"/>
          <p:cNvSpPr/>
          <p:nvPr/>
        </p:nvSpPr>
        <p:spPr>
          <a:xfrm>
            <a:off x="2669035" y="1816410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13" name="Conector de seta reta 12"/>
          <p:cNvCxnSpPr>
            <a:stCxn id="6" idx="5"/>
            <a:endCxn id="8" idx="1"/>
          </p:cNvCxnSpPr>
          <p:nvPr/>
        </p:nvCxnSpPr>
        <p:spPr>
          <a:xfrm>
            <a:off x="1350736" y="1645635"/>
            <a:ext cx="768523" cy="57810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459840" y="3673888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3" name="Conector de seta reta 32"/>
          <p:cNvCxnSpPr/>
          <p:nvPr/>
        </p:nvCxnSpPr>
        <p:spPr>
          <a:xfrm flipH="1">
            <a:off x="420639" y="4050487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>
            <a:spLocks noChangeAspect="1"/>
          </p:cNvSpPr>
          <p:nvPr/>
        </p:nvSpPr>
        <p:spPr>
          <a:xfrm>
            <a:off x="2587201" y="3673887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6" name="Conector de seta reta 35"/>
          <p:cNvCxnSpPr/>
          <p:nvPr/>
        </p:nvCxnSpPr>
        <p:spPr>
          <a:xfrm flipH="1">
            <a:off x="4307022" y="4050487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de seta reta 36"/>
          <p:cNvCxnSpPr/>
          <p:nvPr/>
        </p:nvCxnSpPr>
        <p:spPr>
          <a:xfrm flipH="1">
            <a:off x="2537936" y="4050487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>
            <a:spLocks noChangeAspect="1"/>
          </p:cNvSpPr>
          <p:nvPr/>
        </p:nvSpPr>
        <p:spPr>
          <a:xfrm>
            <a:off x="4346223" y="3673887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698311" y="3612692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698311" y="3896599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2821710" y="3612692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4589498" y="3612692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589498" y="3896599"/>
            <a:ext cx="1471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retorno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2821710" y="3896599"/>
            <a:ext cx="139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árvore</a:t>
            </a:r>
          </a:p>
        </p:txBody>
      </p: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de seta reta 103"/>
          <p:cNvCxnSpPr>
            <a:stCxn id="7" idx="6"/>
            <a:endCxn id="9" idx="1"/>
          </p:cNvCxnSpPr>
          <p:nvPr/>
        </p:nvCxnSpPr>
        <p:spPr>
          <a:xfrm>
            <a:off x="2309608" y="1561104"/>
            <a:ext cx="393124" cy="288251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106"/>
          <p:cNvCxnSpPr>
            <a:stCxn id="8" idx="6"/>
            <a:endCxn id="9" idx="3"/>
          </p:cNvCxnSpPr>
          <p:nvPr/>
        </p:nvCxnSpPr>
        <p:spPr>
          <a:xfrm flipV="1">
            <a:off x="2315659" y="2008430"/>
            <a:ext cx="387073" cy="294848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/>
          <p:cNvCxnSpPr/>
          <p:nvPr/>
        </p:nvCxnSpPr>
        <p:spPr>
          <a:xfrm flipH="1">
            <a:off x="4315078" y="433439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e seta reta 34"/>
          <p:cNvCxnSpPr/>
          <p:nvPr/>
        </p:nvCxnSpPr>
        <p:spPr>
          <a:xfrm flipH="1">
            <a:off x="2545992" y="4334394"/>
            <a:ext cx="262480" cy="1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aixaDeTexto 42"/>
          <p:cNvSpPr txBox="1"/>
          <p:nvPr/>
        </p:nvSpPr>
        <p:spPr>
          <a:xfrm>
            <a:off x="4597554" y="4180506"/>
            <a:ext cx="17827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cruzamento</a:t>
            </a:r>
          </a:p>
        </p:txBody>
      </p:sp>
      <p:sp>
        <p:nvSpPr>
          <p:cNvPr id="46" name="CaixaDeTexto 45"/>
          <p:cNvSpPr txBox="1"/>
          <p:nvPr/>
        </p:nvSpPr>
        <p:spPr>
          <a:xfrm>
            <a:off x="2829766" y="4180506"/>
            <a:ext cx="14294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avanço</a:t>
            </a:r>
          </a:p>
        </p:txBody>
      </p:sp>
      <p:graphicFrame>
        <p:nvGraphicFramePr>
          <p:cNvPr id="53" name="Tabela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0924400"/>
              </p:ext>
            </p:extLst>
          </p:nvPr>
        </p:nvGraphicFramePr>
        <p:xfrm>
          <a:off x="3158661" y="1273066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f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e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0" name="CaixaDeTexto 49"/>
          <p:cNvSpPr txBox="1"/>
          <p:nvPr/>
        </p:nvSpPr>
        <p:spPr>
          <a:xfrm>
            <a:off x="6665906" y="3766580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51" name="Conector reto 50"/>
          <p:cNvCxnSpPr/>
          <p:nvPr/>
        </p:nvCxnSpPr>
        <p:spPr>
          <a:xfrm>
            <a:off x="6349033" y="1369930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Elipse 51"/>
          <p:cNvSpPr/>
          <p:nvPr/>
        </p:nvSpPr>
        <p:spPr>
          <a:xfrm>
            <a:off x="7128893" y="162924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914804" y="2617084"/>
            <a:ext cx="20649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BP(e)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</a:t>
            </a:r>
            <a:r>
              <a:rPr lang="pt-BR" sz="1600" b="1" dirty="0">
                <a:solidFill>
                  <a:srgbClr val="00B0F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b }</a:t>
            </a:r>
            <a:endParaRPr lang="pt-BR" sz="1600" dirty="0"/>
          </a:p>
        </p:txBody>
      </p:sp>
      <p:cxnSp>
        <p:nvCxnSpPr>
          <p:cNvPr id="49" name="Conector de seta reta 48"/>
          <p:cNvCxnSpPr>
            <a:stCxn id="56" idx="0"/>
          </p:cNvCxnSpPr>
          <p:nvPr/>
        </p:nvCxnSpPr>
        <p:spPr>
          <a:xfrm flipH="1" flipV="1">
            <a:off x="7243942" y="1854214"/>
            <a:ext cx="1" cy="371130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/>
          <p:cNvSpPr/>
          <p:nvPr/>
        </p:nvSpPr>
        <p:spPr>
          <a:xfrm>
            <a:off x="7128894" y="222534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58" name="CaixaDeTexto 57"/>
          <p:cNvSpPr txBox="1"/>
          <p:nvPr/>
        </p:nvSpPr>
        <p:spPr>
          <a:xfrm>
            <a:off x="914804" y="2919967"/>
            <a:ext cx="19059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BP(f) 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(f)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57" name="Conector de seta reta 56"/>
          <p:cNvCxnSpPr>
            <a:stCxn id="59" idx="0"/>
          </p:cNvCxnSpPr>
          <p:nvPr/>
        </p:nvCxnSpPr>
        <p:spPr>
          <a:xfrm flipV="1">
            <a:off x="7243943" y="2450309"/>
            <a:ext cx="0" cy="370870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Elipse 58"/>
          <p:cNvSpPr/>
          <p:nvPr/>
        </p:nvSpPr>
        <p:spPr>
          <a:xfrm>
            <a:off x="7128894" y="282117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62" name="CaixaDeTexto 61"/>
          <p:cNvSpPr txBox="1"/>
          <p:nvPr/>
        </p:nvSpPr>
        <p:spPr>
          <a:xfrm>
            <a:off x="914804" y="3222850"/>
            <a:ext cx="19111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BP(b)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= { </a:t>
            </a:r>
            <a:r>
              <a:rPr lang="pt-BR" sz="1600" b="1" dirty="0">
                <a:solidFill>
                  <a:srgbClr val="00B0F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sp>
        <p:nvSpPr>
          <p:cNvPr id="60" name="Elipse 59"/>
          <p:cNvSpPr/>
          <p:nvPr/>
        </p:nvSpPr>
        <p:spPr>
          <a:xfrm>
            <a:off x="7128892" y="343661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61" name="Conector de seta reta 60"/>
          <p:cNvCxnSpPr>
            <a:stCxn id="60" idx="0"/>
          </p:cNvCxnSpPr>
          <p:nvPr/>
        </p:nvCxnSpPr>
        <p:spPr>
          <a:xfrm flipV="1">
            <a:off x="7243941" y="3046145"/>
            <a:ext cx="2" cy="390473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159711558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Exemplo</a:t>
            </a:r>
          </a:p>
        </p:txBody>
      </p: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9" name="Elipse 8"/>
          <p:cNvSpPr/>
          <p:nvPr/>
        </p:nvSpPr>
        <p:spPr>
          <a:xfrm>
            <a:off x="2669035" y="1816410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13" name="Conector de seta reta 12"/>
          <p:cNvCxnSpPr>
            <a:stCxn id="6" idx="5"/>
            <a:endCxn id="8" idx="1"/>
          </p:cNvCxnSpPr>
          <p:nvPr/>
        </p:nvCxnSpPr>
        <p:spPr>
          <a:xfrm>
            <a:off x="1350736" y="1645635"/>
            <a:ext cx="768523" cy="57810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459840" y="3673888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3" name="Conector de seta reta 32"/>
          <p:cNvCxnSpPr/>
          <p:nvPr/>
        </p:nvCxnSpPr>
        <p:spPr>
          <a:xfrm flipH="1">
            <a:off x="420639" y="4050487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>
            <a:spLocks noChangeAspect="1"/>
          </p:cNvSpPr>
          <p:nvPr/>
        </p:nvSpPr>
        <p:spPr>
          <a:xfrm>
            <a:off x="2587201" y="3673887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6" name="Conector de seta reta 35"/>
          <p:cNvCxnSpPr/>
          <p:nvPr/>
        </p:nvCxnSpPr>
        <p:spPr>
          <a:xfrm flipH="1">
            <a:off x="4307022" y="4050487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de seta reta 36"/>
          <p:cNvCxnSpPr/>
          <p:nvPr/>
        </p:nvCxnSpPr>
        <p:spPr>
          <a:xfrm flipH="1">
            <a:off x="2537936" y="4050487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>
            <a:spLocks noChangeAspect="1"/>
          </p:cNvSpPr>
          <p:nvPr/>
        </p:nvSpPr>
        <p:spPr>
          <a:xfrm>
            <a:off x="4346223" y="3673887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698311" y="3612692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698311" y="3896599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2821710" y="3612692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4589498" y="3612692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589498" y="3896599"/>
            <a:ext cx="1471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retorno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2821710" y="3896599"/>
            <a:ext cx="139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árvore</a:t>
            </a:r>
          </a:p>
        </p:txBody>
      </p: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de seta reta 103"/>
          <p:cNvCxnSpPr>
            <a:stCxn id="7" idx="6"/>
            <a:endCxn id="9" idx="1"/>
          </p:cNvCxnSpPr>
          <p:nvPr/>
        </p:nvCxnSpPr>
        <p:spPr>
          <a:xfrm>
            <a:off x="2309608" y="1561104"/>
            <a:ext cx="393124" cy="288251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106"/>
          <p:cNvCxnSpPr>
            <a:stCxn id="8" idx="6"/>
            <a:endCxn id="9" idx="3"/>
          </p:cNvCxnSpPr>
          <p:nvPr/>
        </p:nvCxnSpPr>
        <p:spPr>
          <a:xfrm flipV="1">
            <a:off x="2315659" y="2008430"/>
            <a:ext cx="387073" cy="294848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/>
          <p:cNvCxnSpPr/>
          <p:nvPr/>
        </p:nvCxnSpPr>
        <p:spPr>
          <a:xfrm flipH="1">
            <a:off x="4315078" y="433439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e seta reta 34"/>
          <p:cNvCxnSpPr/>
          <p:nvPr/>
        </p:nvCxnSpPr>
        <p:spPr>
          <a:xfrm flipH="1">
            <a:off x="2545992" y="4334394"/>
            <a:ext cx="262480" cy="1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aixaDeTexto 42"/>
          <p:cNvSpPr txBox="1"/>
          <p:nvPr/>
        </p:nvSpPr>
        <p:spPr>
          <a:xfrm>
            <a:off x="4597554" y="4180506"/>
            <a:ext cx="17827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cruzamento</a:t>
            </a:r>
          </a:p>
        </p:txBody>
      </p:sp>
      <p:sp>
        <p:nvSpPr>
          <p:cNvPr id="46" name="CaixaDeTexto 45"/>
          <p:cNvSpPr txBox="1"/>
          <p:nvPr/>
        </p:nvSpPr>
        <p:spPr>
          <a:xfrm>
            <a:off x="2829766" y="4180506"/>
            <a:ext cx="14294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avanço</a:t>
            </a:r>
          </a:p>
        </p:txBody>
      </p:sp>
      <p:graphicFrame>
        <p:nvGraphicFramePr>
          <p:cNvPr id="53" name="Tabela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5227182"/>
              </p:ext>
            </p:extLst>
          </p:nvPr>
        </p:nvGraphicFramePr>
        <p:xfrm>
          <a:off x="3158661" y="1273066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f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e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0" name="CaixaDeTexto 49"/>
          <p:cNvSpPr txBox="1"/>
          <p:nvPr/>
        </p:nvSpPr>
        <p:spPr>
          <a:xfrm>
            <a:off x="6665906" y="3766580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51" name="Conector reto 50"/>
          <p:cNvCxnSpPr/>
          <p:nvPr/>
        </p:nvCxnSpPr>
        <p:spPr>
          <a:xfrm>
            <a:off x="6349033" y="1369930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Elipse 51"/>
          <p:cNvSpPr/>
          <p:nvPr/>
        </p:nvSpPr>
        <p:spPr>
          <a:xfrm>
            <a:off x="7128893" y="162924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914804" y="2617084"/>
            <a:ext cx="20649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BP(e)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</a:t>
            </a:r>
            <a:r>
              <a:rPr lang="pt-BR" sz="1600" b="1" dirty="0">
                <a:solidFill>
                  <a:srgbClr val="00B0F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b }</a:t>
            </a:r>
            <a:endParaRPr lang="pt-BR" sz="1600" dirty="0"/>
          </a:p>
        </p:txBody>
      </p:sp>
      <p:cxnSp>
        <p:nvCxnSpPr>
          <p:cNvPr id="49" name="Conector de seta reta 48"/>
          <p:cNvCxnSpPr>
            <a:stCxn id="56" idx="0"/>
          </p:cNvCxnSpPr>
          <p:nvPr/>
        </p:nvCxnSpPr>
        <p:spPr>
          <a:xfrm flipH="1" flipV="1">
            <a:off x="7243942" y="1854214"/>
            <a:ext cx="1" cy="371130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/>
          <p:cNvSpPr/>
          <p:nvPr/>
        </p:nvSpPr>
        <p:spPr>
          <a:xfrm>
            <a:off x="7128894" y="222534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58" name="CaixaDeTexto 57"/>
          <p:cNvSpPr txBox="1"/>
          <p:nvPr/>
        </p:nvSpPr>
        <p:spPr>
          <a:xfrm>
            <a:off x="914804" y="2919967"/>
            <a:ext cx="19059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BP(f) 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(f)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57" name="Conector de seta reta 56"/>
          <p:cNvCxnSpPr>
            <a:stCxn id="59" idx="0"/>
          </p:cNvCxnSpPr>
          <p:nvPr/>
        </p:nvCxnSpPr>
        <p:spPr>
          <a:xfrm flipV="1">
            <a:off x="7243943" y="2450309"/>
            <a:ext cx="0" cy="370870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Elipse 58"/>
          <p:cNvSpPr/>
          <p:nvPr/>
        </p:nvSpPr>
        <p:spPr>
          <a:xfrm>
            <a:off x="7128894" y="282117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62" name="CaixaDeTexto 61"/>
          <p:cNvSpPr txBox="1"/>
          <p:nvPr/>
        </p:nvSpPr>
        <p:spPr>
          <a:xfrm>
            <a:off x="914804" y="3222850"/>
            <a:ext cx="19111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BP(b)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= { </a:t>
            </a:r>
            <a:r>
              <a:rPr lang="pt-BR" sz="1600" b="1" dirty="0">
                <a:solidFill>
                  <a:srgbClr val="00B0F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sp>
        <p:nvSpPr>
          <p:cNvPr id="60" name="Elipse 59"/>
          <p:cNvSpPr/>
          <p:nvPr/>
        </p:nvSpPr>
        <p:spPr>
          <a:xfrm>
            <a:off x="7128892" y="343661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61" name="Conector de seta reta 60"/>
          <p:cNvCxnSpPr>
            <a:stCxn id="60" idx="0"/>
          </p:cNvCxnSpPr>
          <p:nvPr/>
        </p:nvCxnSpPr>
        <p:spPr>
          <a:xfrm flipV="1">
            <a:off x="7243941" y="3046145"/>
            <a:ext cx="2" cy="390473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CaixaDeTexto 62"/>
          <p:cNvSpPr txBox="1"/>
          <p:nvPr/>
        </p:nvSpPr>
        <p:spPr>
          <a:xfrm>
            <a:off x="3205386" y="2612377"/>
            <a:ext cx="6351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BP(d)</a:t>
            </a:r>
            <a:endParaRPr lang="pt-BR" sz="1600" dirty="0"/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899569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Exemplo</a:t>
            </a:r>
          </a:p>
        </p:txBody>
      </p: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9" name="Elipse 8"/>
          <p:cNvSpPr/>
          <p:nvPr/>
        </p:nvSpPr>
        <p:spPr>
          <a:xfrm>
            <a:off x="2669035" y="1816410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13" name="Conector de seta reta 12"/>
          <p:cNvCxnSpPr>
            <a:stCxn id="6" idx="5"/>
            <a:endCxn id="8" idx="1"/>
          </p:cNvCxnSpPr>
          <p:nvPr/>
        </p:nvCxnSpPr>
        <p:spPr>
          <a:xfrm>
            <a:off x="1350736" y="1645635"/>
            <a:ext cx="768523" cy="57810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459840" y="3673888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3" name="Conector de seta reta 32"/>
          <p:cNvCxnSpPr/>
          <p:nvPr/>
        </p:nvCxnSpPr>
        <p:spPr>
          <a:xfrm flipH="1">
            <a:off x="420639" y="4050487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>
            <a:spLocks noChangeAspect="1"/>
          </p:cNvSpPr>
          <p:nvPr/>
        </p:nvSpPr>
        <p:spPr>
          <a:xfrm>
            <a:off x="2587201" y="3673887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6" name="Conector de seta reta 35"/>
          <p:cNvCxnSpPr/>
          <p:nvPr/>
        </p:nvCxnSpPr>
        <p:spPr>
          <a:xfrm flipH="1">
            <a:off x="4307022" y="4050487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de seta reta 36"/>
          <p:cNvCxnSpPr/>
          <p:nvPr/>
        </p:nvCxnSpPr>
        <p:spPr>
          <a:xfrm flipH="1">
            <a:off x="2537936" y="4050487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>
            <a:spLocks noChangeAspect="1"/>
          </p:cNvSpPr>
          <p:nvPr/>
        </p:nvSpPr>
        <p:spPr>
          <a:xfrm>
            <a:off x="4346223" y="3673887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698311" y="3612692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698311" y="3896599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2821710" y="3612692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4589498" y="3612692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589498" y="3896599"/>
            <a:ext cx="1471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retorno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2821710" y="3896599"/>
            <a:ext cx="139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árvore</a:t>
            </a:r>
          </a:p>
        </p:txBody>
      </p: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de seta reta 103"/>
          <p:cNvCxnSpPr>
            <a:stCxn id="7" idx="6"/>
            <a:endCxn id="9" idx="1"/>
          </p:cNvCxnSpPr>
          <p:nvPr/>
        </p:nvCxnSpPr>
        <p:spPr>
          <a:xfrm>
            <a:off x="2309608" y="1561104"/>
            <a:ext cx="393124" cy="288251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106"/>
          <p:cNvCxnSpPr>
            <a:stCxn id="8" idx="6"/>
            <a:endCxn id="9" idx="3"/>
          </p:cNvCxnSpPr>
          <p:nvPr/>
        </p:nvCxnSpPr>
        <p:spPr>
          <a:xfrm flipV="1">
            <a:off x="2315659" y="2008430"/>
            <a:ext cx="387073" cy="294848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/>
          <p:cNvCxnSpPr/>
          <p:nvPr/>
        </p:nvCxnSpPr>
        <p:spPr>
          <a:xfrm flipH="1">
            <a:off x="4315078" y="433439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e seta reta 34"/>
          <p:cNvCxnSpPr/>
          <p:nvPr/>
        </p:nvCxnSpPr>
        <p:spPr>
          <a:xfrm flipH="1">
            <a:off x="2545992" y="4334394"/>
            <a:ext cx="262480" cy="1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aixaDeTexto 42"/>
          <p:cNvSpPr txBox="1"/>
          <p:nvPr/>
        </p:nvSpPr>
        <p:spPr>
          <a:xfrm>
            <a:off x="4597554" y="4180506"/>
            <a:ext cx="17827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cruzamento</a:t>
            </a:r>
          </a:p>
        </p:txBody>
      </p:sp>
      <p:sp>
        <p:nvSpPr>
          <p:cNvPr id="46" name="CaixaDeTexto 45"/>
          <p:cNvSpPr txBox="1"/>
          <p:nvPr/>
        </p:nvSpPr>
        <p:spPr>
          <a:xfrm>
            <a:off x="2829766" y="4180506"/>
            <a:ext cx="14294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avanço</a:t>
            </a:r>
          </a:p>
        </p:txBody>
      </p:sp>
      <p:graphicFrame>
        <p:nvGraphicFramePr>
          <p:cNvPr id="53" name="Tabela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7251376"/>
              </p:ext>
            </p:extLst>
          </p:nvPr>
        </p:nvGraphicFramePr>
        <p:xfrm>
          <a:off x="3158661" y="1273066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f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e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0" name="CaixaDeTexto 49"/>
          <p:cNvSpPr txBox="1"/>
          <p:nvPr/>
        </p:nvSpPr>
        <p:spPr>
          <a:xfrm>
            <a:off x="6665906" y="3766580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51" name="Conector reto 50"/>
          <p:cNvCxnSpPr/>
          <p:nvPr/>
        </p:nvCxnSpPr>
        <p:spPr>
          <a:xfrm>
            <a:off x="6349033" y="1369930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Elipse 51"/>
          <p:cNvSpPr/>
          <p:nvPr/>
        </p:nvSpPr>
        <p:spPr>
          <a:xfrm>
            <a:off x="7128893" y="162924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914804" y="2617084"/>
            <a:ext cx="20649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BP(e)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</a:t>
            </a:r>
            <a:r>
              <a:rPr lang="pt-BR" sz="1600" b="1" dirty="0">
                <a:solidFill>
                  <a:srgbClr val="00B0F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b }</a:t>
            </a:r>
            <a:endParaRPr lang="pt-BR" sz="1600" dirty="0"/>
          </a:p>
        </p:txBody>
      </p:sp>
      <p:cxnSp>
        <p:nvCxnSpPr>
          <p:cNvPr id="49" name="Conector de seta reta 48"/>
          <p:cNvCxnSpPr>
            <a:stCxn id="56" idx="0"/>
          </p:cNvCxnSpPr>
          <p:nvPr/>
        </p:nvCxnSpPr>
        <p:spPr>
          <a:xfrm flipH="1" flipV="1">
            <a:off x="7243942" y="1854214"/>
            <a:ext cx="1" cy="371130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/>
          <p:cNvSpPr/>
          <p:nvPr/>
        </p:nvSpPr>
        <p:spPr>
          <a:xfrm>
            <a:off x="7128894" y="222534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58" name="CaixaDeTexto 57"/>
          <p:cNvSpPr txBox="1"/>
          <p:nvPr/>
        </p:nvSpPr>
        <p:spPr>
          <a:xfrm>
            <a:off x="914804" y="2919967"/>
            <a:ext cx="19059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BP(f) 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(f)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57" name="Conector de seta reta 56"/>
          <p:cNvCxnSpPr>
            <a:stCxn id="59" idx="0"/>
          </p:cNvCxnSpPr>
          <p:nvPr/>
        </p:nvCxnSpPr>
        <p:spPr>
          <a:xfrm flipV="1">
            <a:off x="7243943" y="2450309"/>
            <a:ext cx="0" cy="370870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Elipse 58"/>
          <p:cNvSpPr/>
          <p:nvPr/>
        </p:nvSpPr>
        <p:spPr>
          <a:xfrm>
            <a:off x="7128894" y="282117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62" name="CaixaDeTexto 61"/>
          <p:cNvSpPr txBox="1"/>
          <p:nvPr/>
        </p:nvSpPr>
        <p:spPr>
          <a:xfrm>
            <a:off x="914804" y="3222850"/>
            <a:ext cx="19111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BP(b)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= { </a:t>
            </a:r>
            <a:r>
              <a:rPr lang="pt-BR" sz="1600" b="1" dirty="0">
                <a:solidFill>
                  <a:srgbClr val="00B0F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sp>
        <p:nvSpPr>
          <p:cNvPr id="60" name="Elipse 59"/>
          <p:cNvSpPr/>
          <p:nvPr/>
        </p:nvSpPr>
        <p:spPr>
          <a:xfrm>
            <a:off x="7128892" y="343661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61" name="Conector de seta reta 60"/>
          <p:cNvCxnSpPr>
            <a:stCxn id="60" idx="0"/>
          </p:cNvCxnSpPr>
          <p:nvPr/>
        </p:nvCxnSpPr>
        <p:spPr>
          <a:xfrm flipV="1">
            <a:off x="7243941" y="3046145"/>
            <a:ext cx="2" cy="390473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aixaDeTexto 63"/>
          <p:cNvSpPr txBox="1"/>
          <p:nvPr/>
        </p:nvSpPr>
        <p:spPr>
          <a:xfrm>
            <a:off x="3205386" y="2612377"/>
            <a:ext cx="18662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BP(d)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f }</a:t>
            </a:r>
            <a:endParaRPr lang="pt-BR" sz="1600" dirty="0"/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866210327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Exemplo</a:t>
            </a:r>
          </a:p>
        </p:txBody>
      </p: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9" name="Elipse 8"/>
          <p:cNvSpPr/>
          <p:nvPr/>
        </p:nvSpPr>
        <p:spPr>
          <a:xfrm>
            <a:off x="2669035" y="1816410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13" name="Conector de seta reta 12"/>
          <p:cNvCxnSpPr>
            <a:stCxn id="6" idx="5"/>
            <a:endCxn id="8" idx="1"/>
          </p:cNvCxnSpPr>
          <p:nvPr/>
        </p:nvCxnSpPr>
        <p:spPr>
          <a:xfrm>
            <a:off x="1350736" y="1645635"/>
            <a:ext cx="768523" cy="57810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459840" y="3673888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3" name="Conector de seta reta 32"/>
          <p:cNvCxnSpPr/>
          <p:nvPr/>
        </p:nvCxnSpPr>
        <p:spPr>
          <a:xfrm flipH="1">
            <a:off x="420639" y="4050487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>
            <a:spLocks noChangeAspect="1"/>
          </p:cNvSpPr>
          <p:nvPr/>
        </p:nvSpPr>
        <p:spPr>
          <a:xfrm>
            <a:off x="2587201" y="3673887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6" name="Conector de seta reta 35"/>
          <p:cNvCxnSpPr/>
          <p:nvPr/>
        </p:nvCxnSpPr>
        <p:spPr>
          <a:xfrm flipH="1">
            <a:off x="4307022" y="4050487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de seta reta 36"/>
          <p:cNvCxnSpPr/>
          <p:nvPr/>
        </p:nvCxnSpPr>
        <p:spPr>
          <a:xfrm flipH="1">
            <a:off x="2537936" y="4050487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>
            <a:spLocks noChangeAspect="1"/>
          </p:cNvSpPr>
          <p:nvPr/>
        </p:nvSpPr>
        <p:spPr>
          <a:xfrm>
            <a:off x="4346223" y="3673887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698311" y="3612692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698311" y="3896599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2821710" y="3612692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4589498" y="3612692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589498" y="3896599"/>
            <a:ext cx="1471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retorno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2821710" y="3896599"/>
            <a:ext cx="139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árvore</a:t>
            </a:r>
          </a:p>
        </p:txBody>
      </p: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de seta reta 103"/>
          <p:cNvCxnSpPr>
            <a:stCxn id="7" idx="6"/>
            <a:endCxn id="9" idx="1"/>
          </p:cNvCxnSpPr>
          <p:nvPr/>
        </p:nvCxnSpPr>
        <p:spPr>
          <a:xfrm>
            <a:off x="2309608" y="1561104"/>
            <a:ext cx="393124" cy="288251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106"/>
          <p:cNvCxnSpPr>
            <a:stCxn id="8" idx="6"/>
            <a:endCxn id="9" idx="3"/>
          </p:cNvCxnSpPr>
          <p:nvPr/>
        </p:nvCxnSpPr>
        <p:spPr>
          <a:xfrm flipV="1">
            <a:off x="2315659" y="2008430"/>
            <a:ext cx="387073" cy="29484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/>
          <p:cNvCxnSpPr/>
          <p:nvPr/>
        </p:nvCxnSpPr>
        <p:spPr>
          <a:xfrm flipH="1">
            <a:off x="4315078" y="433439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e seta reta 34"/>
          <p:cNvCxnSpPr/>
          <p:nvPr/>
        </p:nvCxnSpPr>
        <p:spPr>
          <a:xfrm flipH="1">
            <a:off x="2545992" y="4334394"/>
            <a:ext cx="262480" cy="1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aixaDeTexto 42"/>
          <p:cNvSpPr txBox="1"/>
          <p:nvPr/>
        </p:nvSpPr>
        <p:spPr>
          <a:xfrm>
            <a:off x="4597554" y="4180506"/>
            <a:ext cx="17827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cruzamento</a:t>
            </a:r>
          </a:p>
        </p:txBody>
      </p:sp>
      <p:sp>
        <p:nvSpPr>
          <p:cNvPr id="46" name="CaixaDeTexto 45"/>
          <p:cNvSpPr txBox="1"/>
          <p:nvPr/>
        </p:nvSpPr>
        <p:spPr>
          <a:xfrm>
            <a:off x="2829766" y="4180506"/>
            <a:ext cx="14294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avanço</a:t>
            </a:r>
          </a:p>
        </p:txBody>
      </p:sp>
      <p:graphicFrame>
        <p:nvGraphicFramePr>
          <p:cNvPr id="53" name="Tabela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8748784"/>
              </p:ext>
            </p:extLst>
          </p:nvPr>
        </p:nvGraphicFramePr>
        <p:xfrm>
          <a:off x="3158661" y="1273066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f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e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0" name="CaixaDeTexto 49"/>
          <p:cNvSpPr txBox="1"/>
          <p:nvPr/>
        </p:nvSpPr>
        <p:spPr>
          <a:xfrm>
            <a:off x="6665906" y="3766580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51" name="Conector reto 50"/>
          <p:cNvCxnSpPr/>
          <p:nvPr/>
        </p:nvCxnSpPr>
        <p:spPr>
          <a:xfrm>
            <a:off x="6349033" y="1369930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Elipse 51"/>
          <p:cNvSpPr/>
          <p:nvPr/>
        </p:nvSpPr>
        <p:spPr>
          <a:xfrm>
            <a:off x="7128893" y="162924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914804" y="2617084"/>
            <a:ext cx="20649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BP(e)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</a:t>
            </a:r>
            <a:r>
              <a:rPr lang="pt-BR" sz="1600" b="1" dirty="0">
                <a:solidFill>
                  <a:srgbClr val="00B0F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b }</a:t>
            </a:r>
            <a:endParaRPr lang="pt-BR" sz="1600" dirty="0"/>
          </a:p>
        </p:txBody>
      </p:sp>
      <p:cxnSp>
        <p:nvCxnSpPr>
          <p:cNvPr id="49" name="Conector de seta reta 48"/>
          <p:cNvCxnSpPr>
            <a:stCxn id="56" idx="0"/>
          </p:cNvCxnSpPr>
          <p:nvPr/>
        </p:nvCxnSpPr>
        <p:spPr>
          <a:xfrm flipH="1" flipV="1">
            <a:off x="7243942" y="1854214"/>
            <a:ext cx="1" cy="371130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/>
          <p:cNvSpPr/>
          <p:nvPr/>
        </p:nvSpPr>
        <p:spPr>
          <a:xfrm>
            <a:off x="7128894" y="222534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58" name="CaixaDeTexto 57"/>
          <p:cNvSpPr txBox="1"/>
          <p:nvPr/>
        </p:nvSpPr>
        <p:spPr>
          <a:xfrm>
            <a:off x="914804" y="2919967"/>
            <a:ext cx="19059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BP(f) 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(f)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57" name="Conector de seta reta 56"/>
          <p:cNvCxnSpPr>
            <a:stCxn id="59" idx="0"/>
          </p:cNvCxnSpPr>
          <p:nvPr/>
        </p:nvCxnSpPr>
        <p:spPr>
          <a:xfrm flipV="1">
            <a:off x="7243943" y="2450309"/>
            <a:ext cx="0" cy="370870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Elipse 58"/>
          <p:cNvSpPr/>
          <p:nvPr/>
        </p:nvSpPr>
        <p:spPr>
          <a:xfrm>
            <a:off x="7128894" y="282117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62" name="CaixaDeTexto 61"/>
          <p:cNvSpPr txBox="1"/>
          <p:nvPr/>
        </p:nvSpPr>
        <p:spPr>
          <a:xfrm>
            <a:off x="914804" y="3222850"/>
            <a:ext cx="19111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BP(b)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= { </a:t>
            </a:r>
            <a:r>
              <a:rPr lang="pt-BR" sz="1600" b="1" dirty="0">
                <a:solidFill>
                  <a:srgbClr val="00B0F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sp>
        <p:nvSpPr>
          <p:cNvPr id="60" name="Elipse 59"/>
          <p:cNvSpPr/>
          <p:nvPr/>
        </p:nvSpPr>
        <p:spPr>
          <a:xfrm>
            <a:off x="7128892" y="343661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61" name="Conector de seta reta 60"/>
          <p:cNvCxnSpPr>
            <a:stCxn id="60" idx="0"/>
          </p:cNvCxnSpPr>
          <p:nvPr/>
        </p:nvCxnSpPr>
        <p:spPr>
          <a:xfrm flipV="1">
            <a:off x="7243941" y="3046145"/>
            <a:ext cx="2" cy="390473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aixaDeTexto 63"/>
          <p:cNvSpPr txBox="1"/>
          <p:nvPr/>
        </p:nvSpPr>
        <p:spPr>
          <a:xfrm>
            <a:off x="3205386" y="2612377"/>
            <a:ext cx="18662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BP(d)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</a:t>
            </a:r>
            <a:r>
              <a:rPr lang="pt-BR" sz="1600" b="1" dirty="0">
                <a:solidFill>
                  <a:srgbClr val="FF000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63" name="Conector angulado 139"/>
          <p:cNvCxnSpPr/>
          <p:nvPr/>
        </p:nvCxnSpPr>
        <p:spPr>
          <a:xfrm rot="10800000" flipH="1">
            <a:off x="7128892" y="2337829"/>
            <a:ext cx="2" cy="1211273"/>
          </a:xfrm>
          <a:prstGeom prst="curvedConnector3">
            <a:avLst>
              <a:gd name="adj1" fmla="val -11430000000"/>
            </a:avLst>
          </a:prstGeom>
          <a:ln w="19050">
            <a:solidFill>
              <a:srgbClr val="FF000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246976333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Exemplo</a:t>
            </a:r>
          </a:p>
        </p:txBody>
      </p: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9" name="Elipse 8"/>
          <p:cNvSpPr/>
          <p:nvPr/>
        </p:nvSpPr>
        <p:spPr>
          <a:xfrm>
            <a:off x="2669035" y="1816410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13" name="Conector de seta reta 12"/>
          <p:cNvCxnSpPr>
            <a:stCxn id="6" idx="5"/>
            <a:endCxn id="8" idx="1"/>
          </p:cNvCxnSpPr>
          <p:nvPr/>
        </p:nvCxnSpPr>
        <p:spPr>
          <a:xfrm>
            <a:off x="1350736" y="1645635"/>
            <a:ext cx="768523" cy="57810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459840" y="3673888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3" name="Conector de seta reta 32"/>
          <p:cNvCxnSpPr/>
          <p:nvPr/>
        </p:nvCxnSpPr>
        <p:spPr>
          <a:xfrm flipH="1">
            <a:off x="420639" y="4050487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>
            <a:spLocks noChangeAspect="1"/>
          </p:cNvSpPr>
          <p:nvPr/>
        </p:nvSpPr>
        <p:spPr>
          <a:xfrm>
            <a:off x="2587201" y="3673887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6" name="Conector de seta reta 35"/>
          <p:cNvCxnSpPr/>
          <p:nvPr/>
        </p:nvCxnSpPr>
        <p:spPr>
          <a:xfrm flipH="1">
            <a:off x="4307022" y="4050487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de seta reta 36"/>
          <p:cNvCxnSpPr/>
          <p:nvPr/>
        </p:nvCxnSpPr>
        <p:spPr>
          <a:xfrm flipH="1">
            <a:off x="2537936" y="4050487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>
            <a:spLocks noChangeAspect="1"/>
          </p:cNvSpPr>
          <p:nvPr/>
        </p:nvSpPr>
        <p:spPr>
          <a:xfrm>
            <a:off x="4346223" y="3673887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698311" y="3612692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698311" y="3896599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2821710" y="3612692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4589498" y="3612692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589498" y="3896599"/>
            <a:ext cx="1471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retorno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2821710" y="3896599"/>
            <a:ext cx="139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árvore</a:t>
            </a:r>
          </a:p>
        </p:txBody>
      </p: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de seta reta 103"/>
          <p:cNvCxnSpPr>
            <a:stCxn id="7" idx="6"/>
            <a:endCxn id="9" idx="1"/>
          </p:cNvCxnSpPr>
          <p:nvPr/>
        </p:nvCxnSpPr>
        <p:spPr>
          <a:xfrm>
            <a:off x="2309608" y="1561104"/>
            <a:ext cx="393124" cy="288251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106"/>
          <p:cNvCxnSpPr>
            <a:stCxn id="8" idx="6"/>
            <a:endCxn id="9" idx="3"/>
          </p:cNvCxnSpPr>
          <p:nvPr/>
        </p:nvCxnSpPr>
        <p:spPr>
          <a:xfrm flipV="1">
            <a:off x="2315659" y="2008430"/>
            <a:ext cx="387073" cy="29484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/>
          <p:cNvCxnSpPr/>
          <p:nvPr/>
        </p:nvCxnSpPr>
        <p:spPr>
          <a:xfrm flipH="1">
            <a:off x="4315078" y="433439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e seta reta 34"/>
          <p:cNvCxnSpPr/>
          <p:nvPr/>
        </p:nvCxnSpPr>
        <p:spPr>
          <a:xfrm flipH="1">
            <a:off x="2545992" y="4334394"/>
            <a:ext cx="262480" cy="1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aixaDeTexto 42"/>
          <p:cNvSpPr txBox="1"/>
          <p:nvPr/>
        </p:nvSpPr>
        <p:spPr>
          <a:xfrm>
            <a:off x="4597554" y="4180506"/>
            <a:ext cx="17827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cruzamento</a:t>
            </a:r>
          </a:p>
        </p:txBody>
      </p:sp>
      <p:sp>
        <p:nvSpPr>
          <p:cNvPr id="46" name="CaixaDeTexto 45"/>
          <p:cNvSpPr txBox="1"/>
          <p:nvPr/>
        </p:nvSpPr>
        <p:spPr>
          <a:xfrm>
            <a:off x="2829766" y="4180506"/>
            <a:ext cx="14294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avanço</a:t>
            </a:r>
          </a:p>
        </p:txBody>
      </p:sp>
      <p:graphicFrame>
        <p:nvGraphicFramePr>
          <p:cNvPr id="53" name="Tabela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7517422"/>
              </p:ext>
            </p:extLst>
          </p:nvPr>
        </p:nvGraphicFramePr>
        <p:xfrm>
          <a:off x="3158661" y="1273066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f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e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0" name="CaixaDeTexto 49"/>
          <p:cNvSpPr txBox="1"/>
          <p:nvPr/>
        </p:nvSpPr>
        <p:spPr>
          <a:xfrm>
            <a:off x="6665906" y="3766580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51" name="Conector reto 50"/>
          <p:cNvCxnSpPr/>
          <p:nvPr/>
        </p:nvCxnSpPr>
        <p:spPr>
          <a:xfrm>
            <a:off x="6349033" y="1369930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Elipse 51"/>
          <p:cNvSpPr/>
          <p:nvPr/>
        </p:nvSpPr>
        <p:spPr>
          <a:xfrm>
            <a:off x="7128893" y="162924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914804" y="2617084"/>
            <a:ext cx="20649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BP(e)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</a:t>
            </a:r>
            <a:r>
              <a:rPr lang="pt-BR" sz="1600" b="1" dirty="0">
                <a:solidFill>
                  <a:srgbClr val="00B0F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b }</a:t>
            </a:r>
            <a:endParaRPr lang="pt-BR" sz="1600" dirty="0"/>
          </a:p>
        </p:txBody>
      </p:sp>
      <p:cxnSp>
        <p:nvCxnSpPr>
          <p:cNvPr id="49" name="Conector de seta reta 48"/>
          <p:cNvCxnSpPr>
            <a:stCxn id="56" idx="0"/>
          </p:cNvCxnSpPr>
          <p:nvPr/>
        </p:nvCxnSpPr>
        <p:spPr>
          <a:xfrm flipH="1" flipV="1">
            <a:off x="7243942" y="1854214"/>
            <a:ext cx="1" cy="371130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/>
          <p:cNvSpPr/>
          <p:nvPr/>
        </p:nvSpPr>
        <p:spPr>
          <a:xfrm>
            <a:off x="7128894" y="222534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58" name="CaixaDeTexto 57"/>
          <p:cNvSpPr txBox="1"/>
          <p:nvPr/>
        </p:nvSpPr>
        <p:spPr>
          <a:xfrm>
            <a:off x="914804" y="2919967"/>
            <a:ext cx="19059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BP(f) 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(f)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57" name="Conector de seta reta 56"/>
          <p:cNvCxnSpPr>
            <a:stCxn id="59" idx="0"/>
          </p:cNvCxnSpPr>
          <p:nvPr/>
        </p:nvCxnSpPr>
        <p:spPr>
          <a:xfrm flipV="1">
            <a:off x="7243943" y="2450309"/>
            <a:ext cx="0" cy="370870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Elipse 58"/>
          <p:cNvSpPr/>
          <p:nvPr/>
        </p:nvSpPr>
        <p:spPr>
          <a:xfrm>
            <a:off x="7128894" y="282117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62" name="CaixaDeTexto 61"/>
          <p:cNvSpPr txBox="1"/>
          <p:nvPr/>
        </p:nvSpPr>
        <p:spPr>
          <a:xfrm>
            <a:off x="914804" y="3222850"/>
            <a:ext cx="19111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BP(b)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= { </a:t>
            </a:r>
            <a:r>
              <a:rPr lang="pt-BR" sz="1600" b="1" dirty="0">
                <a:solidFill>
                  <a:srgbClr val="00B0F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sp>
        <p:nvSpPr>
          <p:cNvPr id="60" name="Elipse 59"/>
          <p:cNvSpPr/>
          <p:nvPr/>
        </p:nvSpPr>
        <p:spPr>
          <a:xfrm>
            <a:off x="7128892" y="343661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61" name="Conector de seta reta 60"/>
          <p:cNvCxnSpPr>
            <a:stCxn id="60" idx="0"/>
          </p:cNvCxnSpPr>
          <p:nvPr/>
        </p:nvCxnSpPr>
        <p:spPr>
          <a:xfrm flipV="1">
            <a:off x="7243941" y="3046145"/>
            <a:ext cx="2" cy="390473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aixaDeTexto 63"/>
          <p:cNvSpPr txBox="1"/>
          <p:nvPr/>
        </p:nvSpPr>
        <p:spPr>
          <a:xfrm>
            <a:off x="3205386" y="2612377"/>
            <a:ext cx="18662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BP(d)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</a:t>
            </a:r>
            <a:r>
              <a:rPr lang="pt-BR" sz="1600" b="1" dirty="0">
                <a:solidFill>
                  <a:srgbClr val="FF000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63" name="Conector angulado 139"/>
          <p:cNvCxnSpPr/>
          <p:nvPr/>
        </p:nvCxnSpPr>
        <p:spPr>
          <a:xfrm rot="10800000" flipH="1">
            <a:off x="7128892" y="2337829"/>
            <a:ext cx="2" cy="1211273"/>
          </a:xfrm>
          <a:prstGeom prst="curvedConnector3">
            <a:avLst>
              <a:gd name="adj1" fmla="val -11430000000"/>
            </a:avLst>
          </a:prstGeom>
          <a:ln w="19050">
            <a:solidFill>
              <a:srgbClr val="FF000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796928048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Exemplo</a:t>
            </a:r>
          </a:p>
        </p:txBody>
      </p: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9" name="Elipse 8"/>
          <p:cNvSpPr/>
          <p:nvPr/>
        </p:nvSpPr>
        <p:spPr>
          <a:xfrm>
            <a:off x="2669035" y="1816410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13" name="Conector de seta reta 12"/>
          <p:cNvCxnSpPr>
            <a:stCxn id="6" idx="5"/>
            <a:endCxn id="8" idx="1"/>
          </p:cNvCxnSpPr>
          <p:nvPr/>
        </p:nvCxnSpPr>
        <p:spPr>
          <a:xfrm>
            <a:off x="1350736" y="1645635"/>
            <a:ext cx="768523" cy="57810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459840" y="3673888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3" name="Conector de seta reta 32"/>
          <p:cNvCxnSpPr/>
          <p:nvPr/>
        </p:nvCxnSpPr>
        <p:spPr>
          <a:xfrm flipH="1">
            <a:off x="420639" y="4050487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>
            <a:spLocks noChangeAspect="1"/>
          </p:cNvSpPr>
          <p:nvPr/>
        </p:nvSpPr>
        <p:spPr>
          <a:xfrm>
            <a:off x="2587201" y="3673887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6" name="Conector de seta reta 35"/>
          <p:cNvCxnSpPr/>
          <p:nvPr/>
        </p:nvCxnSpPr>
        <p:spPr>
          <a:xfrm flipH="1">
            <a:off x="4307022" y="4050487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de seta reta 36"/>
          <p:cNvCxnSpPr/>
          <p:nvPr/>
        </p:nvCxnSpPr>
        <p:spPr>
          <a:xfrm flipH="1">
            <a:off x="2537936" y="4050487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>
            <a:spLocks noChangeAspect="1"/>
          </p:cNvSpPr>
          <p:nvPr/>
        </p:nvSpPr>
        <p:spPr>
          <a:xfrm>
            <a:off x="4346223" y="3673887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698311" y="3612692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698311" y="3896599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2821710" y="3612692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4589498" y="3612692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589498" y="3896599"/>
            <a:ext cx="1471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retorno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2821710" y="3896599"/>
            <a:ext cx="139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árvore</a:t>
            </a:r>
          </a:p>
        </p:txBody>
      </p: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de seta reta 103"/>
          <p:cNvCxnSpPr>
            <a:stCxn id="7" idx="6"/>
            <a:endCxn id="9" idx="1"/>
          </p:cNvCxnSpPr>
          <p:nvPr/>
        </p:nvCxnSpPr>
        <p:spPr>
          <a:xfrm>
            <a:off x="2309608" y="1561104"/>
            <a:ext cx="393124" cy="288251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106"/>
          <p:cNvCxnSpPr>
            <a:stCxn id="8" idx="6"/>
            <a:endCxn id="9" idx="3"/>
          </p:cNvCxnSpPr>
          <p:nvPr/>
        </p:nvCxnSpPr>
        <p:spPr>
          <a:xfrm flipV="1">
            <a:off x="2315659" y="2008430"/>
            <a:ext cx="387073" cy="29484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/>
          <p:cNvCxnSpPr/>
          <p:nvPr/>
        </p:nvCxnSpPr>
        <p:spPr>
          <a:xfrm flipH="1">
            <a:off x="4315078" y="433439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e seta reta 34"/>
          <p:cNvCxnSpPr/>
          <p:nvPr/>
        </p:nvCxnSpPr>
        <p:spPr>
          <a:xfrm flipH="1">
            <a:off x="2545992" y="4334394"/>
            <a:ext cx="262480" cy="1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aixaDeTexto 42"/>
          <p:cNvSpPr txBox="1"/>
          <p:nvPr/>
        </p:nvSpPr>
        <p:spPr>
          <a:xfrm>
            <a:off x="4597554" y="4180506"/>
            <a:ext cx="17827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cruzamento</a:t>
            </a:r>
          </a:p>
        </p:txBody>
      </p:sp>
      <p:sp>
        <p:nvSpPr>
          <p:cNvPr id="46" name="CaixaDeTexto 45"/>
          <p:cNvSpPr txBox="1"/>
          <p:nvPr/>
        </p:nvSpPr>
        <p:spPr>
          <a:xfrm>
            <a:off x="2829766" y="4180506"/>
            <a:ext cx="14294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avanço</a:t>
            </a:r>
          </a:p>
        </p:txBody>
      </p:sp>
      <p:graphicFrame>
        <p:nvGraphicFramePr>
          <p:cNvPr id="53" name="Tabela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8965269"/>
              </p:ext>
            </p:extLst>
          </p:nvPr>
        </p:nvGraphicFramePr>
        <p:xfrm>
          <a:off x="3158661" y="1273066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f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e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0" name="CaixaDeTexto 49"/>
          <p:cNvSpPr txBox="1"/>
          <p:nvPr/>
        </p:nvSpPr>
        <p:spPr>
          <a:xfrm>
            <a:off x="6665906" y="3766580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51" name="Conector reto 50"/>
          <p:cNvCxnSpPr/>
          <p:nvPr/>
        </p:nvCxnSpPr>
        <p:spPr>
          <a:xfrm>
            <a:off x="6349033" y="1369930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Elipse 51"/>
          <p:cNvSpPr/>
          <p:nvPr/>
        </p:nvSpPr>
        <p:spPr>
          <a:xfrm>
            <a:off x="7128893" y="162924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914804" y="2617084"/>
            <a:ext cx="20649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BP(e)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</a:t>
            </a:r>
            <a:r>
              <a:rPr lang="pt-BR" sz="1600" b="1" dirty="0">
                <a:solidFill>
                  <a:srgbClr val="00B0F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b }</a:t>
            </a:r>
            <a:endParaRPr lang="pt-BR" sz="1600" dirty="0"/>
          </a:p>
        </p:txBody>
      </p:sp>
      <p:cxnSp>
        <p:nvCxnSpPr>
          <p:cNvPr id="49" name="Conector de seta reta 48"/>
          <p:cNvCxnSpPr>
            <a:stCxn id="56" idx="0"/>
          </p:cNvCxnSpPr>
          <p:nvPr/>
        </p:nvCxnSpPr>
        <p:spPr>
          <a:xfrm flipH="1" flipV="1">
            <a:off x="7243942" y="1854214"/>
            <a:ext cx="1" cy="371130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/>
          <p:cNvSpPr/>
          <p:nvPr/>
        </p:nvSpPr>
        <p:spPr>
          <a:xfrm>
            <a:off x="7128894" y="222534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58" name="CaixaDeTexto 57"/>
          <p:cNvSpPr txBox="1"/>
          <p:nvPr/>
        </p:nvSpPr>
        <p:spPr>
          <a:xfrm>
            <a:off x="914804" y="2919967"/>
            <a:ext cx="19059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BP(f) 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(f)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57" name="Conector de seta reta 56"/>
          <p:cNvCxnSpPr>
            <a:stCxn id="59" idx="0"/>
          </p:cNvCxnSpPr>
          <p:nvPr/>
        </p:nvCxnSpPr>
        <p:spPr>
          <a:xfrm flipV="1">
            <a:off x="7243943" y="2450309"/>
            <a:ext cx="0" cy="370870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Elipse 58"/>
          <p:cNvSpPr/>
          <p:nvPr/>
        </p:nvSpPr>
        <p:spPr>
          <a:xfrm>
            <a:off x="7128894" y="282117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62" name="CaixaDeTexto 61"/>
          <p:cNvSpPr txBox="1"/>
          <p:nvPr/>
        </p:nvSpPr>
        <p:spPr>
          <a:xfrm>
            <a:off x="914804" y="3222850"/>
            <a:ext cx="19111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BP(b)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= { </a:t>
            </a:r>
            <a:r>
              <a:rPr lang="pt-BR" sz="1600" b="1" dirty="0">
                <a:solidFill>
                  <a:srgbClr val="00B0F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sp>
        <p:nvSpPr>
          <p:cNvPr id="60" name="Elipse 59"/>
          <p:cNvSpPr/>
          <p:nvPr/>
        </p:nvSpPr>
        <p:spPr>
          <a:xfrm>
            <a:off x="7128892" y="343661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61" name="Conector de seta reta 60"/>
          <p:cNvCxnSpPr>
            <a:stCxn id="60" idx="0"/>
          </p:cNvCxnSpPr>
          <p:nvPr/>
        </p:nvCxnSpPr>
        <p:spPr>
          <a:xfrm flipV="1">
            <a:off x="7243941" y="3046145"/>
            <a:ext cx="2" cy="390473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aixaDeTexto 63"/>
          <p:cNvSpPr txBox="1"/>
          <p:nvPr/>
        </p:nvSpPr>
        <p:spPr>
          <a:xfrm>
            <a:off x="3205386" y="2612377"/>
            <a:ext cx="18662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BP(d)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</a:t>
            </a:r>
            <a:r>
              <a:rPr lang="pt-BR" sz="1600" b="1" dirty="0">
                <a:solidFill>
                  <a:srgbClr val="FF000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63" name="Conector angulado 139"/>
          <p:cNvCxnSpPr/>
          <p:nvPr/>
        </p:nvCxnSpPr>
        <p:spPr>
          <a:xfrm rot="10800000" flipH="1">
            <a:off x="7128892" y="2337829"/>
            <a:ext cx="2" cy="1211273"/>
          </a:xfrm>
          <a:prstGeom prst="curvedConnector3">
            <a:avLst>
              <a:gd name="adj1" fmla="val -11430000000"/>
            </a:avLst>
          </a:prstGeom>
          <a:ln w="19050">
            <a:solidFill>
              <a:srgbClr val="FF000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de seta reta 64"/>
          <p:cNvCxnSpPr/>
          <p:nvPr/>
        </p:nvCxnSpPr>
        <p:spPr>
          <a:xfrm flipH="1">
            <a:off x="7412617" y="2780516"/>
            <a:ext cx="231759" cy="1016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CaixaDeTexto 65"/>
          <p:cNvSpPr txBox="1"/>
          <p:nvPr/>
        </p:nvSpPr>
        <p:spPr>
          <a:xfrm>
            <a:off x="7570280" y="2492266"/>
            <a:ext cx="129907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dirty="0"/>
              <a:t>Retrocede para continuar a busca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3737159573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Exemplo</a:t>
            </a:r>
          </a:p>
        </p:txBody>
      </p: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9" name="Elipse 8"/>
          <p:cNvSpPr/>
          <p:nvPr/>
        </p:nvSpPr>
        <p:spPr>
          <a:xfrm>
            <a:off x="2669035" y="1816410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13" name="Conector de seta reta 12"/>
          <p:cNvCxnSpPr>
            <a:stCxn id="6" idx="5"/>
            <a:endCxn id="8" idx="1"/>
          </p:cNvCxnSpPr>
          <p:nvPr/>
        </p:nvCxnSpPr>
        <p:spPr>
          <a:xfrm>
            <a:off x="1350736" y="1645635"/>
            <a:ext cx="768523" cy="57810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459840" y="3673888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3" name="Conector de seta reta 32"/>
          <p:cNvCxnSpPr/>
          <p:nvPr/>
        </p:nvCxnSpPr>
        <p:spPr>
          <a:xfrm flipH="1">
            <a:off x="420639" y="4050487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>
            <a:spLocks noChangeAspect="1"/>
          </p:cNvSpPr>
          <p:nvPr/>
        </p:nvSpPr>
        <p:spPr>
          <a:xfrm>
            <a:off x="2587201" y="3673887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6" name="Conector de seta reta 35"/>
          <p:cNvCxnSpPr/>
          <p:nvPr/>
        </p:nvCxnSpPr>
        <p:spPr>
          <a:xfrm flipH="1">
            <a:off x="4307022" y="4050487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de seta reta 36"/>
          <p:cNvCxnSpPr/>
          <p:nvPr/>
        </p:nvCxnSpPr>
        <p:spPr>
          <a:xfrm flipH="1">
            <a:off x="2537936" y="4050487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>
            <a:spLocks noChangeAspect="1"/>
          </p:cNvSpPr>
          <p:nvPr/>
        </p:nvSpPr>
        <p:spPr>
          <a:xfrm>
            <a:off x="4346223" y="3673887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698311" y="3612692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698311" y="3896599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2821710" y="3612692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4589498" y="3612692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589498" y="3896599"/>
            <a:ext cx="1471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retorno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2821710" y="3896599"/>
            <a:ext cx="139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árvore</a:t>
            </a:r>
          </a:p>
        </p:txBody>
      </p: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de seta reta 103"/>
          <p:cNvCxnSpPr>
            <a:stCxn id="7" idx="6"/>
            <a:endCxn id="9" idx="1"/>
          </p:cNvCxnSpPr>
          <p:nvPr/>
        </p:nvCxnSpPr>
        <p:spPr>
          <a:xfrm>
            <a:off x="2309608" y="1561104"/>
            <a:ext cx="393124" cy="288251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106"/>
          <p:cNvCxnSpPr>
            <a:stCxn id="8" idx="6"/>
            <a:endCxn id="9" idx="3"/>
          </p:cNvCxnSpPr>
          <p:nvPr/>
        </p:nvCxnSpPr>
        <p:spPr>
          <a:xfrm flipV="1">
            <a:off x="2315659" y="2008430"/>
            <a:ext cx="387073" cy="29484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/>
          <p:cNvCxnSpPr/>
          <p:nvPr/>
        </p:nvCxnSpPr>
        <p:spPr>
          <a:xfrm flipH="1">
            <a:off x="4315078" y="433439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e seta reta 34"/>
          <p:cNvCxnSpPr/>
          <p:nvPr/>
        </p:nvCxnSpPr>
        <p:spPr>
          <a:xfrm flipH="1">
            <a:off x="2545992" y="4334394"/>
            <a:ext cx="262480" cy="1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aixaDeTexto 42"/>
          <p:cNvSpPr txBox="1"/>
          <p:nvPr/>
        </p:nvSpPr>
        <p:spPr>
          <a:xfrm>
            <a:off x="4597554" y="4180506"/>
            <a:ext cx="17827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cruzamento</a:t>
            </a:r>
          </a:p>
        </p:txBody>
      </p:sp>
      <p:sp>
        <p:nvSpPr>
          <p:cNvPr id="46" name="CaixaDeTexto 45"/>
          <p:cNvSpPr txBox="1"/>
          <p:nvPr/>
        </p:nvSpPr>
        <p:spPr>
          <a:xfrm>
            <a:off x="2829766" y="4180506"/>
            <a:ext cx="14294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avanço</a:t>
            </a:r>
          </a:p>
        </p:txBody>
      </p:sp>
      <p:graphicFrame>
        <p:nvGraphicFramePr>
          <p:cNvPr id="53" name="Tabela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8602003"/>
              </p:ext>
            </p:extLst>
          </p:nvPr>
        </p:nvGraphicFramePr>
        <p:xfrm>
          <a:off x="3158661" y="1273066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f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e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0" name="CaixaDeTexto 49"/>
          <p:cNvSpPr txBox="1"/>
          <p:nvPr/>
        </p:nvSpPr>
        <p:spPr>
          <a:xfrm>
            <a:off x="6665906" y="3766580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51" name="Conector reto 50"/>
          <p:cNvCxnSpPr/>
          <p:nvPr/>
        </p:nvCxnSpPr>
        <p:spPr>
          <a:xfrm>
            <a:off x="6349033" y="1369930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Elipse 51"/>
          <p:cNvSpPr/>
          <p:nvPr/>
        </p:nvSpPr>
        <p:spPr>
          <a:xfrm>
            <a:off x="7128893" y="162924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914804" y="2617084"/>
            <a:ext cx="20649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BP(e)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</a:t>
            </a:r>
            <a:r>
              <a:rPr lang="pt-BR" sz="1600" b="1" dirty="0">
                <a:solidFill>
                  <a:srgbClr val="00B0F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b }</a:t>
            </a:r>
            <a:endParaRPr lang="pt-BR" sz="1600" dirty="0"/>
          </a:p>
        </p:txBody>
      </p:sp>
      <p:cxnSp>
        <p:nvCxnSpPr>
          <p:cNvPr id="49" name="Conector de seta reta 48"/>
          <p:cNvCxnSpPr>
            <a:stCxn id="56" idx="0"/>
          </p:cNvCxnSpPr>
          <p:nvPr/>
        </p:nvCxnSpPr>
        <p:spPr>
          <a:xfrm flipH="1" flipV="1">
            <a:off x="7243942" y="1854214"/>
            <a:ext cx="1" cy="371130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/>
          <p:cNvSpPr/>
          <p:nvPr/>
        </p:nvSpPr>
        <p:spPr>
          <a:xfrm>
            <a:off x="7128894" y="222534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58" name="CaixaDeTexto 57"/>
          <p:cNvSpPr txBox="1"/>
          <p:nvPr/>
        </p:nvSpPr>
        <p:spPr>
          <a:xfrm>
            <a:off x="914804" y="2919967"/>
            <a:ext cx="19059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BP(f) 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(f)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57" name="Conector de seta reta 56"/>
          <p:cNvCxnSpPr>
            <a:stCxn id="59" idx="0"/>
          </p:cNvCxnSpPr>
          <p:nvPr/>
        </p:nvCxnSpPr>
        <p:spPr>
          <a:xfrm flipV="1">
            <a:off x="7243943" y="2450309"/>
            <a:ext cx="0" cy="370870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Elipse 58"/>
          <p:cNvSpPr/>
          <p:nvPr/>
        </p:nvSpPr>
        <p:spPr>
          <a:xfrm>
            <a:off x="7128894" y="282117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62" name="CaixaDeTexto 61"/>
          <p:cNvSpPr txBox="1"/>
          <p:nvPr/>
        </p:nvSpPr>
        <p:spPr>
          <a:xfrm>
            <a:off x="914804" y="3222850"/>
            <a:ext cx="19111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BP(b)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= { </a:t>
            </a:r>
            <a:r>
              <a:rPr lang="pt-BR" sz="1600" b="1" dirty="0">
                <a:solidFill>
                  <a:srgbClr val="00B0F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sp>
        <p:nvSpPr>
          <p:cNvPr id="60" name="Elipse 59"/>
          <p:cNvSpPr/>
          <p:nvPr/>
        </p:nvSpPr>
        <p:spPr>
          <a:xfrm>
            <a:off x="7128892" y="343661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61" name="Conector de seta reta 60"/>
          <p:cNvCxnSpPr>
            <a:stCxn id="60" idx="0"/>
          </p:cNvCxnSpPr>
          <p:nvPr/>
        </p:nvCxnSpPr>
        <p:spPr>
          <a:xfrm flipV="1">
            <a:off x="7243941" y="3046145"/>
            <a:ext cx="2" cy="390473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aixaDeTexto 63"/>
          <p:cNvSpPr txBox="1"/>
          <p:nvPr/>
        </p:nvSpPr>
        <p:spPr>
          <a:xfrm>
            <a:off x="3205386" y="2612377"/>
            <a:ext cx="18662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BP(d)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</a:t>
            </a:r>
            <a:r>
              <a:rPr lang="pt-BR" sz="1600" b="1" dirty="0">
                <a:solidFill>
                  <a:srgbClr val="FF000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63" name="Conector angulado 139"/>
          <p:cNvCxnSpPr/>
          <p:nvPr/>
        </p:nvCxnSpPr>
        <p:spPr>
          <a:xfrm rot="10800000" flipH="1">
            <a:off x="7128892" y="2337829"/>
            <a:ext cx="2" cy="1211273"/>
          </a:xfrm>
          <a:prstGeom prst="curvedConnector3">
            <a:avLst>
              <a:gd name="adj1" fmla="val -11430000000"/>
            </a:avLst>
          </a:prstGeom>
          <a:ln w="19050">
            <a:solidFill>
              <a:srgbClr val="FF000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de seta reta 64"/>
          <p:cNvCxnSpPr/>
          <p:nvPr/>
        </p:nvCxnSpPr>
        <p:spPr>
          <a:xfrm flipH="1">
            <a:off x="7412617" y="2780516"/>
            <a:ext cx="231759" cy="1016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CaixaDeTexto 65"/>
          <p:cNvSpPr txBox="1"/>
          <p:nvPr/>
        </p:nvSpPr>
        <p:spPr>
          <a:xfrm>
            <a:off x="7570280" y="2492266"/>
            <a:ext cx="129907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dirty="0"/>
              <a:t>Retrocede para continuar a busca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774957652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Exemplo</a:t>
            </a:r>
          </a:p>
        </p:txBody>
      </p: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9" name="Elipse 8"/>
          <p:cNvSpPr/>
          <p:nvPr/>
        </p:nvSpPr>
        <p:spPr>
          <a:xfrm>
            <a:off x="2669035" y="1816410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13" name="Conector de seta reta 12"/>
          <p:cNvCxnSpPr>
            <a:stCxn id="6" idx="5"/>
            <a:endCxn id="8" idx="1"/>
          </p:cNvCxnSpPr>
          <p:nvPr/>
        </p:nvCxnSpPr>
        <p:spPr>
          <a:xfrm>
            <a:off x="1350736" y="1645635"/>
            <a:ext cx="768523" cy="57810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459840" y="3673888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3" name="Conector de seta reta 32"/>
          <p:cNvCxnSpPr/>
          <p:nvPr/>
        </p:nvCxnSpPr>
        <p:spPr>
          <a:xfrm flipH="1">
            <a:off x="420639" y="4050487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>
            <a:spLocks noChangeAspect="1"/>
          </p:cNvSpPr>
          <p:nvPr/>
        </p:nvSpPr>
        <p:spPr>
          <a:xfrm>
            <a:off x="2587201" y="3673887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6" name="Conector de seta reta 35"/>
          <p:cNvCxnSpPr/>
          <p:nvPr/>
        </p:nvCxnSpPr>
        <p:spPr>
          <a:xfrm flipH="1">
            <a:off x="4307022" y="4050487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de seta reta 36"/>
          <p:cNvCxnSpPr/>
          <p:nvPr/>
        </p:nvCxnSpPr>
        <p:spPr>
          <a:xfrm flipH="1">
            <a:off x="2537936" y="4050487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>
            <a:spLocks noChangeAspect="1"/>
          </p:cNvSpPr>
          <p:nvPr/>
        </p:nvSpPr>
        <p:spPr>
          <a:xfrm>
            <a:off x="4346223" y="3673887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698311" y="3612692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698311" y="3896599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2821710" y="3612692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4589498" y="3612692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589498" y="3896599"/>
            <a:ext cx="1471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retorno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2821710" y="3896599"/>
            <a:ext cx="139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árvore</a:t>
            </a:r>
          </a:p>
        </p:txBody>
      </p: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de seta reta 103"/>
          <p:cNvCxnSpPr>
            <a:stCxn id="7" idx="6"/>
            <a:endCxn id="9" idx="1"/>
          </p:cNvCxnSpPr>
          <p:nvPr/>
        </p:nvCxnSpPr>
        <p:spPr>
          <a:xfrm>
            <a:off x="2309608" y="1561104"/>
            <a:ext cx="393124" cy="288251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106"/>
          <p:cNvCxnSpPr>
            <a:stCxn id="8" idx="6"/>
            <a:endCxn id="9" idx="3"/>
          </p:cNvCxnSpPr>
          <p:nvPr/>
        </p:nvCxnSpPr>
        <p:spPr>
          <a:xfrm flipV="1">
            <a:off x="2315659" y="2008430"/>
            <a:ext cx="387073" cy="29484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/>
          <p:cNvCxnSpPr/>
          <p:nvPr/>
        </p:nvCxnSpPr>
        <p:spPr>
          <a:xfrm flipH="1">
            <a:off x="4315078" y="433439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e seta reta 34"/>
          <p:cNvCxnSpPr/>
          <p:nvPr/>
        </p:nvCxnSpPr>
        <p:spPr>
          <a:xfrm flipH="1">
            <a:off x="2545992" y="4334394"/>
            <a:ext cx="262480" cy="1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aixaDeTexto 42"/>
          <p:cNvSpPr txBox="1"/>
          <p:nvPr/>
        </p:nvSpPr>
        <p:spPr>
          <a:xfrm>
            <a:off x="4597554" y="4180506"/>
            <a:ext cx="17827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cruzamento</a:t>
            </a:r>
          </a:p>
        </p:txBody>
      </p:sp>
      <p:sp>
        <p:nvSpPr>
          <p:cNvPr id="46" name="CaixaDeTexto 45"/>
          <p:cNvSpPr txBox="1"/>
          <p:nvPr/>
        </p:nvSpPr>
        <p:spPr>
          <a:xfrm>
            <a:off x="2829766" y="4180506"/>
            <a:ext cx="14294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avanço</a:t>
            </a:r>
          </a:p>
        </p:txBody>
      </p:sp>
      <p:graphicFrame>
        <p:nvGraphicFramePr>
          <p:cNvPr id="53" name="Tabela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5672167"/>
              </p:ext>
            </p:extLst>
          </p:nvPr>
        </p:nvGraphicFramePr>
        <p:xfrm>
          <a:off x="3158661" y="1273066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f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e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0" name="CaixaDeTexto 49"/>
          <p:cNvSpPr txBox="1"/>
          <p:nvPr/>
        </p:nvSpPr>
        <p:spPr>
          <a:xfrm>
            <a:off x="6665906" y="3766580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51" name="Conector reto 50"/>
          <p:cNvCxnSpPr/>
          <p:nvPr/>
        </p:nvCxnSpPr>
        <p:spPr>
          <a:xfrm>
            <a:off x="6349033" y="1369930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Elipse 51"/>
          <p:cNvSpPr/>
          <p:nvPr/>
        </p:nvSpPr>
        <p:spPr>
          <a:xfrm>
            <a:off x="7128893" y="162924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914804" y="2617084"/>
            <a:ext cx="20649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BP(e)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</a:t>
            </a:r>
            <a:r>
              <a:rPr lang="pt-BR" sz="1600" b="1" dirty="0">
                <a:solidFill>
                  <a:srgbClr val="00B0F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b }</a:t>
            </a:r>
            <a:endParaRPr lang="pt-BR" sz="1600" dirty="0"/>
          </a:p>
        </p:txBody>
      </p:sp>
      <p:cxnSp>
        <p:nvCxnSpPr>
          <p:cNvPr id="49" name="Conector de seta reta 48"/>
          <p:cNvCxnSpPr>
            <a:stCxn id="56" idx="0"/>
          </p:cNvCxnSpPr>
          <p:nvPr/>
        </p:nvCxnSpPr>
        <p:spPr>
          <a:xfrm flipH="1" flipV="1">
            <a:off x="7243942" y="1854214"/>
            <a:ext cx="1" cy="371130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/>
          <p:cNvSpPr/>
          <p:nvPr/>
        </p:nvSpPr>
        <p:spPr>
          <a:xfrm>
            <a:off x="7128894" y="222534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58" name="CaixaDeTexto 57"/>
          <p:cNvSpPr txBox="1"/>
          <p:nvPr/>
        </p:nvSpPr>
        <p:spPr>
          <a:xfrm>
            <a:off x="914804" y="2919967"/>
            <a:ext cx="19059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BP(f) 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(f)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57" name="Conector de seta reta 56"/>
          <p:cNvCxnSpPr>
            <a:stCxn id="59" idx="0"/>
          </p:cNvCxnSpPr>
          <p:nvPr/>
        </p:nvCxnSpPr>
        <p:spPr>
          <a:xfrm flipV="1">
            <a:off x="7243943" y="2450309"/>
            <a:ext cx="0" cy="370870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Elipse 58"/>
          <p:cNvSpPr/>
          <p:nvPr/>
        </p:nvSpPr>
        <p:spPr>
          <a:xfrm>
            <a:off x="7128894" y="282117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62" name="CaixaDeTexto 61"/>
          <p:cNvSpPr txBox="1"/>
          <p:nvPr/>
        </p:nvSpPr>
        <p:spPr>
          <a:xfrm>
            <a:off x="914804" y="3222850"/>
            <a:ext cx="19111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BP(b)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= { </a:t>
            </a:r>
            <a:r>
              <a:rPr lang="pt-BR" sz="1600" b="1" dirty="0">
                <a:solidFill>
                  <a:srgbClr val="00B0F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sp>
        <p:nvSpPr>
          <p:cNvPr id="60" name="Elipse 59"/>
          <p:cNvSpPr/>
          <p:nvPr/>
        </p:nvSpPr>
        <p:spPr>
          <a:xfrm>
            <a:off x="7128892" y="343661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61" name="Conector de seta reta 60"/>
          <p:cNvCxnSpPr>
            <a:stCxn id="60" idx="0"/>
          </p:cNvCxnSpPr>
          <p:nvPr/>
        </p:nvCxnSpPr>
        <p:spPr>
          <a:xfrm flipV="1">
            <a:off x="7243941" y="3046145"/>
            <a:ext cx="2" cy="390473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aixaDeTexto 63"/>
          <p:cNvSpPr txBox="1"/>
          <p:nvPr/>
        </p:nvSpPr>
        <p:spPr>
          <a:xfrm>
            <a:off x="3205386" y="2612377"/>
            <a:ext cx="18662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BP(d)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</a:t>
            </a:r>
            <a:r>
              <a:rPr lang="pt-BR" sz="1600" b="1" dirty="0">
                <a:solidFill>
                  <a:srgbClr val="FF000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63" name="Conector angulado 139"/>
          <p:cNvCxnSpPr/>
          <p:nvPr/>
        </p:nvCxnSpPr>
        <p:spPr>
          <a:xfrm rot="10800000" flipH="1">
            <a:off x="7128892" y="2337829"/>
            <a:ext cx="2" cy="1211273"/>
          </a:xfrm>
          <a:prstGeom prst="curvedConnector3">
            <a:avLst>
              <a:gd name="adj1" fmla="val -11430000000"/>
            </a:avLst>
          </a:prstGeom>
          <a:ln w="19050">
            <a:solidFill>
              <a:srgbClr val="FF000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ector de seta reta 67"/>
          <p:cNvCxnSpPr/>
          <p:nvPr/>
        </p:nvCxnSpPr>
        <p:spPr>
          <a:xfrm flipH="1">
            <a:off x="7408626" y="2212894"/>
            <a:ext cx="231759" cy="1016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CaixaDeTexto 68"/>
          <p:cNvSpPr txBox="1"/>
          <p:nvPr/>
        </p:nvSpPr>
        <p:spPr>
          <a:xfrm>
            <a:off x="7566289" y="1924644"/>
            <a:ext cx="129907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dirty="0"/>
              <a:t>Retrocede para continuar a busca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608151660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Exemplo</a:t>
            </a:r>
          </a:p>
        </p:txBody>
      </p: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9" name="Elipse 8"/>
          <p:cNvSpPr/>
          <p:nvPr/>
        </p:nvSpPr>
        <p:spPr>
          <a:xfrm>
            <a:off x="2669035" y="1816410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13" name="Conector de seta reta 12"/>
          <p:cNvCxnSpPr>
            <a:stCxn id="6" idx="5"/>
            <a:endCxn id="8" idx="1"/>
          </p:cNvCxnSpPr>
          <p:nvPr/>
        </p:nvCxnSpPr>
        <p:spPr>
          <a:xfrm>
            <a:off x="1350736" y="1645635"/>
            <a:ext cx="768523" cy="57810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459840" y="3673888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3" name="Conector de seta reta 32"/>
          <p:cNvCxnSpPr/>
          <p:nvPr/>
        </p:nvCxnSpPr>
        <p:spPr>
          <a:xfrm flipH="1">
            <a:off x="420639" y="4050487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>
            <a:spLocks noChangeAspect="1"/>
          </p:cNvSpPr>
          <p:nvPr/>
        </p:nvSpPr>
        <p:spPr>
          <a:xfrm>
            <a:off x="2587201" y="3673887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6" name="Conector de seta reta 35"/>
          <p:cNvCxnSpPr/>
          <p:nvPr/>
        </p:nvCxnSpPr>
        <p:spPr>
          <a:xfrm flipH="1">
            <a:off x="4307022" y="4050487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de seta reta 36"/>
          <p:cNvCxnSpPr/>
          <p:nvPr/>
        </p:nvCxnSpPr>
        <p:spPr>
          <a:xfrm flipH="1">
            <a:off x="2537936" y="4050487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>
            <a:spLocks noChangeAspect="1"/>
          </p:cNvSpPr>
          <p:nvPr/>
        </p:nvSpPr>
        <p:spPr>
          <a:xfrm>
            <a:off x="4346223" y="3673887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698311" y="3612692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698311" y="3896599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2821710" y="3612692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4589498" y="3612692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589498" y="3896599"/>
            <a:ext cx="1471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retorno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2821710" y="3896599"/>
            <a:ext cx="139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árvore</a:t>
            </a:r>
          </a:p>
        </p:txBody>
      </p: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de seta reta 103"/>
          <p:cNvCxnSpPr>
            <a:stCxn id="7" idx="6"/>
            <a:endCxn id="9" idx="1"/>
          </p:cNvCxnSpPr>
          <p:nvPr/>
        </p:nvCxnSpPr>
        <p:spPr>
          <a:xfrm>
            <a:off x="2309608" y="1561104"/>
            <a:ext cx="393124" cy="288251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106"/>
          <p:cNvCxnSpPr>
            <a:stCxn id="8" idx="6"/>
            <a:endCxn id="9" idx="3"/>
          </p:cNvCxnSpPr>
          <p:nvPr/>
        </p:nvCxnSpPr>
        <p:spPr>
          <a:xfrm flipV="1">
            <a:off x="2315659" y="2008430"/>
            <a:ext cx="387073" cy="29484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/>
          <p:cNvCxnSpPr/>
          <p:nvPr/>
        </p:nvCxnSpPr>
        <p:spPr>
          <a:xfrm flipH="1">
            <a:off x="4315078" y="433439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e seta reta 34"/>
          <p:cNvCxnSpPr/>
          <p:nvPr/>
        </p:nvCxnSpPr>
        <p:spPr>
          <a:xfrm flipH="1">
            <a:off x="2545992" y="4334394"/>
            <a:ext cx="262480" cy="1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aixaDeTexto 42"/>
          <p:cNvSpPr txBox="1"/>
          <p:nvPr/>
        </p:nvSpPr>
        <p:spPr>
          <a:xfrm>
            <a:off x="4597554" y="4180506"/>
            <a:ext cx="17827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cruzamento</a:t>
            </a:r>
          </a:p>
        </p:txBody>
      </p:sp>
      <p:sp>
        <p:nvSpPr>
          <p:cNvPr id="46" name="CaixaDeTexto 45"/>
          <p:cNvSpPr txBox="1"/>
          <p:nvPr/>
        </p:nvSpPr>
        <p:spPr>
          <a:xfrm>
            <a:off x="2829766" y="4180506"/>
            <a:ext cx="14294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avanço</a:t>
            </a:r>
          </a:p>
        </p:txBody>
      </p:sp>
      <p:graphicFrame>
        <p:nvGraphicFramePr>
          <p:cNvPr id="53" name="Tabela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0116218"/>
              </p:ext>
            </p:extLst>
          </p:nvPr>
        </p:nvGraphicFramePr>
        <p:xfrm>
          <a:off x="3158661" y="1273066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f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e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0" name="CaixaDeTexto 49"/>
          <p:cNvSpPr txBox="1"/>
          <p:nvPr/>
        </p:nvSpPr>
        <p:spPr>
          <a:xfrm>
            <a:off x="6665906" y="3766580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51" name="Conector reto 50"/>
          <p:cNvCxnSpPr/>
          <p:nvPr/>
        </p:nvCxnSpPr>
        <p:spPr>
          <a:xfrm>
            <a:off x="6349033" y="1369930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Elipse 51"/>
          <p:cNvSpPr/>
          <p:nvPr/>
        </p:nvSpPr>
        <p:spPr>
          <a:xfrm>
            <a:off x="7128893" y="162924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914804" y="2617084"/>
            <a:ext cx="20649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BP(e)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</a:t>
            </a:r>
            <a:r>
              <a:rPr lang="pt-BR" sz="1600" b="1" dirty="0">
                <a:solidFill>
                  <a:srgbClr val="00B0F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b }</a:t>
            </a:r>
            <a:endParaRPr lang="pt-BR" sz="1600" dirty="0"/>
          </a:p>
        </p:txBody>
      </p:sp>
      <p:cxnSp>
        <p:nvCxnSpPr>
          <p:cNvPr id="49" name="Conector de seta reta 48"/>
          <p:cNvCxnSpPr>
            <a:stCxn id="56" idx="0"/>
          </p:cNvCxnSpPr>
          <p:nvPr/>
        </p:nvCxnSpPr>
        <p:spPr>
          <a:xfrm flipH="1" flipV="1">
            <a:off x="7243942" y="1854214"/>
            <a:ext cx="1" cy="371130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/>
          <p:cNvSpPr/>
          <p:nvPr/>
        </p:nvSpPr>
        <p:spPr>
          <a:xfrm>
            <a:off x="7128894" y="222534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58" name="CaixaDeTexto 57"/>
          <p:cNvSpPr txBox="1"/>
          <p:nvPr/>
        </p:nvSpPr>
        <p:spPr>
          <a:xfrm>
            <a:off x="914804" y="2919967"/>
            <a:ext cx="19059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BP(f) 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(f)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57" name="Conector de seta reta 56"/>
          <p:cNvCxnSpPr>
            <a:stCxn id="59" idx="0"/>
          </p:cNvCxnSpPr>
          <p:nvPr/>
        </p:nvCxnSpPr>
        <p:spPr>
          <a:xfrm flipV="1">
            <a:off x="7243943" y="2450309"/>
            <a:ext cx="0" cy="370870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Elipse 58"/>
          <p:cNvSpPr/>
          <p:nvPr/>
        </p:nvSpPr>
        <p:spPr>
          <a:xfrm>
            <a:off x="7128894" y="282117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62" name="CaixaDeTexto 61"/>
          <p:cNvSpPr txBox="1"/>
          <p:nvPr/>
        </p:nvSpPr>
        <p:spPr>
          <a:xfrm>
            <a:off x="914804" y="3222850"/>
            <a:ext cx="19111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BP(b)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= { </a:t>
            </a:r>
            <a:r>
              <a:rPr lang="pt-BR" sz="1600" b="1" dirty="0">
                <a:solidFill>
                  <a:srgbClr val="00B0F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sp>
        <p:nvSpPr>
          <p:cNvPr id="60" name="Elipse 59"/>
          <p:cNvSpPr/>
          <p:nvPr/>
        </p:nvSpPr>
        <p:spPr>
          <a:xfrm>
            <a:off x="7128892" y="343661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61" name="Conector de seta reta 60"/>
          <p:cNvCxnSpPr>
            <a:stCxn id="60" idx="0"/>
          </p:cNvCxnSpPr>
          <p:nvPr/>
        </p:nvCxnSpPr>
        <p:spPr>
          <a:xfrm flipV="1">
            <a:off x="7243941" y="3046145"/>
            <a:ext cx="2" cy="390473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aixaDeTexto 63"/>
          <p:cNvSpPr txBox="1"/>
          <p:nvPr/>
        </p:nvSpPr>
        <p:spPr>
          <a:xfrm>
            <a:off x="3205386" y="2612377"/>
            <a:ext cx="18662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BP(d)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</a:t>
            </a:r>
            <a:r>
              <a:rPr lang="pt-BR" sz="1600" b="1" dirty="0">
                <a:solidFill>
                  <a:srgbClr val="FF000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63" name="Conector angulado 139"/>
          <p:cNvCxnSpPr/>
          <p:nvPr/>
        </p:nvCxnSpPr>
        <p:spPr>
          <a:xfrm rot="10800000" flipH="1">
            <a:off x="7128892" y="2337829"/>
            <a:ext cx="2" cy="1211273"/>
          </a:xfrm>
          <a:prstGeom prst="curvedConnector3">
            <a:avLst>
              <a:gd name="adj1" fmla="val -11430000000"/>
            </a:avLst>
          </a:prstGeom>
          <a:ln w="19050">
            <a:solidFill>
              <a:srgbClr val="FF000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ector de seta reta 67"/>
          <p:cNvCxnSpPr/>
          <p:nvPr/>
        </p:nvCxnSpPr>
        <p:spPr>
          <a:xfrm flipH="1">
            <a:off x="7408626" y="2212894"/>
            <a:ext cx="231759" cy="1016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CaixaDeTexto 68"/>
          <p:cNvSpPr txBox="1"/>
          <p:nvPr/>
        </p:nvSpPr>
        <p:spPr>
          <a:xfrm>
            <a:off x="7566289" y="1924644"/>
            <a:ext cx="129907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dirty="0"/>
              <a:t>Retrocede para continuar a busca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43731993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Exemplo</a:t>
            </a:r>
          </a:p>
        </p:txBody>
      </p:sp>
      <p:cxnSp>
        <p:nvCxnSpPr>
          <p:cNvPr id="13" name="Conector de seta reta 12"/>
          <p:cNvCxnSpPr>
            <a:stCxn id="6" idx="5"/>
            <a:endCxn id="8" idx="1"/>
          </p:cNvCxnSpPr>
          <p:nvPr/>
        </p:nvCxnSpPr>
        <p:spPr>
          <a:xfrm>
            <a:off x="1350736" y="1645635"/>
            <a:ext cx="768523" cy="57810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459840" y="3673888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3" name="Conector de seta reta 32"/>
          <p:cNvCxnSpPr/>
          <p:nvPr/>
        </p:nvCxnSpPr>
        <p:spPr>
          <a:xfrm flipH="1">
            <a:off x="420639" y="4050487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>
            <a:spLocks noChangeAspect="1"/>
          </p:cNvSpPr>
          <p:nvPr/>
        </p:nvSpPr>
        <p:spPr>
          <a:xfrm>
            <a:off x="2587201" y="3673887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6" name="Conector de seta reta 35"/>
          <p:cNvCxnSpPr/>
          <p:nvPr/>
        </p:nvCxnSpPr>
        <p:spPr>
          <a:xfrm flipH="1">
            <a:off x="4307022" y="4050487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de seta reta 36"/>
          <p:cNvCxnSpPr/>
          <p:nvPr/>
        </p:nvCxnSpPr>
        <p:spPr>
          <a:xfrm flipH="1">
            <a:off x="2537936" y="4050487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>
            <a:spLocks noChangeAspect="1"/>
          </p:cNvSpPr>
          <p:nvPr/>
        </p:nvSpPr>
        <p:spPr>
          <a:xfrm>
            <a:off x="4346223" y="3673887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698311" y="3612692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698311" y="3896599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2821710" y="3612692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4589498" y="3612692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589498" y="3896599"/>
            <a:ext cx="1471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retorno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2821710" y="3896599"/>
            <a:ext cx="139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árvore</a:t>
            </a:r>
          </a:p>
        </p:txBody>
      </p: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de seta reta 103"/>
          <p:cNvCxnSpPr>
            <a:stCxn id="7" idx="6"/>
            <a:endCxn id="9" idx="1"/>
          </p:cNvCxnSpPr>
          <p:nvPr/>
        </p:nvCxnSpPr>
        <p:spPr>
          <a:xfrm>
            <a:off x="2309608" y="1561104"/>
            <a:ext cx="393124" cy="288251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106"/>
          <p:cNvCxnSpPr>
            <a:stCxn id="8" idx="6"/>
            <a:endCxn id="9" idx="3"/>
          </p:cNvCxnSpPr>
          <p:nvPr/>
        </p:nvCxnSpPr>
        <p:spPr>
          <a:xfrm flipV="1">
            <a:off x="2315659" y="2008430"/>
            <a:ext cx="387073" cy="29484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/>
          <p:cNvCxnSpPr/>
          <p:nvPr/>
        </p:nvCxnSpPr>
        <p:spPr>
          <a:xfrm flipH="1">
            <a:off x="4315078" y="433439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e seta reta 34"/>
          <p:cNvCxnSpPr/>
          <p:nvPr/>
        </p:nvCxnSpPr>
        <p:spPr>
          <a:xfrm flipH="1">
            <a:off x="2545992" y="4334394"/>
            <a:ext cx="262480" cy="1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aixaDeTexto 42"/>
          <p:cNvSpPr txBox="1"/>
          <p:nvPr/>
        </p:nvSpPr>
        <p:spPr>
          <a:xfrm>
            <a:off x="4597554" y="4180506"/>
            <a:ext cx="17827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cruzamento</a:t>
            </a:r>
          </a:p>
        </p:txBody>
      </p:sp>
      <p:sp>
        <p:nvSpPr>
          <p:cNvPr id="46" name="CaixaDeTexto 45"/>
          <p:cNvSpPr txBox="1"/>
          <p:nvPr/>
        </p:nvSpPr>
        <p:spPr>
          <a:xfrm>
            <a:off x="2829766" y="4180506"/>
            <a:ext cx="14294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avanço</a:t>
            </a:r>
          </a:p>
        </p:txBody>
      </p:sp>
      <p:graphicFrame>
        <p:nvGraphicFramePr>
          <p:cNvPr id="53" name="Tabela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64104"/>
              </p:ext>
            </p:extLst>
          </p:nvPr>
        </p:nvGraphicFramePr>
        <p:xfrm>
          <a:off x="3158661" y="1273066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f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e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0" name="CaixaDeTexto 49"/>
          <p:cNvSpPr txBox="1"/>
          <p:nvPr/>
        </p:nvSpPr>
        <p:spPr>
          <a:xfrm>
            <a:off x="6665906" y="3766580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51" name="Conector reto 50"/>
          <p:cNvCxnSpPr/>
          <p:nvPr/>
        </p:nvCxnSpPr>
        <p:spPr>
          <a:xfrm>
            <a:off x="6349033" y="1369930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Elipse 51"/>
          <p:cNvSpPr/>
          <p:nvPr/>
        </p:nvSpPr>
        <p:spPr>
          <a:xfrm>
            <a:off x="7128893" y="162924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914804" y="2617084"/>
            <a:ext cx="20649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BP(e)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</a:t>
            </a:r>
            <a:r>
              <a:rPr lang="pt-BR" sz="1600" b="1" dirty="0">
                <a:solidFill>
                  <a:srgbClr val="00B0F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b }</a:t>
            </a:r>
            <a:endParaRPr lang="pt-BR" sz="1600" dirty="0"/>
          </a:p>
        </p:txBody>
      </p:sp>
      <p:cxnSp>
        <p:nvCxnSpPr>
          <p:cNvPr id="49" name="Conector de seta reta 48"/>
          <p:cNvCxnSpPr>
            <a:stCxn id="56" idx="0"/>
          </p:cNvCxnSpPr>
          <p:nvPr/>
        </p:nvCxnSpPr>
        <p:spPr>
          <a:xfrm flipH="1" flipV="1">
            <a:off x="7243942" y="1854214"/>
            <a:ext cx="1" cy="371130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/>
          <p:cNvSpPr/>
          <p:nvPr/>
        </p:nvSpPr>
        <p:spPr>
          <a:xfrm>
            <a:off x="7128894" y="222534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58" name="CaixaDeTexto 57"/>
          <p:cNvSpPr txBox="1"/>
          <p:nvPr/>
        </p:nvSpPr>
        <p:spPr>
          <a:xfrm>
            <a:off x="914804" y="2919967"/>
            <a:ext cx="19059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BP(f) 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(f)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57" name="Conector de seta reta 56"/>
          <p:cNvCxnSpPr>
            <a:stCxn id="59" idx="0"/>
          </p:cNvCxnSpPr>
          <p:nvPr/>
        </p:nvCxnSpPr>
        <p:spPr>
          <a:xfrm flipV="1">
            <a:off x="7243943" y="2450309"/>
            <a:ext cx="0" cy="370870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Elipse 58"/>
          <p:cNvSpPr/>
          <p:nvPr/>
        </p:nvSpPr>
        <p:spPr>
          <a:xfrm>
            <a:off x="7128894" y="282117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62" name="CaixaDeTexto 61"/>
          <p:cNvSpPr txBox="1"/>
          <p:nvPr/>
        </p:nvSpPr>
        <p:spPr>
          <a:xfrm>
            <a:off x="914804" y="3222850"/>
            <a:ext cx="19111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BP(b)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= { </a:t>
            </a:r>
            <a:r>
              <a:rPr lang="pt-BR" sz="1600" b="1" dirty="0">
                <a:solidFill>
                  <a:srgbClr val="00B0F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sp>
        <p:nvSpPr>
          <p:cNvPr id="60" name="Elipse 59"/>
          <p:cNvSpPr/>
          <p:nvPr/>
        </p:nvSpPr>
        <p:spPr>
          <a:xfrm>
            <a:off x="7128892" y="343661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61" name="Conector de seta reta 60"/>
          <p:cNvCxnSpPr>
            <a:stCxn id="60" idx="0"/>
          </p:cNvCxnSpPr>
          <p:nvPr/>
        </p:nvCxnSpPr>
        <p:spPr>
          <a:xfrm flipV="1">
            <a:off x="7243941" y="3046145"/>
            <a:ext cx="2" cy="390473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aixaDeTexto 63"/>
          <p:cNvSpPr txBox="1"/>
          <p:nvPr/>
        </p:nvSpPr>
        <p:spPr>
          <a:xfrm>
            <a:off x="3205386" y="2612377"/>
            <a:ext cx="18662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BP(d)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</a:t>
            </a:r>
            <a:r>
              <a:rPr lang="pt-BR" sz="1600" b="1" dirty="0">
                <a:solidFill>
                  <a:srgbClr val="FF000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63" name="Conector angulado 139"/>
          <p:cNvCxnSpPr/>
          <p:nvPr/>
        </p:nvCxnSpPr>
        <p:spPr>
          <a:xfrm rot="10800000" flipH="1">
            <a:off x="7128892" y="2337829"/>
            <a:ext cx="2" cy="1211273"/>
          </a:xfrm>
          <a:prstGeom prst="curvedConnector3">
            <a:avLst>
              <a:gd name="adj1" fmla="val -11430000000"/>
            </a:avLst>
          </a:prstGeom>
          <a:ln w="19050">
            <a:solidFill>
              <a:srgbClr val="FF000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de seta reta 64"/>
          <p:cNvCxnSpPr/>
          <p:nvPr/>
        </p:nvCxnSpPr>
        <p:spPr>
          <a:xfrm flipH="1">
            <a:off x="7408626" y="1546048"/>
            <a:ext cx="231759" cy="1016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CaixaDeTexto 65"/>
          <p:cNvSpPr txBox="1"/>
          <p:nvPr/>
        </p:nvSpPr>
        <p:spPr>
          <a:xfrm>
            <a:off x="7566289" y="1257798"/>
            <a:ext cx="129907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dirty="0"/>
              <a:t>Retrocede para continuar a busca</a:t>
            </a:r>
          </a:p>
        </p:txBody>
      </p: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9" name="Elipse 8"/>
          <p:cNvSpPr/>
          <p:nvPr/>
        </p:nvSpPr>
        <p:spPr>
          <a:xfrm>
            <a:off x="2669035" y="1816410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1146601412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Exemplo</a:t>
            </a:r>
          </a:p>
        </p:txBody>
      </p:sp>
      <p:cxnSp>
        <p:nvCxnSpPr>
          <p:cNvPr id="13" name="Conector de seta reta 12"/>
          <p:cNvCxnSpPr>
            <a:stCxn id="6" idx="5"/>
            <a:endCxn id="8" idx="1"/>
          </p:cNvCxnSpPr>
          <p:nvPr/>
        </p:nvCxnSpPr>
        <p:spPr>
          <a:xfrm>
            <a:off x="1350736" y="1645635"/>
            <a:ext cx="768523" cy="57810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459840" y="3673888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3" name="Conector de seta reta 32"/>
          <p:cNvCxnSpPr/>
          <p:nvPr/>
        </p:nvCxnSpPr>
        <p:spPr>
          <a:xfrm flipH="1">
            <a:off x="420639" y="4050487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>
            <a:spLocks noChangeAspect="1"/>
          </p:cNvSpPr>
          <p:nvPr/>
        </p:nvSpPr>
        <p:spPr>
          <a:xfrm>
            <a:off x="2587201" y="3673887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6" name="Conector de seta reta 35"/>
          <p:cNvCxnSpPr/>
          <p:nvPr/>
        </p:nvCxnSpPr>
        <p:spPr>
          <a:xfrm flipH="1">
            <a:off x="4307022" y="4050487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de seta reta 36"/>
          <p:cNvCxnSpPr/>
          <p:nvPr/>
        </p:nvCxnSpPr>
        <p:spPr>
          <a:xfrm flipH="1">
            <a:off x="2537936" y="4050487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>
            <a:spLocks noChangeAspect="1"/>
          </p:cNvSpPr>
          <p:nvPr/>
        </p:nvSpPr>
        <p:spPr>
          <a:xfrm>
            <a:off x="4346223" y="3673887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698311" y="3612692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698311" y="3896599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2821710" y="3612692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4589498" y="3612692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589498" y="3896599"/>
            <a:ext cx="1471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retorno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2821710" y="3896599"/>
            <a:ext cx="139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árvore</a:t>
            </a:r>
          </a:p>
        </p:txBody>
      </p: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de seta reta 103"/>
          <p:cNvCxnSpPr>
            <a:stCxn id="7" idx="6"/>
            <a:endCxn id="9" idx="1"/>
          </p:cNvCxnSpPr>
          <p:nvPr/>
        </p:nvCxnSpPr>
        <p:spPr>
          <a:xfrm>
            <a:off x="2309608" y="1561104"/>
            <a:ext cx="393124" cy="288251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106"/>
          <p:cNvCxnSpPr>
            <a:stCxn id="8" idx="6"/>
            <a:endCxn id="9" idx="3"/>
          </p:cNvCxnSpPr>
          <p:nvPr/>
        </p:nvCxnSpPr>
        <p:spPr>
          <a:xfrm flipV="1">
            <a:off x="2315659" y="2008430"/>
            <a:ext cx="387073" cy="29484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/>
          <p:cNvCxnSpPr/>
          <p:nvPr/>
        </p:nvCxnSpPr>
        <p:spPr>
          <a:xfrm flipH="1">
            <a:off x="4315078" y="433439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e seta reta 34"/>
          <p:cNvCxnSpPr/>
          <p:nvPr/>
        </p:nvCxnSpPr>
        <p:spPr>
          <a:xfrm flipH="1">
            <a:off x="2545992" y="4334394"/>
            <a:ext cx="262480" cy="1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aixaDeTexto 42"/>
          <p:cNvSpPr txBox="1"/>
          <p:nvPr/>
        </p:nvSpPr>
        <p:spPr>
          <a:xfrm>
            <a:off x="4597554" y="4180506"/>
            <a:ext cx="17827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cruzamento</a:t>
            </a:r>
          </a:p>
        </p:txBody>
      </p:sp>
      <p:sp>
        <p:nvSpPr>
          <p:cNvPr id="46" name="CaixaDeTexto 45"/>
          <p:cNvSpPr txBox="1"/>
          <p:nvPr/>
        </p:nvSpPr>
        <p:spPr>
          <a:xfrm>
            <a:off x="2829766" y="4180506"/>
            <a:ext cx="14294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avanço</a:t>
            </a:r>
          </a:p>
        </p:txBody>
      </p:sp>
      <p:graphicFrame>
        <p:nvGraphicFramePr>
          <p:cNvPr id="53" name="Tabela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64104"/>
              </p:ext>
            </p:extLst>
          </p:nvPr>
        </p:nvGraphicFramePr>
        <p:xfrm>
          <a:off x="3158661" y="1273066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f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e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0" name="CaixaDeTexto 49"/>
          <p:cNvSpPr txBox="1"/>
          <p:nvPr/>
        </p:nvSpPr>
        <p:spPr>
          <a:xfrm>
            <a:off x="6665906" y="3766580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51" name="Conector reto 50"/>
          <p:cNvCxnSpPr/>
          <p:nvPr/>
        </p:nvCxnSpPr>
        <p:spPr>
          <a:xfrm>
            <a:off x="6349033" y="1369930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Elipse 51"/>
          <p:cNvSpPr/>
          <p:nvPr/>
        </p:nvSpPr>
        <p:spPr>
          <a:xfrm>
            <a:off x="7128893" y="162924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914804" y="2617084"/>
            <a:ext cx="20649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BP(e)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</a:t>
            </a:r>
            <a:r>
              <a:rPr lang="pt-BR" sz="1600" b="1" dirty="0">
                <a:solidFill>
                  <a:srgbClr val="00B0F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5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49" name="Conector de seta reta 48"/>
          <p:cNvCxnSpPr>
            <a:stCxn id="56" idx="0"/>
          </p:cNvCxnSpPr>
          <p:nvPr/>
        </p:nvCxnSpPr>
        <p:spPr>
          <a:xfrm flipH="1" flipV="1">
            <a:off x="7243942" y="1854214"/>
            <a:ext cx="1" cy="371130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/>
          <p:cNvSpPr/>
          <p:nvPr/>
        </p:nvSpPr>
        <p:spPr>
          <a:xfrm>
            <a:off x="7128894" y="222534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58" name="CaixaDeTexto 57"/>
          <p:cNvSpPr txBox="1"/>
          <p:nvPr/>
        </p:nvSpPr>
        <p:spPr>
          <a:xfrm>
            <a:off x="914804" y="2919967"/>
            <a:ext cx="19059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BP(f) 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(f)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57" name="Conector de seta reta 56"/>
          <p:cNvCxnSpPr>
            <a:stCxn id="59" idx="0"/>
          </p:cNvCxnSpPr>
          <p:nvPr/>
        </p:nvCxnSpPr>
        <p:spPr>
          <a:xfrm flipV="1">
            <a:off x="7243943" y="2450309"/>
            <a:ext cx="0" cy="370870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Elipse 58"/>
          <p:cNvSpPr/>
          <p:nvPr/>
        </p:nvSpPr>
        <p:spPr>
          <a:xfrm>
            <a:off x="7128894" y="282117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62" name="CaixaDeTexto 61"/>
          <p:cNvSpPr txBox="1"/>
          <p:nvPr/>
        </p:nvSpPr>
        <p:spPr>
          <a:xfrm>
            <a:off x="914804" y="3222850"/>
            <a:ext cx="19111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BP(b)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= { </a:t>
            </a:r>
            <a:r>
              <a:rPr lang="pt-BR" sz="1600" b="1" dirty="0">
                <a:solidFill>
                  <a:srgbClr val="00B0F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sp>
        <p:nvSpPr>
          <p:cNvPr id="60" name="Elipse 59"/>
          <p:cNvSpPr/>
          <p:nvPr/>
        </p:nvSpPr>
        <p:spPr>
          <a:xfrm>
            <a:off x="7128892" y="343661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61" name="Conector de seta reta 60"/>
          <p:cNvCxnSpPr>
            <a:stCxn id="60" idx="0"/>
          </p:cNvCxnSpPr>
          <p:nvPr/>
        </p:nvCxnSpPr>
        <p:spPr>
          <a:xfrm flipV="1">
            <a:off x="7243941" y="3046145"/>
            <a:ext cx="2" cy="390473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aixaDeTexto 63"/>
          <p:cNvSpPr txBox="1"/>
          <p:nvPr/>
        </p:nvSpPr>
        <p:spPr>
          <a:xfrm>
            <a:off x="3205386" y="2612377"/>
            <a:ext cx="18662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BP(d)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</a:t>
            </a:r>
            <a:r>
              <a:rPr lang="pt-BR" sz="1600" b="1" dirty="0">
                <a:solidFill>
                  <a:srgbClr val="FF000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63" name="Conector angulado 139"/>
          <p:cNvCxnSpPr/>
          <p:nvPr/>
        </p:nvCxnSpPr>
        <p:spPr>
          <a:xfrm rot="10800000" flipH="1">
            <a:off x="7128892" y="2337829"/>
            <a:ext cx="2" cy="1211273"/>
          </a:xfrm>
          <a:prstGeom prst="curvedConnector3">
            <a:avLst>
              <a:gd name="adj1" fmla="val -11430000000"/>
            </a:avLst>
          </a:prstGeom>
          <a:ln w="19050">
            <a:solidFill>
              <a:srgbClr val="FF000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de seta reta 64"/>
          <p:cNvCxnSpPr/>
          <p:nvPr/>
        </p:nvCxnSpPr>
        <p:spPr>
          <a:xfrm flipH="1">
            <a:off x="7408626" y="1546048"/>
            <a:ext cx="231759" cy="1016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CaixaDeTexto 65"/>
          <p:cNvSpPr txBox="1"/>
          <p:nvPr/>
        </p:nvSpPr>
        <p:spPr>
          <a:xfrm>
            <a:off x="7566289" y="1257798"/>
            <a:ext cx="129907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dirty="0"/>
              <a:t>Retrocede para continuar a busca</a:t>
            </a:r>
          </a:p>
        </p:txBody>
      </p:sp>
      <p:cxnSp>
        <p:nvCxnSpPr>
          <p:cNvPr id="68" name="Conector angulado 147"/>
          <p:cNvCxnSpPr/>
          <p:nvPr/>
        </p:nvCxnSpPr>
        <p:spPr>
          <a:xfrm>
            <a:off x="7358990" y="1741732"/>
            <a:ext cx="1" cy="1191930"/>
          </a:xfrm>
          <a:prstGeom prst="curvedConnector3">
            <a:avLst>
              <a:gd name="adj1" fmla="val 22860100000"/>
            </a:avLst>
          </a:prstGeom>
          <a:ln w="19050">
            <a:solidFill>
              <a:srgbClr val="00B05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9" name="Elipse 8"/>
          <p:cNvSpPr/>
          <p:nvPr/>
        </p:nvSpPr>
        <p:spPr>
          <a:xfrm>
            <a:off x="2669035" y="1816410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095623595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Exemplo</a:t>
            </a:r>
          </a:p>
        </p:txBody>
      </p:sp>
      <p:cxnSp>
        <p:nvCxnSpPr>
          <p:cNvPr id="13" name="Conector de seta reta 12"/>
          <p:cNvCxnSpPr>
            <a:stCxn id="6" idx="5"/>
            <a:endCxn id="8" idx="1"/>
          </p:cNvCxnSpPr>
          <p:nvPr/>
        </p:nvCxnSpPr>
        <p:spPr>
          <a:xfrm>
            <a:off x="1350736" y="1645635"/>
            <a:ext cx="768523" cy="57810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459840" y="3673888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3" name="Conector de seta reta 32"/>
          <p:cNvCxnSpPr/>
          <p:nvPr/>
        </p:nvCxnSpPr>
        <p:spPr>
          <a:xfrm flipH="1">
            <a:off x="420639" y="4050487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>
            <a:spLocks noChangeAspect="1"/>
          </p:cNvSpPr>
          <p:nvPr/>
        </p:nvSpPr>
        <p:spPr>
          <a:xfrm>
            <a:off x="2587201" y="3673887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6" name="Conector de seta reta 35"/>
          <p:cNvCxnSpPr/>
          <p:nvPr/>
        </p:nvCxnSpPr>
        <p:spPr>
          <a:xfrm flipH="1">
            <a:off x="4307022" y="4050487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de seta reta 36"/>
          <p:cNvCxnSpPr/>
          <p:nvPr/>
        </p:nvCxnSpPr>
        <p:spPr>
          <a:xfrm flipH="1">
            <a:off x="2537936" y="4050487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>
            <a:spLocks noChangeAspect="1"/>
          </p:cNvSpPr>
          <p:nvPr/>
        </p:nvSpPr>
        <p:spPr>
          <a:xfrm>
            <a:off x="4346223" y="3673887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698311" y="3612692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698311" y="3896599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2821710" y="3612692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4589498" y="3612692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589498" y="3896599"/>
            <a:ext cx="1471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retorno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2821710" y="3896599"/>
            <a:ext cx="139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árvore</a:t>
            </a:r>
          </a:p>
        </p:txBody>
      </p: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de seta reta 103"/>
          <p:cNvCxnSpPr>
            <a:stCxn id="7" idx="6"/>
            <a:endCxn id="9" idx="1"/>
          </p:cNvCxnSpPr>
          <p:nvPr/>
        </p:nvCxnSpPr>
        <p:spPr>
          <a:xfrm>
            <a:off x="2309608" y="1561104"/>
            <a:ext cx="393124" cy="288251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106"/>
          <p:cNvCxnSpPr>
            <a:stCxn id="8" idx="6"/>
            <a:endCxn id="9" idx="3"/>
          </p:cNvCxnSpPr>
          <p:nvPr/>
        </p:nvCxnSpPr>
        <p:spPr>
          <a:xfrm flipV="1">
            <a:off x="2315659" y="2008430"/>
            <a:ext cx="387073" cy="29484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/>
          <p:cNvCxnSpPr/>
          <p:nvPr/>
        </p:nvCxnSpPr>
        <p:spPr>
          <a:xfrm flipH="1">
            <a:off x="4315078" y="433439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e seta reta 34"/>
          <p:cNvCxnSpPr/>
          <p:nvPr/>
        </p:nvCxnSpPr>
        <p:spPr>
          <a:xfrm flipH="1">
            <a:off x="2545992" y="4334394"/>
            <a:ext cx="262480" cy="1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aixaDeTexto 42"/>
          <p:cNvSpPr txBox="1"/>
          <p:nvPr/>
        </p:nvSpPr>
        <p:spPr>
          <a:xfrm>
            <a:off x="4597554" y="4180506"/>
            <a:ext cx="17827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cruzamento</a:t>
            </a:r>
          </a:p>
        </p:txBody>
      </p:sp>
      <p:sp>
        <p:nvSpPr>
          <p:cNvPr id="46" name="CaixaDeTexto 45"/>
          <p:cNvSpPr txBox="1"/>
          <p:nvPr/>
        </p:nvSpPr>
        <p:spPr>
          <a:xfrm>
            <a:off x="2829766" y="4180506"/>
            <a:ext cx="14294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avanço</a:t>
            </a:r>
          </a:p>
        </p:txBody>
      </p:sp>
      <p:graphicFrame>
        <p:nvGraphicFramePr>
          <p:cNvPr id="53" name="Tabela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6090381"/>
              </p:ext>
            </p:extLst>
          </p:nvPr>
        </p:nvGraphicFramePr>
        <p:xfrm>
          <a:off x="3158661" y="1273066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f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e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0" name="CaixaDeTexto 49"/>
          <p:cNvSpPr txBox="1"/>
          <p:nvPr/>
        </p:nvSpPr>
        <p:spPr>
          <a:xfrm>
            <a:off x="6665906" y="3766580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51" name="Conector reto 50"/>
          <p:cNvCxnSpPr/>
          <p:nvPr/>
        </p:nvCxnSpPr>
        <p:spPr>
          <a:xfrm>
            <a:off x="6349033" y="1369930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Elipse 51"/>
          <p:cNvSpPr/>
          <p:nvPr/>
        </p:nvSpPr>
        <p:spPr>
          <a:xfrm>
            <a:off x="7128893" y="162924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914804" y="2617084"/>
            <a:ext cx="20649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BP(e)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</a:t>
            </a:r>
            <a:r>
              <a:rPr lang="pt-BR" sz="1600" b="1" dirty="0">
                <a:solidFill>
                  <a:srgbClr val="00B0F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5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49" name="Conector de seta reta 48"/>
          <p:cNvCxnSpPr>
            <a:stCxn id="56" idx="0"/>
          </p:cNvCxnSpPr>
          <p:nvPr/>
        </p:nvCxnSpPr>
        <p:spPr>
          <a:xfrm flipH="1" flipV="1">
            <a:off x="7243942" y="1854214"/>
            <a:ext cx="1" cy="371130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/>
          <p:cNvSpPr/>
          <p:nvPr/>
        </p:nvSpPr>
        <p:spPr>
          <a:xfrm>
            <a:off x="7128894" y="222534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58" name="CaixaDeTexto 57"/>
          <p:cNvSpPr txBox="1"/>
          <p:nvPr/>
        </p:nvSpPr>
        <p:spPr>
          <a:xfrm>
            <a:off x="914804" y="2919967"/>
            <a:ext cx="19059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BP(f) 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(f)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57" name="Conector de seta reta 56"/>
          <p:cNvCxnSpPr>
            <a:stCxn id="59" idx="0"/>
          </p:cNvCxnSpPr>
          <p:nvPr/>
        </p:nvCxnSpPr>
        <p:spPr>
          <a:xfrm flipV="1">
            <a:off x="7243943" y="2450309"/>
            <a:ext cx="0" cy="370870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Elipse 58"/>
          <p:cNvSpPr/>
          <p:nvPr/>
        </p:nvSpPr>
        <p:spPr>
          <a:xfrm>
            <a:off x="7128894" y="282117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62" name="CaixaDeTexto 61"/>
          <p:cNvSpPr txBox="1"/>
          <p:nvPr/>
        </p:nvSpPr>
        <p:spPr>
          <a:xfrm>
            <a:off x="914804" y="3222850"/>
            <a:ext cx="19111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BP(b)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= { </a:t>
            </a:r>
            <a:r>
              <a:rPr lang="pt-BR" sz="1600" b="1" dirty="0">
                <a:solidFill>
                  <a:srgbClr val="00B0F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sp>
        <p:nvSpPr>
          <p:cNvPr id="60" name="Elipse 59"/>
          <p:cNvSpPr/>
          <p:nvPr/>
        </p:nvSpPr>
        <p:spPr>
          <a:xfrm>
            <a:off x="7128892" y="343661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61" name="Conector de seta reta 60"/>
          <p:cNvCxnSpPr>
            <a:stCxn id="60" idx="0"/>
          </p:cNvCxnSpPr>
          <p:nvPr/>
        </p:nvCxnSpPr>
        <p:spPr>
          <a:xfrm flipV="1">
            <a:off x="7243941" y="3046145"/>
            <a:ext cx="2" cy="390473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aixaDeTexto 63"/>
          <p:cNvSpPr txBox="1"/>
          <p:nvPr/>
        </p:nvSpPr>
        <p:spPr>
          <a:xfrm>
            <a:off x="3205386" y="2612377"/>
            <a:ext cx="18662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BP(d)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</a:t>
            </a:r>
            <a:r>
              <a:rPr lang="pt-BR" sz="1600" b="1" dirty="0">
                <a:solidFill>
                  <a:srgbClr val="FF000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63" name="Conector angulado 139"/>
          <p:cNvCxnSpPr/>
          <p:nvPr/>
        </p:nvCxnSpPr>
        <p:spPr>
          <a:xfrm rot="10800000" flipH="1">
            <a:off x="7128892" y="2337829"/>
            <a:ext cx="2" cy="1211273"/>
          </a:xfrm>
          <a:prstGeom prst="curvedConnector3">
            <a:avLst>
              <a:gd name="adj1" fmla="val -11430000000"/>
            </a:avLst>
          </a:prstGeom>
          <a:ln w="19050">
            <a:solidFill>
              <a:srgbClr val="FF000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ector angulado 147"/>
          <p:cNvCxnSpPr/>
          <p:nvPr/>
        </p:nvCxnSpPr>
        <p:spPr>
          <a:xfrm>
            <a:off x="7358990" y="1741732"/>
            <a:ext cx="1" cy="1191930"/>
          </a:xfrm>
          <a:prstGeom prst="curvedConnector3">
            <a:avLst>
              <a:gd name="adj1" fmla="val 22860100000"/>
            </a:avLst>
          </a:prstGeom>
          <a:ln w="19050">
            <a:solidFill>
              <a:srgbClr val="00B05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9" name="Elipse 8"/>
          <p:cNvSpPr/>
          <p:nvPr/>
        </p:nvSpPr>
        <p:spPr>
          <a:xfrm>
            <a:off x="2669035" y="1816410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4084960363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Exemplo</a:t>
            </a:r>
          </a:p>
        </p:txBody>
      </p:sp>
      <p:cxnSp>
        <p:nvCxnSpPr>
          <p:cNvPr id="13" name="Conector de seta reta 12"/>
          <p:cNvCxnSpPr>
            <a:stCxn id="6" idx="5"/>
            <a:endCxn id="8" idx="1"/>
          </p:cNvCxnSpPr>
          <p:nvPr/>
        </p:nvCxnSpPr>
        <p:spPr>
          <a:xfrm>
            <a:off x="1350736" y="1645635"/>
            <a:ext cx="768523" cy="57810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459840" y="3673888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3" name="Conector de seta reta 32"/>
          <p:cNvCxnSpPr/>
          <p:nvPr/>
        </p:nvCxnSpPr>
        <p:spPr>
          <a:xfrm flipH="1">
            <a:off x="420639" y="4050487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>
            <a:spLocks noChangeAspect="1"/>
          </p:cNvSpPr>
          <p:nvPr/>
        </p:nvSpPr>
        <p:spPr>
          <a:xfrm>
            <a:off x="2587201" y="3673887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6" name="Conector de seta reta 35"/>
          <p:cNvCxnSpPr/>
          <p:nvPr/>
        </p:nvCxnSpPr>
        <p:spPr>
          <a:xfrm flipH="1">
            <a:off x="4307022" y="4050487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de seta reta 36"/>
          <p:cNvCxnSpPr/>
          <p:nvPr/>
        </p:nvCxnSpPr>
        <p:spPr>
          <a:xfrm flipH="1">
            <a:off x="2537936" y="4050487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>
            <a:spLocks noChangeAspect="1"/>
          </p:cNvSpPr>
          <p:nvPr/>
        </p:nvSpPr>
        <p:spPr>
          <a:xfrm>
            <a:off x="4346223" y="3673887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698311" y="3612692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698311" y="3896599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2821710" y="3612692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4589498" y="3612692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589498" y="3896599"/>
            <a:ext cx="1471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retorno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2821710" y="3896599"/>
            <a:ext cx="139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árvore</a:t>
            </a:r>
          </a:p>
        </p:txBody>
      </p: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de seta reta 103"/>
          <p:cNvCxnSpPr>
            <a:stCxn id="7" idx="6"/>
            <a:endCxn id="9" idx="1"/>
          </p:cNvCxnSpPr>
          <p:nvPr/>
        </p:nvCxnSpPr>
        <p:spPr>
          <a:xfrm>
            <a:off x="2309608" y="1561104"/>
            <a:ext cx="393124" cy="288251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106"/>
          <p:cNvCxnSpPr>
            <a:stCxn id="8" idx="6"/>
            <a:endCxn id="9" idx="3"/>
          </p:cNvCxnSpPr>
          <p:nvPr/>
        </p:nvCxnSpPr>
        <p:spPr>
          <a:xfrm flipV="1">
            <a:off x="2315659" y="2008430"/>
            <a:ext cx="387073" cy="29484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/>
          <p:cNvCxnSpPr/>
          <p:nvPr/>
        </p:nvCxnSpPr>
        <p:spPr>
          <a:xfrm flipH="1">
            <a:off x="4315078" y="433439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e seta reta 34"/>
          <p:cNvCxnSpPr/>
          <p:nvPr/>
        </p:nvCxnSpPr>
        <p:spPr>
          <a:xfrm flipH="1">
            <a:off x="2545992" y="4334394"/>
            <a:ext cx="262480" cy="1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aixaDeTexto 42"/>
          <p:cNvSpPr txBox="1"/>
          <p:nvPr/>
        </p:nvSpPr>
        <p:spPr>
          <a:xfrm>
            <a:off x="4597554" y="4180506"/>
            <a:ext cx="17827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cruzamento</a:t>
            </a:r>
          </a:p>
        </p:txBody>
      </p:sp>
      <p:sp>
        <p:nvSpPr>
          <p:cNvPr id="46" name="CaixaDeTexto 45"/>
          <p:cNvSpPr txBox="1"/>
          <p:nvPr/>
        </p:nvSpPr>
        <p:spPr>
          <a:xfrm>
            <a:off x="2829766" y="4180506"/>
            <a:ext cx="14294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avanço</a:t>
            </a:r>
          </a:p>
        </p:txBody>
      </p:sp>
      <p:graphicFrame>
        <p:nvGraphicFramePr>
          <p:cNvPr id="53" name="Tabela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6090381"/>
              </p:ext>
            </p:extLst>
          </p:nvPr>
        </p:nvGraphicFramePr>
        <p:xfrm>
          <a:off x="3158661" y="1273066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f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e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0" name="CaixaDeTexto 49"/>
          <p:cNvSpPr txBox="1"/>
          <p:nvPr/>
        </p:nvSpPr>
        <p:spPr>
          <a:xfrm>
            <a:off x="6665906" y="3766580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51" name="Conector reto 50"/>
          <p:cNvCxnSpPr/>
          <p:nvPr/>
        </p:nvCxnSpPr>
        <p:spPr>
          <a:xfrm>
            <a:off x="6349033" y="1369930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Elipse 51"/>
          <p:cNvSpPr/>
          <p:nvPr/>
        </p:nvSpPr>
        <p:spPr>
          <a:xfrm>
            <a:off x="7128893" y="162924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914804" y="2617084"/>
            <a:ext cx="20649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BP(e)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</a:t>
            </a:r>
            <a:r>
              <a:rPr lang="pt-BR" sz="1600" b="1" dirty="0">
                <a:solidFill>
                  <a:srgbClr val="00B0F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5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49" name="Conector de seta reta 48"/>
          <p:cNvCxnSpPr>
            <a:stCxn id="56" idx="0"/>
          </p:cNvCxnSpPr>
          <p:nvPr/>
        </p:nvCxnSpPr>
        <p:spPr>
          <a:xfrm flipH="1" flipV="1">
            <a:off x="7243942" y="1854214"/>
            <a:ext cx="1" cy="371130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/>
          <p:cNvSpPr/>
          <p:nvPr/>
        </p:nvSpPr>
        <p:spPr>
          <a:xfrm>
            <a:off x="7128894" y="222534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58" name="CaixaDeTexto 57"/>
          <p:cNvSpPr txBox="1"/>
          <p:nvPr/>
        </p:nvSpPr>
        <p:spPr>
          <a:xfrm>
            <a:off x="914804" y="2919967"/>
            <a:ext cx="19059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BP(f) 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(f)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57" name="Conector de seta reta 56"/>
          <p:cNvCxnSpPr>
            <a:stCxn id="59" idx="0"/>
          </p:cNvCxnSpPr>
          <p:nvPr/>
        </p:nvCxnSpPr>
        <p:spPr>
          <a:xfrm flipV="1">
            <a:off x="7243943" y="2450309"/>
            <a:ext cx="0" cy="370870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Elipse 58"/>
          <p:cNvSpPr/>
          <p:nvPr/>
        </p:nvSpPr>
        <p:spPr>
          <a:xfrm>
            <a:off x="7128894" y="282117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62" name="CaixaDeTexto 61"/>
          <p:cNvSpPr txBox="1"/>
          <p:nvPr/>
        </p:nvSpPr>
        <p:spPr>
          <a:xfrm>
            <a:off x="914804" y="3222850"/>
            <a:ext cx="19111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BP(b)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= { </a:t>
            </a:r>
            <a:r>
              <a:rPr lang="pt-BR" sz="1600" b="1" dirty="0">
                <a:solidFill>
                  <a:srgbClr val="00B0F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sp>
        <p:nvSpPr>
          <p:cNvPr id="60" name="Elipse 59"/>
          <p:cNvSpPr/>
          <p:nvPr/>
        </p:nvSpPr>
        <p:spPr>
          <a:xfrm>
            <a:off x="7128892" y="343661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61" name="Conector de seta reta 60"/>
          <p:cNvCxnSpPr>
            <a:stCxn id="60" idx="0"/>
          </p:cNvCxnSpPr>
          <p:nvPr/>
        </p:nvCxnSpPr>
        <p:spPr>
          <a:xfrm flipV="1">
            <a:off x="7243941" y="3046145"/>
            <a:ext cx="2" cy="390473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aixaDeTexto 63"/>
          <p:cNvSpPr txBox="1"/>
          <p:nvPr/>
        </p:nvSpPr>
        <p:spPr>
          <a:xfrm>
            <a:off x="3205386" y="2612377"/>
            <a:ext cx="18662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BP(d)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</a:t>
            </a:r>
            <a:r>
              <a:rPr lang="pt-BR" sz="1600" b="1" dirty="0">
                <a:solidFill>
                  <a:srgbClr val="FF000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63" name="Conector angulado 139"/>
          <p:cNvCxnSpPr/>
          <p:nvPr/>
        </p:nvCxnSpPr>
        <p:spPr>
          <a:xfrm rot="10800000" flipH="1">
            <a:off x="7128892" y="2337829"/>
            <a:ext cx="2" cy="1211273"/>
          </a:xfrm>
          <a:prstGeom prst="curvedConnector3">
            <a:avLst>
              <a:gd name="adj1" fmla="val -11430000000"/>
            </a:avLst>
          </a:prstGeom>
          <a:ln w="19050">
            <a:solidFill>
              <a:srgbClr val="FF000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CaixaDeTexto 67"/>
          <p:cNvSpPr txBox="1"/>
          <p:nvPr/>
        </p:nvSpPr>
        <p:spPr>
          <a:xfrm>
            <a:off x="354304" y="2365105"/>
            <a:ext cx="5453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200" dirty="0">
                <a:solidFill>
                  <a:srgbClr val="FF0000"/>
                </a:solidFill>
              </a:rPr>
              <a:t>Raiz </a:t>
            </a:r>
          </a:p>
          <a:p>
            <a:pPr algn="ctr"/>
            <a:r>
              <a:rPr lang="pt-BR" sz="1200" dirty="0">
                <a:solidFill>
                  <a:srgbClr val="FF0000"/>
                </a:solidFill>
              </a:rPr>
              <a:t>inicial</a:t>
            </a:r>
          </a:p>
        </p:txBody>
      </p:sp>
      <p:cxnSp>
        <p:nvCxnSpPr>
          <p:cNvPr id="69" name="Conector de seta reta 68"/>
          <p:cNvCxnSpPr/>
          <p:nvPr/>
        </p:nvCxnSpPr>
        <p:spPr>
          <a:xfrm flipV="1">
            <a:off x="910921" y="2452144"/>
            <a:ext cx="230097" cy="156871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ctor angulado 147"/>
          <p:cNvCxnSpPr/>
          <p:nvPr/>
        </p:nvCxnSpPr>
        <p:spPr>
          <a:xfrm>
            <a:off x="7358990" y="1741732"/>
            <a:ext cx="1" cy="1191930"/>
          </a:xfrm>
          <a:prstGeom prst="curvedConnector3">
            <a:avLst>
              <a:gd name="adj1" fmla="val 22860100000"/>
            </a:avLst>
          </a:prstGeom>
          <a:ln w="19050">
            <a:solidFill>
              <a:srgbClr val="00B05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9" name="Elipse 8"/>
          <p:cNvSpPr/>
          <p:nvPr/>
        </p:nvSpPr>
        <p:spPr>
          <a:xfrm>
            <a:off x="2669035" y="1816410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1017788149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Exemplo</a:t>
            </a:r>
          </a:p>
        </p:txBody>
      </p:sp>
      <p:cxnSp>
        <p:nvCxnSpPr>
          <p:cNvPr id="13" name="Conector de seta reta 12"/>
          <p:cNvCxnSpPr>
            <a:stCxn id="6" idx="5"/>
            <a:endCxn id="8" idx="1"/>
          </p:cNvCxnSpPr>
          <p:nvPr/>
        </p:nvCxnSpPr>
        <p:spPr>
          <a:xfrm>
            <a:off x="1350736" y="1645635"/>
            <a:ext cx="768523" cy="57810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459840" y="3673888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3" name="Conector de seta reta 32"/>
          <p:cNvCxnSpPr/>
          <p:nvPr/>
        </p:nvCxnSpPr>
        <p:spPr>
          <a:xfrm flipH="1">
            <a:off x="420639" y="4050487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>
            <a:spLocks noChangeAspect="1"/>
          </p:cNvSpPr>
          <p:nvPr/>
        </p:nvSpPr>
        <p:spPr>
          <a:xfrm>
            <a:off x="2587201" y="3673887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6" name="Conector de seta reta 35"/>
          <p:cNvCxnSpPr/>
          <p:nvPr/>
        </p:nvCxnSpPr>
        <p:spPr>
          <a:xfrm flipH="1">
            <a:off x="4307022" y="4050487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de seta reta 36"/>
          <p:cNvCxnSpPr/>
          <p:nvPr/>
        </p:nvCxnSpPr>
        <p:spPr>
          <a:xfrm flipH="1">
            <a:off x="2537936" y="4050487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>
            <a:spLocks noChangeAspect="1"/>
          </p:cNvSpPr>
          <p:nvPr/>
        </p:nvSpPr>
        <p:spPr>
          <a:xfrm>
            <a:off x="4346223" y="3673887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698311" y="3612692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698311" y="3896599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2821710" y="3612692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4589498" y="3612692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589498" y="3896599"/>
            <a:ext cx="1471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retorno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2821710" y="3896599"/>
            <a:ext cx="139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árvore</a:t>
            </a:r>
          </a:p>
        </p:txBody>
      </p: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de seta reta 103"/>
          <p:cNvCxnSpPr>
            <a:stCxn id="7" idx="6"/>
            <a:endCxn id="9" idx="1"/>
          </p:cNvCxnSpPr>
          <p:nvPr/>
        </p:nvCxnSpPr>
        <p:spPr>
          <a:xfrm>
            <a:off x="2309608" y="1561104"/>
            <a:ext cx="393124" cy="288251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106"/>
          <p:cNvCxnSpPr>
            <a:stCxn id="8" idx="6"/>
            <a:endCxn id="9" idx="3"/>
          </p:cNvCxnSpPr>
          <p:nvPr/>
        </p:nvCxnSpPr>
        <p:spPr>
          <a:xfrm flipV="1">
            <a:off x="2315659" y="2008430"/>
            <a:ext cx="387073" cy="29484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/>
          <p:cNvCxnSpPr/>
          <p:nvPr/>
        </p:nvCxnSpPr>
        <p:spPr>
          <a:xfrm flipH="1">
            <a:off x="4315078" y="433439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e seta reta 34"/>
          <p:cNvCxnSpPr/>
          <p:nvPr/>
        </p:nvCxnSpPr>
        <p:spPr>
          <a:xfrm flipH="1">
            <a:off x="2545992" y="4334394"/>
            <a:ext cx="262480" cy="1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aixaDeTexto 42"/>
          <p:cNvSpPr txBox="1"/>
          <p:nvPr/>
        </p:nvSpPr>
        <p:spPr>
          <a:xfrm>
            <a:off x="4597554" y="4180506"/>
            <a:ext cx="17827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cruzamento</a:t>
            </a:r>
          </a:p>
        </p:txBody>
      </p:sp>
      <p:sp>
        <p:nvSpPr>
          <p:cNvPr id="46" name="CaixaDeTexto 45"/>
          <p:cNvSpPr txBox="1"/>
          <p:nvPr/>
        </p:nvSpPr>
        <p:spPr>
          <a:xfrm>
            <a:off x="2829766" y="4180506"/>
            <a:ext cx="14294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avanço</a:t>
            </a:r>
          </a:p>
        </p:txBody>
      </p:sp>
      <p:graphicFrame>
        <p:nvGraphicFramePr>
          <p:cNvPr id="53" name="Tabela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656506"/>
              </p:ext>
            </p:extLst>
          </p:nvPr>
        </p:nvGraphicFramePr>
        <p:xfrm>
          <a:off x="3158661" y="1273066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f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e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7" name="CaixaDeTexto 46"/>
          <p:cNvSpPr txBox="1"/>
          <p:nvPr/>
        </p:nvSpPr>
        <p:spPr>
          <a:xfrm>
            <a:off x="376139" y="2365105"/>
            <a:ext cx="5407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200" dirty="0">
                <a:solidFill>
                  <a:srgbClr val="FF0000"/>
                </a:solidFill>
              </a:rPr>
              <a:t>Nova </a:t>
            </a:r>
          </a:p>
          <a:p>
            <a:pPr algn="ctr"/>
            <a:r>
              <a:rPr lang="pt-BR" sz="1200" dirty="0">
                <a:solidFill>
                  <a:srgbClr val="FF0000"/>
                </a:solidFill>
              </a:rPr>
              <a:t>raiz</a:t>
            </a:r>
          </a:p>
        </p:txBody>
      </p:sp>
      <p:cxnSp>
        <p:nvCxnSpPr>
          <p:cNvPr id="48" name="Conector de seta reta 47"/>
          <p:cNvCxnSpPr>
            <a:stCxn id="47" idx="0"/>
          </p:cNvCxnSpPr>
          <p:nvPr/>
        </p:nvCxnSpPr>
        <p:spPr>
          <a:xfrm flipV="1">
            <a:off x="646534" y="2097443"/>
            <a:ext cx="12146" cy="267662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CaixaDeTexto 49"/>
          <p:cNvSpPr txBox="1"/>
          <p:nvPr/>
        </p:nvSpPr>
        <p:spPr>
          <a:xfrm>
            <a:off x="6665906" y="3766580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51" name="Conector reto 50"/>
          <p:cNvCxnSpPr/>
          <p:nvPr/>
        </p:nvCxnSpPr>
        <p:spPr>
          <a:xfrm>
            <a:off x="6349033" y="1369930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Elipse 51"/>
          <p:cNvSpPr/>
          <p:nvPr/>
        </p:nvSpPr>
        <p:spPr>
          <a:xfrm>
            <a:off x="7128893" y="162924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914804" y="2617084"/>
            <a:ext cx="20649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BP(e)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</a:t>
            </a:r>
            <a:r>
              <a:rPr lang="pt-BR" sz="1600" b="1" dirty="0">
                <a:solidFill>
                  <a:srgbClr val="00B0F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5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49" name="Conector de seta reta 48"/>
          <p:cNvCxnSpPr>
            <a:stCxn id="56" idx="0"/>
          </p:cNvCxnSpPr>
          <p:nvPr/>
        </p:nvCxnSpPr>
        <p:spPr>
          <a:xfrm flipH="1" flipV="1">
            <a:off x="7243942" y="1854214"/>
            <a:ext cx="1" cy="371130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/>
          <p:cNvSpPr/>
          <p:nvPr/>
        </p:nvSpPr>
        <p:spPr>
          <a:xfrm>
            <a:off x="7128894" y="222534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58" name="CaixaDeTexto 57"/>
          <p:cNvSpPr txBox="1"/>
          <p:nvPr/>
        </p:nvSpPr>
        <p:spPr>
          <a:xfrm>
            <a:off x="914804" y="2919967"/>
            <a:ext cx="19059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BP(f) 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(f)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57" name="Conector de seta reta 56"/>
          <p:cNvCxnSpPr>
            <a:stCxn id="59" idx="0"/>
          </p:cNvCxnSpPr>
          <p:nvPr/>
        </p:nvCxnSpPr>
        <p:spPr>
          <a:xfrm flipV="1">
            <a:off x="7243943" y="2450309"/>
            <a:ext cx="0" cy="370870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Elipse 58"/>
          <p:cNvSpPr/>
          <p:nvPr/>
        </p:nvSpPr>
        <p:spPr>
          <a:xfrm>
            <a:off x="7128894" y="282117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62" name="CaixaDeTexto 61"/>
          <p:cNvSpPr txBox="1"/>
          <p:nvPr/>
        </p:nvSpPr>
        <p:spPr>
          <a:xfrm>
            <a:off x="914804" y="3222850"/>
            <a:ext cx="19111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BP(b)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= { </a:t>
            </a:r>
            <a:r>
              <a:rPr lang="pt-BR" sz="1600" b="1" dirty="0">
                <a:solidFill>
                  <a:srgbClr val="00B0F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sp>
        <p:nvSpPr>
          <p:cNvPr id="60" name="Elipse 59"/>
          <p:cNvSpPr/>
          <p:nvPr/>
        </p:nvSpPr>
        <p:spPr>
          <a:xfrm>
            <a:off x="7128892" y="343661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61" name="Conector de seta reta 60"/>
          <p:cNvCxnSpPr>
            <a:stCxn id="60" idx="0"/>
          </p:cNvCxnSpPr>
          <p:nvPr/>
        </p:nvCxnSpPr>
        <p:spPr>
          <a:xfrm flipV="1">
            <a:off x="7243941" y="3046145"/>
            <a:ext cx="2" cy="390473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aixaDeTexto 63"/>
          <p:cNvSpPr txBox="1"/>
          <p:nvPr/>
        </p:nvSpPr>
        <p:spPr>
          <a:xfrm>
            <a:off x="3205386" y="2612377"/>
            <a:ext cx="18662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BP(d)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</a:t>
            </a:r>
            <a:r>
              <a:rPr lang="pt-BR" sz="1600" b="1" dirty="0">
                <a:solidFill>
                  <a:srgbClr val="FF000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63" name="Conector angulado 139"/>
          <p:cNvCxnSpPr/>
          <p:nvPr/>
        </p:nvCxnSpPr>
        <p:spPr>
          <a:xfrm rot="10800000" flipH="1">
            <a:off x="7128892" y="2337829"/>
            <a:ext cx="2" cy="1211273"/>
          </a:xfrm>
          <a:prstGeom prst="curvedConnector3">
            <a:avLst>
              <a:gd name="adj1" fmla="val -11430000000"/>
            </a:avLst>
          </a:prstGeom>
          <a:ln w="19050">
            <a:solidFill>
              <a:srgbClr val="FF000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Elipse 67"/>
          <p:cNvSpPr/>
          <p:nvPr/>
        </p:nvSpPr>
        <p:spPr>
          <a:xfrm>
            <a:off x="8063936" y="162425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9" name="CaixaDeTexto 68"/>
          <p:cNvSpPr txBox="1"/>
          <p:nvPr/>
        </p:nvSpPr>
        <p:spPr>
          <a:xfrm>
            <a:off x="3205386" y="2914247"/>
            <a:ext cx="6142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BP(c)</a:t>
            </a:r>
            <a:endParaRPr lang="pt-BR" sz="1600" dirty="0"/>
          </a:p>
        </p:txBody>
      </p:sp>
      <p:cxnSp>
        <p:nvCxnSpPr>
          <p:cNvPr id="70" name="Conector angulado 147"/>
          <p:cNvCxnSpPr/>
          <p:nvPr/>
        </p:nvCxnSpPr>
        <p:spPr>
          <a:xfrm>
            <a:off x="7358990" y="1741732"/>
            <a:ext cx="1" cy="1191930"/>
          </a:xfrm>
          <a:prstGeom prst="curvedConnector3">
            <a:avLst>
              <a:gd name="adj1" fmla="val 22860100000"/>
            </a:avLst>
          </a:prstGeom>
          <a:ln w="19050">
            <a:solidFill>
              <a:srgbClr val="00B05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9" name="Elipse 8"/>
          <p:cNvSpPr/>
          <p:nvPr/>
        </p:nvSpPr>
        <p:spPr>
          <a:xfrm>
            <a:off x="2669035" y="1816410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713312778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Exemplo</a:t>
            </a:r>
          </a:p>
        </p:txBody>
      </p:sp>
      <p:cxnSp>
        <p:nvCxnSpPr>
          <p:cNvPr id="13" name="Conector de seta reta 12"/>
          <p:cNvCxnSpPr>
            <a:stCxn id="6" idx="5"/>
            <a:endCxn id="8" idx="1"/>
          </p:cNvCxnSpPr>
          <p:nvPr/>
        </p:nvCxnSpPr>
        <p:spPr>
          <a:xfrm>
            <a:off x="1350736" y="1645635"/>
            <a:ext cx="768523" cy="57810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459840" y="3673888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3" name="Conector de seta reta 32"/>
          <p:cNvCxnSpPr/>
          <p:nvPr/>
        </p:nvCxnSpPr>
        <p:spPr>
          <a:xfrm flipH="1">
            <a:off x="420639" y="4050487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>
            <a:spLocks noChangeAspect="1"/>
          </p:cNvSpPr>
          <p:nvPr/>
        </p:nvSpPr>
        <p:spPr>
          <a:xfrm>
            <a:off x="2587201" y="3673887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6" name="Conector de seta reta 35"/>
          <p:cNvCxnSpPr/>
          <p:nvPr/>
        </p:nvCxnSpPr>
        <p:spPr>
          <a:xfrm flipH="1">
            <a:off x="4307022" y="4050487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de seta reta 36"/>
          <p:cNvCxnSpPr/>
          <p:nvPr/>
        </p:nvCxnSpPr>
        <p:spPr>
          <a:xfrm flipH="1">
            <a:off x="2537936" y="4050487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>
            <a:spLocks noChangeAspect="1"/>
          </p:cNvSpPr>
          <p:nvPr/>
        </p:nvSpPr>
        <p:spPr>
          <a:xfrm>
            <a:off x="4346223" y="3673887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698311" y="3612692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698311" y="3896599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2821710" y="3612692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4589498" y="3612692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589498" y="3896599"/>
            <a:ext cx="1471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retorno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2821710" y="3896599"/>
            <a:ext cx="139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árvore</a:t>
            </a:r>
          </a:p>
        </p:txBody>
      </p: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de seta reta 103"/>
          <p:cNvCxnSpPr>
            <a:stCxn id="7" idx="6"/>
            <a:endCxn id="9" idx="1"/>
          </p:cNvCxnSpPr>
          <p:nvPr/>
        </p:nvCxnSpPr>
        <p:spPr>
          <a:xfrm>
            <a:off x="2309608" y="1561104"/>
            <a:ext cx="393124" cy="288251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106"/>
          <p:cNvCxnSpPr>
            <a:stCxn id="8" idx="6"/>
            <a:endCxn id="9" idx="3"/>
          </p:cNvCxnSpPr>
          <p:nvPr/>
        </p:nvCxnSpPr>
        <p:spPr>
          <a:xfrm flipV="1">
            <a:off x="2315659" y="2008430"/>
            <a:ext cx="387073" cy="29484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/>
          <p:cNvCxnSpPr/>
          <p:nvPr/>
        </p:nvCxnSpPr>
        <p:spPr>
          <a:xfrm flipH="1">
            <a:off x="4315078" y="433439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e seta reta 34"/>
          <p:cNvCxnSpPr/>
          <p:nvPr/>
        </p:nvCxnSpPr>
        <p:spPr>
          <a:xfrm flipH="1">
            <a:off x="2545992" y="4334394"/>
            <a:ext cx="262480" cy="1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aixaDeTexto 42"/>
          <p:cNvSpPr txBox="1"/>
          <p:nvPr/>
        </p:nvSpPr>
        <p:spPr>
          <a:xfrm>
            <a:off x="4597554" y="4180506"/>
            <a:ext cx="17827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cruzamento</a:t>
            </a:r>
          </a:p>
        </p:txBody>
      </p:sp>
      <p:sp>
        <p:nvSpPr>
          <p:cNvPr id="46" name="CaixaDeTexto 45"/>
          <p:cNvSpPr txBox="1"/>
          <p:nvPr/>
        </p:nvSpPr>
        <p:spPr>
          <a:xfrm>
            <a:off x="2829766" y="4180506"/>
            <a:ext cx="14294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avanço</a:t>
            </a:r>
          </a:p>
        </p:txBody>
      </p:sp>
      <p:graphicFrame>
        <p:nvGraphicFramePr>
          <p:cNvPr id="53" name="Tabela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656506"/>
              </p:ext>
            </p:extLst>
          </p:nvPr>
        </p:nvGraphicFramePr>
        <p:xfrm>
          <a:off x="3158661" y="1273066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f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e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0" name="CaixaDeTexto 49"/>
          <p:cNvSpPr txBox="1"/>
          <p:nvPr/>
        </p:nvSpPr>
        <p:spPr>
          <a:xfrm>
            <a:off x="6665906" y="3766580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51" name="Conector reto 50"/>
          <p:cNvCxnSpPr/>
          <p:nvPr/>
        </p:nvCxnSpPr>
        <p:spPr>
          <a:xfrm>
            <a:off x="6349033" y="1369930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Elipse 51"/>
          <p:cNvSpPr/>
          <p:nvPr/>
        </p:nvSpPr>
        <p:spPr>
          <a:xfrm>
            <a:off x="7128893" y="162924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914804" y="2617084"/>
            <a:ext cx="20649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BP(e)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</a:t>
            </a:r>
            <a:r>
              <a:rPr lang="pt-BR" sz="1600" b="1" dirty="0">
                <a:solidFill>
                  <a:srgbClr val="00B0F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5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49" name="Conector de seta reta 48"/>
          <p:cNvCxnSpPr>
            <a:stCxn id="56" idx="0"/>
          </p:cNvCxnSpPr>
          <p:nvPr/>
        </p:nvCxnSpPr>
        <p:spPr>
          <a:xfrm flipH="1" flipV="1">
            <a:off x="7243942" y="1854214"/>
            <a:ext cx="1" cy="371130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/>
          <p:cNvSpPr/>
          <p:nvPr/>
        </p:nvSpPr>
        <p:spPr>
          <a:xfrm>
            <a:off x="7128894" y="222534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58" name="CaixaDeTexto 57"/>
          <p:cNvSpPr txBox="1"/>
          <p:nvPr/>
        </p:nvSpPr>
        <p:spPr>
          <a:xfrm>
            <a:off x="914804" y="2919967"/>
            <a:ext cx="19059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BP(f) 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(f)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57" name="Conector de seta reta 56"/>
          <p:cNvCxnSpPr>
            <a:stCxn id="59" idx="0"/>
          </p:cNvCxnSpPr>
          <p:nvPr/>
        </p:nvCxnSpPr>
        <p:spPr>
          <a:xfrm flipV="1">
            <a:off x="7243943" y="2450309"/>
            <a:ext cx="0" cy="370870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Elipse 58"/>
          <p:cNvSpPr/>
          <p:nvPr/>
        </p:nvSpPr>
        <p:spPr>
          <a:xfrm>
            <a:off x="7128894" y="282117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62" name="CaixaDeTexto 61"/>
          <p:cNvSpPr txBox="1"/>
          <p:nvPr/>
        </p:nvSpPr>
        <p:spPr>
          <a:xfrm>
            <a:off x="914804" y="3222850"/>
            <a:ext cx="19111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BP(b)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= { </a:t>
            </a:r>
            <a:r>
              <a:rPr lang="pt-BR" sz="1600" b="1" dirty="0">
                <a:solidFill>
                  <a:srgbClr val="00B0F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sp>
        <p:nvSpPr>
          <p:cNvPr id="60" name="Elipse 59"/>
          <p:cNvSpPr/>
          <p:nvPr/>
        </p:nvSpPr>
        <p:spPr>
          <a:xfrm>
            <a:off x="7128892" y="343661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61" name="Conector de seta reta 60"/>
          <p:cNvCxnSpPr>
            <a:stCxn id="60" idx="0"/>
          </p:cNvCxnSpPr>
          <p:nvPr/>
        </p:nvCxnSpPr>
        <p:spPr>
          <a:xfrm flipV="1">
            <a:off x="7243941" y="3046145"/>
            <a:ext cx="2" cy="390473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aixaDeTexto 63"/>
          <p:cNvSpPr txBox="1"/>
          <p:nvPr/>
        </p:nvSpPr>
        <p:spPr>
          <a:xfrm>
            <a:off x="3205386" y="2612377"/>
            <a:ext cx="18662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BP(d)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</a:t>
            </a:r>
            <a:r>
              <a:rPr lang="pt-BR" sz="1600" b="1" dirty="0">
                <a:solidFill>
                  <a:srgbClr val="FF000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63" name="Conector angulado 139"/>
          <p:cNvCxnSpPr/>
          <p:nvPr/>
        </p:nvCxnSpPr>
        <p:spPr>
          <a:xfrm rot="10800000" flipH="1">
            <a:off x="7128892" y="2337829"/>
            <a:ext cx="2" cy="1211273"/>
          </a:xfrm>
          <a:prstGeom prst="curvedConnector3">
            <a:avLst>
              <a:gd name="adj1" fmla="val -11430000000"/>
            </a:avLst>
          </a:prstGeom>
          <a:ln w="19050">
            <a:solidFill>
              <a:srgbClr val="FF000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Elipse 67"/>
          <p:cNvSpPr/>
          <p:nvPr/>
        </p:nvSpPr>
        <p:spPr>
          <a:xfrm>
            <a:off x="8063936" y="162425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5" name="CaixaDeTexto 64"/>
          <p:cNvSpPr txBox="1"/>
          <p:nvPr/>
        </p:nvSpPr>
        <p:spPr>
          <a:xfrm>
            <a:off x="3205386" y="2914247"/>
            <a:ext cx="21328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BP(c)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(c) 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a, e }</a:t>
            </a:r>
            <a:endParaRPr lang="pt-BR" sz="1600" dirty="0"/>
          </a:p>
        </p:txBody>
      </p:sp>
      <p:cxnSp>
        <p:nvCxnSpPr>
          <p:cNvPr id="66" name="Conector angulado 147"/>
          <p:cNvCxnSpPr/>
          <p:nvPr/>
        </p:nvCxnSpPr>
        <p:spPr>
          <a:xfrm>
            <a:off x="7358990" y="1741732"/>
            <a:ext cx="1" cy="1191930"/>
          </a:xfrm>
          <a:prstGeom prst="curvedConnector3">
            <a:avLst>
              <a:gd name="adj1" fmla="val 22860100000"/>
            </a:avLst>
          </a:prstGeom>
          <a:ln w="19050">
            <a:solidFill>
              <a:srgbClr val="00B05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9" name="Elipse 8"/>
          <p:cNvSpPr/>
          <p:nvPr/>
        </p:nvSpPr>
        <p:spPr>
          <a:xfrm>
            <a:off x="2669035" y="1816410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0253197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Exemplo</a:t>
            </a:r>
          </a:p>
        </p:txBody>
      </p:sp>
      <p:cxnSp>
        <p:nvCxnSpPr>
          <p:cNvPr id="13" name="Conector de seta reta 12"/>
          <p:cNvCxnSpPr>
            <a:stCxn id="6" idx="5"/>
            <a:endCxn id="8" idx="1"/>
          </p:cNvCxnSpPr>
          <p:nvPr/>
        </p:nvCxnSpPr>
        <p:spPr>
          <a:xfrm>
            <a:off x="1350736" y="1645635"/>
            <a:ext cx="768523" cy="57810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459840" y="3673888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3" name="Conector de seta reta 32"/>
          <p:cNvCxnSpPr/>
          <p:nvPr/>
        </p:nvCxnSpPr>
        <p:spPr>
          <a:xfrm flipH="1">
            <a:off x="420639" y="4050487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>
            <a:spLocks noChangeAspect="1"/>
          </p:cNvSpPr>
          <p:nvPr/>
        </p:nvSpPr>
        <p:spPr>
          <a:xfrm>
            <a:off x="2587201" y="3673887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6" name="Conector de seta reta 35"/>
          <p:cNvCxnSpPr/>
          <p:nvPr/>
        </p:nvCxnSpPr>
        <p:spPr>
          <a:xfrm flipH="1">
            <a:off x="4307022" y="4050487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de seta reta 36"/>
          <p:cNvCxnSpPr/>
          <p:nvPr/>
        </p:nvCxnSpPr>
        <p:spPr>
          <a:xfrm flipH="1">
            <a:off x="2537936" y="4050487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>
            <a:spLocks noChangeAspect="1"/>
          </p:cNvSpPr>
          <p:nvPr/>
        </p:nvSpPr>
        <p:spPr>
          <a:xfrm>
            <a:off x="4346223" y="3673887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698311" y="3612692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698311" y="3896599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2821710" y="3612692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4589498" y="3612692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589498" y="3896599"/>
            <a:ext cx="1471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retorno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2821710" y="3896599"/>
            <a:ext cx="139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árvore</a:t>
            </a:r>
          </a:p>
        </p:txBody>
      </p: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de seta reta 103"/>
          <p:cNvCxnSpPr>
            <a:stCxn id="7" idx="6"/>
            <a:endCxn id="9" idx="1"/>
          </p:cNvCxnSpPr>
          <p:nvPr/>
        </p:nvCxnSpPr>
        <p:spPr>
          <a:xfrm>
            <a:off x="2309608" y="1561104"/>
            <a:ext cx="393124" cy="288251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106"/>
          <p:cNvCxnSpPr>
            <a:stCxn id="8" idx="6"/>
            <a:endCxn id="9" idx="3"/>
          </p:cNvCxnSpPr>
          <p:nvPr/>
        </p:nvCxnSpPr>
        <p:spPr>
          <a:xfrm flipV="1">
            <a:off x="2315659" y="2008430"/>
            <a:ext cx="387073" cy="29484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/>
          <p:cNvCxnSpPr/>
          <p:nvPr/>
        </p:nvCxnSpPr>
        <p:spPr>
          <a:xfrm flipH="1">
            <a:off x="4315078" y="433439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e seta reta 34"/>
          <p:cNvCxnSpPr/>
          <p:nvPr/>
        </p:nvCxnSpPr>
        <p:spPr>
          <a:xfrm flipH="1">
            <a:off x="2545992" y="4334394"/>
            <a:ext cx="262480" cy="1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aixaDeTexto 42"/>
          <p:cNvSpPr txBox="1"/>
          <p:nvPr/>
        </p:nvSpPr>
        <p:spPr>
          <a:xfrm>
            <a:off x="4597554" y="4180506"/>
            <a:ext cx="17827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cruzamento</a:t>
            </a:r>
          </a:p>
        </p:txBody>
      </p:sp>
      <p:sp>
        <p:nvSpPr>
          <p:cNvPr id="46" name="CaixaDeTexto 45"/>
          <p:cNvSpPr txBox="1"/>
          <p:nvPr/>
        </p:nvSpPr>
        <p:spPr>
          <a:xfrm>
            <a:off x="2829766" y="4180506"/>
            <a:ext cx="14294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avanço</a:t>
            </a:r>
          </a:p>
        </p:txBody>
      </p:sp>
      <p:graphicFrame>
        <p:nvGraphicFramePr>
          <p:cNvPr id="53" name="Tabela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0113305"/>
              </p:ext>
            </p:extLst>
          </p:nvPr>
        </p:nvGraphicFramePr>
        <p:xfrm>
          <a:off x="3158661" y="1273066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c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f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e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0" name="CaixaDeTexto 49"/>
          <p:cNvSpPr txBox="1"/>
          <p:nvPr/>
        </p:nvSpPr>
        <p:spPr>
          <a:xfrm>
            <a:off x="6665906" y="3766580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51" name="Conector reto 50"/>
          <p:cNvCxnSpPr/>
          <p:nvPr/>
        </p:nvCxnSpPr>
        <p:spPr>
          <a:xfrm>
            <a:off x="6349033" y="1369930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Elipse 51"/>
          <p:cNvSpPr/>
          <p:nvPr/>
        </p:nvSpPr>
        <p:spPr>
          <a:xfrm>
            <a:off x="7128893" y="162924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914804" y="2617084"/>
            <a:ext cx="20649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BP(e)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</a:t>
            </a:r>
            <a:r>
              <a:rPr lang="pt-BR" sz="1600" b="1" dirty="0">
                <a:solidFill>
                  <a:srgbClr val="00B0F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5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49" name="Conector de seta reta 48"/>
          <p:cNvCxnSpPr>
            <a:stCxn id="56" idx="0"/>
          </p:cNvCxnSpPr>
          <p:nvPr/>
        </p:nvCxnSpPr>
        <p:spPr>
          <a:xfrm flipH="1" flipV="1">
            <a:off x="7243942" y="1854214"/>
            <a:ext cx="1" cy="371130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/>
          <p:cNvSpPr/>
          <p:nvPr/>
        </p:nvSpPr>
        <p:spPr>
          <a:xfrm>
            <a:off x="7128894" y="222534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58" name="CaixaDeTexto 57"/>
          <p:cNvSpPr txBox="1"/>
          <p:nvPr/>
        </p:nvSpPr>
        <p:spPr>
          <a:xfrm>
            <a:off x="914804" y="2919967"/>
            <a:ext cx="19059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BP(f) 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(f)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57" name="Conector de seta reta 56"/>
          <p:cNvCxnSpPr>
            <a:stCxn id="59" idx="0"/>
          </p:cNvCxnSpPr>
          <p:nvPr/>
        </p:nvCxnSpPr>
        <p:spPr>
          <a:xfrm flipV="1">
            <a:off x="7243943" y="2450309"/>
            <a:ext cx="0" cy="370870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Elipse 58"/>
          <p:cNvSpPr/>
          <p:nvPr/>
        </p:nvSpPr>
        <p:spPr>
          <a:xfrm>
            <a:off x="7128894" y="282117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62" name="CaixaDeTexto 61"/>
          <p:cNvSpPr txBox="1"/>
          <p:nvPr/>
        </p:nvSpPr>
        <p:spPr>
          <a:xfrm>
            <a:off x="914804" y="3222850"/>
            <a:ext cx="19111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BP(b)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= { </a:t>
            </a:r>
            <a:r>
              <a:rPr lang="pt-BR" sz="1600" b="1" dirty="0">
                <a:solidFill>
                  <a:srgbClr val="00B0F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sp>
        <p:nvSpPr>
          <p:cNvPr id="60" name="Elipse 59"/>
          <p:cNvSpPr/>
          <p:nvPr/>
        </p:nvSpPr>
        <p:spPr>
          <a:xfrm>
            <a:off x="7128892" y="343661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61" name="Conector de seta reta 60"/>
          <p:cNvCxnSpPr>
            <a:stCxn id="60" idx="0"/>
          </p:cNvCxnSpPr>
          <p:nvPr/>
        </p:nvCxnSpPr>
        <p:spPr>
          <a:xfrm flipV="1">
            <a:off x="7243941" y="3046145"/>
            <a:ext cx="2" cy="390473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aixaDeTexto 63"/>
          <p:cNvSpPr txBox="1"/>
          <p:nvPr/>
        </p:nvSpPr>
        <p:spPr>
          <a:xfrm>
            <a:off x="3205386" y="2612377"/>
            <a:ext cx="18662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BP(d)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</a:t>
            </a:r>
            <a:r>
              <a:rPr lang="pt-BR" sz="1600" b="1" dirty="0">
                <a:solidFill>
                  <a:srgbClr val="FF000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63" name="Conector angulado 139"/>
          <p:cNvCxnSpPr/>
          <p:nvPr/>
        </p:nvCxnSpPr>
        <p:spPr>
          <a:xfrm rot="10800000" flipH="1">
            <a:off x="7128892" y="2337829"/>
            <a:ext cx="2" cy="1211273"/>
          </a:xfrm>
          <a:prstGeom prst="curvedConnector3">
            <a:avLst>
              <a:gd name="adj1" fmla="val -11430000000"/>
            </a:avLst>
          </a:prstGeom>
          <a:ln w="19050">
            <a:solidFill>
              <a:srgbClr val="FF000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Elipse 67"/>
          <p:cNvSpPr/>
          <p:nvPr/>
        </p:nvSpPr>
        <p:spPr>
          <a:xfrm>
            <a:off x="8063936" y="162425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5" name="CaixaDeTexto 64"/>
          <p:cNvSpPr txBox="1"/>
          <p:nvPr/>
        </p:nvSpPr>
        <p:spPr>
          <a:xfrm>
            <a:off x="3205386" y="2914247"/>
            <a:ext cx="21328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BP(c)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(c) 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a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e }</a:t>
            </a:r>
            <a:endParaRPr lang="pt-BR" sz="1600" dirty="0"/>
          </a:p>
        </p:txBody>
      </p:sp>
      <p:sp>
        <p:nvSpPr>
          <p:cNvPr id="66" name="Elipse 65"/>
          <p:cNvSpPr/>
          <p:nvPr/>
        </p:nvSpPr>
        <p:spPr>
          <a:xfrm>
            <a:off x="8063936" y="222024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cxnSp>
        <p:nvCxnSpPr>
          <p:cNvPr id="69" name="Conector de seta reta 68"/>
          <p:cNvCxnSpPr>
            <a:stCxn id="66" idx="0"/>
          </p:cNvCxnSpPr>
          <p:nvPr/>
        </p:nvCxnSpPr>
        <p:spPr>
          <a:xfrm flipV="1">
            <a:off x="8178985" y="1849219"/>
            <a:ext cx="0" cy="371029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ctor angulado 147"/>
          <p:cNvCxnSpPr/>
          <p:nvPr/>
        </p:nvCxnSpPr>
        <p:spPr>
          <a:xfrm>
            <a:off x="7358990" y="1741732"/>
            <a:ext cx="1" cy="1191930"/>
          </a:xfrm>
          <a:prstGeom prst="curvedConnector3">
            <a:avLst>
              <a:gd name="adj1" fmla="val 22860100000"/>
            </a:avLst>
          </a:prstGeom>
          <a:ln w="19050">
            <a:solidFill>
              <a:srgbClr val="00B05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9" name="Elipse 8"/>
          <p:cNvSpPr/>
          <p:nvPr/>
        </p:nvSpPr>
        <p:spPr>
          <a:xfrm>
            <a:off x="2669035" y="1816410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199491216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Exemplo</a:t>
            </a:r>
          </a:p>
        </p:txBody>
      </p:sp>
      <p:cxnSp>
        <p:nvCxnSpPr>
          <p:cNvPr id="13" name="Conector de seta reta 12"/>
          <p:cNvCxnSpPr>
            <a:stCxn id="6" idx="5"/>
            <a:endCxn id="8" idx="1"/>
          </p:cNvCxnSpPr>
          <p:nvPr/>
        </p:nvCxnSpPr>
        <p:spPr>
          <a:xfrm>
            <a:off x="1350736" y="1645635"/>
            <a:ext cx="768523" cy="57810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459840" y="3673888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3" name="Conector de seta reta 32"/>
          <p:cNvCxnSpPr/>
          <p:nvPr/>
        </p:nvCxnSpPr>
        <p:spPr>
          <a:xfrm flipH="1">
            <a:off x="420639" y="4050487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>
            <a:spLocks noChangeAspect="1"/>
          </p:cNvSpPr>
          <p:nvPr/>
        </p:nvSpPr>
        <p:spPr>
          <a:xfrm>
            <a:off x="2587201" y="3673887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6" name="Conector de seta reta 35"/>
          <p:cNvCxnSpPr/>
          <p:nvPr/>
        </p:nvCxnSpPr>
        <p:spPr>
          <a:xfrm flipH="1">
            <a:off x="4307022" y="4050487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de seta reta 36"/>
          <p:cNvCxnSpPr/>
          <p:nvPr/>
        </p:nvCxnSpPr>
        <p:spPr>
          <a:xfrm flipH="1">
            <a:off x="2537936" y="4050487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>
            <a:spLocks noChangeAspect="1"/>
          </p:cNvSpPr>
          <p:nvPr/>
        </p:nvSpPr>
        <p:spPr>
          <a:xfrm>
            <a:off x="4346223" y="3673887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698311" y="3612692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698311" y="3896599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2821710" y="3612692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4589498" y="3612692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589498" y="3896599"/>
            <a:ext cx="1471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retorno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2821710" y="3896599"/>
            <a:ext cx="139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árvore</a:t>
            </a:r>
          </a:p>
        </p:txBody>
      </p: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de seta reta 103"/>
          <p:cNvCxnSpPr>
            <a:stCxn id="7" idx="6"/>
            <a:endCxn id="9" idx="1"/>
          </p:cNvCxnSpPr>
          <p:nvPr/>
        </p:nvCxnSpPr>
        <p:spPr>
          <a:xfrm>
            <a:off x="2309608" y="1561104"/>
            <a:ext cx="393124" cy="288251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106"/>
          <p:cNvCxnSpPr>
            <a:stCxn id="8" idx="6"/>
            <a:endCxn id="9" idx="3"/>
          </p:cNvCxnSpPr>
          <p:nvPr/>
        </p:nvCxnSpPr>
        <p:spPr>
          <a:xfrm flipV="1">
            <a:off x="2315659" y="2008430"/>
            <a:ext cx="387073" cy="29484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/>
          <p:cNvCxnSpPr/>
          <p:nvPr/>
        </p:nvCxnSpPr>
        <p:spPr>
          <a:xfrm flipH="1">
            <a:off x="4315078" y="433439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e seta reta 34"/>
          <p:cNvCxnSpPr/>
          <p:nvPr/>
        </p:nvCxnSpPr>
        <p:spPr>
          <a:xfrm flipH="1">
            <a:off x="2545992" y="4334394"/>
            <a:ext cx="262480" cy="1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aixaDeTexto 42"/>
          <p:cNvSpPr txBox="1"/>
          <p:nvPr/>
        </p:nvSpPr>
        <p:spPr>
          <a:xfrm>
            <a:off x="4597554" y="4180506"/>
            <a:ext cx="17827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cruzamento</a:t>
            </a:r>
          </a:p>
        </p:txBody>
      </p:sp>
      <p:sp>
        <p:nvSpPr>
          <p:cNvPr id="46" name="CaixaDeTexto 45"/>
          <p:cNvSpPr txBox="1"/>
          <p:nvPr/>
        </p:nvSpPr>
        <p:spPr>
          <a:xfrm>
            <a:off x="2829766" y="4180506"/>
            <a:ext cx="14294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avanço</a:t>
            </a:r>
          </a:p>
        </p:txBody>
      </p:sp>
      <p:graphicFrame>
        <p:nvGraphicFramePr>
          <p:cNvPr id="53" name="Tabela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2156852"/>
              </p:ext>
            </p:extLst>
          </p:nvPr>
        </p:nvGraphicFramePr>
        <p:xfrm>
          <a:off x="3158661" y="1273066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c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f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e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0" name="CaixaDeTexto 49"/>
          <p:cNvSpPr txBox="1"/>
          <p:nvPr/>
        </p:nvSpPr>
        <p:spPr>
          <a:xfrm>
            <a:off x="6665906" y="3766580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51" name="Conector reto 50"/>
          <p:cNvCxnSpPr/>
          <p:nvPr/>
        </p:nvCxnSpPr>
        <p:spPr>
          <a:xfrm>
            <a:off x="6349033" y="1369930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Elipse 51"/>
          <p:cNvSpPr/>
          <p:nvPr/>
        </p:nvSpPr>
        <p:spPr>
          <a:xfrm>
            <a:off x="7128893" y="162924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914804" y="2617084"/>
            <a:ext cx="20649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BP(e)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</a:t>
            </a:r>
            <a:r>
              <a:rPr lang="pt-BR" sz="1600" b="1" dirty="0">
                <a:solidFill>
                  <a:srgbClr val="00B0F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5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49" name="Conector de seta reta 48"/>
          <p:cNvCxnSpPr>
            <a:stCxn id="56" idx="0"/>
          </p:cNvCxnSpPr>
          <p:nvPr/>
        </p:nvCxnSpPr>
        <p:spPr>
          <a:xfrm flipH="1" flipV="1">
            <a:off x="7243942" y="1854214"/>
            <a:ext cx="1" cy="371130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/>
          <p:cNvSpPr/>
          <p:nvPr/>
        </p:nvSpPr>
        <p:spPr>
          <a:xfrm>
            <a:off x="7128894" y="222534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58" name="CaixaDeTexto 57"/>
          <p:cNvSpPr txBox="1"/>
          <p:nvPr/>
        </p:nvSpPr>
        <p:spPr>
          <a:xfrm>
            <a:off x="914804" y="2919967"/>
            <a:ext cx="19059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BP(f) 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(f)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57" name="Conector de seta reta 56"/>
          <p:cNvCxnSpPr>
            <a:stCxn id="59" idx="0"/>
          </p:cNvCxnSpPr>
          <p:nvPr/>
        </p:nvCxnSpPr>
        <p:spPr>
          <a:xfrm flipV="1">
            <a:off x="7243943" y="2450309"/>
            <a:ext cx="0" cy="370870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Elipse 58"/>
          <p:cNvSpPr/>
          <p:nvPr/>
        </p:nvSpPr>
        <p:spPr>
          <a:xfrm>
            <a:off x="7128894" y="282117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62" name="CaixaDeTexto 61"/>
          <p:cNvSpPr txBox="1"/>
          <p:nvPr/>
        </p:nvSpPr>
        <p:spPr>
          <a:xfrm>
            <a:off x="914804" y="3222850"/>
            <a:ext cx="19111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BP(b)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= { </a:t>
            </a:r>
            <a:r>
              <a:rPr lang="pt-BR" sz="1600" b="1" dirty="0">
                <a:solidFill>
                  <a:srgbClr val="00B0F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sp>
        <p:nvSpPr>
          <p:cNvPr id="60" name="Elipse 59"/>
          <p:cNvSpPr/>
          <p:nvPr/>
        </p:nvSpPr>
        <p:spPr>
          <a:xfrm>
            <a:off x="7128892" y="343661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61" name="Conector de seta reta 60"/>
          <p:cNvCxnSpPr>
            <a:stCxn id="60" idx="0"/>
          </p:cNvCxnSpPr>
          <p:nvPr/>
        </p:nvCxnSpPr>
        <p:spPr>
          <a:xfrm flipV="1">
            <a:off x="7243941" y="3046145"/>
            <a:ext cx="2" cy="390473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aixaDeTexto 63"/>
          <p:cNvSpPr txBox="1"/>
          <p:nvPr/>
        </p:nvSpPr>
        <p:spPr>
          <a:xfrm>
            <a:off x="3205386" y="2612377"/>
            <a:ext cx="18662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BP(d)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</a:t>
            </a:r>
            <a:r>
              <a:rPr lang="pt-BR" sz="1600" b="1" dirty="0">
                <a:solidFill>
                  <a:srgbClr val="FF000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63" name="Conector angulado 139"/>
          <p:cNvCxnSpPr/>
          <p:nvPr/>
        </p:nvCxnSpPr>
        <p:spPr>
          <a:xfrm rot="10800000" flipH="1">
            <a:off x="7128892" y="2337829"/>
            <a:ext cx="2" cy="1211273"/>
          </a:xfrm>
          <a:prstGeom prst="curvedConnector3">
            <a:avLst>
              <a:gd name="adj1" fmla="val -11430000000"/>
            </a:avLst>
          </a:prstGeom>
          <a:ln w="19050">
            <a:solidFill>
              <a:srgbClr val="FF000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Elipse 67"/>
          <p:cNvSpPr/>
          <p:nvPr/>
        </p:nvSpPr>
        <p:spPr>
          <a:xfrm>
            <a:off x="8063936" y="162425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5" name="CaixaDeTexto 64"/>
          <p:cNvSpPr txBox="1"/>
          <p:nvPr/>
        </p:nvSpPr>
        <p:spPr>
          <a:xfrm>
            <a:off x="3205386" y="2914247"/>
            <a:ext cx="21328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BP(c)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(c) 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a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e }</a:t>
            </a:r>
            <a:endParaRPr lang="pt-BR" sz="1600" dirty="0"/>
          </a:p>
        </p:txBody>
      </p:sp>
      <p:sp>
        <p:nvSpPr>
          <p:cNvPr id="66" name="Elipse 65"/>
          <p:cNvSpPr/>
          <p:nvPr/>
        </p:nvSpPr>
        <p:spPr>
          <a:xfrm>
            <a:off x="8063936" y="222024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cxnSp>
        <p:nvCxnSpPr>
          <p:cNvPr id="69" name="Conector de seta reta 68"/>
          <p:cNvCxnSpPr>
            <a:stCxn id="66" idx="0"/>
          </p:cNvCxnSpPr>
          <p:nvPr/>
        </p:nvCxnSpPr>
        <p:spPr>
          <a:xfrm flipV="1">
            <a:off x="8178985" y="1849219"/>
            <a:ext cx="0" cy="371029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CaixaDeTexto 69"/>
          <p:cNvSpPr txBox="1"/>
          <p:nvPr/>
        </p:nvSpPr>
        <p:spPr>
          <a:xfrm>
            <a:off x="3205386" y="3216117"/>
            <a:ext cx="6254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BP(a)</a:t>
            </a:r>
            <a:endParaRPr lang="pt-BR" sz="1600" dirty="0"/>
          </a:p>
        </p:txBody>
      </p:sp>
      <p:cxnSp>
        <p:nvCxnSpPr>
          <p:cNvPr id="71" name="Conector angulado 147"/>
          <p:cNvCxnSpPr/>
          <p:nvPr/>
        </p:nvCxnSpPr>
        <p:spPr>
          <a:xfrm>
            <a:off x="7358990" y="1741732"/>
            <a:ext cx="1" cy="1191930"/>
          </a:xfrm>
          <a:prstGeom prst="curvedConnector3">
            <a:avLst>
              <a:gd name="adj1" fmla="val 22860100000"/>
            </a:avLst>
          </a:prstGeom>
          <a:ln w="19050">
            <a:solidFill>
              <a:srgbClr val="00B05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9" name="Elipse 8"/>
          <p:cNvSpPr/>
          <p:nvPr/>
        </p:nvSpPr>
        <p:spPr>
          <a:xfrm>
            <a:off x="2669035" y="1816410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561380937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Exemplo</a:t>
            </a:r>
          </a:p>
        </p:txBody>
      </p:sp>
      <p:cxnSp>
        <p:nvCxnSpPr>
          <p:cNvPr id="13" name="Conector de seta reta 12"/>
          <p:cNvCxnSpPr>
            <a:stCxn id="6" idx="5"/>
            <a:endCxn id="8" idx="1"/>
          </p:cNvCxnSpPr>
          <p:nvPr/>
        </p:nvCxnSpPr>
        <p:spPr>
          <a:xfrm>
            <a:off x="1350736" y="1645635"/>
            <a:ext cx="768523" cy="57810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459840" y="3673888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3" name="Conector de seta reta 32"/>
          <p:cNvCxnSpPr/>
          <p:nvPr/>
        </p:nvCxnSpPr>
        <p:spPr>
          <a:xfrm flipH="1">
            <a:off x="420639" y="4050487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>
            <a:spLocks noChangeAspect="1"/>
          </p:cNvSpPr>
          <p:nvPr/>
        </p:nvSpPr>
        <p:spPr>
          <a:xfrm>
            <a:off x="2587201" y="3673887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6" name="Conector de seta reta 35"/>
          <p:cNvCxnSpPr/>
          <p:nvPr/>
        </p:nvCxnSpPr>
        <p:spPr>
          <a:xfrm flipH="1">
            <a:off x="4307022" y="4050487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de seta reta 36"/>
          <p:cNvCxnSpPr/>
          <p:nvPr/>
        </p:nvCxnSpPr>
        <p:spPr>
          <a:xfrm flipH="1">
            <a:off x="2537936" y="4050487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>
            <a:spLocks noChangeAspect="1"/>
          </p:cNvSpPr>
          <p:nvPr/>
        </p:nvSpPr>
        <p:spPr>
          <a:xfrm>
            <a:off x="4346223" y="3673887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698311" y="3612692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698311" y="3896599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2821710" y="3612692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4589498" y="3612692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589498" y="3896599"/>
            <a:ext cx="1471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retorno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2821710" y="3896599"/>
            <a:ext cx="139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árvore</a:t>
            </a:r>
          </a:p>
        </p:txBody>
      </p: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de seta reta 103"/>
          <p:cNvCxnSpPr>
            <a:stCxn id="7" idx="6"/>
            <a:endCxn id="9" idx="1"/>
          </p:cNvCxnSpPr>
          <p:nvPr/>
        </p:nvCxnSpPr>
        <p:spPr>
          <a:xfrm>
            <a:off x="2309608" y="1561104"/>
            <a:ext cx="393124" cy="288251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106"/>
          <p:cNvCxnSpPr>
            <a:stCxn id="8" idx="6"/>
            <a:endCxn id="9" idx="3"/>
          </p:cNvCxnSpPr>
          <p:nvPr/>
        </p:nvCxnSpPr>
        <p:spPr>
          <a:xfrm flipV="1">
            <a:off x="2315659" y="2008430"/>
            <a:ext cx="387073" cy="29484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/>
          <p:cNvCxnSpPr/>
          <p:nvPr/>
        </p:nvCxnSpPr>
        <p:spPr>
          <a:xfrm flipH="1">
            <a:off x="4315078" y="433439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e seta reta 34"/>
          <p:cNvCxnSpPr/>
          <p:nvPr/>
        </p:nvCxnSpPr>
        <p:spPr>
          <a:xfrm flipH="1">
            <a:off x="2545992" y="4334394"/>
            <a:ext cx="262480" cy="1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aixaDeTexto 42"/>
          <p:cNvSpPr txBox="1"/>
          <p:nvPr/>
        </p:nvSpPr>
        <p:spPr>
          <a:xfrm>
            <a:off x="4597554" y="4180506"/>
            <a:ext cx="17827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cruzamento</a:t>
            </a:r>
          </a:p>
        </p:txBody>
      </p:sp>
      <p:sp>
        <p:nvSpPr>
          <p:cNvPr id="46" name="CaixaDeTexto 45"/>
          <p:cNvSpPr txBox="1"/>
          <p:nvPr/>
        </p:nvSpPr>
        <p:spPr>
          <a:xfrm>
            <a:off x="2829766" y="4180506"/>
            <a:ext cx="14294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avanço</a:t>
            </a:r>
          </a:p>
        </p:txBody>
      </p:sp>
      <p:graphicFrame>
        <p:nvGraphicFramePr>
          <p:cNvPr id="53" name="Tabela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2156852"/>
              </p:ext>
            </p:extLst>
          </p:nvPr>
        </p:nvGraphicFramePr>
        <p:xfrm>
          <a:off x="3158661" y="1273066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c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f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e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0" name="CaixaDeTexto 49"/>
          <p:cNvSpPr txBox="1"/>
          <p:nvPr/>
        </p:nvSpPr>
        <p:spPr>
          <a:xfrm>
            <a:off x="6665906" y="3766580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51" name="Conector reto 50"/>
          <p:cNvCxnSpPr/>
          <p:nvPr/>
        </p:nvCxnSpPr>
        <p:spPr>
          <a:xfrm>
            <a:off x="6349033" y="1369930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Elipse 51"/>
          <p:cNvSpPr/>
          <p:nvPr/>
        </p:nvSpPr>
        <p:spPr>
          <a:xfrm>
            <a:off x="7128893" y="162924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914804" y="2617084"/>
            <a:ext cx="20649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BP(e)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</a:t>
            </a:r>
            <a:r>
              <a:rPr lang="pt-BR" sz="1600" b="1" dirty="0">
                <a:solidFill>
                  <a:srgbClr val="00B0F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5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49" name="Conector de seta reta 48"/>
          <p:cNvCxnSpPr>
            <a:stCxn id="56" idx="0"/>
          </p:cNvCxnSpPr>
          <p:nvPr/>
        </p:nvCxnSpPr>
        <p:spPr>
          <a:xfrm flipH="1" flipV="1">
            <a:off x="7243942" y="1854214"/>
            <a:ext cx="1" cy="371130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/>
          <p:cNvSpPr/>
          <p:nvPr/>
        </p:nvSpPr>
        <p:spPr>
          <a:xfrm>
            <a:off x="7128894" y="222534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58" name="CaixaDeTexto 57"/>
          <p:cNvSpPr txBox="1"/>
          <p:nvPr/>
        </p:nvSpPr>
        <p:spPr>
          <a:xfrm>
            <a:off x="914804" y="2919967"/>
            <a:ext cx="19059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BP(f) 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(f)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57" name="Conector de seta reta 56"/>
          <p:cNvCxnSpPr>
            <a:stCxn id="59" idx="0"/>
          </p:cNvCxnSpPr>
          <p:nvPr/>
        </p:nvCxnSpPr>
        <p:spPr>
          <a:xfrm flipV="1">
            <a:off x="7243943" y="2450309"/>
            <a:ext cx="0" cy="370870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Elipse 58"/>
          <p:cNvSpPr/>
          <p:nvPr/>
        </p:nvSpPr>
        <p:spPr>
          <a:xfrm>
            <a:off x="7128894" y="282117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62" name="CaixaDeTexto 61"/>
          <p:cNvSpPr txBox="1"/>
          <p:nvPr/>
        </p:nvSpPr>
        <p:spPr>
          <a:xfrm>
            <a:off x="914804" y="3222850"/>
            <a:ext cx="19111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BP(b)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= { </a:t>
            </a:r>
            <a:r>
              <a:rPr lang="pt-BR" sz="1600" b="1" dirty="0">
                <a:solidFill>
                  <a:srgbClr val="00B0F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sp>
        <p:nvSpPr>
          <p:cNvPr id="60" name="Elipse 59"/>
          <p:cNvSpPr/>
          <p:nvPr/>
        </p:nvSpPr>
        <p:spPr>
          <a:xfrm>
            <a:off x="7128892" y="343661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61" name="Conector de seta reta 60"/>
          <p:cNvCxnSpPr>
            <a:stCxn id="60" idx="0"/>
          </p:cNvCxnSpPr>
          <p:nvPr/>
        </p:nvCxnSpPr>
        <p:spPr>
          <a:xfrm flipV="1">
            <a:off x="7243941" y="3046145"/>
            <a:ext cx="2" cy="390473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aixaDeTexto 63"/>
          <p:cNvSpPr txBox="1"/>
          <p:nvPr/>
        </p:nvSpPr>
        <p:spPr>
          <a:xfrm>
            <a:off x="3205386" y="2612377"/>
            <a:ext cx="18662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BP(d)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</a:t>
            </a:r>
            <a:r>
              <a:rPr lang="pt-BR" sz="1600" b="1" dirty="0">
                <a:solidFill>
                  <a:srgbClr val="FF000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63" name="Conector angulado 139"/>
          <p:cNvCxnSpPr/>
          <p:nvPr/>
        </p:nvCxnSpPr>
        <p:spPr>
          <a:xfrm rot="10800000" flipH="1">
            <a:off x="7128892" y="2337829"/>
            <a:ext cx="2" cy="1211273"/>
          </a:xfrm>
          <a:prstGeom prst="curvedConnector3">
            <a:avLst>
              <a:gd name="adj1" fmla="val -11430000000"/>
            </a:avLst>
          </a:prstGeom>
          <a:ln w="19050">
            <a:solidFill>
              <a:srgbClr val="FF000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Elipse 67"/>
          <p:cNvSpPr/>
          <p:nvPr/>
        </p:nvSpPr>
        <p:spPr>
          <a:xfrm>
            <a:off x="8063936" y="162425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5" name="CaixaDeTexto 64"/>
          <p:cNvSpPr txBox="1"/>
          <p:nvPr/>
        </p:nvSpPr>
        <p:spPr>
          <a:xfrm>
            <a:off x="3205386" y="2914247"/>
            <a:ext cx="21328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BP(c)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(c) 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a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e }</a:t>
            </a:r>
            <a:endParaRPr lang="pt-BR" sz="1600" dirty="0"/>
          </a:p>
        </p:txBody>
      </p:sp>
      <p:sp>
        <p:nvSpPr>
          <p:cNvPr id="66" name="Elipse 65"/>
          <p:cNvSpPr/>
          <p:nvPr/>
        </p:nvSpPr>
        <p:spPr>
          <a:xfrm>
            <a:off x="8063936" y="222024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cxnSp>
        <p:nvCxnSpPr>
          <p:cNvPr id="69" name="Conector de seta reta 68"/>
          <p:cNvCxnSpPr>
            <a:stCxn id="66" idx="0"/>
          </p:cNvCxnSpPr>
          <p:nvPr/>
        </p:nvCxnSpPr>
        <p:spPr>
          <a:xfrm flipV="1">
            <a:off x="8178985" y="1849219"/>
            <a:ext cx="0" cy="371029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CaixaDeTexto 70"/>
          <p:cNvSpPr txBox="1"/>
          <p:nvPr/>
        </p:nvSpPr>
        <p:spPr>
          <a:xfrm>
            <a:off x="3205386" y="3216117"/>
            <a:ext cx="20635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BP(a)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f, b }</a:t>
            </a:r>
            <a:endParaRPr lang="pt-BR" sz="1600" dirty="0"/>
          </a:p>
        </p:txBody>
      </p:sp>
      <p:cxnSp>
        <p:nvCxnSpPr>
          <p:cNvPr id="72" name="Conector angulado 147"/>
          <p:cNvCxnSpPr/>
          <p:nvPr/>
        </p:nvCxnSpPr>
        <p:spPr>
          <a:xfrm>
            <a:off x="7358990" y="1741732"/>
            <a:ext cx="1" cy="1191930"/>
          </a:xfrm>
          <a:prstGeom prst="curvedConnector3">
            <a:avLst>
              <a:gd name="adj1" fmla="val 22860100000"/>
            </a:avLst>
          </a:prstGeom>
          <a:ln w="19050">
            <a:solidFill>
              <a:srgbClr val="00B05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9" name="Elipse 8"/>
          <p:cNvSpPr/>
          <p:nvPr/>
        </p:nvSpPr>
        <p:spPr>
          <a:xfrm>
            <a:off x="2669035" y="1816410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1790985726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Exemplo</a:t>
            </a:r>
          </a:p>
        </p:txBody>
      </p:sp>
      <p:cxnSp>
        <p:nvCxnSpPr>
          <p:cNvPr id="13" name="Conector de seta reta 12"/>
          <p:cNvCxnSpPr>
            <a:stCxn id="6" idx="5"/>
            <a:endCxn id="8" idx="1"/>
          </p:cNvCxnSpPr>
          <p:nvPr/>
        </p:nvCxnSpPr>
        <p:spPr>
          <a:xfrm>
            <a:off x="1350736" y="1645635"/>
            <a:ext cx="768523" cy="578105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459840" y="3673888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3" name="Conector de seta reta 32"/>
          <p:cNvCxnSpPr/>
          <p:nvPr/>
        </p:nvCxnSpPr>
        <p:spPr>
          <a:xfrm flipH="1">
            <a:off x="420639" y="4050487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>
            <a:spLocks noChangeAspect="1"/>
          </p:cNvSpPr>
          <p:nvPr/>
        </p:nvSpPr>
        <p:spPr>
          <a:xfrm>
            <a:off x="2587201" y="3673887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6" name="Conector de seta reta 35"/>
          <p:cNvCxnSpPr/>
          <p:nvPr/>
        </p:nvCxnSpPr>
        <p:spPr>
          <a:xfrm flipH="1">
            <a:off x="4307022" y="4050487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de seta reta 36"/>
          <p:cNvCxnSpPr/>
          <p:nvPr/>
        </p:nvCxnSpPr>
        <p:spPr>
          <a:xfrm flipH="1">
            <a:off x="2537936" y="4050487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>
            <a:spLocks noChangeAspect="1"/>
          </p:cNvSpPr>
          <p:nvPr/>
        </p:nvSpPr>
        <p:spPr>
          <a:xfrm>
            <a:off x="4346223" y="3673887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698311" y="3612692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698311" y="3896599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2821710" y="3612692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4589498" y="3612692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589498" y="3896599"/>
            <a:ext cx="1471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retorno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2821710" y="3896599"/>
            <a:ext cx="139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árvore</a:t>
            </a:r>
          </a:p>
        </p:txBody>
      </p: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de seta reta 103"/>
          <p:cNvCxnSpPr>
            <a:stCxn id="7" idx="6"/>
            <a:endCxn id="9" idx="1"/>
          </p:cNvCxnSpPr>
          <p:nvPr/>
        </p:nvCxnSpPr>
        <p:spPr>
          <a:xfrm>
            <a:off x="2309608" y="1561104"/>
            <a:ext cx="393124" cy="288251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106"/>
          <p:cNvCxnSpPr>
            <a:stCxn id="8" idx="6"/>
            <a:endCxn id="9" idx="3"/>
          </p:cNvCxnSpPr>
          <p:nvPr/>
        </p:nvCxnSpPr>
        <p:spPr>
          <a:xfrm flipV="1">
            <a:off x="2315659" y="2008430"/>
            <a:ext cx="387073" cy="29484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/>
          <p:cNvCxnSpPr/>
          <p:nvPr/>
        </p:nvCxnSpPr>
        <p:spPr>
          <a:xfrm flipH="1">
            <a:off x="4315078" y="433439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e seta reta 34"/>
          <p:cNvCxnSpPr/>
          <p:nvPr/>
        </p:nvCxnSpPr>
        <p:spPr>
          <a:xfrm flipH="1">
            <a:off x="2545992" y="4334394"/>
            <a:ext cx="262480" cy="1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aixaDeTexto 42"/>
          <p:cNvSpPr txBox="1"/>
          <p:nvPr/>
        </p:nvSpPr>
        <p:spPr>
          <a:xfrm>
            <a:off x="4597554" y="4180506"/>
            <a:ext cx="17827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cruzamento</a:t>
            </a:r>
          </a:p>
        </p:txBody>
      </p:sp>
      <p:sp>
        <p:nvSpPr>
          <p:cNvPr id="46" name="CaixaDeTexto 45"/>
          <p:cNvSpPr txBox="1"/>
          <p:nvPr/>
        </p:nvSpPr>
        <p:spPr>
          <a:xfrm>
            <a:off x="2829766" y="4180506"/>
            <a:ext cx="14294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avanço</a:t>
            </a:r>
          </a:p>
        </p:txBody>
      </p:sp>
      <p:graphicFrame>
        <p:nvGraphicFramePr>
          <p:cNvPr id="53" name="Tabela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2156852"/>
              </p:ext>
            </p:extLst>
          </p:nvPr>
        </p:nvGraphicFramePr>
        <p:xfrm>
          <a:off x="3158661" y="1273066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c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f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e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0" name="CaixaDeTexto 49"/>
          <p:cNvSpPr txBox="1"/>
          <p:nvPr/>
        </p:nvSpPr>
        <p:spPr>
          <a:xfrm>
            <a:off x="6665906" y="3766580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51" name="Conector reto 50"/>
          <p:cNvCxnSpPr/>
          <p:nvPr/>
        </p:nvCxnSpPr>
        <p:spPr>
          <a:xfrm>
            <a:off x="6349033" y="1369930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Elipse 51"/>
          <p:cNvSpPr/>
          <p:nvPr/>
        </p:nvSpPr>
        <p:spPr>
          <a:xfrm>
            <a:off x="7128893" y="162924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914804" y="2617084"/>
            <a:ext cx="20649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BP(e)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</a:t>
            </a:r>
            <a:r>
              <a:rPr lang="pt-BR" sz="1600" b="1" dirty="0">
                <a:solidFill>
                  <a:srgbClr val="00B0F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5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49" name="Conector de seta reta 48"/>
          <p:cNvCxnSpPr>
            <a:stCxn id="56" idx="0"/>
          </p:cNvCxnSpPr>
          <p:nvPr/>
        </p:nvCxnSpPr>
        <p:spPr>
          <a:xfrm flipH="1" flipV="1">
            <a:off x="7243942" y="1854214"/>
            <a:ext cx="1" cy="371130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/>
          <p:cNvSpPr/>
          <p:nvPr/>
        </p:nvSpPr>
        <p:spPr>
          <a:xfrm>
            <a:off x="7128894" y="222534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58" name="CaixaDeTexto 57"/>
          <p:cNvSpPr txBox="1"/>
          <p:nvPr/>
        </p:nvSpPr>
        <p:spPr>
          <a:xfrm>
            <a:off x="914804" y="2919967"/>
            <a:ext cx="19059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BP(f) 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(f)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57" name="Conector de seta reta 56"/>
          <p:cNvCxnSpPr>
            <a:stCxn id="59" idx="0"/>
          </p:cNvCxnSpPr>
          <p:nvPr/>
        </p:nvCxnSpPr>
        <p:spPr>
          <a:xfrm flipV="1">
            <a:off x="7243943" y="2450309"/>
            <a:ext cx="0" cy="370870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Elipse 58"/>
          <p:cNvSpPr/>
          <p:nvPr/>
        </p:nvSpPr>
        <p:spPr>
          <a:xfrm>
            <a:off x="7128894" y="282117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62" name="CaixaDeTexto 61"/>
          <p:cNvSpPr txBox="1"/>
          <p:nvPr/>
        </p:nvSpPr>
        <p:spPr>
          <a:xfrm>
            <a:off x="914804" y="3222850"/>
            <a:ext cx="19111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BP(b)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= { </a:t>
            </a:r>
            <a:r>
              <a:rPr lang="pt-BR" sz="1600" b="1" dirty="0">
                <a:solidFill>
                  <a:srgbClr val="00B0F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sp>
        <p:nvSpPr>
          <p:cNvPr id="60" name="Elipse 59"/>
          <p:cNvSpPr/>
          <p:nvPr/>
        </p:nvSpPr>
        <p:spPr>
          <a:xfrm>
            <a:off x="7128892" y="343661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61" name="Conector de seta reta 60"/>
          <p:cNvCxnSpPr>
            <a:stCxn id="60" idx="0"/>
          </p:cNvCxnSpPr>
          <p:nvPr/>
        </p:nvCxnSpPr>
        <p:spPr>
          <a:xfrm flipV="1">
            <a:off x="7243941" y="3046145"/>
            <a:ext cx="2" cy="390473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aixaDeTexto 63"/>
          <p:cNvSpPr txBox="1"/>
          <p:nvPr/>
        </p:nvSpPr>
        <p:spPr>
          <a:xfrm>
            <a:off x="3205386" y="2612377"/>
            <a:ext cx="18662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BP(d)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</a:t>
            </a:r>
            <a:r>
              <a:rPr lang="pt-BR" sz="1600" b="1" dirty="0">
                <a:solidFill>
                  <a:srgbClr val="FF000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63" name="Conector angulado 139"/>
          <p:cNvCxnSpPr/>
          <p:nvPr/>
        </p:nvCxnSpPr>
        <p:spPr>
          <a:xfrm rot="10800000" flipH="1">
            <a:off x="7128892" y="2337829"/>
            <a:ext cx="2" cy="1211273"/>
          </a:xfrm>
          <a:prstGeom prst="curvedConnector3">
            <a:avLst>
              <a:gd name="adj1" fmla="val -11430000000"/>
            </a:avLst>
          </a:prstGeom>
          <a:ln w="19050">
            <a:solidFill>
              <a:srgbClr val="FF000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Elipse 67"/>
          <p:cNvSpPr/>
          <p:nvPr/>
        </p:nvSpPr>
        <p:spPr>
          <a:xfrm>
            <a:off x="8063936" y="162425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5" name="CaixaDeTexto 64"/>
          <p:cNvSpPr txBox="1"/>
          <p:nvPr/>
        </p:nvSpPr>
        <p:spPr>
          <a:xfrm>
            <a:off x="3205386" y="2914247"/>
            <a:ext cx="21328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BP(c)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(c) 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a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e }</a:t>
            </a:r>
            <a:endParaRPr lang="pt-BR" sz="1600" dirty="0"/>
          </a:p>
        </p:txBody>
      </p:sp>
      <p:sp>
        <p:nvSpPr>
          <p:cNvPr id="66" name="Elipse 65"/>
          <p:cNvSpPr/>
          <p:nvPr/>
        </p:nvSpPr>
        <p:spPr>
          <a:xfrm>
            <a:off x="8063936" y="222024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cxnSp>
        <p:nvCxnSpPr>
          <p:cNvPr id="69" name="Conector de seta reta 68"/>
          <p:cNvCxnSpPr>
            <a:stCxn id="66" idx="0"/>
          </p:cNvCxnSpPr>
          <p:nvPr/>
        </p:nvCxnSpPr>
        <p:spPr>
          <a:xfrm flipV="1">
            <a:off x="8178985" y="1849219"/>
            <a:ext cx="0" cy="371029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CaixaDeTexto 70"/>
          <p:cNvSpPr txBox="1"/>
          <p:nvPr/>
        </p:nvSpPr>
        <p:spPr>
          <a:xfrm>
            <a:off x="3205386" y="3216117"/>
            <a:ext cx="20842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BP(a)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FFC00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b }</a:t>
            </a:r>
            <a:endParaRPr lang="pt-BR" sz="1600" dirty="0"/>
          </a:p>
        </p:txBody>
      </p:sp>
      <p:cxnSp>
        <p:nvCxnSpPr>
          <p:cNvPr id="72" name="Conector angulado 147"/>
          <p:cNvCxnSpPr/>
          <p:nvPr/>
        </p:nvCxnSpPr>
        <p:spPr>
          <a:xfrm>
            <a:off x="7358990" y="1741732"/>
            <a:ext cx="1" cy="1191930"/>
          </a:xfrm>
          <a:prstGeom prst="curvedConnector3">
            <a:avLst>
              <a:gd name="adj1" fmla="val 22860100000"/>
            </a:avLst>
          </a:prstGeom>
          <a:ln w="19050">
            <a:solidFill>
              <a:srgbClr val="00B05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ctor de seta reta 69"/>
          <p:cNvCxnSpPr/>
          <p:nvPr/>
        </p:nvCxnSpPr>
        <p:spPr>
          <a:xfrm flipH="1">
            <a:off x="7358991" y="2332731"/>
            <a:ext cx="704945" cy="5096"/>
          </a:xfrm>
          <a:prstGeom prst="straightConnector1">
            <a:avLst/>
          </a:prstGeom>
          <a:ln w="19050">
            <a:solidFill>
              <a:srgbClr val="FFC00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9" name="Elipse 8"/>
          <p:cNvSpPr/>
          <p:nvPr/>
        </p:nvSpPr>
        <p:spPr>
          <a:xfrm>
            <a:off x="2669035" y="1816410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452746219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Exemplo</a:t>
            </a:r>
          </a:p>
        </p:txBody>
      </p:sp>
      <p:cxnSp>
        <p:nvCxnSpPr>
          <p:cNvPr id="13" name="Conector de seta reta 12"/>
          <p:cNvCxnSpPr>
            <a:stCxn id="6" idx="5"/>
            <a:endCxn id="8" idx="1"/>
          </p:cNvCxnSpPr>
          <p:nvPr/>
        </p:nvCxnSpPr>
        <p:spPr>
          <a:xfrm>
            <a:off x="1350736" y="1645635"/>
            <a:ext cx="768523" cy="578105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459840" y="3673888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3" name="Conector de seta reta 32"/>
          <p:cNvCxnSpPr/>
          <p:nvPr/>
        </p:nvCxnSpPr>
        <p:spPr>
          <a:xfrm flipH="1">
            <a:off x="420639" y="4050487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>
            <a:spLocks noChangeAspect="1"/>
          </p:cNvSpPr>
          <p:nvPr/>
        </p:nvSpPr>
        <p:spPr>
          <a:xfrm>
            <a:off x="2587201" y="3673887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6" name="Conector de seta reta 35"/>
          <p:cNvCxnSpPr/>
          <p:nvPr/>
        </p:nvCxnSpPr>
        <p:spPr>
          <a:xfrm flipH="1">
            <a:off x="4307022" y="4050487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de seta reta 36"/>
          <p:cNvCxnSpPr/>
          <p:nvPr/>
        </p:nvCxnSpPr>
        <p:spPr>
          <a:xfrm flipH="1">
            <a:off x="2537936" y="4050487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>
            <a:spLocks noChangeAspect="1"/>
          </p:cNvSpPr>
          <p:nvPr/>
        </p:nvSpPr>
        <p:spPr>
          <a:xfrm>
            <a:off x="4346223" y="3673887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698311" y="3612692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698311" y="3896599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2821710" y="3612692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4589498" y="3612692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589498" y="3896599"/>
            <a:ext cx="1471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retorno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2821710" y="3896599"/>
            <a:ext cx="139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árvore</a:t>
            </a:r>
          </a:p>
        </p:txBody>
      </p: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de seta reta 103"/>
          <p:cNvCxnSpPr>
            <a:stCxn id="7" idx="6"/>
            <a:endCxn id="9" idx="1"/>
          </p:cNvCxnSpPr>
          <p:nvPr/>
        </p:nvCxnSpPr>
        <p:spPr>
          <a:xfrm>
            <a:off x="2309608" y="1561104"/>
            <a:ext cx="393124" cy="288251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106"/>
          <p:cNvCxnSpPr>
            <a:stCxn id="8" idx="6"/>
            <a:endCxn id="9" idx="3"/>
          </p:cNvCxnSpPr>
          <p:nvPr/>
        </p:nvCxnSpPr>
        <p:spPr>
          <a:xfrm flipV="1">
            <a:off x="2315659" y="2008430"/>
            <a:ext cx="387073" cy="29484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/>
          <p:cNvCxnSpPr/>
          <p:nvPr/>
        </p:nvCxnSpPr>
        <p:spPr>
          <a:xfrm flipH="1">
            <a:off x="4315078" y="433439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e seta reta 34"/>
          <p:cNvCxnSpPr/>
          <p:nvPr/>
        </p:nvCxnSpPr>
        <p:spPr>
          <a:xfrm flipH="1">
            <a:off x="2545992" y="4334394"/>
            <a:ext cx="262480" cy="1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aixaDeTexto 42"/>
          <p:cNvSpPr txBox="1"/>
          <p:nvPr/>
        </p:nvSpPr>
        <p:spPr>
          <a:xfrm>
            <a:off x="4597554" y="4180506"/>
            <a:ext cx="17827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cruzamento</a:t>
            </a:r>
          </a:p>
        </p:txBody>
      </p:sp>
      <p:sp>
        <p:nvSpPr>
          <p:cNvPr id="46" name="CaixaDeTexto 45"/>
          <p:cNvSpPr txBox="1"/>
          <p:nvPr/>
        </p:nvSpPr>
        <p:spPr>
          <a:xfrm>
            <a:off x="2829766" y="4180506"/>
            <a:ext cx="14294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avanço</a:t>
            </a:r>
          </a:p>
        </p:txBody>
      </p:sp>
      <p:graphicFrame>
        <p:nvGraphicFramePr>
          <p:cNvPr id="53" name="Tabela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2156852"/>
              </p:ext>
            </p:extLst>
          </p:nvPr>
        </p:nvGraphicFramePr>
        <p:xfrm>
          <a:off x="3158661" y="1273066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c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f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e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0" name="CaixaDeTexto 49"/>
          <p:cNvSpPr txBox="1"/>
          <p:nvPr/>
        </p:nvSpPr>
        <p:spPr>
          <a:xfrm>
            <a:off x="6665906" y="3766580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51" name="Conector reto 50"/>
          <p:cNvCxnSpPr/>
          <p:nvPr/>
        </p:nvCxnSpPr>
        <p:spPr>
          <a:xfrm>
            <a:off x="6349033" y="1369930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Elipse 51"/>
          <p:cNvSpPr/>
          <p:nvPr/>
        </p:nvSpPr>
        <p:spPr>
          <a:xfrm>
            <a:off x="7128893" y="162924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914804" y="2617084"/>
            <a:ext cx="20649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BP(e)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</a:t>
            </a:r>
            <a:r>
              <a:rPr lang="pt-BR" sz="1600" b="1" dirty="0">
                <a:solidFill>
                  <a:srgbClr val="00B0F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5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49" name="Conector de seta reta 48"/>
          <p:cNvCxnSpPr>
            <a:stCxn id="56" idx="0"/>
          </p:cNvCxnSpPr>
          <p:nvPr/>
        </p:nvCxnSpPr>
        <p:spPr>
          <a:xfrm flipH="1" flipV="1">
            <a:off x="7243942" y="1854214"/>
            <a:ext cx="1" cy="371130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/>
          <p:cNvSpPr/>
          <p:nvPr/>
        </p:nvSpPr>
        <p:spPr>
          <a:xfrm>
            <a:off x="7128894" y="222534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58" name="CaixaDeTexto 57"/>
          <p:cNvSpPr txBox="1"/>
          <p:nvPr/>
        </p:nvSpPr>
        <p:spPr>
          <a:xfrm>
            <a:off x="914804" y="2919967"/>
            <a:ext cx="19059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BP(f) 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(f)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57" name="Conector de seta reta 56"/>
          <p:cNvCxnSpPr>
            <a:stCxn id="59" idx="0"/>
          </p:cNvCxnSpPr>
          <p:nvPr/>
        </p:nvCxnSpPr>
        <p:spPr>
          <a:xfrm flipV="1">
            <a:off x="7243943" y="2450309"/>
            <a:ext cx="0" cy="370870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Elipse 58"/>
          <p:cNvSpPr/>
          <p:nvPr/>
        </p:nvSpPr>
        <p:spPr>
          <a:xfrm>
            <a:off x="7128894" y="282117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62" name="CaixaDeTexto 61"/>
          <p:cNvSpPr txBox="1"/>
          <p:nvPr/>
        </p:nvSpPr>
        <p:spPr>
          <a:xfrm>
            <a:off x="914804" y="3222850"/>
            <a:ext cx="19111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BP(b)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= { </a:t>
            </a:r>
            <a:r>
              <a:rPr lang="pt-BR" sz="1600" b="1" dirty="0">
                <a:solidFill>
                  <a:srgbClr val="00B0F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sp>
        <p:nvSpPr>
          <p:cNvPr id="60" name="Elipse 59"/>
          <p:cNvSpPr/>
          <p:nvPr/>
        </p:nvSpPr>
        <p:spPr>
          <a:xfrm>
            <a:off x="7128892" y="343661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61" name="Conector de seta reta 60"/>
          <p:cNvCxnSpPr>
            <a:stCxn id="60" idx="0"/>
          </p:cNvCxnSpPr>
          <p:nvPr/>
        </p:nvCxnSpPr>
        <p:spPr>
          <a:xfrm flipV="1">
            <a:off x="7243941" y="3046145"/>
            <a:ext cx="2" cy="390473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aixaDeTexto 63"/>
          <p:cNvSpPr txBox="1"/>
          <p:nvPr/>
        </p:nvSpPr>
        <p:spPr>
          <a:xfrm>
            <a:off x="3205386" y="2612377"/>
            <a:ext cx="18662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BP(d)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</a:t>
            </a:r>
            <a:r>
              <a:rPr lang="pt-BR" sz="1600" b="1" dirty="0">
                <a:solidFill>
                  <a:srgbClr val="FF000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63" name="Conector angulado 139"/>
          <p:cNvCxnSpPr/>
          <p:nvPr/>
        </p:nvCxnSpPr>
        <p:spPr>
          <a:xfrm rot="10800000" flipH="1">
            <a:off x="7128892" y="2337829"/>
            <a:ext cx="2" cy="1211273"/>
          </a:xfrm>
          <a:prstGeom prst="curvedConnector3">
            <a:avLst>
              <a:gd name="adj1" fmla="val -11430000000"/>
            </a:avLst>
          </a:prstGeom>
          <a:ln w="19050">
            <a:solidFill>
              <a:srgbClr val="FF000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Elipse 67"/>
          <p:cNvSpPr/>
          <p:nvPr/>
        </p:nvSpPr>
        <p:spPr>
          <a:xfrm>
            <a:off x="8063936" y="162425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5" name="CaixaDeTexto 64"/>
          <p:cNvSpPr txBox="1"/>
          <p:nvPr/>
        </p:nvSpPr>
        <p:spPr>
          <a:xfrm>
            <a:off x="3205386" y="2914247"/>
            <a:ext cx="21328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BP(c)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(c) 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a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e }</a:t>
            </a:r>
            <a:endParaRPr lang="pt-BR" sz="1600" dirty="0"/>
          </a:p>
        </p:txBody>
      </p:sp>
      <p:sp>
        <p:nvSpPr>
          <p:cNvPr id="66" name="Elipse 65"/>
          <p:cNvSpPr/>
          <p:nvPr/>
        </p:nvSpPr>
        <p:spPr>
          <a:xfrm>
            <a:off x="8063936" y="222024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cxnSp>
        <p:nvCxnSpPr>
          <p:cNvPr id="69" name="Conector de seta reta 68"/>
          <p:cNvCxnSpPr>
            <a:stCxn id="66" idx="0"/>
          </p:cNvCxnSpPr>
          <p:nvPr/>
        </p:nvCxnSpPr>
        <p:spPr>
          <a:xfrm flipV="1">
            <a:off x="8178985" y="1849219"/>
            <a:ext cx="0" cy="371029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CaixaDeTexto 70"/>
          <p:cNvSpPr txBox="1"/>
          <p:nvPr/>
        </p:nvSpPr>
        <p:spPr>
          <a:xfrm>
            <a:off x="3205386" y="3216117"/>
            <a:ext cx="20842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BP(a)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FFC00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C00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73" name="Conector angulado 147"/>
          <p:cNvCxnSpPr/>
          <p:nvPr/>
        </p:nvCxnSpPr>
        <p:spPr>
          <a:xfrm>
            <a:off x="7358990" y="1741732"/>
            <a:ext cx="1" cy="1191930"/>
          </a:xfrm>
          <a:prstGeom prst="curvedConnector3">
            <a:avLst>
              <a:gd name="adj1" fmla="val 22860100000"/>
            </a:avLst>
          </a:prstGeom>
          <a:ln w="19050">
            <a:solidFill>
              <a:srgbClr val="00B05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ctor de seta reta 69"/>
          <p:cNvCxnSpPr/>
          <p:nvPr/>
        </p:nvCxnSpPr>
        <p:spPr>
          <a:xfrm flipH="1">
            <a:off x="7358991" y="2332731"/>
            <a:ext cx="704945" cy="5096"/>
          </a:xfrm>
          <a:prstGeom prst="straightConnector1">
            <a:avLst/>
          </a:prstGeom>
          <a:ln w="19050">
            <a:solidFill>
              <a:srgbClr val="FFC00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ector de seta reta 71"/>
          <p:cNvCxnSpPr/>
          <p:nvPr/>
        </p:nvCxnSpPr>
        <p:spPr>
          <a:xfrm flipH="1">
            <a:off x="7325294" y="2412268"/>
            <a:ext cx="772339" cy="441856"/>
          </a:xfrm>
          <a:prstGeom prst="straightConnector1">
            <a:avLst/>
          </a:prstGeom>
          <a:ln w="19050">
            <a:solidFill>
              <a:srgbClr val="FFC00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9" name="Elipse 8"/>
          <p:cNvSpPr/>
          <p:nvPr/>
        </p:nvSpPr>
        <p:spPr>
          <a:xfrm>
            <a:off x="2669035" y="1816410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962699586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Exemplo</a:t>
            </a:r>
          </a:p>
        </p:txBody>
      </p:sp>
      <p:cxnSp>
        <p:nvCxnSpPr>
          <p:cNvPr id="13" name="Conector de seta reta 12"/>
          <p:cNvCxnSpPr>
            <a:stCxn id="6" idx="5"/>
            <a:endCxn id="8" idx="1"/>
          </p:cNvCxnSpPr>
          <p:nvPr/>
        </p:nvCxnSpPr>
        <p:spPr>
          <a:xfrm>
            <a:off x="1350736" y="1645635"/>
            <a:ext cx="768523" cy="578105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459840" y="3673888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3" name="Conector de seta reta 32"/>
          <p:cNvCxnSpPr/>
          <p:nvPr/>
        </p:nvCxnSpPr>
        <p:spPr>
          <a:xfrm flipH="1">
            <a:off x="420639" y="4050487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>
            <a:spLocks noChangeAspect="1"/>
          </p:cNvSpPr>
          <p:nvPr/>
        </p:nvSpPr>
        <p:spPr>
          <a:xfrm>
            <a:off x="2587201" y="3673887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6" name="Conector de seta reta 35"/>
          <p:cNvCxnSpPr/>
          <p:nvPr/>
        </p:nvCxnSpPr>
        <p:spPr>
          <a:xfrm flipH="1">
            <a:off x="4307022" y="4050487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de seta reta 36"/>
          <p:cNvCxnSpPr/>
          <p:nvPr/>
        </p:nvCxnSpPr>
        <p:spPr>
          <a:xfrm flipH="1">
            <a:off x="2537936" y="4050487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>
            <a:spLocks noChangeAspect="1"/>
          </p:cNvSpPr>
          <p:nvPr/>
        </p:nvSpPr>
        <p:spPr>
          <a:xfrm>
            <a:off x="4346223" y="3673887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698311" y="3612692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698311" y="3896599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2821710" y="3612692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4589498" y="3612692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589498" y="3896599"/>
            <a:ext cx="1471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retorno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2821710" y="3896599"/>
            <a:ext cx="139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árvore</a:t>
            </a:r>
          </a:p>
        </p:txBody>
      </p: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de seta reta 103"/>
          <p:cNvCxnSpPr>
            <a:stCxn id="7" idx="6"/>
            <a:endCxn id="9" idx="1"/>
          </p:cNvCxnSpPr>
          <p:nvPr/>
        </p:nvCxnSpPr>
        <p:spPr>
          <a:xfrm>
            <a:off x="2309608" y="1561104"/>
            <a:ext cx="393124" cy="288251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106"/>
          <p:cNvCxnSpPr>
            <a:stCxn id="8" idx="6"/>
            <a:endCxn id="9" idx="3"/>
          </p:cNvCxnSpPr>
          <p:nvPr/>
        </p:nvCxnSpPr>
        <p:spPr>
          <a:xfrm flipV="1">
            <a:off x="2315659" y="2008430"/>
            <a:ext cx="387073" cy="29484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/>
          <p:cNvCxnSpPr/>
          <p:nvPr/>
        </p:nvCxnSpPr>
        <p:spPr>
          <a:xfrm flipH="1">
            <a:off x="4315078" y="433439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e seta reta 34"/>
          <p:cNvCxnSpPr/>
          <p:nvPr/>
        </p:nvCxnSpPr>
        <p:spPr>
          <a:xfrm flipH="1">
            <a:off x="2545992" y="4334394"/>
            <a:ext cx="262480" cy="1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aixaDeTexto 42"/>
          <p:cNvSpPr txBox="1"/>
          <p:nvPr/>
        </p:nvSpPr>
        <p:spPr>
          <a:xfrm>
            <a:off x="4597554" y="4180506"/>
            <a:ext cx="17827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cruzamento</a:t>
            </a:r>
          </a:p>
        </p:txBody>
      </p:sp>
      <p:sp>
        <p:nvSpPr>
          <p:cNvPr id="46" name="CaixaDeTexto 45"/>
          <p:cNvSpPr txBox="1"/>
          <p:nvPr/>
        </p:nvSpPr>
        <p:spPr>
          <a:xfrm>
            <a:off x="2829766" y="4180506"/>
            <a:ext cx="14294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avanço</a:t>
            </a:r>
          </a:p>
        </p:txBody>
      </p:sp>
      <p:graphicFrame>
        <p:nvGraphicFramePr>
          <p:cNvPr id="53" name="Tabela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6898213"/>
              </p:ext>
            </p:extLst>
          </p:nvPr>
        </p:nvGraphicFramePr>
        <p:xfrm>
          <a:off x="3158661" y="1273066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c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f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e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0" name="CaixaDeTexto 49"/>
          <p:cNvSpPr txBox="1"/>
          <p:nvPr/>
        </p:nvSpPr>
        <p:spPr>
          <a:xfrm>
            <a:off x="6665906" y="3766580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51" name="Conector reto 50"/>
          <p:cNvCxnSpPr/>
          <p:nvPr/>
        </p:nvCxnSpPr>
        <p:spPr>
          <a:xfrm>
            <a:off x="6349033" y="1369930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Elipse 51"/>
          <p:cNvSpPr/>
          <p:nvPr/>
        </p:nvSpPr>
        <p:spPr>
          <a:xfrm>
            <a:off x="7128893" y="162924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914804" y="2617084"/>
            <a:ext cx="20649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BP(e)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</a:t>
            </a:r>
            <a:r>
              <a:rPr lang="pt-BR" sz="1600" b="1" dirty="0">
                <a:solidFill>
                  <a:srgbClr val="00B0F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5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49" name="Conector de seta reta 48"/>
          <p:cNvCxnSpPr>
            <a:stCxn id="56" idx="0"/>
          </p:cNvCxnSpPr>
          <p:nvPr/>
        </p:nvCxnSpPr>
        <p:spPr>
          <a:xfrm flipH="1" flipV="1">
            <a:off x="7243942" y="1854214"/>
            <a:ext cx="1" cy="371130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/>
          <p:cNvSpPr/>
          <p:nvPr/>
        </p:nvSpPr>
        <p:spPr>
          <a:xfrm>
            <a:off x="7128894" y="222534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58" name="CaixaDeTexto 57"/>
          <p:cNvSpPr txBox="1"/>
          <p:nvPr/>
        </p:nvSpPr>
        <p:spPr>
          <a:xfrm>
            <a:off x="914804" y="2919967"/>
            <a:ext cx="19059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BP(f) 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(f)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57" name="Conector de seta reta 56"/>
          <p:cNvCxnSpPr>
            <a:stCxn id="59" idx="0"/>
          </p:cNvCxnSpPr>
          <p:nvPr/>
        </p:nvCxnSpPr>
        <p:spPr>
          <a:xfrm flipV="1">
            <a:off x="7243943" y="2450309"/>
            <a:ext cx="0" cy="370870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Elipse 58"/>
          <p:cNvSpPr/>
          <p:nvPr/>
        </p:nvSpPr>
        <p:spPr>
          <a:xfrm>
            <a:off x="7128894" y="282117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62" name="CaixaDeTexto 61"/>
          <p:cNvSpPr txBox="1"/>
          <p:nvPr/>
        </p:nvSpPr>
        <p:spPr>
          <a:xfrm>
            <a:off x="914804" y="3222850"/>
            <a:ext cx="19111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BP(b)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= { </a:t>
            </a:r>
            <a:r>
              <a:rPr lang="pt-BR" sz="1600" b="1" dirty="0">
                <a:solidFill>
                  <a:srgbClr val="00B0F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sp>
        <p:nvSpPr>
          <p:cNvPr id="60" name="Elipse 59"/>
          <p:cNvSpPr/>
          <p:nvPr/>
        </p:nvSpPr>
        <p:spPr>
          <a:xfrm>
            <a:off x="7128892" y="343661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61" name="Conector de seta reta 60"/>
          <p:cNvCxnSpPr>
            <a:stCxn id="60" idx="0"/>
          </p:cNvCxnSpPr>
          <p:nvPr/>
        </p:nvCxnSpPr>
        <p:spPr>
          <a:xfrm flipV="1">
            <a:off x="7243941" y="3046145"/>
            <a:ext cx="2" cy="390473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aixaDeTexto 63"/>
          <p:cNvSpPr txBox="1"/>
          <p:nvPr/>
        </p:nvSpPr>
        <p:spPr>
          <a:xfrm>
            <a:off x="3205386" y="2612377"/>
            <a:ext cx="18662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BP(d)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</a:t>
            </a:r>
            <a:r>
              <a:rPr lang="pt-BR" sz="1600" b="1" dirty="0">
                <a:solidFill>
                  <a:srgbClr val="FF000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63" name="Conector angulado 139"/>
          <p:cNvCxnSpPr/>
          <p:nvPr/>
        </p:nvCxnSpPr>
        <p:spPr>
          <a:xfrm rot="10800000" flipH="1">
            <a:off x="7128892" y="2337829"/>
            <a:ext cx="2" cy="1211273"/>
          </a:xfrm>
          <a:prstGeom prst="curvedConnector3">
            <a:avLst>
              <a:gd name="adj1" fmla="val -11430000000"/>
            </a:avLst>
          </a:prstGeom>
          <a:ln w="19050">
            <a:solidFill>
              <a:srgbClr val="FF000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Elipse 67"/>
          <p:cNvSpPr/>
          <p:nvPr/>
        </p:nvSpPr>
        <p:spPr>
          <a:xfrm>
            <a:off x="8063936" y="162425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5" name="CaixaDeTexto 64"/>
          <p:cNvSpPr txBox="1"/>
          <p:nvPr/>
        </p:nvSpPr>
        <p:spPr>
          <a:xfrm>
            <a:off x="3205386" y="2914247"/>
            <a:ext cx="21328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BP(c)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(c) 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a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e }</a:t>
            </a:r>
            <a:endParaRPr lang="pt-BR" sz="1600" dirty="0"/>
          </a:p>
        </p:txBody>
      </p:sp>
      <p:sp>
        <p:nvSpPr>
          <p:cNvPr id="66" name="Elipse 65"/>
          <p:cNvSpPr/>
          <p:nvPr/>
        </p:nvSpPr>
        <p:spPr>
          <a:xfrm>
            <a:off x="8063936" y="222024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cxnSp>
        <p:nvCxnSpPr>
          <p:cNvPr id="69" name="Conector de seta reta 68"/>
          <p:cNvCxnSpPr>
            <a:stCxn id="66" idx="0"/>
          </p:cNvCxnSpPr>
          <p:nvPr/>
        </p:nvCxnSpPr>
        <p:spPr>
          <a:xfrm flipV="1">
            <a:off x="8178985" y="1849219"/>
            <a:ext cx="0" cy="371029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CaixaDeTexto 70"/>
          <p:cNvSpPr txBox="1"/>
          <p:nvPr/>
        </p:nvSpPr>
        <p:spPr>
          <a:xfrm>
            <a:off x="3205386" y="3216117"/>
            <a:ext cx="20842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BP(a)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FFC00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C00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73" name="Conector angulado 147"/>
          <p:cNvCxnSpPr/>
          <p:nvPr/>
        </p:nvCxnSpPr>
        <p:spPr>
          <a:xfrm>
            <a:off x="7358990" y="1741732"/>
            <a:ext cx="1" cy="1191930"/>
          </a:xfrm>
          <a:prstGeom prst="curvedConnector3">
            <a:avLst>
              <a:gd name="adj1" fmla="val 22860100000"/>
            </a:avLst>
          </a:prstGeom>
          <a:ln w="19050">
            <a:solidFill>
              <a:srgbClr val="00B05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ctor de seta reta 69"/>
          <p:cNvCxnSpPr/>
          <p:nvPr/>
        </p:nvCxnSpPr>
        <p:spPr>
          <a:xfrm flipH="1">
            <a:off x="7358991" y="2332731"/>
            <a:ext cx="704945" cy="5096"/>
          </a:xfrm>
          <a:prstGeom prst="straightConnector1">
            <a:avLst/>
          </a:prstGeom>
          <a:ln w="19050">
            <a:solidFill>
              <a:srgbClr val="FFC00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ector de seta reta 71"/>
          <p:cNvCxnSpPr/>
          <p:nvPr/>
        </p:nvCxnSpPr>
        <p:spPr>
          <a:xfrm flipH="1">
            <a:off x="7325294" y="2412268"/>
            <a:ext cx="772339" cy="441856"/>
          </a:xfrm>
          <a:prstGeom prst="straightConnector1">
            <a:avLst/>
          </a:prstGeom>
          <a:ln w="19050">
            <a:solidFill>
              <a:srgbClr val="FFC00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9" name="Elipse 8"/>
          <p:cNvSpPr/>
          <p:nvPr/>
        </p:nvSpPr>
        <p:spPr>
          <a:xfrm>
            <a:off x="2669035" y="1816410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029798566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Exemplo</a:t>
            </a:r>
          </a:p>
        </p:txBody>
      </p: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9" name="Elipse 8"/>
          <p:cNvSpPr/>
          <p:nvPr/>
        </p:nvSpPr>
        <p:spPr>
          <a:xfrm>
            <a:off x="2669035" y="1816410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13" name="Conector de seta reta 12"/>
          <p:cNvCxnSpPr>
            <a:stCxn id="6" idx="5"/>
            <a:endCxn id="8" idx="1"/>
          </p:cNvCxnSpPr>
          <p:nvPr/>
        </p:nvCxnSpPr>
        <p:spPr>
          <a:xfrm>
            <a:off x="1350736" y="1645635"/>
            <a:ext cx="768523" cy="578105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459840" y="3673888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3" name="Conector de seta reta 32"/>
          <p:cNvCxnSpPr/>
          <p:nvPr/>
        </p:nvCxnSpPr>
        <p:spPr>
          <a:xfrm flipH="1">
            <a:off x="420639" y="4050487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>
            <a:spLocks noChangeAspect="1"/>
          </p:cNvSpPr>
          <p:nvPr/>
        </p:nvSpPr>
        <p:spPr>
          <a:xfrm>
            <a:off x="2587201" y="3673887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6" name="Conector de seta reta 35"/>
          <p:cNvCxnSpPr/>
          <p:nvPr/>
        </p:nvCxnSpPr>
        <p:spPr>
          <a:xfrm flipH="1">
            <a:off x="4307022" y="4050487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de seta reta 36"/>
          <p:cNvCxnSpPr/>
          <p:nvPr/>
        </p:nvCxnSpPr>
        <p:spPr>
          <a:xfrm flipH="1">
            <a:off x="2537936" y="4050487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>
            <a:spLocks noChangeAspect="1"/>
          </p:cNvSpPr>
          <p:nvPr/>
        </p:nvSpPr>
        <p:spPr>
          <a:xfrm>
            <a:off x="4346223" y="3673887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698311" y="3612692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698311" y="3896599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2821710" y="3612692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4589498" y="3612692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589498" y="3896599"/>
            <a:ext cx="1471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retorno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2821710" y="3896599"/>
            <a:ext cx="139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árvore</a:t>
            </a:r>
          </a:p>
        </p:txBody>
      </p: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de seta reta 103"/>
          <p:cNvCxnSpPr>
            <a:stCxn id="7" idx="6"/>
            <a:endCxn id="9" idx="1"/>
          </p:cNvCxnSpPr>
          <p:nvPr/>
        </p:nvCxnSpPr>
        <p:spPr>
          <a:xfrm>
            <a:off x="2309608" y="1561104"/>
            <a:ext cx="393124" cy="288251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106"/>
          <p:cNvCxnSpPr>
            <a:stCxn id="8" idx="6"/>
            <a:endCxn id="9" idx="3"/>
          </p:cNvCxnSpPr>
          <p:nvPr/>
        </p:nvCxnSpPr>
        <p:spPr>
          <a:xfrm flipV="1">
            <a:off x="2315659" y="2008430"/>
            <a:ext cx="387073" cy="29484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/>
          <p:cNvCxnSpPr/>
          <p:nvPr/>
        </p:nvCxnSpPr>
        <p:spPr>
          <a:xfrm flipH="1">
            <a:off x="4315078" y="433439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e seta reta 34"/>
          <p:cNvCxnSpPr/>
          <p:nvPr/>
        </p:nvCxnSpPr>
        <p:spPr>
          <a:xfrm flipH="1">
            <a:off x="2545992" y="4334394"/>
            <a:ext cx="262480" cy="1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aixaDeTexto 42"/>
          <p:cNvSpPr txBox="1"/>
          <p:nvPr/>
        </p:nvSpPr>
        <p:spPr>
          <a:xfrm>
            <a:off x="4597554" y="4180506"/>
            <a:ext cx="17827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cruzamento</a:t>
            </a:r>
          </a:p>
        </p:txBody>
      </p:sp>
      <p:sp>
        <p:nvSpPr>
          <p:cNvPr id="46" name="CaixaDeTexto 45"/>
          <p:cNvSpPr txBox="1"/>
          <p:nvPr/>
        </p:nvSpPr>
        <p:spPr>
          <a:xfrm>
            <a:off x="2829766" y="4180506"/>
            <a:ext cx="14294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avanço</a:t>
            </a:r>
          </a:p>
        </p:txBody>
      </p:sp>
      <p:graphicFrame>
        <p:nvGraphicFramePr>
          <p:cNvPr id="53" name="Tabela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6898213"/>
              </p:ext>
            </p:extLst>
          </p:nvPr>
        </p:nvGraphicFramePr>
        <p:xfrm>
          <a:off x="3158661" y="1273066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c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f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e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0" name="CaixaDeTexto 49"/>
          <p:cNvSpPr txBox="1"/>
          <p:nvPr/>
        </p:nvSpPr>
        <p:spPr>
          <a:xfrm>
            <a:off x="6665906" y="3766580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51" name="Conector reto 50"/>
          <p:cNvCxnSpPr/>
          <p:nvPr/>
        </p:nvCxnSpPr>
        <p:spPr>
          <a:xfrm>
            <a:off x="6349033" y="1369930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Elipse 51"/>
          <p:cNvSpPr/>
          <p:nvPr/>
        </p:nvSpPr>
        <p:spPr>
          <a:xfrm>
            <a:off x="7128893" y="162924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914804" y="2617084"/>
            <a:ext cx="20649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BP(e)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</a:t>
            </a:r>
            <a:r>
              <a:rPr lang="pt-BR" sz="1600" b="1" dirty="0">
                <a:solidFill>
                  <a:srgbClr val="00B0F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5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49" name="Conector de seta reta 48"/>
          <p:cNvCxnSpPr>
            <a:stCxn id="56" idx="0"/>
          </p:cNvCxnSpPr>
          <p:nvPr/>
        </p:nvCxnSpPr>
        <p:spPr>
          <a:xfrm flipH="1" flipV="1">
            <a:off x="7243942" y="1854214"/>
            <a:ext cx="1" cy="371130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/>
          <p:cNvSpPr/>
          <p:nvPr/>
        </p:nvSpPr>
        <p:spPr>
          <a:xfrm>
            <a:off x="7128894" y="222534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58" name="CaixaDeTexto 57"/>
          <p:cNvSpPr txBox="1"/>
          <p:nvPr/>
        </p:nvSpPr>
        <p:spPr>
          <a:xfrm>
            <a:off x="914804" y="2919967"/>
            <a:ext cx="19059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BP(f) 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(f)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57" name="Conector de seta reta 56"/>
          <p:cNvCxnSpPr>
            <a:stCxn id="59" idx="0"/>
          </p:cNvCxnSpPr>
          <p:nvPr/>
        </p:nvCxnSpPr>
        <p:spPr>
          <a:xfrm flipV="1">
            <a:off x="7243943" y="2450309"/>
            <a:ext cx="0" cy="370870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Elipse 58"/>
          <p:cNvSpPr/>
          <p:nvPr/>
        </p:nvSpPr>
        <p:spPr>
          <a:xfrm>
            <a:off x="7128894" y="282117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62" name="CaixaDeTexto 61"/>
          <p:cNvSpPr txBox="1"/>
          <p:nvPr/>
        </p:nvSpPr>
        <p:spPr>
          <a:xfrm>
            <a:off x="914804" y="3222850"/>
            <a:ext cx="19111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BP(b)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= { </a:t>
            </a:r>
            <a:r>
              <a:rPr lang="pt-BR" sz="1600" b="1" dirty="0">
                <a:solidFill>
                  <a:srgbClr val="00B0F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sp>
        <p:nvSpPr>
          <p:cNvPr id="60" name="Elipse 59"/>
          <p:cNvSpPr/>
          <p:nvPr/>
        </p:nvSpPr>
        <p:spPr>
          <a:xfrm>
            <a:off x="7128892" y="343661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61" name="Conector de seta reta 60"/>
          <p:cNvCxnSpPr>
            <a:stCxn id="60" idx="0"/>
          </p:cNvCxnSpPr>
          <p:nvPr/>
        </p:nvCxnSpPr>
        <p:spPr>
          <a:xfrm flipV="1">
            <a:off x="7243941" y="3046145"/>
            <a:ext cx="2" cy="390473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aixaDeTexto 63"/>
          <p:cNvSpPr txBox="1"/>
          <p:nvPr/>
        </p:nvSpPr>
        <p:spPr>
          <a:xfrm>
            <a:off x="3205386" y="2612377"/>
            <a:ext cx="18662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BP(d)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</a:t>
            </a:r>
            <a:r>
              <a:rPr lang="pt-BR" sz="1600" b="1" dirty="0">
                <a:solidFill>
                  <a:srgbClr val="FF000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63" name="Conector angulado 139"/>
          <p:cNvCxnSpPr/>
          <p:nvPr/>
        </p:nvCxnSpPr>
        <p:spPr>
          <a:xfrm rot="10800000" flipH="1">
            <a:off x="7128892" y="2337829"/>
            <a:ext cx="2" cy="1211273"/>
          </a:xfrm>
          <a:prstGeom prst="curvedConnector3">
            <a:avLst>
              <a:gd name="adj1" fmla="val -11430000000"/>
            </a:avLst>
          </a:prstGeom>
          <a:ln w="19050">
            <a:solidFill>
              <a:srgbClr val="FF000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Elipse 67"/>
          <p:cNvSpPr/>
          <p:nvPr/>
        </p:nvSpPr>
        <p:spPr>
          <a:xfrm>
            <a:off x="8063936" y="162425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5" name="CaixaDeTexto 64"/>
          <p:cNvSpPr txBox="1"/>
          <p:nvPr/>
        </p:nvSpPr>
        <p:spPr>
          <a:xfrm>
            <a:off x="3205386" y="2914247"/>
            <a:ext cx="21328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BP(c)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(c) 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a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e }</a:t>
            </a:r>
            <a:endParaRPr lang="pt-BR" sz="1600" dirty="0"/>
          </a:p>
        </p:txBody>
      </p:sp>
      <p:sp>
        <p:nvSpPr>
          <p:cNvPr id="66" name="Elipse 65"/>
          <p:cNvSpPr/>
          <p:nvPr/>
        </p:nvSpPr>
        <p:spPr>
          <a:xfrm>
            <a:off x="8063936" y="222024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cxnSp>
        <p:nvCxnSpPr>
          <p:cNvPr id="69" name="Conector de seta reta 68"/>
          <p:cNvCxnSpPr>
            <a:stCxn id="66" idx="0"/>
          </p:cNvCxnSpPr>
          <p:nvPr/>
        </p:nvCxnSpPr>
        <p:spPr>
          <a:xfrm flipV="1">
            <a:off x="8178985" y="1849219"/>
            <a:ext cx="0" cy="371029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CaixaDeTexto 70"/>
          <p:cNvSpPr txBox="1"/>
          <p:nvPr/>
        </p:nvSpPr>
        <p:spPr>
          <a:xfrm>
            <a:off x="3205386" y="3216117"/>
            <a:ext cx="20842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BP(a)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FFC00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C00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73" name="Conector angulado 147"/>
          <p:cNvCxnSpPr/>
          <p:nvPr/>
        </p:nvCxnSpPr>
        <p:spPr>
          <a:xfrm>
            <a:off x="7358990" y="1741732"/>
            <a:ext cx="1" cy="1191930"/>
          </a:xfrm>
          <a:prstGeom prst="curvedConnector3">
            <a:avLst>
              <a:gd name="adj1" fmla="val 22860100000"/>
            </a:avLst>
          </a:prstGeom>
          <a:ln w="19050">
            <a:solidFill>
              <a:srgbClr val="00B05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ctor de seta reta 69"/>
          <p:cNvCxnSpPr/>
          <p:nvPr/>
        </p:nvCxnSpPr>
        <p:spPr>
          <a:xfrm flipH="1">
            <a:off x="7358991" y="2332731"/>
            <a:ext cx="704945" cy="5096"/>
          </a:xfrm>
          <a:prstGeom prst="straightConnector1">
            <a:avLst/>
          </a:prstGeom>
          <a:ln w="19050">
            <a:solidFill>
              <a:srgbClr val="FFC00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ector de seta reta 71"/>
          <p:cNvCxnSpPr/>
          <p:nvPr/>
        </p:nvCxnSpPr>
        <p:spPr>
          <a:xfrm flipH="1">
            <a:off x="7325294" y="2412268"/>
            <a:ext cx="772339" cy="441856"/>
          </a:xfrm>
          <a:prstGeom prst="straightConnector1">
            <a:avLst/>
          </a:prstGeom>
          <a:ln w="19050">
            <a:solidFill>
              <a:srgbClr val="FFC00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de seta reta 73"/>
          <p:cNvCxnSpPr/>
          <p:nvPr/>
        </p:nvCxnSpPr>
        <p:spPr>
          <a:xfrm>
            <a:off x="7823161" y="1459503"/>
            <a:ext cx="240775" cy="16427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CaixaDeTexto 75"/>
          <p:cNvSpPr txBox="1"/>
          <p:nvPr/>
        </p:nvSpPr>
        <p:spPr>
          <a:xfrm>
            <a:off x="6602693" y="1080971"/>
            <a:ext cx="129907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dirty="0"/>
              <a:t>Retrocede para continuar a busca</a:t>
            </a:r>
          </a:p>
        </p:txBody>
      </p:sp>
    </p:spTree>
    <p:extLst>
      <p:ext uri="{BB962C8B-B14F-4D97-AF65-F5344CB8AC3E}">
        <p14:creationId xmlns:p14="http://schemas.microsoft.com/office/powerpoint/2010/main" val="2389007485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Exemplo</a:t>
            </a:r>
          </a:p>
        </p:txBody>
      </p:sp>
      <p:cxnSp>
        <p:nvCxnSpPr>
          <p:cNvPr id="13" name="Conector de seta reta 12"/>
          <p:cNvCxnSpPr>
            <a:stCxn id="6" idx="5"/>
            <a:endCxn id="8" idx="1"/>
          </p:cNvCxnSpPr>
          <p:nvPr/>
        </p:nvCxnSpPr>
        <p:spPr>
          <a:xfrm>
            <a:off x="1350736" y="1645635"/>
            <a:ext cx="768523" cy="578105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459840" y="3673888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3" name="Conector de seta reta 32"/>
          <p:cNvCxnSpPr/>
          <p:nvPr/>
        </p:nvCxnSpPr>
        <p:spPr>
          <a:xfrm flipH="1">
            <a:off x="420639" y="4050487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>
            <a:spLocks noChangeAspect="1"/>
          </p:cNvSpPr>
          <p:nvPr/>
        </p:nvSpPr>
        <p:spPr>
          <a:xfrm>
            <a:off x="2587201" y="3673887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6" name="Conector de seta reta 35"/>
          <p:cNvCxnSpPr/>
          <p:nvPr/>
        </p:nvCxnSpPr>
        <p:spPr>
          <a:xfrm flipH="1">
            <a:off x="4307022" y="4050487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de seta reta 36"/>
          <p:cNvCxnSpPr/>
          <p:nvPr/>
        </p:nvCxnSpPr>
        <p:spPr>
          <a:xfrm flipH="1">
            <a:off x="2537936" y="4050487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>
            <a:spLocks noChangeAspect="1"/>
          </p:cNvSpPr>
          <p:nvPr/>
        </p:nvSpPr>
        <p:spPr>
          <a:xfrm>
            <a:off x="4346223" y="3673887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698311" y="3612692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698311" y="3896599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2821710" y="3612692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4589498" y="3612692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589498" y="3896599"/>
            <a:ext cx="1471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retorno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2821710" y="3896599"/>
            <a:ext cx="139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árvore</a:t>
            </a:r>
          </a:p>
        </p:txBody>
      </p: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de seta reta 103"/>
          <p:cNvCxnSpPr>
            <a:stCxn id="7" idx="6"/>
            <a:endCxn id="9" idx="1"/>
          </p:cNvCxnSpPr>
          <p:nvPr/>
        </p:nvCxnSpPr>
        <p:spPr>
          <a:xfrm>
            <a:off x="2309608" y="1561104"/>
            <a:ext cx="393124" cy="288251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106"/>
          <p:cNvCxnSpPr>
            <a:stCxn id="8" idx="6"/>
            <a:endCxn id="9" idx="3"/>
          </p:cNvCxnSpPr>
          <p:nvPr/>
        </p:nvCxnSpPr>
        <p:spPr>
          <a:xfrm flipV="1">
            <a:off x="2315659" y="2008430"/>
            <a:ext cx="387073" cy="29484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/>
          <p:cNvCxnSpPr/>
          <p:nvPr/>
        </p:nvCxnSpPr>
        <p:spPr>
          <a:xfrm flipH="1">
            <a:off x="4315078" y="433439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e seta reta 34"/>
          <p:cNvCxnSpPr/>
          <p:nvPr/>
        </p:nvCxnSpPr>
        <p:spPr>
          <a:xfrm flipH="1">
            <a:off x="2545992" y="4334394"/>
            <a:ext cx="262480" cy="1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aixaDeTexto 42"/>
          <p:cNvSpPr txBox="1"/>
          <p:nvPr/>
        </p:nvSpPr>
        <p:spPr>
          <a:xfrm>
            <a:off x="4597554" y="4180506"/>
            <a:ext cx="17827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cruzamento</a:t>
            </a:r>
          </a:p>
        </p:txBody>
      </p:sp>
      <p:sp>
        <p:nvSpPr>
          <p:cNvPr id="46" name="CaixaDeTexto 45"/>
          <p:cNvSpPr txBox="1"/>
          <p:nvPr/>
        </p:nvSpPr>
        <p:spPr>
          <a:xfrm>
            <a:off x="2829766" y="4180506"/>
            <a:ext cx="14294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avanço</a:t>
            </a:r>
          </a:p>
        </p:txBody>
      </p:sp>
      <p:graphicFrame>
        <p:nvGraphicFramePr>
          <p:cNvPr id="53" name="Tabela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6898213"/>
              </p:ext>
            </p:extLst>
          </p:nvPr>
        </p:nvGraphicFramePr>
        <p:xfrm>
          <a:off x="3158661" y="1273066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c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f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e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0" name="CaixaDeTexto 49"/>
          <p:cNvSpPr txBox="1"/>
          <p:nvPr/>
        </p:nvSpPr>
        <p:spPr>
          <a:xfrm>
            <a:off x="6665906" y="3766580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51" name="Conector reto 50"/>
          <p:cNvCxnSpPr/>
          <p:nvPr/>
        </p:nvCxnSpPr>
        <p:spPr>
          <a:xfrm>
            <a:off x="6349033" y="1369930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Elipse 51"/>
          <p:cNvSpPr/>
          <p:nvPr/>
        </p:nvSpPr>
        <p:spPr>
          <a:xfrm>
            <a:off x="7128893" y="162924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914804" y="2617084"/>
            <a:ext cx="20649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BP(e)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</a:t>
            </a:r>
            <a:r>
              <a:rPr lang="pt-BR" sz="1600" b="1" dirty="0">
                <a:solidFill>
                  <a:srgbClr val="00B0F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5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49" name="Conector de seta reta 48"/>
          <p:cNvCxnSpPr>
            <a:stCxn id="56" idx="0"/>
          </p:cNvCxnSpPr>
          <p:nvPr/>
        </p:nvCxnSpPr>
        <p:spPr>
          <a:xfrm flipH="1" flipV="1">
            <a:off x="7243942" y="1854214"/>
            <a:ext cx="1" cy="371130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/>
          <p:cNvSpPr/>
          <p:nvPr/>
        </p:nvSpPr>
        <p:spPr>
          <a:xfrm>
            <a:off x="7128894" y="222534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58" name="CaixaDeTexto 57"/>
          <p:cNvSpPr txBox="1"/>
          <p:nvPr/>
        </p:nvSpPr>
        <p:spPr>
          <a:xfrm>
            <a:off x="914804" y="2919967"/>
            <a:ext cx="19059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BP(f) 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(f)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57" name="Conector de seta reta 56"/>
          <p:cNvCxnSpPr>
            <a:stCxn id="59" idx="0"/>
          </p:cNvCxnSpPr>
          <p:nvPr/>
        </p:nvCxnSpPr>
        <p:spPr>
          <a:xfrm flipV="1">
            <a:off x="7243943" y="2450309"/>
            <a:ext cx="0" cy="370870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Elipse 58"/>
          <p:cNvSpPr/>
          <p:nvPr/>
        </p:nvSpPr>
        <p:spPr>
          <a:xfrm>
            <a:off x="7128894" y="282117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62" name="CaixaDeTexto 61"/>
          <p:cNvSpPr txBox="1"/>
          <p:nvPr/>
        </p:nvSpPr>
        <p:spPr>
          <a:xfrm>
            <a:off x="914804" y="3222850"/>
            <a:ext cx="19111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BP(b)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= { </a:t>
            </a:r>
            <a:r>
              <a:rPr lang="pt-BR" sz="1600" b="1" dirty="0">
                <a:solidFill>
                  <a:srgbClr val="00B0F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sp>
        <p:nvSpPr>
          <p:cNvPr id="60" name="Elipse 59"/>
          <p:cNvSpPr/>
          <p:nvPr/>
        </p:nvSpPr>
        <p:spPr>
          <a:xfrm>
            <a:off x="7128892" y="343661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61" name="Conector de seta reta 60"/>
          <p:cNvCxnSpPr>
            <a:stCxn id="60" idx="0"/>
          </p:cNvCxnSpPr>
          <p:nvPr/>
        </p:nvCxnSpPr>
        <p:spPr>
          <a:xfrm flipV="1">
            <a:off x="7243941" y="3046145"/>
            <a:ext cx="2" cy="390473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aixaDeTexto 63"/>
          <p:cNvSpPr txBox="1"/>
          <p:nvPr/>
        </p:nvSpPr>
        <p:spPr>
          <a:xfrm>
            <a:off x="3205386" y="2612377"/>
            <a:ext cx="18662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BP(d)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</a:t>
            </a:r>
            <a:r>
              <a:rPr lang="pt-BR" sz="1600" b="1" dirty="0">
                <a:solidFill>
                  <a:srgbClr val="FF000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63" name="Conector angulado 139"/>
          <p:cNvCxnSpPr/>
          <p:nvPr/>
        </p:nvCxnSpPr>
        <p:spPr>
          <a:xfrm rot="10800000" flipH="1">
            <a:off x="7128892" y="2337829"/>
            <a:ext cx="2" cy="1211273"/>
          </a:xfrm>
          <a:prstGeom prst="curvedConnector3">
            <a:avLst>
              <a:gd name="adj1" fmla="val -11430000000"/>
            </a:avLst>
          </a:prstGeom>
          <a:ln w="19050">
            <a:solidFill>
              <a:srgbClr val="FF000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Elipse 67"/>
          <p:cNvSpPr/>
          <p:nvPr/>
        </p:nvSpPr>
        <p:spPr>
          <a:xfrm>
            <a:off x="8063936" y="162425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5" name="CaixaDeTexto 64"/>
          <p:cNvSpPr txBox="1"/>
          <p:nvPr/>
        </p:nvSpPr>
        <p:spPr>
          <a:xfrm>
            <a:off x="3205386" y="2914247"/>
            <a:ext cx="21328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BP(c)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(c) 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a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C00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sp>
        <p:nvSpPr>
          <p:cNvPr id="66" name="Elipse 65"/>
          <p:cNvSpPr/>
          <p:nvPr/>
        </p:nvSpPr>
        <p:spPr>
          <a:xfrm>
            <a:off x="8063936" y="222024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cxnSp>
        <p:nvCxnSpPr>
          <p:cNvPr id="69" name="Conector de seta reta 68"/>
          <p:cNvCxnSpPr>
            <a:stCxn id="66" idx="0"/>
          </p:cNvCxnSpPr>
          <p:nvPr/>
        </p:nvCxnSpPr>
        <p:spPr>
          <a:xfrm flipV="1">
            <a:off x="8178985" y="1849219"/>
            <a:ext cx="0" cy="371029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CaixaDeTexto 70"/>
          <p:cNvSpPr txBox="1"/>
          <p:nvPr/>
        </p:nvSpPr>
        <p:spPr>
          <a:xfrm>
            <a:off x="3205386" y="3216117"/>
            <a:ext cx="20842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BP(a)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FFC00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C00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73" name="Conector angulado 147"/>
          <p:cNvCxnSpPr/>
          <p:nvPr/>
        </p:nvCxnSpPr>
        <p:spPr>
          <a:xfrm>
            <a:off x="7358990" y="1741732"/>
            <a:ext cx="1" cy="1191930"/>
          </a:xfrm>
          <a:prstGeom prst="curvedConnector3">
            <a:avLst>
              <a:gd name="adj1" fmla="val 22860100000"/>
            </a:avLst>
          </a:prstGeom>
          <a:ln w="19050">
            <a:solidFill>
              <a:srgbClr val="00B05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ctor de seta reta 69"/>
          <p:cNvCxnSpPr/>
          <p:nvPr/>
        </p:nvCxnSpPr>
        <p:spPr>
          <a:xfrm flipH="1">
            <a:off x="7358991" y="2332731"/>
            <a:ext cx="704945" cy="5096"/>
          </a:xfrm>
          <a:prstGeom prst="straightConnector1">
            <a:avLst/>
          </a:prstGeom>
          <a:ln w="19050">
            <a:solidFill>
              <a:srgbClr val="FFC00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ector de seta reta 71"/>
          <p:cNvCxnSpPr/>
          <p:nvPr/>
        </p:nvCxnSpPr>
        <p:spPr>
          <a:xfrm flipH="1">
            <a:off x="7325294" y="2412268"/>
            <a:ext cx="772339" cy="441856"/>
          </a:xfrm>
          <a:prstGeom prst="straightConnector1">
            <a:avLst/>
          </a:prstGeom>
          <a:ln w="19050">
            <a:solidFill>
              <a:srgbClr val="FFC00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de seta reta 73"/>
          <p:cNvCxnSpPr/>
          <p:nvPr/>
        </p:nvCxnSpPr>
        <p:spPr>
          <a:xfrm>
            <a:off x="7823161" y="1459503"/>
            <a:ext cx="240775" cy="16427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CaixaDeTexto 75"/>
          <p:cNvSpPr txBox="1"/>
          <p:nvPr/>
        </p:nvSpPr>
        <p:spPr>
          <a:xfrm>
            <a:off x="6602693" y="1080971"/>
            <a:ext cx="129907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dirty="0"/>
              <a:t>Retrocede para continuar a busca</a:t>
            </a:r>
          </a:p>
        </p:txBody>
      </p:sp>
      <p:cxnSp>
        <p:nvCxnSpPr>
          <p:cNvPr id="77" name="Conector de seta reta 76"/>
          <p:cNvCxnSpPr/>
          <p:nvPr/>
        </p:nvCxnSpPr>
        <p:spPr>
          <a:xfrm flipH="1">
            <a:off x="7358989" y="1741732"/>
            <a:ext cx="704946" cy="4996"/>
          </a:xfrm>
          <a:prstGeom prst="straightConnector1">
            <a:avLst/>
          </a:prstGeom>
          <a:ln w="19050">
            <a:solidFill>
              <a:srgbClr val="FFC00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9" name="Elipse 8"/>
          <p:cNvSpPr/>
          <p:nvPr/>
        </p:nvSpPr>
        <p:spPr>
          <a:xfrm>
            <a:off x="2669035" y="1816410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732080504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Profundidade – Exemplo</a:t>
            </a:r>
          </a:p>
        </p:txBody>
      </p:sp>
      <p:cxnSp>
        <p:nvCxnSpPr>
          <p:cNvPr id="13" name="Conector de seta reta 12"/>
          <p:cNvCxnSpPr>
            <a:stCxn id="6" idx="5"/>
            <a:endCxn id="8" idx="1"/>
          </p:cNvCxnSpPr>
          <p:nvPr/>
        </p:nvCxnSpPr>
        <p:spPr>
          <a:xfrm>
            <a:off x="1350736" y="1645635"/>
            <a:ext cx="768523" cy="578105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459840" y="3673888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3" name="Conector de seta reta 32"/>
          <p:cNvCxnSpPr/>
          <p:nvPr/>
        </p:nvCxnSpPr>
        <p:spPr>
          <a:xfrm flipH="1">
            <a:off x="420639" y="4050487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>
            <a:spLocks noChangeAspect="1"/>
          </p:cNvSpPr>
          <p:nvPr/>
        </p:nvSpPr>
        <p:spPr>
          <a:xfrm>
            <a:off x="2587201" y="3673887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6" name="Conector de seta reta 35"/>
          <p:cNvCxnSpPr/>
          <p:nvPr/>
        </p:nvCxnSpPr>
        <p:spPr>
          <a:xfrm flipH="1">
            <a:off x="4307022" y="4050487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de seta reta 36"/>
          <p:cNvCxnSpPr/>
          <p:nvPr/>
        </p:nvCxnSpPr>
        <p:spPr>
          <a:xfrm flipH="1">
            <a:off x="2537936" y="4050487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>
            <a:spLocks noChangeAspect="1"/>
          </p:cNvSpPr>
          <p:nvPr/>
        </p:nvSpPr>
        <p:spPr>
          <a:xfrm>
            <a:off x="4346223" y="3673887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698311" y="3612692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698311" y="3896599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2821710" y="3612692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4589498" y="3612692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589498" y="3896599"/>
            <a:ext cx="1471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retorno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2821710" y="3896599"/>
            <a:ext cx="139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árvore</a:t>
            </a:r>
          </a:p>
        </p:txBody>
      </p: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de seta reta 103"/>
          <p:cNvCxnSpPr>
            <a:stCxn id="7" idx="6"/>
            <a:endCxn id="9" idx="1"/>
          </p:cNvCxnSpPr>
          <p:nvPr/>
        </p:nvCxnSpPr>
        <p:spPr>
          <a:xfrm>
            <a:off x="2309608" y="1561104"/>
            <a:ext cx="393124" cy="288251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106"/>
          <p:cNvCxnSpPr>
            <a:stCxn id="8" idx="6"/>
            <a:endCxn id="9" idx="3"/>
          </p:cNvCxnSpPr>
          <p:nvPr/>
        </p:nvCxnSpPr>
        <p:spPr>
          <a:xfrm flipV="1">
            <a:off x="2315659" y="2008430"/>
            <a:ext cx="387073" cy="29484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/>
          <p:cNvCxnSpPr/>
          <p:nvPr/>
        </p:nvCxnSpPr>
        <p:spPr>
          <a:xfrm flipH="1">
            <a:off x="4315078" y="433439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e seta reta 34"/>
          <p:cNvCxnSpPr/>
          <p:nvPr/>
        </p:nvCxnSpPr>
        <p:spPr>
          <a:xfrm flipH="1">
            <a:off x="2545992" y="4334394"/>
            <a:ext cx="262480" cy="1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aixaDeTexto 42"/>
          <p:cNvSpPr txBox="1"/>
          <p:nvPr/>
        </p:nvSpPr>
        <p:spPr>
          <a:xfrm>
            <a:off x="4597554" y="4180506"/>
            <a:ext cx="17827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cruzamento</a:t>
            </a:r>
          </a:p>
        </p:txBody>
      </p:sp>
      <p:sp>
        <p:nvSpPr>
          <p:cNvPr id="46" name="CaixaDeTexto 45"/>
          <p:cNvSpPr txBox="1"/>
          <p:nvPr/>
        </p:nvSpPr>
        <p:spPr>
          <a:xfrm>
            <a:off x="2829766" y="4180506"/>
            <a:ext cx="14294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avanço</a:t>
            </a:r>
          </a:p>
        </p:txBody>
      </p:sp>
      <p:graphicFrame>
        <p:nvGraphicFramePr>
          <p:cNvPr id="53" name="Tabela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3682495"/>
              </p:ext>
            </p:extLst>
          </p:nvPr>
        </p:nvGraphicFramePr>
        <p:xfrm>
          <a:off x="3158661" y="1273066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c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f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e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0" name="CaixaDeTexto 49"/>
          <p:cNvSpPr txBox="1"/>
          <p:nvPr/>
        </p:nvSpPr>
        <p:spPr>
          <a:xfrm>
            <a:off x="6665906" y="3766580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51" name="Conector reto 50"/>
          <p:cNvCxnSpPr/>
          <p:nvPr/>
        </p:nvCxnSpPr>
        <p:spPr>
          <a:xfrm>
            <a:off x="6349033" y="1369930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Elipse 51"/>
          <p:cNvSpPr/>
          <p:nvPr/>
        </p:nvSpPr>
        <p:spPr>
          <a:xfrm>
            <a:off x="7128893" y="162924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914804" y="2617084"/>
            <a:ext cx="20649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BP(e)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</a:t>
            </a:r>
            <a:r>
              <a:rPr lang="pt-BR" sz="1600" b="1" dirty="0">
                <a:solidFill>
                  <a:srgbClr val="00B0F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5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49" name="Conector de seta reta 48"/>
          <p:cNvCxnSpPr>
            <a:stCxn id="56" idx="0"/>
          </p:cNvCxnSpPr>
          <p:nvPr/>
        </p:nvCxnSpPr>
        <p:spPr>
          <a:xfrm flipH="1" flipV="1">
            <a:off x="7243942" y="1854214"/>
            <a:ext cx="1" cy="371130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/>
          <p:cNvSpPr/>
          <p:nvPr/>
        </p:nvSpPr>
        <p:spPr>
          <a:xfrm>
            <a:off x="7128894" y="222534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58" name="CaixaDeTexto 57"/>
          <p:cNvSpPr txBox="1"/>
          <p:nvPr/>
        </p:nvSpPr>
        <p:spPr>
          <a:xfrm>
            <a:off x="914804" y="2919967"/>
            <a:ext cx="19059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BP(f) 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(f)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57" name="Conector de seta reta 56"/>
          <p:cNvCxnSpPr>
            <a:stCxn id="59" idx="0"/>
          </p:cNvCxnSpPr>
          <p:nvPr/>
        </p:nvCxnSpPr>
        <p:spPr>
          <a:xfrm flipV="1">
            <a:off x="7243943" y="2450309"/>
            <a:ext cx="0" cy="370870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Elipse 58"/>
          <p:cNvSpPr/>
          <p:nvPr/>
        </p:nvSpPr>
        <p:spPr>
          <a:xfrm>
            <a:off x="7128894" y="282117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62" name="CaixaDeTexto 61"/>
          <p:cNvSpPr txBox="1"/>
          <p:nvPr/>
        </p:nvSpPr>
        <p:spPr>
          <a:xfrm>
            <a:off x="914804" y="3222850"/>
            <a:ext cx="19111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BP(b)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= { </a:t>
            </a:r>
            <a:r>
              <a:rPr lang="pt-BR" sz="1600" b="1" dirty="0">
                <a:solidFill>
                  <a:srgbClr val="00B0F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sp>
        <p:nvSpPr>
          <p:cNvPr id="60" name="Elipse 59"/>
          <p:cNvSpPr/>
          <p:nvPr/>
        </p:nvSpPr>
        <p:spPr>
          <a:xfrm>
            <a:off x="7128892" y="343661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61" name="Conector de seta reta 60"/>
          <p:cNvCxnSpPr>
            <a:stCxn id="60" idx="0"/>
          </p:cNvCxnSpPr>
          <p:nvPr/>
        </p:nvCxnSpPr>
        <p:spPr>
          <a:xfrm flipV="1">
            <a:off x="7243941" y="3046145"/>
            <a:ext cx="2" cy="390473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aixaDeTexto 63"/>
          <p:cNvSpPr txBox="1"/>
          <p:nvPr/>
        </p:nvSpPr>
        <p:spPr>
          <a:xfrm>
            <a:off x="3205386" y="2612377"/>
            <a:ext cx="18662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BP(d)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</a:t>
            </a:r>
            <a:r>
              <a:rPr lang="pt-BR" sz="1600" b="1" dirty="0">
                <a:solidFill>
                  <a:srgbClr val="FF000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63" name="Conector angulado 139"/>
          <p:cNvCxnSpPr/>
          <p:nvPr/>
        </p:nvCxnSpPr>
        <p:spPr>
          <a:xfrm rot="10800000" flipH="1">
            <a:off x="7128892" y="2337829"/>
            <a:ext cx="2" cy="1211273"/>
          </a:xfrm>
          <a:prstGeom prst="curvedConnector3">
            <a:avLst>
              <a:gd name="adj1" fmla="val -11430000000"/>
            </a:avLst>
          </a:prstGeom>
          <a:ln w="19050">
            <a:solidFill>
              <a:srgbClr val="FF000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Elipse 67"/>
          <p:cNvSpPr/>
          <p:nvPr/>
        </p:nvSpPr>
        <p:spPr>
          <a:xfrm>
            <a:off x="8063936" y="162425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5" name="CaixaDeTexto 64"/>
          <p:cNvSpPr txBox="1"/>
          <p:nvPr/>
        </p:nvSpPr>
        <p:spPr>
          <a:xfrm>
            <a:off x="3205386" y="2914247"/>
            <a:ext cx="21328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BP(c)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(c) 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a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C00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sp>
        <p:nvSpPr>
          <p:cNvPr id="66" name="Elipse 65"/>
          <p:cNvSpPr/>
          <p:nvPr/>
        </p:nvSpPr>
        <p:spPr>
          <a:xfrm>
            <a:off x="8063936" y="222024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cxnSp>
        <p:nvCxnSpPr>
          <p:cNvPr id="69" name="Conector de seta reta 68"/>
          <p:cNvCxnSpPr>
            <a:stCxn id="66" idx="0"/>
          </p:cNvCxnSpPr>
          <p:nvPr/>
        </p:nvCxnSpPr>
        <p:spPr>
          <a:xfrm flipV="1">
            <a:off x="8178985" y="1849219"/>
            <a:ext cx="0" cy="371029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CaixaDeTexto 70"/>
          <p:cNvSpPr txBox="1"/>
          <p:nvPr/>
        </p:nvSpPr>
        <p:spPr>
          <a:xfrm>
            <a:off x="3205386" y="3216117"/>
            <a:ext cx="20842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BP(a)  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baseline="48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(a) </a:t>
            </a:r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FFC000"/>
                </a:solidFill>
              </a:rPr>
              <a:t>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C00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cxnSp>
        <p:nvCxnSpPr>
          <p:cNvPr id="73" name="Conector angulado 147"/>
          <p:cNvCxnSpPr/>
          <p:nvPr/>
        </p:nvCxnSpPr>
        <p:spPr>
          <a:xfrm>
            <a:off x="7358990" y="1741732"/>
            <a:ext cx="1" cy="1191930"/>
          </a:xfrm>
          <a:prstGeom prst="curvedConnector3">
            <a:avLst>
              <a:gd name="adj1" fmla="val 22860100000"/>
            </a:avLst>
          </a:prstGeom>
          <a:ln w="19050">
            <a:solidFill>
              <a:srgbClr val="00B05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ctor de seta reta 69"/>
          <p:cNvCxnSpPr/>
          <p:nvPr/>
        </p:nvCxnSpPr>
        <p:spPr>
          <a:xfrm flipH="1">
            <a:off x="7358991" y="2332731"/>
            <a:ext cx="704945" cy="5096"/>
          </a:xfrm>
          <a:prstGeom prst="straightConnector1">
            <a:avLst/>
          </a:prstGeom>
          <a:ln w="19050">
            <a:solidFill>
              <a:srgbClr val="FFC00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ector de seta reta 71"/>
          <p:cNvCxnSpPr/>
          <p:nvPr/>
        </p:nvCxnSpPr>
        <p:spPr>
          <a:xfrm flipH="1">
            <a:off x="7325294" y="2412268"/>
            <a:ext cx="772339" cy="441856"/>
          </a:xfrm>
          <a:prstGeom prst="straightConnector1">
            <a:avLst/>
          </a:prstGeom>
          <a:ln w="19050">
            <a:solidFill>
              <a:srgbClr val="FFC00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de seta reta 76"/>
          <p:cNvCxnSpPr/>
          <p:nvPr/>
        </p:nvCxnSpPr>
        <p:spPr>
          <a:xfrm flipH="1">
            <a:off x="7358989" y="1741732"/>
            <a:ext cx="704946" cy="4996"/>
          </a:xfrm>
          <a:prstGeom prst="straightConnector1">
            <a:avLst/>
          </a:prstGeom>
          <a:ln w="19050">
            <a:solidFill>
              <a:srgbClr val="FFC00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9" name="Elipse 8"/>
          <p:cNvSpPr/>
          <p:nvPr/>
        </p:nvSpPr>
        <p:spPr>
          <a:xfrm>
            <a:off x="2669035" y="1816410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420371234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Intervalos de Vida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5" y="1203960"/>
            <a:ext cx="8407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5495017"/>
              </p:ext>
            </p:extLst>
          </p:nvPr>
        </p:nvGraphicFramePr>
        <p:xfrm>
          <a:off x="4062447" y="1712859"/>
          <a:ext cx="4570130" cy="2364802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597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68001">
                <a:tc rowSpan="2"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Vértice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Tempo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001">
                <a:tc vMerge="1"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cxnSp>
        <p:nvCxnSpPr>
          <p:cNvPr id="23" name="Conector de seta reta 22"/>
          <p:cNvCxnSpPr/>
          <p:nvPr/>
        </p:nvCxnSpPr>
        <p:spPr>
          <a:xfrm>
            <a:off x="3920357" y="2294394"/>
            <a:ext cx="12613" cy="1783267"/>
          </a:xfrm>
          <a:prstGeom prst="straightConnector1">
            <a:avLst/>
          </a:prstGeom>
          <a:ln w="22225"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aixaDeTexto 27"/>
          <p:cNvSpPr txBox="1"/>
          <p:nvPr/>
        </p:nvSpPr>
        <p:spPr>
          <a:xfrm rot="16200000">
            <a:off x="2869395" y="3005668"/>
            <a:ext cx="18669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Em ordem crescente de TD</a:t>
            </a:r>
          </a:p>
        </p:txBody>
      </p:sp>
      <p:cxnSp>
        <p:nvCxnSpPr>
          <p:cNvPr id="41" name="Conector de seta reta 40"/>
          <p:cNvCxnSpPr>
            <a:stCxn id="52" idx="5"/>
            <a:endCxn id="54" idx="1"/>
          </p:cNvCxnSpPr>
          <p:nvPr/>
        </p:nvCxnSpPr>
        <p:spPr>
          <a:xfrm>
            <a:off x="1586263" y="1728762"/>
            <a:ext cx="768523" cy="578105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de seta reta 41"/>
          <p:cNvCxnSpPr>
            <a:stCxn id="52" idx="6"/>
            <a:endCxn id="53" idx="2"/>
          </p:cNvCxnSpPr>
          <p:nvPr/>
        </p:nvCxnSpPr>
        <p:spPr>
          <a:xfrm flipV="1">
            <a:off x="1619960" y="1644231"/>
            <a:ext cx="695078" cy="4994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aixaDeTexto 42"/>
          <p:cNvSpPr txBox="1"/>
          <p:nvPr/>
        </p:nvSpPr>
        <p:spPr>
          <a:xfrm>
            <a:off x="825839" y="1399479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45" name="Conector de seta reta 44"/>
          <p:cNvCxnSpPr>
            <a:stCxn id="53" idx="4"/>
            <a:endCxn id="54" idx="0"/>
          </p:cNvCxnSpPr>
          <p:nvPr/>
        </p:nvCxnSpPr>
        <p:spPr>
          <a:xfrm>
            <a:off x="2430087" y="1756713"/>
            <a:ext cx="6051" cy="517209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de seta reta 45"/>
          <p:cNvCxnSpPr>
            <a:stCxn id="51" idx="7"/>
            <a:endCxn id="53" idx="3"/>
          </p:cNvCxnSpPr>
          <p:nvPr/>
        </p:nvCxnSpPr>
        <p:spPr>
          <a:xfrm flipV="1">
            <a:off x="1582447" y="1723768"/>
            <a:ext cx="766288" cy="586025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de seta reta 46"/>
          <p:cNvCxnSpPr>
            <a:stCxn id="52" idx="2"/>
            <a:endCxn id="56" idx="7"/>
          </p:cNvCxnSpPr>
          <p:nvPr/>
        </p:nvCxnSpPr>
        <p:spPr>
          <a:xfrm flipH="1">
            <a:off x="1003204" y="1649225"/>
            <a:ext cx="386659" cy="286553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de seta reta 47"/>
          <p:cNvCxnSpPr>
            <a:stCxn id="51" idx="2"/>
            <a:endCxn id="56" idx="5"/>
          </p:cNvCxnSpPr>
          <p:nvPr/>
        </p:nvCxnSpPr>
        <p:spPr>
          <a:xfrm flipH="1" flipV="1">
            <a:off x="1003204" y="2094853"/>
            <a:ext cx="382843" cy="294478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de seta reta 48"/>
          <p:cNvCxnSpPr>
            <a:stCxn id="53" idx="6"/>
            <a:endCxn id="55" idx="1"/>
          </p:cNvCxnSpPr>
          <p:nvPr/>
        </p:nvCxnSpPr>
        <p:spPr>
          <a:xfrm>
            <a:off x="2545135" y="1644231"/>
            <a:ext cx="393124" cy="288251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de seta reta 49"/>
          <p:cNvCxnSpPr>
            <a:stCxn id="54" idx="6"/>
            <a:endCxn id="55" idx="3"/>
          </p:cNvCxnSpPr>
          <p:nvPr/>
        </p:nvCxnSpPr>
        <p:spPr>
          <a:xfrm flipV="1">
            <a:off x="2551186" y="2091557"/>
            <a:ext cx="387073" cy="29484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Elipse 50"/>
          <p:cNvSpPr/>
          <p:nvPr/>
        </p:nvSpPr>
        <p:spPr>
          <a:xfrm>
            <a:off x="1386047" y="2276848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52" name="Elipse 51"/>
          <p:cNvSpPr/>
          <p:nvPr/>
        </p:nvSpPr>
        <p:spPr>
          <a:xfrm>
            <a:off x="1389863" y="1536742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53" name="Elipse 52"/>
          <p:cNvSpPr/>
          <p:nvPr/>
        </p:nvSpPr>
        <p:spPr>
          <a:xfrm>
            <a:off x="2315038" y="1531748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54" name="Elipse 53"/>
          <p:cNvSpPr/>
          <p:nvPr/>
        </p:nvSpPr>
        <p:spPr>
          <a:xfrm>
            <a:off x="2321089" y="2273922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55" name="Elipse 54"/>
          <p:cNvSpPr/>
          <p:nvPr/>
        </p:nvSpPr>
        <p:spPr>
          <a:xfrm>
            <a:off x="2904562" y="1899537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56" name="Elipse 55"/>
          <p:cNvSpPr/>
          <p:nvPr/>
        </p:nvSpPr>
        <p:spPr>
          <a:xfrm>
            <a:off x="806804" y="1902833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c</a:t>
            </a:r>
          </a:p>
        </p:txBody>
      </p:sp>
      <p:graphicFrame>
        <p:nvGraphicFramePr>
          <p:cNvPr id="57" name="Tabela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5135727"/>
              </p:ext>
            </p:extLst>
          </p:nvPr>
        </p:nvGraphicFramePr>
        <p:xfrm>
          <a:off x="523827" y="2908473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c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f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e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24" name="Conector de seta reta 23"/>
          <p:cNvCxnSpPr>
            <a:stCxn id="51" idx="6"/>
            <a:endCxn id="54" idx="2"/>
          </p:cNvCxnSpPr>
          <p:nvPr/>
        </p:nvCxnSpPr>
        <p:spPr>
          <a:xfrm flipV="1">
            <a:off x="1616144" y="2386405"/>
            <a:ext cx="704945" cy="2926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9046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Intervalos de Vida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5" y="1203960"/>
            <a:ext cx="8407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0102334"/>
              </p:ext>
            </p:extLst>
          </p:nvPr>
        </p:nvGraphicFramePr>
        <p:xfrm>
          <a:off x="4062447" y="1712859"/>
          <a:ext cx="4570130" cy="2364802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597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68001">
                <a:tc rowSpan="2"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Vértice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Tempo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001">
                <a:tc vMerge="1"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cxnSp>
        <p:nvCxnSpPr>
          <p:cNvPr id="23" name="Conector de seta reta 22"/>
          <p:cNvCxnSpPr/>
          <p:nvPr/>
        </p:nvCxnSpPr>
        <p:spPr>
          <a:xfrm>
            <a:off x="3920357" y="2294394"/>
            <a:ext cx="12613" cy="1783267"/>
          </a:xfrm>
          <a:prstGeom prst="straightConnector1">
            <a:avLst/>
          </a:prstGeom>
          <a:ln w="22225"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aixaDeTexto 27"/>
          <p:cNvSpPr txBox="1"/>
          <p:nvPr/>
        </p:nvSpPr>
        <p:spPr>
          <a:xfrm rot="16200000">
            <a:off x="2869395" y="3005668"/>
            <a:ext cx="18669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Em ordem crescente de TD</a:t>
            </a:r>
          </a:p>
        </p:txBody>
      </p:sp>
      <p:cxnSp>
        <p:nvCxnSpPr>
          <p:cNvPr id="41" name="Conector de seta reta 40"/>
          <p:cNvCxnSpPr>
            <a:stCxn id="52" idx="5"/>
            <a:endCxn id="54" idx="1"/>
          </p:cNvCxnSpPr>
          <p:nvPr/>
        </p:nvCxnSpPr>
        <p:spPr>
          <a:xfrm>
            <a:off x="1586263" y="1728762"/>
            <a:ext cx="768523" cy="578105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de seta reta 41"/>
          <p:cNvCxnSpPr>
            <a:stCxn id="52" idx="6"/>
            <a:endCxn id="53" idx="2"/>
          </p:cNvCxnSpPr>
          <p:nvPr/>
        </p:nvCxnSpPr>
        <p:spPr>
          <a:xfrm flipV="1">
            <a:off x="1619960" y="1644231"/>
            <a:ext cx="695078" cy="4994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aixaDeTexto 42"/>
          <p:cNvSpPr txBox="1"/>
          <p:nvPr/>
        </p:nvSpPr>
        <p:spPr>
          <a:xfrm>
            <a:off x="825839" y="1399479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45" name="Conector de seta reta 44"/>
          <p:cNvCxnSpPr>
            <a:stCxn id="53" idx="4"/>
            <a:endCxn id="54" idx="0"/>
          </p:cNvCxnSpPr>
          <p:nvPr/>
        </p:nvCxnSpPr>
        <p:spPr>
          <a:xfrm>
            <a:off x="2430087" y="1756713"/>
            <a:ext cx="6051" cy="517209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de seta reta 45"/>
          <p:cNvCxnSpPr>
            <a:stCxn id="51" idx="7"/>
            <a:endCxn id="53" idx="3"/>
          </p:cNvCxnSpPr>
          <p:nvPr/>
        </p:nvCxnSpPr>
        <p:spPr>
          <a:xfrm flipV="1">
            <a:off x="1582447" y="1723768"/>
            <a:ext cx="766288" cy="586025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de seta reta 46"/>
          <p:cNvCxnSpPr>
            <a:stCxn id="52" idx="2"/>
            <a:endCxn id="56" idx="7"/>
          </p:cNvCxnSpPr>
          <p:nvPr/>
        </p:nvCxnSpPr>
        <p:spPr>
          <a:xfrm flipH="1">
            <a:off x="1003204" y="1649225"/>
            <a:ext cx="386659" cy="286553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de seta reta 47"/>
          <p:cNvCxnSpPr>
            <a:stCxn id="51" idx="2"/>
            <a:endCxn id="56" idx="5"/>
          </p:cNvCxnSpPr>
          <p:nvPr/>
        </p:nvCxnSpPr>
        <p:spPr>
          <a:xfrm flipH="1" flipV="1">
            <a:off x="1003204" y="2094853"/>
            <a:ext cx="382843" cy="294478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de seta reta 48"/>
          <p:cNvCxnSpPr>
            <a:stCxn id="53" idx="6"/>
            <a:endCxn id="55" idx="1"/>
          </p:cNvCxnSpPr>
          <p:nvPr/>
        </p:nvCxnSpPr>
        <p:spPr>
          <a:xfrm>
            <a:off x="2545135" y="1644231"/>
            <a:ext cx="393124" cy="288251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de seta reta 49"/>
          <p:cNvCxnSpPr>
            <a:stCxn id="54" idx="6"/>
            <a:endCxn id="55" idx="3"/>
          </p:cNvCxnSpPr>
          <p:nvPr/>
        </p:nvCxnSpPr>
        <p:spPr>
          <a:xfrm flipV="1">
            <a:off x="2551186" y="2091557"/>
            <a:ext cx="387073" cy="29484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Elipse 50"/>
          <p:cNvSpPr/>
          <p:nvPr/>
        </p:nvSpPr>
        <p:spPr>
          <a:xfrm>
            <a:off x="1386047" y="2276848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52" name="Elipse 51"/>
          <p:cNvSpPr/>
          <p:nvPr/>
        </p:nvSpPr>
        <p:spPr>
          <a:xfrm>
            <a:off x="1389863" y="1536742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53" name="Elipse 52"/>
          <p:cNvSpPr/>
          <p:nvPr/>
        </p:nvSpPr>
        <p:spPr>
          <a:xfrm>
            <a:off x="2315038" y="1531748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54" name="Elipse 53"/>
          <p:cNvSpPr/>
          <p:nvPr/>
        </p:nvSpPr>
        <p:spPr>
          <a:xfrm>
            <a:off x="2321089" y="2273922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55" name="Elipse 54"/>
          <p:cNvSpPr/>
          <p:nvPr/>
        </p:nvSpPr>
        <p:spPr>
          <a:xfrm>
            <a:off x="2904562" y="1899537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56" name="Elipse 55"/>
          <p:cNvSpPr/>
          <p:nvPr/>
        </p:nvSpPr>
        <p:spPr>
          <a:xfrm>
            <a:off x="806804" y="1902833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c</a:t>
            </a:r>
          </a:p>
        </p:txBody>
      </p:sp>
      <p:graphicFrame>
        <p:nvGraphicFramePr>
          <p:cNvPr id="57" name="Tabela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5135727"/>
              </p:ext>
            </p:extLst>
          </p:nvPr>
        </p:nvGraphicFramePr>
        <p:xfrm>
          <a:off x="523827" y="2908473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c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f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e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24" name="Conector de seta reta 23"/>
          <p:cNvCxnSpPr>
            <a:stCxn id="51" idx="6"/>
            <a:endCxn id="54" idx="2"/>
          </p:cNvCxnSpPr>
          <p:nvPr/>
        </p:nvCxnSpPr>
        <p:spPr>
          <a:xfrm flipV="1">
            <a:off x="1616144" y="2386405"/>
            <a:ext cx="704945" cy="2926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4872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Intervalos de Vida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5" y="1203960"/>
            <a:ext cx="8407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1694458"/>
              </p:ext>
            </p:extLst>
          </p:nvPr>
        </p:nvGraphicFramePr>
        <p:xfrm>
          <a:off x="4062447" y="1712859"/>
          <a:ext cx="4570130" cy="2364802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597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68001">
                <a:tc rowSpan="2"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Vértice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Tempo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001">
                <a:tc vMerge="1"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cxnSp>
        <p:nvCxnSpPr>
          <p:cNvPr id="23" name="Conector de seta reta 22"/>
          <p:cNvCxnSpPr/>
          <p:nvPr/>
        </p:nvCxnSpPr>
        <p:spPr>
          <a:xfrm>
            <a:off x="3920357" y="2294394"/>
            <a:ext cx="12613" cy="1783267"/>
          </a:xfrm>
          <a:prstGeom prst="straightConnector1">
            <a:avLst/>
          </a:prstGeom>
          <a:ln w="22225"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aixaDeTexto 27"/>
          <p:cNvSpPr txBox="1"/>
          <p:nvPr/>
        </p:nvSpPr>
        <p:spPr>
          <a:xfrm rot="16200000">
            <a:off x="2869395" y="3005668"/>
            <a:ext cx="18669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Em ordem crescente de TD</a:t>
            </a:r>
          </a:p>
        </p:txBody>
      </p:sp>
      <p:cxnSp>
        <p:nvCxnSpPr>
          <p:cNvPr id="41" name="Conector de seta reta 40"/>
          <p:cNvCxnSpPr>
            <a:stCxn id="52" idx="5"/>
            <a:endCxn id="54" idx="1"/>
          </p:cNvCxnSpPr>
          <p:nvPr/>
        </p:nvCxnSpPr>
        <p:spPr>
          <a:xfrm>
            <a:off x="1586263" y="1728762"/>
            <a:ext cx="768523" cy="578105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de seta reta 41"/>
          <p:cNvCxnSpPr>
            <a:stCxn id="52" idx="6"/>
            <a:endCxn id="53" idx="2"/>
          </p:cNvCxnSpPr>
          <p:nvPr/>
        </p:nvCxnSpPr>
        <p:spPr>
          <a:xfrm flipV="1">
            <a:off x="1619960" y="1644231"/>
            <a:ext cx="695078" cy="4994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aixaDeTexto 42"/>
          <p:cNvSpPr txBox="1"/>
          <p:nvPr/>
        </p:nvSpPr>
        <p:spPr>
          <a:xfrm>
            <a:off x="825839" y="1399479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45" name="Conector de seta reta 44"/>
          <p:cNvCxnSpPr>
            <a:stCxn id="53" idx="4"/>
            <a:endCxn id="54" idx="0"/>
          </p:cNvCxnSpPr>
          <p:nvPr/>
        </p:nvCxnSpPr>
        <p:spPr>
          <a:xfrm>
            <a:off x="2430087" y="1756713"/>
            <a:ext cx="6051" cy="517209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de seta reta 45"/>
          <p:cNvCxnSpPr>
            <a:stCxn id="51" idx="7"/>
            <a:endCxn id="53" idx="3"/>
          </p:cNvCxnSpPr>
          <p:nvPr/>
        </p:nvCxnSpPr>
        <p:spPr>
          <a:xfrm flipV="1">
            <a:off x="1582447" y="1723768"/>
            <a:ext cx="766288" cy="586025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de seta reta 46"/>
          <p:cNvCxnSpPr>
            <a:stCxn id="52" idx="2"/>
            <a:endCxn id="56" idx="7"/>
          </p:cNvCxnSpPr>
          <p:nvPr/>
        </p:nvCxnSpPr>
        <p:spPr>
          <a:xfrm flipH="1">
            <a:off x="1003204" y="1649225"/>
            <a:ext cx="386659" cy="286553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de seta reta 47"/>
          <p:cNvCxnSpPr>
            <a:stCxn id="51" idx="2"/>
            <a:endCxn id="56" idx="5"/>
          </p:cNvCxnSpPr>
          <p:nvPr/>
        </p:nvCxnSpPr>
        <p:spPr>
          <a:xfrm flipH="1" flipV="1">
            <a:off x="1003204" y="2094853"/>
            <a:ext cx="382843" cy="294478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de seta reta 48"/>
          <p:cNvCxnSpPr>
            <a:stCxn id="53" idx="6"/>
            <a:endCxn id="55" idx="1"/>
          </p:cNvCxnSpPr>
          <p:nvPr/>
        </p:nvCxnSpPr>
        <p:spPr>
          <a:xfrm>
            <a:off x="2545135" y="1644231"/>
            <a:ext cx="393124" cy="288251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de seta reta 49"/>
          <p:cNvCxnSpPr>
            <a:stCxn id="54" idx="6"/>
            <a:endCxn id="55" idx="3"/>
          </p:cNvCxnSpPr>
          <p:nvPr/>
        </p:nvCxnSpPr>
        <p:spPr>
          <a:xfrm flipV="1">
            <a:off x="2551186" y="2091557"/>
            <a:ext cx="387073" cy="29484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Elipse 50"/>
          <p:cNvSpPr/>
          <p:nvPr/>
        </p:nvSpPr>
        <p:spPr>
          <a:xfrm>
            <a:off x="1386047" y="2276848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52" name="Elipse 51"/>
          <p:cNvSpPr/>
          <p:nvPr/>
        </p:nvSpPr>
        <p:spPr>
          <a:xfrm>
            <a:off x="1389863" y="1536742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53" name="Elipse 52"/>
          <p:cNvSpPr/>
          <p:nvPr/>
        </p:nvSpPr>
        <p:spPr>
          <a:xfrm>
            <a:off x="2315038" y="1531748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54" name="Elipse 53"/>
          <p:cNvSpPr/>
          <p:nvPr/>
        </p:nvSpPr>
        <p:spPr>
          <a:xfrm>
            <a:off x="2321089" y="2273922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55" name="Elipse 54"/>
          <p:cNvSpPr/>
          <p:nvPr/>
        </p:nvSpPr>
        <p:spPr>
          <a:xfrm>
            <a:off x="2904562" y="1899537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56" name="Elipse 55"/>
          <p:cNvSpPr/>
          <p:nvPr/>
        </p:nvSpPr>
        <p:spPr>
          <a:xfrm>
            <a:off x="806804" y="1902833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c</a:t>
            </a:r>
          </a:p>
        </p:txBody>
      </p:sp>
      <p:graphicFrame>
        <p:nvGraphicFramePr>
          <p:cNvPr id="57" name="Tabela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5135727"/>
              </p:ext>
            </p:extLst>
          </p:nvPr>
        </p:nvGraphicFramePr>
        <p:xfrm>
          <a:off x="523827" y="2908473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c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f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e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24" name="Conector de seta reta 23"/>
          <p:cNvCxnSpPr>
            <a:stCxn id="51" idx="6"/>
            <a:endCxn id="54" idx="2"/>
          </p:cNvCxnSpPr>
          <p:nvPr/>
        </p:nvCxnSpPr>
        <p:spPr>
          <a:xfrm flipV="1">
            <a:off x="1616144" y="2386405"/>
            <a:ext cx="704945" cy="2926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0860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Intervalos de Vida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5" y="1203960"/>
            <a:ext cx="8407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4065692"/>
              </p:ext>
            </p:extLst>
          </p:nvPr>
        </p:nvGraphicFramePr>
        <p:xfrm>
          <a:off x="4062447" y="1712859"/>
          <a:ext cx="4570130" cy="2364802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597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68001">
                <a:tc rowSpan="2"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Vértice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Tempo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001">
                <a:tc vMerge="1"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cxnSp>
        <p:nvCxnSpPr>
          <p:cNvPr id="23" name="Conector de seta reta 22"/>
          <p:cNvCxnSpPr/>
          <p:nvPr/>
        </p:nvCxnSpPr>
        <p:spPr>
          <a:xfrm>
            <a:off x="3920357" y="2294394"/>
            <a:ext cx="12613" cy="1783267"/>
          </a:xfrm>
          <a:prstGeom prst="straightConnector1">
            <a:avLst/>
          </a:prstGeom>
          <a:ln w="22225"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aixaDeTexto 27"/>
          <p:cNvSpPr txBox="1"/>
          <p:nvPr/>
        </p:nvSpPr>
        <p:spPr>
          <a:xfrm rot="16200000">
            <a:off x="2869395" y="3005668"/>
            <a:ext cx="18669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Em ordem crescente de TD</a:t>
            </a:r>
          </a:p>
        </p:txBody>
      </p:sp>
      <p:cxnSp>
        <p:nvCxnSpPr>
          <p:cNvPr id="41" name="Conector de seta reta 40"/>
          <p:cNvCxnSpPr>
            <a:stCxn id="52" idx="5"/>
            <a:endCxn id="54" idx="1"/>
          </p:cNvCxnSpPr>
          <p:nvPr/>
        </p:nvCxnSpPr>
        <p:spPr>
          <a:xfrm>
            <a:off x="1586263" y="1728762"/>
            <a:ext cx="768523" cy="578105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de seta reta 41"/>
          <p:cNvCxnSpPr>
            <a:stCxn id="52" idx="6"/>
            <a:endCxn id="53" idx="2"/>
          </p:cNvCxnSpPr>
          <p:nvPr/>
        </p:nvCxnSpPr>
        <p:spPr>
          <a:xfrm flipV="1">
            <a:off x="1619960" y="1644231"/>
            <a:ext cx="695078" cy="4994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aixaDeTexto 42"/>
          <p:cNvSpPr txBox="1"/>
          <p:nvPr/>
        </p:nvSpPr>
        <p:spPr>
          <a:xfrm>
            <a:off x="825839" y="1399479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45" name="Conector de seta reta 44"/>
          <p:cNvCxnSpPr>
            <a:stCxn id="53" idx="4"/>
            <a:endCxn id="54" idx="0"/>
          </p:cNvCxnSpPr>
          <p:nvPr/>
        </p:nvCxnSpPr>
        <p:spPr>
          <a:xfrm>
            <a:off x="2430087" y="1756713"/>
            <a:ext cx="6051" cy="517209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de seta reta 45"/>
          <p:cNvCxnSpPr>
            <a:stCxn id="51" idx="7"/>
            <a:endCxn id="53" idx="3"/>
          </p:cNvCxnSpPr>
          <p:nvPr/>
        </p:nvCxnSpPr>
        <p:spPr>
          <a:xfrm flipV="1">
            <a:off x="1582447" y="1723768"/>
            <a:ext cx="766288" cy="586025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de seta reta 46"/>
          <p:cNvCxnSpPr>
            <a:stCxn id="52" idx="2"/>
            <a:endCxn id="56" idx="7"/>
          </p:cNvCxnSpPr>
          <p:nvPr/>
        </p:nvCxnSpPr>
        <p:spPr>
          <a:xfrm flipH="1">
            <a:off x="1003204" y="1649225"/>
            <a:ext cx="386659" cy="286553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de seta reta 47"/>
          <p:cNvCxnSpPr>
            <a:stCxn id="51" idx="2"/>
            <a:endCxn id="56" idx="5"/>
          </p:cNvCxnSpPr>
          <p:nvPr/>
        </p:nvCxnSpPr>
        <p:spPr>
          <a:xfrm flipH="1" flipV="1">
            <a:off x="1003204" y="2094853"/>
            <a:ext cx="382843" cy="294478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de seta reta 48"/>
          <p:cNvCxnSpPr>
            <a:stCxn id="53" idx="6"/>
            <a:endCxn id="55" idx="1"/>
          </p:cNvCxnSpPr>
          <p:nvPr/>
        </p:nvCxnSpPr>
        <p:spPr>
          <a:xfrm>
            <a:off x="2545135" y="1644231"/>
            <a:ext cx="393124" cy="288251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de seta reta 49"/>
          <p:cNvCxnSpPr>
            <a:stCxn id="54" idx="6"/>
            <a:endCxn id="55" idx="3"/>
          </p:cNvCxnSpPr>
          <p:nvPr/>
        </p:nvCxnSpPr>
        <p:spPr>
          <a:xfrm flipV="1">
            <a:off x="2551186" y="2091557"/>
            <a:ext cx="387073" cy="29484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Elipse 50"/>
          <p:cNvSpPr/>
          <p:nvPr/>
        </p:nvSpPr>
        <p:spPr>
          <a:xfrm>
            <a:off x="1386047" y="2276848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52" name="Elipse 51"/>
          <p:cNvSpPr/>
          <p:nvPr/>
        </p:nvSpPr>
        <p:spPr>
          <a:xfrm>
            <a:off x="1389863" y="1536742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53" name="Elipse 52"/>
          <p:cNvSpPr/>
          <p:nvPr/>
        </p:nvSpPr>
        <p:spPr>
          <a:xfrm>
            <a:off x="2315038" y="1531748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54" name="Elipse 53"/>
          <p:cNvSpPr/>
          <p:nvPr/>
        </p:nvSpPr>
        <p:spPr>
          <a:xfrm>
            <a:off x="2321089" y="2273922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55" name="Elipse 54"/>
          <p:cNvSpPr/>
          <p:nvPr/>
        </p:nvSpPr>
        <p:spPr>
          <a:xfrm>
            <a:off x="2904562" y="1899537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56" name="Elipse 55"/>
          <p:cNvSpPr/>
          <p:nvPr/>
        </p:nvSpPr>
        <p:spPr>
          <a:xfrm>
            <a:off x="806804" y="1902833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c</a:t>
            </a:r>
          </a:p>
        </p:txBody>
      </p:sp>
      <p:graphicFrame>
        <p:nvGraphicFramePr>
          <p:cNvPr id="57" name="Tabela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5135727"/>
              </p:ext>
            </p:extLst>
          </p:nvPr>
        </p:nvGraphicFramePr>
        <p:xfrm>
          <a:off x="523827" y="2908473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c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f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e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24" name="Conector de seta reta 23"/>
          <p:cNvCxnSpPr>
            <a:stCxn id="51" idx="6"/>
            <a:endCxn id="54" idx="2"/>
          </p:cNvCxnSpPr>
          <p:nvPr/>
        </p:nvCxnSpPr>
        <p:spPr>
          <a:xfrm flipV="1">
            <a:off x="1616144" y="2386405"/>
            <a:ext cx="704945" cy="2926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1494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Intervalos de Vida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5" y="1203960"/>
            <a:ext cx="8407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375920"/>
              </p:ext>
            </p:extLst>
          </p:nvPr>
        </p:nvGraphicFramePr>
        <p:xfrm>
          <a:off x="4062447" y="1712859"/>
          <a:ext cx="4570130" cy="2364802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597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68001">
                <a:tc rowSpan="2"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Vértice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Tempo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001">
                <a:tc vMerge="1"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cxnSp>
        <p:nvCxnSpPr>
          <p:cNvPr id="23" name="Conector de seta reta 22"/>
          <p:cNvCxnSpPr/>
          <p:nvPr/>
        </p:nvCxnSpPr>
        <p:spPr>
          <a:xfrm>
            <a:off x="3920357" y="2294394"/>
            <a:ext cx="12613" cy="1783267"/>
          </a:xfrm>
          <a:prstGeom prst="straightConnector1">
            <a:avLst/>
          </a:prstGeom>
          <a:ln w="22225"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aixaDeTexto 27"/>
          <p:cNvSpPr txBox="1"/>
          <p:nvPr/>
        </p:nvSpPr>
        <p:spPr>
          <a:xfrm rot="16200000">
            <a:off x="2869395" y="3005668"/>
            <a:ext cx="18669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Em ordem crescente de TD</a:t>
            </a:r>
          </a:p>
        </p:txBody>
      </p:sp>
      <p:cxnSp>
        <p:nvCxnSpPr>
          <p:cNvPr id="41" name="Conector de seta reta 40"/>
          <p:cNvCxnSpPr>
            <a:stCxn id="52" idx="5"/>
            <a:endCxn id="54" idx="1"/>
          </p:cNvCxnSpPr>
          <p:nvPr/>
        </p:nvCxnSpPr>
        <p:spPr>
          <a:xfrm>
            <a:off x="1586263" y="1728762"/>
            <a:ext cx="768523" cy="578105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de seta reta 41"/>
          <p:cNvCxnSpPr>
            <a:stCxn id="52" idx="6"/>
            <a:endCxn id="53" idx="2"/>
          </p:cNvCxnSpPr>
          <p:nvPr/>
        </p:nvCxnSpPr>
        <p:spPr>
          <a:xfrm flipV="1">
            <a:off x="1619960" y="1644231"/>
            <a:ext cx="695078" cy="4994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aixaDeTexto 42"/>
          <p:cNvSpPr txBox="1"/>
          <p:nvPr/>
        </p:nvSpPr>
        <p:spPr>
          <a:xfrm>
            <a:off x="825839" y="1399479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45" name="Conector de seta reta 44"/>
          <p:cNvCxnSpPr>
            <a:stCxn id="53" idx="4"/>
            <a:endCxn id="54" idx="0"/>
          </p:cNvCxnSpPr>
          <p:nvPr/>
        </p:nvCxnSpPr>
        <p:spPr>
          <a:xfrm>
            <a:off x="2430087" y="1756713"/>
            <a:ext cx="6051" cy="517209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de seta reta 45"/>
          <p:cNvCxnSpPr>
            <a:stCxn id="51" idx="7"/>
            <a:endCxn id="53" idx="3"/>
          </p:cNvCxnSpPr>
          <p:nvPr/>
        </p:nvCxnSpPr>
        <p:spPr>
          <a:xfrm flipV="1">
            <a:off x="1582447" y="1723768"/>
            <a:ext cx="766288" cy="586025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de seta reta 46"/>
          <p:cNvCxnSpPr>
            <a:stCxn id="52" idx="2"/>
            <a:endCxn id="56" idx="7"/>
          </p:cNvCxnSpPr>
          <p:nvPr/>
        </p:nvCxnSpPr>
        <p:spPr>
          <a:xfrm flipH="1">
            <a:off x="1003204" y="1649225"/>
            <a:ext cx="386659" cy="286553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de seta reta 47"/>
          <p:cNvCxnSpPr>
            <a:stCxn id="51" idx="2"/>
            <a:endCxn id="56" idx="5"/>
          </p:cNvCxnSpPr>
          <p:nvPr/>
        </p:nvCxnSpPr>
        <p:spPr>
          <a:xfrm flipH="1" flipV="1">
            <a:off x="1003204" y="2094853"/>
            <a:ext cx="382843" cy="294478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de seta reta 48"/>
          <p:cNvCxnSpPr>
            <a:stCxn id="53" idx="6"/>
            <a:endCxn id="55" idx="1"/>
          </p:cNvCxnSpPr>
          <p:nvPr/>
        </p:nvCxnSpPr>
        <p:spPr>
          <a:xfrm>
            <a:off x="2545135" y="1644231"/>
            <a:ext cx="393124" cy="288251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de seta reta 49"/>
          <p:cNvCxnSpPr>
            <a:stCxn id="54" idx="6"/>
            <a:endCxn id="55" idx="3"/>
          </p:cNvCxnSpPr>
          <p:nvPr/>
        </p:nvCxnSpPr>
        <p:spPr>
          <a:xfrm flipV="1">
            <a:off x="2551186" y="2091557"/>
            <a:ext cx="387073" cy="29484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Elipse 50"/>
          <p:cNvSpPr/>
          <p:nvPr/>
        </p:nvSpPr>
        <p:spPr>
          <a:xfrm>
            <a:off x="1386047" y="2276848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52" name="Elipse 51"/>
          <p:cNvSpPr/>
          <p:nvPr/>
        </p:nvSpPr>
        <p:spPr>
          <a:xfrm>
            <a:off x="1389863" y="1536742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53" name="Elipse 52"/>
          <p:cNvSpPr/>
          <p:nvPr/>
        </p:nvSpPr>
        <p:spPr>
          <a:xfrm>
            <a:off x="2315038" y="1531748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54" name="Elipse 53"/>
          <p:cNvSpPr/>
          <p:nvPr/>
        </p:nvSpPr>
        <p:spPr>
          <a:xfrm>
            <a:off x="2321089" y="2273922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55" name="Elipse 54"/>
          <p:cNvSpPr/>
          <p:nvPr/>
        </p:nvSpPr>
        <p:spPr>
          <a:xfrm>
            <a:off x="2904562" y="1899537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56" name="Elipse 55"/>
          <p:cNvSpPr/>
          <p:nvPr/>
        </p:nvSpPr>
        <p:spPr>
          <a:xfrm>
            <a:off x="806804" y="1902833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c</a:t>
            </a:r>
          </a:p>
        </p:txBody>
      </p:sp>
      <p:graphicFrame>
        <p:nvGraphicFramePr>
          <p:cNvPr id="57" name="Tabela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5135727"/>
              </p:ext>
            </p:extLst>
          </p:nvPr>
        </p:nvGraphicFramePr>
        <p:xfrm>
          <a:off x="523827" y="2908473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c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f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e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24" name="Conector de seta reta 23"/>
          <p:cNvCxnSpPr>
            <a:stCxn id="51" idx="6"/>
            <a:endCxn id="54" idx="2"/>
          </p:cNvCxnSpPr>
          <p:nvPr/>
        </p:nvCxnSpPr>
        <p:spPr>
          <a:xfrm flipV="1">
            <a:off x="1616144" y="2386405"/>
            <a:ext cx="704945" cy="2926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3911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Intervalos de Vida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5" y="1203960"/>
            <a:ext cx="8407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7600298"/>
              </p:ext>
            </p:extLst>
          </p:nvPr>
        </p:nvGraphicFramePr>
        <p:xfrm>
          <a:off x="4062447" y="1712859"/>
          <a:ext cx="4570130" cy="2364802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597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68001">
                <a:tc rowSpan="2"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Vértice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Tempo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001">
                <a:tc vMerge="1"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cxnSp>
        <p:nvCxnSpPr>
          <p:cNvPr id="23" name="Conector de seta reta 22"/>
          <p:cNvCxnSpPr/>
          <p:nvPr/>
        </p:nvCxnSpPr>
        <p:spPr>
          <a:xfrm>
            <a:off x="3920357" y="2294394"/>
            <a:ext cx="12613" cy="1783267"/>
          </a:xfrm>
          <a:prstGeom prst="straightConnector1">
            <a:avLst/>
          </a:prstGeom>
          <a:ln w="22225"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aixaDeTexto 27"/>
          <p:cNvSpPr txBox="1"/>
          <p:nvPr/>
        </p:nvSpPr>
        <p:spPr>
          <a:xfrm rot="16200000">
            <a:off x="2869395" y="3005668"/>
            <a:ext cx="18669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Em ordem crescente de TD</a:t>
            </a:r>
          </a:p>
        </p:txBody>
      </p:sp>
      <p:cxnSp>
        <p:nvCxnSpPr>
          <p:cNvPr id="41" name="Conector de seta reta 40"/>
          <p:cNvCxnSpPr>
            <a:stCxn id="52" idx="5"/>
            <a:endCxn id="54" idx="1"/>
          </p:cNvCxnSpPr>
          <p:nvPr/>
        </p:nvCxnSpPr>
        <p:spPr>
          <a:xfrm>
            <a:off x="1586263" y="1728762"/>
            <a:ext cx="768523" cy="578105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de seta reta 41"/>
          <p:cNvCxnSpPr>
            <a:stCxn id="52" idx="6"/>
            <a:endCxn id="53" idx="2"/>
          </p:cNvCxnSpPr>
          <p:nvPr/>
        </p:nvCxnSpPr>
        <p:spPr>
          <a:xfrm flipV="1">
            <a:off x="1619960" y="1644231"/>
            <a:ext cx="695078" cy="4994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aixaDeTexto 42"/>
          <p:cNvSpPr txBox="1"/>
          <p:nvPr/>
        </p:nvSpPr>
        <p:spPr>
          <a:xfrm>
            <a:off x="825839" y="1399479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45" name="Conector de seta reta 44"/>
          <p:cNvCxnSpPr>
            <a:stCxn id="53" idx="4"/>
            <a:endCxn id="54" idx="0"/>
          </p:cNvCxnSpPr>
          <p:nvPr/>
        </p:nvCxnSpPr>
        <p:spPr>
          <a:xfrm>
            <a:off x="2430087" y="1756713"/>
            <a:ext cx="6051" cy="517209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de seta reta 45"/>
          <p:cNvCxnSpPr>
            <a:stCxn id="51" idx="7"/>
            <a:endCxn id="53" idx="3"/>
          </p:cNvCxnSpPr>
          <p:nvPr/>
        </p:nvCxnSpPr>
        <p:spPr>
          <a:xfrm flipV="1">
            <a:off x="1582447" y="1723768"/>
            <a:ext cx="766288" cy="586025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de seta reta 46"/>
          <p:cNvCxnSpPr>
            <a:stCxn id="52" idx="2"/>
            <a:endCxn id="56" idx="7"/>
          </p:cNvCxnSpPr>
          <p:nvPr/>
        </p:nvCxnSpPr>
        <p:spPr>
          <a:xfrm flipH="1">
            <a:off x="1003204" y="1649225"/>
            <a:ext cx="386659" cy="286553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de seta reta 47"/>
          <p:cNvCxnSpPr>
            <a:stCxn id="51" idx="2"/>
            <a:endCxn id="56" idx="5"/>
          </p:cNvCxnSpPr>
          <p:nvPr/>
        </p:nvCxnSpPr>
        <p:spPr>
          <a:xfrm flipH="1" flipV="1">
            <a:off x="1003204" y="2094853"/>
            <a:ext cx="382843" cy="294478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de seta reta 48"/>
          <p:cNvCxnSpPr>
            <a:stCxn id="53" idx="6"/>
            <a:endCxn id="55" idx="1"/>
          </p:cNvCxnSpPr>
          <p:nvPr/>
        </p:nvCxnSpPr>
        <p:spPr>
          <a:xfrm>
            <a:off x="2545135" y="1644231"/>
            <a:ext cx="393124" cy="288251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de seta reta 49"/>
          <p:cNvCxnSpPr>
            <a:stCxn id="54" idx="6"/>
            <a:endCxn id="55" idx="3"/>
          </p:cNvCxnSpPr>
          <p:nvPr/>
        </p:nvCxnSpPr>
        <p:spPr>
          <a:xfrm flipV="1">
            <a:off x="2551186" y="2091557"/>
            <a:ext cx="387073" cy="29484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Elipse 50"/>
          <p:cNvSpPr/>
          <p:nvPr/>
        </p:nvSpPr>
        <p:spPr>
          <a:xfrm>
            <a:off x="1386047" y="2276848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52" name="Elipse 51"/>
          <p:cNvSpPr/>
          <p:nvPr/>
        </p:nvSpPr>
        <p:spPr>
          <a:xfrm>
            <a:off x="1389863" y="1536742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53" name="Elipse 52"/>
          <p:cNvSpPr/>
          <p:nvPr/>
        </p:nvSpPr>
        <p:spPr>
          <a:xfrm>
            <a:off x="2315038" y="1531748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54" name="Elipse 53"/>
          <p:cNvSpPr/>
          <p:nvPr/>
        </p:nvSpPr>
        <p:spPr>
          <a:xfrm>
            <a:off x="2321089" y="2273922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55" name="Elipse 54"/>
          <p:cNvSpPr/>
          <p:nvPr/>
        </p:nvSpPr>
        <p:spPr>
          <a:xfrm>
            <a:off x="2904562" y="1899537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56" name="Elipse 55"/>
          <p:cNvSpPr/>
          <p:nvPr/>
        </p:nvSpPr>
        <p:spPr>
          <a:xfrm>
            <a:off x="806804" y="1902833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c</a:t>
            </a:r>
          </a:p>
        </p:txBody>
      </p:sp>
      <p:graphicFrame>
        <p:nvGraphicFramePr>
          <p:cNvPr id="57" name="Tabela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5135727"/>
              </p:ext>
            </p:extLst>
          </p:nvPr>
        </p:nvGraphicFramePr>
        <p:xfrm>
          <a:off x="523827" y="2908473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c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f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e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24" name="Conector de seta reta 23"/>
          <p:cNvCxnSpPr>
            <a:stCxn id="51" idx="6"/>
            <a:endCxn id="54" idx="2"/>
          </p:cNvCxnSpPr>
          <p:nvPr/>
        </p:nvCxnSpPr>
        <p:spPr>
          <a:xfrm flipV="1">
            <a:off x="1616144" y="2386405"/>
            <a:ext cx="704945" cy="2926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8929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Intervalos de Vida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5" y="1203960"/>
            <a:ext cx="8407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7208716"/>
              </p:ext>
            </p:extLst>
          </p:nvPr>
        </p:nvGraphicFramePr>
        <p:xfrm>
          <a:off x="4062447" y="1712859"/>
          <a:ext cx="4570130" cy="2364802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597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68001">
                <a:tc rowSpan="2"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Vértice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Tempo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001">
                <a:tc vMerge="1"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cxnSp>
        <p:nvCxnSpPr>
          <p:cNvPr id="23" name="Conector de seta reta 22"/>
          <p:cNvCxnSpPr/>
          <p:nvPr/>
        </p:nvCxnSpPr>
        <p:spPr>
          <a:xfrm>
            <a:off x="3920357" y="2294394"/>
            <a:ext cx="12613" cy="1783267"/>
          </a:xfrm>
          <a:prstGeom prst="straightConnector1">
            <a:avLst/>
          </a:prstGeom>
          <a:ln w="22225"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aixaDeTexto 27"/>
          <p:cNvSpPr txBox="1"/>
          <p:nvPr/>
        </p:nvSpPr>
        <p:spPr>
          <a:xfrm rot="16200000">
            <a:off x="2869395" y="3005668"/>
            <a:ext cx="18669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Em ordem crescente de TD</a:t>
            </a:r>
          </a:p>
        </p:txBody>
      </p:sp>
      <p:cxnSp>
        <p:nvCxnSpPr>
          <p:cNvPr id="41" name="Conector de seta reta 40"/>
          <p:cNvCxnSpPr>
            <a:stCxn id="52" idx="5"/>
            <a:endCxn id="54" idx="1"/>
          </p:cNvCxnSpPr>
          <p:nvPr/>
        </p:nvCxnSpPr>
        <p:spPr>
          <a:xfrm>
            <a:off x="1586263" y="1728762"/>
            <a:ext cx="768523" cy="578105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de seta reta 41"/>
          <p:cNvCxnSpPr>
            <a:stCxn id="52" idx="6"/>
            <a:endCxn id="53" idx="2"/>
          </p:cNvCxnSpPr>
          <p:nvPr/>
        </p:nvCxnSpPr>
        <p:spPr>
          <a:xfrm flipV="1">
            <a:off x="1619960" y="1644231"/>
            <a:ext cx="695078" cy="4994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aixaDeTexto 42"/>
          <p:cNvSpPr txBox="1"/>
          <p:nvPr/>
        </p:nvSpPr>
        <p:spPr>
          <a:xfrm>
            <a:off x="825839" y="1399479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45" name="Conector de seta reta 44"/>
          <p:cNvCxnSpPr>
            <a:stCxn id="53" idx="4"/>
            <a:endCxn id="54" idx="0"/>
          </p:cNvCxnSpPr>
          <p:nvPr/>
        </p:nvCxnSpPr>
        <p:spPr>
          <a:xfrm>
            <a:off x="2430087" y="1756713"/>
            <a:ext cx="6051" cy="517209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de seta reta 45"/>
          <p:cNvCxnSpPr>
            <a:stCxn id="51" idx="7"/>
            <a:endCxn id="53" idx="3"/>
          </p:cNvCxnSpPr>
          <p:nvPr/>
        </p:nvCxnSpPr>
        <p:spPr>
          <a:xfrm flipV="1">
            <a:off x="1582447" y="1723768"/>
            <a:ext cx="766288" cy="586025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de seta reta 46"/>
          <p:cNvCxnSpPr>
            <a:stCxn id="52" idx="2"/>
            <a:endCxn id="56" idx="7"/>
          </p:cNvCxnSpPr>
          <p:nvPr/>
        </p:nvCxnSpPr>
        <p:spPr>
          <a:xfrm flipH="1">
            <a:off x="1003204" y="1649225"/>
            <a:ext cx="386659" cy="286553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de seta reta 47"/>
          <p:cNvCxnSpPr>
            <a:stCxn id="51" idx="2"/>
            <a:endCxn id="56" idx="5"/>
          </p:cNvCxnSpPr>
          <p:nvPr/>
        </p:nvCxnSpPr>
        <p:spPr>
          <a:xfrm flipH="1" flipV="1">
            <a:off x="1003204" y="2094853"/>
            <a:ext cx="382843" cy="294478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de seta reta 48"/>
          <p:cNvCxnSpPr>
            <a:stCxn id="53" idx="6"/>
            <a:endCxn id="55" idx="1"/>
          </p:cNvCxnSpPr>
          <p:nvPr/>
        </p:nvCxnSpPr>
        <p:spPr>
          <a:xfrm>
            <a:off x="2545135" y="1644231"/>
            <a:ext cx="393124" cy="288251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de seta reta 49"/>
          <p:cNvCxnSpPr>
            <a:stCxn id="54" idx="6"/>
            <a:endCxn id="55" idx="3"/>
          </p:cNvCxnSpPr>
          <p:nvPr/>
        </p:nvCxnSpPr>
        <p:spPr>
          <a:xfrm flipV="1">
            <a:off x="2551186" y="2091557"/>
            <a:ext cx="387073" cy="29484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Elipse 50"/>
          <p:cNvSpPr/>
          <p:nvPr/>
        </p:nvSpPr>
        <p:spPr>
          <a:xfrm>
            <a:off x="1386047" y="2276848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52" name="Elipse 51"/>
          <p:cNvSpPr/>
          <p:nvPr/>
        </p:nvSpPr>
        <p:spPr>
          <a:xfrm>
            <a:off x="1389863" y="1536742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53" name="Elipse 52"/>
          <p:cNvSpPr/>
          <p:nvPr/>
        </p:nvSpPr>
        <p:spPr>
          <a:xfrm>
            <a:off x="2315038" y="1531748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54" name="Elipse 53"/>
          <p:cNvSpPr/>
          <p:nvPr/>
        </p:nvSpPr>
        <p:spPr>
          <a:xfrm>
            <a:off x="2321089" y="2273922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55" name="Elipse 54"/>
          <p:cNvSpPr/>
          <p:nvPr/>
        </p:nvSpPr>
        <p:spPr>
          <a:xfrm>
            <a:off x="2904562" y="1899537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56" name="Elipse 55"/>
          <p:cNvSpPr/>
          <p:nvPr/>
        </p:nvSpPr>
        <p:spPr>
          <a:xfrm>
            <a:off x="806804" y="1902833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c</a:t>
            </a:r>
          </a:p>
        </p:txBody>
      </p:sp>
      <p:graphicFrame>
        <p:nvGraphicFramePr>
          <p:cNvPr id="57" name="Tabela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5135727"/>
              </p:ext>
            </p:extLst>
          </p:nvPr>
        </p:nvGraphicFramePr>
        <p:xfrm>
          <a:off x="523827" y="2908473"/>
          <a:ext cx="2976526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c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f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e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24" name="Conector de seta reta 23"/>
          <p:cNvCxnSpPr>
            <a:stCxn id="51" idx="6"/>
            <a:endCxn id="54" idx="2"/>
          </p:cNvCxnSpPr>
          <p:nvPr/>
        </p:nvCxnSpPr>
        <p:spPr>
          <a:xfrm flipV="1">
            <a:off x="1616144" y="2386405"/>
            <a:ext cx="704945" cy="2926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6761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Intervalos de Vida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5" y="1183179"/>
            <a:ext cx="8407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Seja 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o intervalo de vida do vértice </a:t>
            </a:r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 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ou 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= [ TD[</a:t>
            </a:r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], TT[</a:t>
            </a:r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 ].</a:t>
            </a:r>
          </a:p>
        </p:txBody>
      </p:sp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80045"/>
              </p:ext>
            </p:extLst>
          </p:nvPr>
        </p:nvGraphicFramePr>
        <p:xfrm>
          <a:off x="4062447" y="1712859"/>
          <a:ext cx="4570130" cy="2364802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597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68001">
                <a:tc rowSpan="2"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Vértice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Tempo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001">
                <a:tc vMerge="1"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cxnSp>
        <p:nvCxnSpPr>
          <p:cNvPr id="23" name="Conector de seta reta 22"/>
          <p:cNvCxnSpPr/>
          <p:nvPr/>
        </p:nvCxnSpPr>
        <p:spPr>
          <a:xfrm>
            <a:off x="3920357" y="2294394"/>
            <a:ext cx="12613" cy="1783267"/>
          </a:xfrm>
          <a:prstGeom prst="straightConnector1">
            <a:avLst/>
          </a:prstGeom>
          <a:ln w="22225"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aixaDeTexto 27"/>
          <p:cNvSpPr txBox="1"/>
          <p:nvPr/>
        </p:nvSpPr>
        <p:spPr>
          <a:xfrm rot="16200000">
            <a:off x="2869395" y="3005668"/>
            <a:ext cx="18669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Em ordem crescente de TD</a:t>
            </a:r>
          </a:p>
        </p:txBody>
      </p:sp>
      <p:sp>
        <p:nvSpPr>
          <p:cNvPr id="24" name="Elipse 23"/>
          <p:cNvSpPr/>
          <p:nvPr/>
        </p:nvSpPr>
        <p:spPr>
          <a:xfrm>
            <a:off x="665793" y="185091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25" name="Conector de seta reta 24"/>
          <p:cNvCxnSpPr>
            <a:stCxn id="26" idx="0"/>
          </p:cNvCxnSpPr>
          <p:nvPr/>
        </p:nvCxnSpPr>
        <p:spPr>
          <a:xfrm flipH="1" flipV="1">
            <a:off x="780842" y="2075881"/>
            <a:ext cx="1" cy="371130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Elipse 25"/>
          <p:cNvSpPr/>
          <p:nvPr/>
        </p:nvSpPr>
        <p:spPr>
          <a:xfrm>
            <a:off x="665794" y="244701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27" name="Conector de seta reta 26"/>
          <p:cNvCxnSpPr>
            <a:stCxn id="29" idx="0"/>
          </p:cNvCxnSpPr>
          <p:nvPr/>
        </p:nvCxnSpPr>
        <p:spPr>
          <a:xfrm flipV="1">
            <a:off x="780843" y="2671976"/>
            <a:ext cx="0" cy="370870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Elipse 28"/>
          <p:cNvSpPr/>
          <p:nvPr/>
        </p:nvSpPr>
        <p:spPr>
          <a:xfrm>
            <a:off x="665794" y="304284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30" name="Elipse 29"/>
          <p:cNvSpPr/>
          <p:nvPr/>
        </p:nvSpPr>
        <p:spPr>
          <a:xfrm>
            <a:off x="665792" y="365828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31" name="Conector de seta reta 30"/>
          <p:cNvCxnSpPr>
            <a:stCxn id="30" idx="0"/>
          </p:cNvCxnSpPr>
          <p:nvPr/>
        </p:nvCxnSpPr>
        <p:spPr>
          <a:xfrm flipV="1">
            <a:off x="780841" y="3267812"/>
            <a:ext cx="2" cy="390473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angulado 139"/>
          <p:cNvCxnSpPr/>
          <p:nvPr/>
        </p:nvCxnSpPr>
        <p:spPr>
          <a:xfrm rot="10800000" flipH="1">
            <a:off x="665792" y="2559496"/>
            <a:ext cx="2" cy="1211273"/>
          </a:xfrm>
          <a:prstGeom prst="curvedConnector3">
            <a:avLst>
              <a:gd name="adj1" fmla="val -11430000000"/>
            </a:avLst>
          </a:prstGeom>
          <a:ln w="19050">
            <a:solidFill>
              <a:srgbClr val="FF000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Elipse 32"/>
          <p:cNvSpPr/>
          <p:nvPr/>
        </p:nvSpPr>
        <p:spPr>
          <a:xfrm>
            <a:off x="1600836" y="18459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4" name="Elipse 33"/>
          <p:cNvSpPr/>
          <p:nvPr/>
        </p:nvSpPr>
        <p:spPr>
          <a:xfrm>
            <a:off x="1600836" y="244191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cxnSp>
        <p:nvCxnSpPr>
          <p:cNvPr id="35" name="Conector de seta reta 34"/>
          <p:cNvCxnSpPr>
            <a:stCxn id="34" idx="0"/>
          </p:cNvCxnSpPr>
          <p:nvPr/>
        </p:nvCxnSpPr>
        <p:spPr>
          <a:xfrm flipV="1">
            <a:off x="1715885" y="2070886"/>
            <a:ext cx="0" cy="371029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angulado 147"/>
          <p:cNvCxnSpPr/>
          <p:nvPr/>
        </p:nvCxnSpPr>
        <p:spPr>
          <a:xfrm>
            <a:off x="895890" y="1963399"/>
            <a:ext cx="1" cy="1191930"/>
          </a:xfrm>
          <a:prstGeom prst="curvedConnector3">
            <a:avLst>
              <a:gd name="adj1" fmla="val 22860100000"/>
            </a:avLst>
          </a:prstGeom>
          <a:ln w="19050">
            <a:solidFill>
              <a:srgbClr val="00B05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de seta reta 36"/>
          <p:cNvCxnSpPr/>
          <p:nvPr/>
        </p:nvCxnSpPr>
        <p:spPr>
          <a:xfrm flipH="1">
            <a:off x="895891" y="2554398"/>
            <a:ext cx="704945" cy="5096"/>
          </a:xfrm>
          <a:prstGeom prst="straightConnector1">
            <a:avLst/>
          </a:prstGeom>
          <a:ln w="19050">
            <a:solidFill>
              <a:srgbClr val="FFC00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de seta reta 37"/>
          <p:cNvCxnSpPr/>
          <p:nvPr/>
        </p:nvCxnSpPr>
        <p:spPr>
          <a:xfrm flipH="1">
            <a:off x="862194" y="2633935"/>
            <a:ext cx="772339" cy="441856"/>
          </a:xfrm>
          <a:prstGeom prst="straightConnector1">
            <a:avLst/>
          </a:prstGeom>
          <a:ln w="19050">
            <a:solidFill>
              <a:srgbClr val="FFC00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de seta reta 38"/>
          <p:cNvCxnSpPr/>
          <p:nvPr/>
        </p:nvCxnSpPr>
        <p:spPr>
          <a:xfrm flipH="1">
            <a:off x="895889" y="1963399"/>
            <a:ext cx="704946" cy="4996"/>
          </a:xfrm>
          <a:prstGeom prst="straightConnector1">
            <a:avLst/>
          </a:prstGeom>
          <a:ln w="19050">
            <a:solidFill>
              <a:srgbClr val="FFC00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aixaDeTexto 3"/>
          <p:cNvSpPr txBox="1"/>
          <p:nvPr/>
        </p:nvSpPr>
        <p:spPr>
          <a:xfrm>
            <a:off x="1203803" y="2970282"/>
            <a:ext cx="23104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/>
              <a:t> (</a:t>
            </a:r>
            <a:r>
              <a:rPr lang="pt-BR" sz="1600" i="1" dirty="0"/>
              <a:t>v</a:t>
            </a:r>
            <a:r>
              <a:rPr lang="pt-BR" sz="1600" dirty="0"/>
              <a:t>, </a:t>
            </a:r>
            <a:r>
              <a:rPr lang="pt-BR" sz="1600" i="1" dirty="0"/>
              <a:t>w</a:t>
            </a:r>
            <a:r>
              <a:rPr lang="pt-BR" sz="1600" dirty="0"/>
              <a:t>) é aresta de </a:t>
            </a:r>
            <a:r>
              <a:rPr lang="pt-BR" sz="1600" b="1" dirty="0">
                <a:solidFill>
                  <a:srgbClr val="00B0F0"/>
                </a:solidFill>
              </a:rPr>
              <a:t>árvore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938592" y="3797722"/>
            <a:ext cx="28408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pt-BR" sz="1600" dirty="0"/>
              <a:t>(</a:t>
            </a:r>
            <a:r>
              <a:rPr lang="pt-BR" sz="1600" i="1" dirty="0"/>
              <a:t>v</a:t>
            </a:r>
            <a:r>
              <a:rPr lang="pt-BR" sz="1600" dirty="0"/>
              <a:t>) contém 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pt-BR" sz="1600" dirty="0"/>
              <a:t>(</a:t>
            </a:r>
            <a:r>
              <a:rPr lang="pt-BR" sz="1600" i="1" dirty="0"/>
              <a:t>w</a:t>
            </a:r>
            <a:r>
              <a:rPr lang="pt-BR" sz="1600" dirty="0"/>
              <a:t>) e </a:t>
            </a:r>
          </a:p>
          <a:p>
            <a:pPr algn="ctr"/>
            <a:r>
              <a:rPr lang="pt-BR" sz="1600" dirty="0"/>
              <a:t>TD[</a:t>
            </a:r>
            <a:r>
              <a:rPr lang="pt-BR" sz="1600" i="1" dirty="0"/>
              <a:t>w</a:t>
            </a:r>
            <a:r>
              <a:rPr lang="pt-BR" sz="1600" dirty="0"/>
              <a:t>] = 0 no momento da visita</a:t>
            </a:r>
          </a:p>
        </p:txBody>
      </p:sp>
      <p:sp>
        <p:nvSpPr>
          <p:cNvPr id="7" name="Seta para cima e para baixo 6"/>
          <p:cNvSpPr/>
          <p:nvPr/>
        </p:nvSpPr>
        <p:spPr>
          <a:xfrm>
            <a:off x="2258191" y="3319034"/>
            <a:ext cx="201645" cy="468490"/>
          </a:xfrm>
          <a:prstGeom prst="upDown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4" name="Conector de seta reta 43"/>
          <p:cNvCxnSpPr/>
          <p:nvPr/>
        </p:nvCxnSpPr>
        <p:spPr>
          <a:xfrm>
            <a:off x="3709254" y="4270179"/>
            <a:ext cx="474819" cy="593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/>
          <p:cNvSpPr txBox="1"/>
          <p:nvPr/>
        </p:nvSpPr>
        <p:spPr>
          <a:xfrm>
            <a:off x="4142508" y="4175656"/>
            <a:ext cx="17684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ou ainda, </a:t>
            </a:r>
            <a:r>
              <a:rPr lang="pt-BR" sz="1400" i="1" dirty="0"/>
              <a:t>v</a:t>
            </a:r>
            <a:r>
              <a:rPr lang="pt-BR" sz="1400" dirty="0"/>
              <a:t> é pai de </a:t>
            </a:r>
            <a:r>
              <a:rPr lang="pt-BR" sz="1400" i="1" dirty="0"/>
              <a:t>w</a:t>
            </a:r>
          </a:p>
        </p:txBody>
      </p:sp>
    </p:spTree>
    <p:extLst>
      <p:ext uri="{BB962C8B-B14F-4D97-AF65-F5344CB8AC3E}">
        <p14:creationId xmlns:p14="http://schemas.microsoft.com/office/powerpoint/2010/main" val="4262013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6" grpId="0" animBg="1"/>
      <p:bldP spid="29" grpId="0" animBg="1"/>
      <p:bldP spid="30" grpId="0" animBg="1"/>
      <p:bldP spid="33" grpId="0" animBg="1"/>
      <p:bldP spid="34" grpId="0" animBg="1"/>
      <p:bldP spid="4" grpId="0"/>
      <p:bldP spid="6" grpId="0"/>
      <p:bldP spid="7" grpId="0" animBg="1"/>
      <p:bldP spid="58" grpId="0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Intervalos de Vida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5" y="1183179"/>
            <a:ext cx="8407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Seja 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o intervalo de vida do vértice </a:t>
            </a:r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 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ou 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= [ TD[</a:t>
            </a:r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], TT[</a:t>
            </a:r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 ].</a:t>
            </a:r>
          </a:p>
        </p:txBody>
      </p:sp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80045"/>
              </p:ext>
            </p:extLst>
          </p:nvPr>
        </p:nvGraphicFramePr>
        <p:xfrm>
          <a:off x="4062447" y="1712859"/>
          <a:ext cx="4570130" cy="2364802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597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68001">
                <a:tc rowSpan="2"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Vértice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Tempo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001">
                <a:tc vMerge="1"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cxnSp>
        <p:nvCxnSpPr>
          <p:cNvPr id="23" name="Conector de seta reta 22"/>
          <p:cNvCxnSpPr/>
          <p:nvPr/>
        </p:nvCxnSpPr>
        <p:spPr>
          <a:xfrm>
            <a:off x="3920357" y="2294394"/>
            <a:ext cx="12613" cy="1783267"/>
          </a:xfrm>
          <a:prstGeom prst="straightConnector1">
            <a:avLst/>
          </a:prstGeom>
          <a:ln w="22225"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aixaDeTexto 27"/>
          <p:cNvSpPr txBox="1"/>
          <p:nvPr/>
        </p:nvSpPr>
        <p:spPr>
          <a:xfrm rot="16200000">
            <a:off x="2869395" y="3005668"/>
            <a:ext cx="18669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Em ordem crescente de TD</a:t>
            </a:r>
          </a:p>
        </p:txBody>
      </p:sp>
      <p:sp>
        <p:nvSpPr>
          <p:cNvPr id="24" name="Elipse 23"/>
          <p:cNvSpPr/>
          <p:nvPr/>
        </p:nvSpPr>
        <p:spPr>
          <a:xfrm>
            <a:off x="665793" y="185091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25" name="Conector de seta reta 24"/>
          <p:cNvCxnSpPr>
            <a:stCxn id="26" idx="0"/>
          </p:cNvCxnSpPr>
          <p:nvPr/>
        </p:nvCxnSpPr>
        <p:spPr>
          <a:xfrm flipH="1" flipV="1">
            <a:off x="780842" y="2075881"/>
            <a:ext cx="1" cy="371130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Elipse 25"/>
          <p:cNvSpPr/>
          <p:nvPr/>
        </p:nvSpPr>
        <p:spPr>
          <a:xfrm>
            <a:off x="665794" y="244701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27" name="Conector de seta reta 26"/>
          <p:cNvCxnSpPr>
            <a:stCxn id="29" idx="0"/>
          </p:cNvCxnSpPr>
          <p:nvPr/>
        </p:nvCxnSpPr>
        <p:spPr>
          <a:xfrm flipV="1">
            <a:off x="780843" y="2671976"/>
            <a:ext cx="0" cy="370870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Elipse 28"/>
          <p:cNvSpPr/>
          <p:nvPr/>
        </p:nvSpPr>
        <p:spPr>
          <a:xfrm>
            <a:off x="665794" y="304284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30" name="Elipse 29"/>
          <p:cNvSpPr/>
          <p:nvPr/>
        </p:nvSpPr>
        <p:spPr>
          <a:xfrm>
            <a:off x="665792" y="365828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31" name="Conector de seta reta 30"/>
          <p:cNvCxnSpPr>
            <a:stCxn id="30" idx="0"/>
          </p:cNvCxnSpPr>
          <p:nvPr/>
        </p:nvCxnSpPr>
        <p:spPr>
          <a:xfrm flipV="1">
            <a:off x="780841" y="3267812"/>
            <a:ext cx="2" cy="390473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angulado 139"/>
          <p:cNvCxnSpPr/>
          <p:nvPr/>
        </p:nvCxnSpPr>
        <p:spPr>
          <a:xfrm rot="10800000" flipH="1">
            <a:off x="665792" y="2559496"/>
            <a:ext cx="2" cy="1211273"/>
          </a:xfrm>
          <a:prstGeom prst="curvedConnector3">
            <a:avLst>
              <a:gd name="adj1" fmla="val -11430000000"/>
            </a:avLst>
          </a:prstGeom>
          <a:ln w="19050">
            <a:solidFill>
              <a:srgbClr val="FF000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Elipse 32"/>
          <p:cNvSpPr/>
          <p:nvPr/>
        </p:nvSpPr>
        <p:spPr>
          <a:xfrm>
            <a:off x="1600836" y="18459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4" name="Elipse 33"/>
          <p:cNvSpPr/>
          <p:nvPr/>
        </p:nvSpPr>
        <p:spPr>
          <a:xfrm>
            <a:off x="1600836" y="244191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cxnSp>
        <p:nvCxnSpPr>
          <p:cNvPr id="35" name="Conector de seta reta 34"/>
          <p:cNvCxnSpPr>
            <a:stCxn id="34" idx="0"/>
          </p:cNvCxnSpPr>
          <p:nvPr/>
        </p:nvCxnSpPr>
        <p:spPr>
          <a:xfrm flipV="1">
            <a:off x="1715885" y="2070886"/>
            <a:ext cx="0" cy="371029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angulado 147"/>
          <p:cNvCxnSpPr/>
          <p:nvPr/>
        </p:nvCxnSpPr>
        <p:spPr>
          <a:xfrm>
            <a:off x="895890" y="1963399"/>
            <a:ext cx="1" cy="1191930"/>
          </a:xfrm>
          <a:prstGeom prst="curvedConnector3">
            <a:avLst>
              <a:gd name="adj1" fmla="val 22860100000"/>
            </a:avLst>
          </a:prstGeom>
          <a:ln w="19050">
            <a:solidFill>
              <a:srgbClr val="00B05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de seta reta 36"/>
          <p:cNvCxnSpPr/>
          <p:nvPr/>
        </p:nvCxnSpPr>
        <p:spPr>
          <a:xfrm flipH="1">
            <a:off x="895891" y="2554398"/>
            <a:ext cx="704945" cy="5096"/>
          </a:xfrm>
          <a:prstGeom prst="straightConnector1">
            <a:avLst/>
          </a:prstGeom>
          <a:ln w="19050">
            <a:solidFill>
              <a:srgbClr val="FFC00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de seta reta 37"/>
          <p:cNvCxnSpPr/>
          <p:nvPr/>
        </p:nvCxnSpPr>
        <p:spPr>
          <a:xfrm flipH="1">
            <a:off x="862194" y="2633935"/>
            <a:ext cx="772339" cy="441856"/>
          </a:xfrm>
          <a:prstGeom prst="straightConnector1">
            <a:avLst/>
          </a:prstGeom>
          <a:ln w="19050">
            <a:solidFill>
              <a:srgbClr val="FFC00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de seta reta 38"/>
          <p:cNvCxnSpPr/>
          <p:nvPr/>
        </p:nvCxnSpPr>
        <p:spPr>
          <a:xfrm flipH="1">
            <a:off x="895889" y="1963399"/>
            <a:ext cx="704946" cy="4996"/>
          </a:xfrm>
          <a:prstGeom prst="straightConnector1">
            <a:avLst/>
          </a:prstGeom>
          <a:ln w="19050">
            <a:solidFill>
              <a:srgbClr val="FFC00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aixaDeTexto 3"/>
          <p:cNvSpPr txBox="1"/>
          <p:nvPr/>
        </p:nvSpPr>
        <p:spPr>
          <a:xfrm>
            <a:off x="1203803" y="2970282"/>
            <a:ext cx="23104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/>
              <a:t> (</a:t>
            </a:r>
            <a:r>
              <a:rPr lang="pt-BR" sz="1600" i="1" dirty="0"/>
              <a:t>v</a:t>
            </a:r>
            <a:r>
              <a:rPr lang="pt-BR" sz="1600" dirty="0"/>
              <a:t>, </a:t>
            </a:r>
            <a:r>
              <a:rPr lang="pt-BR" sz="1600" i="1" dirty="0"/>
              <a:t>w</a:t>
            </a:r>
            <a:r>
              <a:rPr lang="pt-BR" sz="1600" dirty="0"/>
              <a:t>) é aresta de </a:t>
            </a:r>
            <a:r>
              <a:rPr lang="pt-BR" sz="1600" b="1" dirty="0">
                <a:solidFill>
                  <a:srgbClr val="00B050"/>
                </a:solidFill>
              </a:rPr>
              <a:t>avanço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938592" y="3797722"/>
            <a:ext cx="28408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pt-BR" sz="1600" dirty="0"/>
              <a:t>(</a:t>
            </a:r>
            <a:r>
              <a:rPr lang="pt-BR" sz="1600" i="1" dirty="0"/>
              <a:t>v</a:t>
            </a:r>
            <a:r>
              <a:rPr lang="pt-BR" sz="1600" dirty="0"/>
              <a:t>) contém 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pt-BR" sz="1600" dirty="0"/>
              <a:t>(</a:t>
            </a:r>
            <a:r>
              <a:rPr lang="pt-BR" sz="1600" i="1" dirty="0"/>
              <a:t>w</a:t>
            </a:r>
            <a:r>
              <a:rPr lang="pt-BR" sz="1600" dirty="0"/>
              <a:t>) e </a:t>
            </a:r>
          </a:p>
          <a:p>
            <a:pPr algn="ctr"/>
            <a:r>
              <a:rPr lang="pt-BR" sz="1600" dirty="0"/>
              <a:t>TD[</a:t>
            </a:r>
            <a:r>
              <a:rPr lang="pt-BR" sz="1600" i="1" dirty="0"/>
              <a:t>w</a:t>
            </a:r>
            <a:r>
              <a:rPr lang="pt-BR" sz="1600" dirty="0"/>
              <a:t>] </a:t>
            </a:r>
            <a:r>
              <a:rPr lang="pt-BR" sz="1600" dirty="0">
                <a:sym typeface="Symbol" panose="05050102010706020507" pitchFamily="18" charset="2"/>
              </a:rPr>
              <a:t></a:t>
            </a:r>
            <a:r>
              <a:rPr lang="pt-BR" sz="1600" dirty="0"/>
              <a:t> 0 no momento da visita</a:t>
            </a:r>
          </a:p>
        </p:txBody>
      </p:sp>
      <p:sp>
        <p:nvSpPr>
          <p:cNvPr id="7" name="Seta para cima e para baixo 6"/>
          <p:cNvSpPr/>
          <p:nvPr/>
        </p:nvSpPr>
        <p:spPr>
          <a:xfrm>
            <a:off x="2258191" y="3319034"/>
            <a:ext cx="201645" cy="468490"/>
          </a:xfrm>
          <a:prstGeom prst="upDown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" name="Conector de seta reta 8"/>
          <p:cNvCxnSpPr/>
          <p:nvPr/>
        </p:nvCxnSpPr>
        <p:spPr>
          <a:xfrm>
            <a:off x="3709254" y="4270179"/>
            <a:ext cx="474819" cy="593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/>
          <p:cNvSpPr txBox="1"/>
          <p:nvPr/>
        </p:nvSpPr>
        <p:spPr>
          <a:xfrm>
            <a:off x="4142508" y="4175656"/>
            <a:ext cx="20842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ou ainda, </a:t>
            </a:r>
            <a:r>
              <a:rPr lang="pt-BR" sz="1400" i="1" dirty="0"/>
              <a:t>v</a:t>
            </a:r>
            <a:r>
              <a:rPr lang="pt-BR" sz="1400" dirty="0"/>
              <a:t> não é pai de </a:t>
            </a:r>
            <a:r>
              <a:rPr lang="pt-BR" sz="1400" i="1" dirty="0"/>
              <a:t>w</a:t>
            </a:r>
          </a:p>
        </p:txBody>
      </p:sp>
    </p:spTree>
    <p:extLst>
      <p:ext uri="{BB962C8B-B14F-4D97-AF65-F5344CB8AC3E}">
        <p14:creationId xmlns:p14="http://schemas.microsoft.com/office/powerpoint/2010/main" val="2008073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Intervalos de Vida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5" y="1183179"/>
            <a:ext cx="8407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Seja 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o intervalo de vida do vértice </a:t>
            </a:r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 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ou 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= [ TD[</a:t>
            </a:r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], TT[</a:t>
            </a:r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 ].</a:t>
            </a:r>
          </a:p>
        </p:txBody>
      </p:sp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80045"/>
              </p:ext>
            </p:extLst>
          </p:nvPr>
        </p:nvGraphicFramePr>
        <p:xfrm>
          <a:off x="4062447" y="1712859"/>
          <a:ext cx="4570130" cy="2364802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597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68001">
                <a:tc rowSpan="2"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Vértice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Tempo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001">
                <a:tc vMerge="1"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cxnSp>
        <p:nvCxnSpPr>
          <p:cNvPr id="23" name="Conector de seta reta 22"/>
          <p:cNvCxnSpPr/>
          <p:nvPr/>
        </p:nvCxnSpPr>
        <p:spPr>
          <a:xfrm>
            <a:off x="3920357" y="2294394"/>
            <a:ext cx="12613" cy="1783267"/>
          </a:xfrm>
          <a:prstGeom prst="straightConnector1">
            <a:avLst/>
          </a:prstGeom>
          <a:ln w="22225"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aixaDeTexto 27"/>
          <p:cNvSpPr txBox="1"/>
          <p:nvPr/>
        </p:nvSpPr>
        <p:spPr>
          <a:xfrm rot="16200000">
            <a:off x="2869395" y="3005668"/>
            <a:ext cx="18669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Em ordem crescente de TD</a:t>
            </a:r>
          </a:p>
        </p:txBody>
      </p:sp>
      <p:sp>
        <p:nvSpPr>
          <p:cNvPr id="24" name="Elipse 23"/>
          <p:cNvSpPr/>
          <p:nvPr/>
        </p:nvSpPr>
        <p:spPr>
          <a:xfrm>
            <a:off x="665793" y="185091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25" name="Conector de seta reta 24"/>
          <p:cNvCxnSpPr>
            <a:stCxn id="26" idx="0"/>
          </p:cNvCxnSpPr>
          <p:nvPr/>
        </p:nvCxnSpPr>
        <p:spPr>
          <a:xfrm flipH="1" flipV="1">
            <a:off x="780842" y="2075881"/>
            <a:ext cx="1" cy="371130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Elipse 25"/>
          <p:cNvSpPr/>
          <p:nvPr/>
        </p:nvSpPr>
        <p:spPr>
          <a:xfrm>
            <a:off x="665794" y="244701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27" name="Conector de seta reta 26"/>
          <p:cNvCxnSpPr>
            <a:stCxn id="29" idx="0"/>
          </p:cNvCxnSpPr>
          <p:nvPr/>
        </p:nvCxnSpPr>
        <p:spPr>
          <a:xfrm flipV="1">
            <a:off x="780843" y="2671976"/>
            <a:ext cx="0" cy="370870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Elipse 28"/>
          <p:cNvSpPr/>
          <p:nvPr/>
        </p:nvSpPr>
        <p:spPr>
          <a:xfrm>
            <a:off x="665794" y="304284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30" name="Elipse 29"/>
          <p:cNvSpPr/>
          <p:nvPr/>
        </p:nvSpPr>
        <p:spPr>
          <a:xfrm>
            <a:off x="665792" y="365828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31" name="Conector de seta reta 30"/>
          <p:cNvCxnSpPr>
            <a:stCxn id="30" idx="0"/>
          </p:cNvCxnSpPr>
          <p:nvPr/>
        </p:nvCxnSpPr>
        <p:spPr>
          <a:xfrm flipV="1">
            <a:off x="780841" y="3267812"/>
            <a:ext cx="2" cy="390473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angulado 139"/>
          <p:cNvCxnSpPr/>
          <p:nvPr/>
        </p:nvCxnSpPr>
        <p:spPr>
          <a:xfrm rot="10800000" flipH="1">
            <a:off x="665792" y="2559496"/>
            <a:ext cx="2" cy="1211273"/>
          </a:xfrm>
          <a:prstGeom prst="curvedConnector3">
            <a:avLst>
              <a:gd name="adj1" fmla="val -11430000000"/>
            </a:avLst>
          </a:prstGeom>
          <a:ln w="19050">
            <a:solidFill>
              <a:srgbClr val="FF000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Elipse 32"/>
          <p:cNvSpPr/>
          <p:nvPr/>
        </p:nvSpPr>
        <p:spPr>
          <a:xfrm>
            <a:off x="1600836" y="18459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4" name="Elipse 33"/>
          <p:cNvSpPr/>
          <p:nvPr/>
        </p:nvSpPr>
        <p:spPr>
          <a:xfrm>
            <a:off x="1600836" y="244191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cxnSp>
        <p:nvCxnSpPr>
          <p:cNvPr id="35" name="Conector de seta reta 34"/>
          <p:cNvCxnSpPr>
            <a:stCxn id="34" idx="0"/>
          </p:cNvCxnSpPr>
          <p:nvPr/>
        </p:nvCxnSpPr>
        <p:spPr>
          <a:xfrm flipV="1">
            <a:off x="1715885" y="2070886"/>
            <a:ext cx="0" cy="371029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angulado 147"/>
          <p:cNvCxnSpPr/>
          <p:nvPr/>
        </p:nvCxnSpPr>
        <p:spPr>
          <a:xfrm>
            <a:off x="895890" y="1963399"/>
            <a:ext cx="1" cy="1191930"/>
          </a:xfrm>
          <a:prstGeom prst="curvedConnector3">
            <a:avLst>
              <a:gd name="adj1" fmla="val 22860100000"/>
            </a:avLst>
          </a:prstGeom>
          <a:ln w="19050">
            <a:solidFill>
              <a:srgbClr val="00B05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de seta reta 36"/>
          <p:cNvCxnSpPr/>
          <p:nvPr/>
        </p:nvCxnSpPr>
        <p:spPr>
          <a:xfrm flipH="1">
            <a:off x="895891" y="2554398"/>
            <a:ext cx="704945" cy="5096"/>
          </a:xfrm>
          <a:prstGeom prst="straightConnector1">
            <a:avLst/>
          </a:prstGeom>
          <a:ln w="19050">
            <a:solidFill>
              <a:srgbClr val="FFC00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de seta reta 37"/>
          <p:cNvCxnSpPr/>
          <p:nvPr/>
        </p:nvCxnSpPr>
        <p:spPr>
          <a:xfrm flipH="1">
            <a:off x="862194" y="2633935"/>
            <a:ext cx="772339" cy="441856"/>
          </a:xfrm>
          <a:prstGeom prst="straightConnector1">
            <a:avLst/>
          </a:prstGeom>
          <a:ln w="19050">
            <a:solidFill>
              <a:srgbClr val="FFC00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de seta reta 38"/>
          <p:cNvCxnSpPr/>
          <p:nvPr/>
        </p:nvCxnSpPr>
        <p:spPr>
          <a:xfrm flipH="1">
            <a:off x="895889" y="1963399"/>
            <a:ext cx="704946" cy="4996"/>
          </a:xfrm>
          <a:prstGeom prst="straightConnector1">
            <a:avLst/>
          </a:prstGeom>
          <a:ln w="19050">
            <a:solidFill>
              <a:srgbClr val="FFC00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aixaDeTexto 3"/>
          <p:cNvSpPr txBox="1"/>
          <p:nvPr/>
        </p:nvSpPr>
        <p:spPr>
          <a:xfrm>
            <a:off x="1169168" y="2970282"/>
            <a:ext cx="23792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/>
              <a:t> (</a:t>
            </a:r>
            <a:r>
              <a:rPr lang="pt-BR" sz="1600" i="1" dirty="0"/>
              <a:t>v</a:t>
            </a:r>
            <a:r>
              <a:rPr lang="pt-BR" sz="1600" dirty="0"/>
              <a:t>, </a:t>
            </a:r>
            <a:r>
              <a:rPr lang="pt-BR" sz="1600" i="1" dirty="0"/>
              <a:t>w</a:t>
            </a:r>
            <a:r>
              <a:rPr lang="pt-BR" sz="1600" dirty="0"/>
              <a:t>) é aresta de </a:t>
            </a:r>
            <a:r>
              <a:rPr lang="pt-BR" sz="1600" b="1" dirty="0">
                <a:solidFill>
                  <a:srgbClr val="FF0000"/>
                </a:solidFill>
              </a:rPr>
              <a:t>retorno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1238578" y="3797722"/>
            <a:ext cx="22408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pt-BR" sz="1600" dirty="0"/>
              <a:t>(</a:t>
            </a:r>
            <a:r>
              <a:rPr lang="pt-BR" sz="1600" i="1" dirty="0"/>
              <a:t>v</a:t>
            </a:r>
            <a:r>
              <a:rPr lang="pt-BR" sz="1600" dirty="0"/>
              <a:t>) está contido em 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pt-BR" sz="1600" dirty="0"/>
              <a:t>(</a:t>
            </a:r>
            <a:r>
              <a:rPr lang="pt-BR" sz="1600" i="1" dirty="0"/>
              <a:t>w</a:t>
            </a:r>
            <a:r>
              <a:rPr lang="pt-BR" sz="1600" dirty="0"/>
              <a:t>)</a:t>
            </a:r>
          </a:p>
        </p:txBody>
      </p:sp>
      <p:sp>
        <p:nvSpPr>
          <p:cNvPr id="7" name="Seta para cima e para baixo 6"/>
          <p:cNvSpPr/>
          <p:nvPr/>
        </p:nvSpPr>
        <p:spPr>
          <a:xfrm>
            <a:off x="2258191" y="3319034"/>
            <a:ext cx="201645" cy="468490"/>
          </a:xfrm>
          <a:prstGeom prst="upDown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6600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Intervalos de Vida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5" y="1183179"/>
            <a:ext cx="8407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Seja 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o intervalo de vida do vértice </a:t>
            </a:r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 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ou 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= [ TD[</a:t>
            </a:r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], TT[</a:t>
            </a:r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 ].</a:t>
            </a:r>
          </a:p>
        </p:txBody>
      </p:sp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80045"/>
              </p:ext>
            </p:extLst>
          </p:nvPr>
        </p:nvGraphicFramePr>
        <p:xfrm>
          <a:off x="4062447" y="1712859"/>
          <a:ext cx="4570130" cy="2364802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597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3109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68001">
                <a:tc rowSpan="2"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Vértice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Tempo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001">
                <a:tc vMerge="1"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800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cxnSp>
        <p:nvCxnSpPr>
          <p:cNvPr id="23" name="Conector de seta reta 22"/>
          <p:cNvCxnSpPr/>
          <p:nvPr/>
        </p:nvCxnSpPr>
        <p:spPr>
          <a:xfrm>
            <a:off x="3920357" y="2294394"/>
            <a:ext cx="12613" cy="1783267"/>
          </a:xfrm>
          <a:prstGeom prst="straightConnector1">
            <a:avLst/>
          </a:prstGeom>
          <a:ln w="22225"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aixaDeTexto 27"/>
          <p:cNvSpPr txBox="1"/>
          <p:nvPr/>
        </p:nvSpPr>
        <p:spPr>
          <a:xfrm rot="16200000">
            <a:off x="2869395" y="3005668"/>
            <a:ext cx="18669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Em ordem crescente de TD</a:t>
            </a:r>
          </a:p>
        </p:txBody>
      </p:sp>
      <p:sp>
        <p:nvSpPr>
          <p:cNvPr id="24" name="Elipse 23"/>
          <p:cNvSpPr/>
          <p:nvPr/>
        </p:nvSpPr>
        <p:spPr>
          <a:xfrm>
            <a:off x="665793" y="185091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25" name="Conector de seta reta 24"/>
          <p:cNvCxnSpPr>
            <a:stCxn id="26" idx="0"/>
          </p:cNvCxnSpPr>
          <p:nvPr/>
        </p:nvCxnSpPr>
        <p:spPr>
          <a:xfrm flipH="1" flipV="1">
            <a:off x="780842" y="2075881"/>
            <a:ext cx="1" cy="371130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Elipse 25"/>
          <p:cNvSpPr/>
          <p:nvPr/>
        </p:nvSpPr>
        <p:spPr>
          <a:xfrm>
            <a:off x="665794" y="244701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27" name="Conector de seta reta 26"/>
          <p:cNvCxnSpPr>
            <a:stCxn id="29" idx="0"/>
          </p:cNvCxnSpPr>
          <p:nvPr/>
        </p:nvCxnSpPr>
        <p:spPr>
          <a:xfrm flipV="1">
            <a:off x="780843" y="2671976"/>
            <a:ext cx="0" cy="370870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Elipse 28"/>
          <p:cNvSpPr/>
          <p:nvPr/>
        </p:nvSpPr>
        <p:spPr>
          <a:xfrm>
            <a:off x="665794" y="304284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30" name="Elipse 29"/>
          <p:cNvSpPr/>
          <p:nvPr/>
        </p:nvSpPr>
        <p:spPr>
          <a:xfrm>
            <a:off x="665792" y="365828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31" name="Conector de seta reta 30"/>
          <p:cNvCxnSpPr>
            <a:stCxn id="30" idx="0"/>
          </p:cNvCxnSpPr>
          <p:nvPr/>
        </p:nvCxnSpPr>
        <p:spPr>
          <a:xfrm flipV="1">
            <a:off x="780841" y="3267812"/>
            <a:ext cx="2" cy="390473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angulado 139"/>
          <p:cNvCxnSpPr/>
          <p:nvPr/>
        </p:nvCxnSpPr>
        <p:spPr>
          <a:xfrm rot="10800000" flipH="1">
            <a:off x="665792" y="2559496"/>
            <a:ext cx="2" cy="1211273"/>
          </a:xfrm>
          <a:prstGeom prst="curvedConnector3">
            <a:avLst>
              <a:gd name="adj1" fmla="val -11430000000"/>
            </a:avLst>
          </a:prstGeom>
          <a:ln w="19050">
            <a:solidFill>
              <a:srgbClr val="FF000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Elipse 32"/>
          <p:cNvSpPr/>
          <p:nvPr/>
        </p:nvSpPr>
        <p:spPr>
          <a:xfrm>
            <a:off x="1600836" y="18459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4" name="Elipse 33"/>
          <p:cNvSpPr/>
          <p:nvPr/>
        </p:nvSpPr>
        <p:spPr>
          <a:xfrm>
            <a:off x="1600836" y="244191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cxnSp>
        <p:nvCxnSpPr>
          <p:cNvPr id="35" name="Conector de seta reta 34"/>
          <p:cNvCxnSpPr>
            <a:stCxn id="34" idx="0"/>
          </p:cNvCxnSpPr>
          <p:nvPr/>
        </p:nvCxnSpPr>
        <p:spPr>
          <a:xfrm flipV="1">
            <a:off x="1715885" y="2070886"/>
            <a:ext cx="0" cy="371029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angulado 147"/>
          <p:cNvCxnSpPr/>
          <p:nvPr/>
        </p:nvCxnSpPr>
        <p:spPr>
          <a:xfrm>
            <a:off x="895890" y="1963399"/>
            <a:ext cx="1" cy="1191930"/>
          </a:xfrm>
          <a:prstGeom prst="curvedConnector3">
            <a:avLst>
              <a:gd name="adj1" fmla="val 22860100000"/>
            </a:avLst>
          </a:prstGeom>
          <a:ln w="19050">
            <a:solidFill>
              <a:srgbClr val="00B05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de seta reta 36"/>
          <p:cNvCxnSpPr/>
          <p:nvPr/>
        </p:nvCxnSpPr>
        <p:spPr>
          <a:xfrm flipH="1">
            <a:off x="895891" y="2554398"/>
            <a:ext cx="704945" cy="5096"/>
          </a:xfrm>
          <a:prstGeom prst="straightConnector1">
            <a:avLst/>
          </a:prstGeom>
          <a:ln w="19050">
            <a:solidFill>
              <a:srgbClr val="FFC00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de seta reta 37"/>
          <p:cNvCxnSpPr/>
          <p:nvPr/>
        </p:nvCxnSpPr>
        <p:spPr>
          <a:xfrm flipH="1">
            <a:off x="862194" y="2633935"/>
            <a:ext cx="772339" cy="441856"/>
          </a:xfrm>
          <a:prstGeom prst="straightConnector1">
            <a:avLst/>
          </a:prstGeom>
          <a:ln w="19050">
            <a:solidFill>
              <a:srgbClr val="FFC00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de seta reta 38"/>
          <p:cNvCxnSpPr/>
          <p:nvPr/>
        </p:nvCxnSpPr>
        <p:spPr>
          <a:xfrm flipH="1">
            <a:off x="895889" y="1963399"/>
            <a:ext cx="704946" cy="4996"/>
          </a:xfrm>
          <a:prstGeom prst="straightConnector1">
            <a:avLst/>
          </a:prstGeom>
          <a:ln w="19050">
            <a:solidFill>
              <a:srgbClr val="FFC00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aixaDeTexto 3"/>
          <p:cNvSpPr txBox="1"/>
          <p:nvPr/>
        </p:nvSpPr>
        <p:spPr>
          <a:xfrm>
            <a:off x="1090770" y="2970282"/>
            <a:ext cx="27070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/>
              <a:t> (</a:t>
            </a:r>
            <a:r>
              <a:rPr lang="pt-BR" sz="1600" i="1" dirty="0"/>
              <a:t>v</a:t>
            </a:r>
            <a:r>
              <a:rPr lang="pt-BR" sz="1600" dirty="0"/>
              <a:t>, </a:t>
            </a:r>
            <a:r>
              <a:rPr lang="pt-BR" sz="1600" i="1" dirty="0"/>
              <a:t>w</a:t>
            </a:r>
            <a:r>
              <a:rPr lang="pt-BR" sz="1600" dirty="0"/>
              <a:t>) é aresta de </a:t>
            </a:r>
            <a:r>
              <a:rPr lang="pt-BR" sz="1600" b="1" dirty="0">
                <a:solidFill>
                  <a:srgbClr val="FFC000"/>
                </a:solidFill>
              </a:rPr>
              <a:t>cruzamento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1500888" y="3797722"/>
            <a:ext cx="18867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pt-BR" sz="1600" dirty="0"/>
              <a:t>(</a:t>
            </a:r>
            <a:r>
              <a:rPr lang="pt-BR" sz="1600" i="1" dirty="0"/>
              <a:t>v</a:t>
            </a:r>
            <a:r>
              <a:rPr lang="pt-BR" sz="1600" dirty="0"/>
              <a:t>) está totalmente a direita de 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pt-BR" sz="1600" dirty="0"/>
              <a:t>(</a:t>
            </a:r>
            <a:r>
              <a:rPr lang="pt-BR" sz="1600" i="1" dirty="0"/>
              <a:t>w</a:t>
            </a:r>
            <a:r>
              <a:rPr lang="pt-BR" sz="1600" dirty="0"/>
              <a:t>)</a:t>
            </a:r>
          </a:p>
        </p:txBody>
      </p:sp>
      <p:sp>
        <p:nvSpPr>
          <p:cNvPr id="7" name="Seta para cima e para baixo 6"/>
          <p:cNvSpPr/>
          <p:nvPr/>
        </p:nvSpPr>
        <p:spPr>
          <a:xfrm>
            <a:off x="2343451" y="3319034"/>
            <a:ext cx="201645" cy="468490"/>
          </a:xfrm>
          <a:prstGeom prst="upDown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2547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4834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CAPA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ubtítulo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Apenas texto corrido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ítulo e texto corrido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Item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Título, texto e imagem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Texto e imagem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Apenas imagens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Tabela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Encerramento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2172</TotalTime>
  <Words>14731</Words>
  <Application>Microsoft Office PowerPoint</Application>
  <PresentationFormat>Apresentação na tela (16:9)</PresentationFormat>
  <Paragraphs>5799</Paragraphs>
  <Slides>126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10</vt:i4>
      </vt:variant>
      <vt:variant>
        <vt:lpstr>Títulos de slides</vt:lpstr>
      </vt:variant>
      <vt:variant>
        <vt:i4>126</vt:i4>
      </vt:variant>
    </vt:vector>
  </HeadingPairs>
  <TitlesOfParts>
    <vt:vector size="140" baseType="lpstr">
      <vt:lpstr>Arial</vt:lpstr>
      <vt:lpstr>Calibri</vt:lpstr>
      <vt:lpstr>Symbol</vt:lpstr>
      <vt:lpstr>Times New Roman</vt:lpstr>
      <vt:lpstr>CAPA</vt:lpstr>
      <vt:lpstr>Subtítulo</vt:lpstr>
      <vt:lpstr>Apenas texto corrido</vt:lpstr>
      <vt:lpstr>Título e texto corrido</vt:lpstr>
      <vt:lpstr>Item</vt:lpstr>
      <vt:lpstr>Título, texto e imagem</vt:lpstr>
      <vt:lpstr>Texto e imagem</vt:lpstr>
      <vt:lpstr>Apenas imagens</vt:lpstr>
      <vt:lpstr>Tabela</vt:lpstr>
      <vt:lpstr>Encerramento</vt:lpstr>
      <vt:lpstr>Busca em Profundidade</vt:lpstr>
      <vt:lpstr>Busca em Profundidade – Introdução</vt:lpstr>
      <vt:lpstr>Busca em Profundidade</vt:lpstr>
      <vt:lpstr>Busca em Profundidade</vt:lpstr>
      <vt:lpstr>Busca em Profundidade</vt:lpstr>
      <vt:lpstr>Busca em Profundidade  em Grafo Não Direcionado</vt:lpstr>
      <vt:lpstr>Busca em Profundidade – Grafo Não Direcionado</vt:lpstr>
      <vt:lpstr>Busca em Profundidade – Algoritmo</vt:lpstr>
      <vt:lpstr>Busca em Profundidade – Algoritmo</vt:lpstr>
      <vt:lpstr>Busca em Profundidade – Algoritmo</vt:lpstr>
      <vt:lpstr>Busca em Profundidade – Exemplo</vt:lpstr>
      <vt:lpstr>Busca em Profundidade – Exemplo</vt:lpstr>
      <vt:lpstr>Busca em Profundidade – Exemplo</vt:lpstr>
      <vt:lpstr>Busca em Profundidade – Exemplo</vt:lpstr>
      <vt:lpstr>Busca em Profundidade – Exemplo</vt:lpstr>
      <vt:lpstr>Busca em Profundidade – Exemplo</vt:lpstr>
      <vt:lpstr>Busca em Profundidade – Exemplo</vt:lpstr>
      <vt:lpstr>Busca em Profundidade – Exemplo</vt:lpstr>
      <vt:lpstr>Busca em Profundidade – Exemplo</vt:lpstr>
      <vt:lpstr>Busca em Profundidade – Exemplo</vt:lpstr>
      <vt:lpstr>Busca em Profundidade – Exemplo</vt:lpstr>
      <vt:lpstr>Busca em Profundidade – Exemplo</vt:lpstr>
      <vt:lpstr>Busca em Profundidade – Exemplo</vt:lpstr>
      <vt:lpstr>Busca em Profundidade – Exemplo</vt:lpstr>
      <vt:lpstr>Busca em Profundidade – Exemplo</vt:lpstr>
      <vt:lpstr>Busca em Profundidade – Exemplo</vt:lpstr>
      <vt:lpstr>Busca em Profundidade – Exemplo</vt:lpstr>
      <vt:lpstr>Busca em Profundidade – Exemplo</vt:lpstr>
      <vt:lpstr>Busca em Profundidade – Exemplo</vt:lpstr>
      <vt:lpstr>Busca em Profundidade – Exemplo</vt:lpstr>
      <vt:lpstr>Busca em Profundidade – Exemplo</vt:lpstr>
      <vt:lpstr>Busca em Profundidade – Exemplo</vt:lpstr>
      <vt:lpstr>Busca em Profundidade – Exemplo</vt:lpstr>
      <vt:lpstr>Busca em Profundidade – Exemplo</vt:lpstr>
      <vt:lpstr>Busca em Profundidade – Exemplo</vt:lpstr>
      <vt:lpstr>Busca em Profundidade – Exemplo</vt:lpstr>
      <vt:lpstr>Busca em Profundidade – Exemplo</vt:lpstr>
      <vt:lpstr>Busca em Profundidade – Exemplo</vt:lpstr>
      <vt:lpstr>Busca em Profundidade – Exemplo</vt:lpstr>
      <vt:lpstr>Busca em Profundidade – Exemplo</vt:lpstr>
      <vt:lpstr>Busca em Profundidade – Exemplo</vt:lpstr>
      <vt:lpstr>Busca em Profundidade – Exemplo</vt:lpstr>
      <vt:lpstr>Busca em Profundidade – Exemplo</vt:lpstr>
      <vt:lpstr>Busca em Profundidade – Exemplo</vt:lpstr>
      <vt:lpstr>Busca em Profundidade – Exemplo</vt:lpstr>
      <vt:lpstr>Busca em Profundidade – Exemplo</vt:lpstr>
      <vt:lpstr>Busca em Profundidade – Exemplo</vt:lpstr>
      <vt:lpstr>Busca em Profundidade – Exemplo</vt:lpstr>
      <vt:lpstr>Busca em Profundidade – Exemplo</vt:lpstr>
      <vt:lpstr>Busca em Profundidade – Exemplo</vt:lpstr>
      <vt:lpstr>Busca em Profundidade – Exemplo</vt:lpstr>
      <vt:lpstr>Busca em Profundidade – Exemplo</vt:lpstr>
      <vt:lpstr>Busca em Profundidade – Exemplo</vt:lpstr>
      <vt:lpstr>Busca em Profundidade – Exemplo</vt:lpstr>
      <vt:lpstr>Busca em Profundidade – Exemplo</vt:lpstr>
      <vt:lpstr>Busca em Profundidade – Exemplo</vt:lpstr>
      <vt:lpstr>Busca em Profundidade – Exemplo</vt:lpstr>
      <vt:lpstr>Busca em Profundidade – Exemplo</vt:lpstr>
      <vt:lpstr>Busca em Profundidade – Exemplo</vt:lpstr>
      <vt:lpstr>Busca em Profundidade – Exemplo</vt:lpstr>
      <vt:lpstr>Busca em Profundidade – Exemplo</vt:lpstr>
      <vt:lpstr>Busca em Profundidade – Exemplo</vt:lpstr>
      <vt:lpstr>Busca em Profundidade – Exemplo</vt:lpstr>
      <vt:lpstr>Intervalos de Vida</vt:lpstr>
      <vt:lpstr>Intervalos de Vida</vt:lpstr>
      <vt:lpstr>Intervalos de Vida</vt:lpstr>
      <vt:lpstr>Intervalos de Vida</vt:lpstr>
      <vt:lpstr>Intervalos de Vida</vt:lpstr>
      <vt:lpstr>Intervalos de Vida</vt:lpstr>
      <vt:lpstr>Intervalos de Vida</vt:lpstr>
      <vt:lpstr>Intervalos de Vida</vt:lpstr>
      <vt:lpstr>Intervalos de Vida</vt:lpstr>
      <vt:lpstr>Busca em Profundidade – Propriedades</vt:lpstr>
      <vt:lpstr>Busca em Profundidade – Propriedades</vt:lpstr>
      <vt:lpstr>Busca em Profundidade em Grafo Direcionado</vt:lpstr>
      <vt:lpstr>Busca em Profundidade – Grafo Direcionado</vt:lpstr>
      <vt:lpstr>Busca em Profundidade – Grafo Direcionado</vt:lpstr>
      <vt:lpstr>Busca em Profundidade – Grafo Direcionado</vt:lpstr>
      <vt:lpstr>Busca em Profundidade – Grafo Direcionado</vt:lpstr>
      <vt:lpstr>Busca em Profundidade – Exemplo</vt:lpstr>
      <vt:lpstr>Busca em Profundidade – Exemplo</vt:lpstr>
      <vt:lpstr>Busca em Profundidade – Exemplo</vt:lpstr>
      <vt:lpstr>Busca em Profundidade – Exemplo</vt:lpstr>
      <vt:lpstr>Busca em Profundidade – Exemplo</vt:lpstr>
      <vt:lpstr>Busca em Profundidade – Exemplo</vt:lpstr>
      <vt:lpstr>Busca em Profundidade – Exemplo</vt:lpstr>
      <vt:lpstr>Busca em Profundidade – Exemplo</vt:lpstr>
      <vt:lpstr>Busca em Profundidade – Exemplo</vt:lpstr>
      <vt:lpstr>Busca em Profundidade – Exemplo</vt:lpstr>
      <vt:lpstr>Busca em Profundidade – Exemplo</vt:lpstr>
      <vt:lpstr>Busca em Profundidade – Exemplo</vt:lpstr>
      <vt:lpstr>Busca em Profundidade – Exemplo</vt:lpstr>
      <vt:lpstr>Busca em Profundidade – Exemplo</vt:lpstr>
      <vt:lpstr>Busca em Profundidade – Exemplo</vt:lpstr>
      <vt:lpstr>Busca em Profundidade – Exemplo</vt:lpstr>
      <vt:lpstr>Busca em Profundidade – Exemplo</vt:lpstr>
      <vt:lpstr>Busca em Profundidade – Exemplo</vt:lpstr>
      <vt:lpstr>Busca em Profundidade – Exemplo</vt:lpstr>
      <vt:lpstr>Busca em Profundidade – Exemplo</vt:lpstr>
      <vt:lpstr>Busca em Profundidade – Exemplo</vt:lpstr>
      <vt:lpstr>Busca em Profundidade – Exemplo</vt:lpstr>
      <vt:lpstr>Busca em Profundidade – Exemplo</vt:lpstr>
      <vt:lpstr>Busca em Profundidade – Exemplo</vt:lpstr>
      <vt:lpstr>Busca em Profundidade – Exemplo</vt:lpstr>
      <vt:lpstr>Busca em Profundidade – Exemplo</vt:lpstr>
      <vt:lpstr>Busca em Profundidade – Exemplo</vt:lpstr>
      <vt:lpstr>Busca em Profundidade – Exemplo</vt:lpstr>
      <vt:lpstr>Busca em Profundidade – Exemplo</vt:lpstr>
      <vt:lpstr>Busca em Profundidade – Exemplo</vt:lpstr>
      <vt:lpstr>Busca em Profundidade – Exemplo</vt:lpstr>
      <vt:lpstr>Busca em Profundidade – Exemplo</vt:lpstr>
      <vt:lpstr>Busca em Profundidade – Exemplo</vt:lpstr>
      <vt:lpstr>Busca em Profundidade – Exemplo</vt:lpstr>
      <vt:lpstr>Busca em Profundidade – Exemplo</vt:lpstr>
      <vt:lpstr>Intervalos de Vida</vt:lpstr>
      <vt:lpstr>Intervalos de Vida</vt:lpstr>
      <vt:lpstr>Intervalos de Vida</vt:lpstr>
      <vt:lpstr>Intervalos de Vida</vt:lpstr>
      <vt:lpstr>Intervalos de Vida</vt:lpstr>
      <vt:lpstr>Intervalos de Vida</vt:lpstr>
      <vt:lpstr>Intervalos de Vida</vt:lpstr>
      <vt:lpstr>Intervalos de Vida</vt:lpstr>
      <vt:lpstr>Intervalos de Vida</vt:lpstr>
      <vt:lpstr>Intervalos de Vida</vt:lpstr>
      <vt:lpstr>Intervalos de Vida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Kelen da Silva Miranda</dc:creator>
  <cp:lastModifiedBy>Leonardo</cp:lastModifiedBy>
  <cp:revision>246</cp:revision>
  <dcterms:created xsi:type="dcterms:W3CDTF">2018-04-05T14:34:00Z</dcterms:created>
  <dcterms:modified xsi:type="dcterms:W3CDTF">2022-07-30T22:51:27Z</dcterms:modified>
</cp:coreProperties>
</file>