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theme/theme4.xml" ContentType="application/vnd.openxmlformats-officedocument.theme+xml"/>
  <Override PartName="/ppt/slideLayouts/slideLayout7.xml" ContentType="application/vnd.openxmlformats-officedocument.presentationml.slideLayout+xml"/>
  <Override PartName="/ppt/theme/theme5.xml" ContentType="application/vnd.openxmlformats-officedocument.theme+xml"/>
  <Override PartName="/ppt/slideLayouts/slideLayout8.xml" ContentType="application/vnd.openxmlformats-officedocument.presentationml.slideLayout+xml"/>
  <Override PartName="/ppt/theme/theme6.xml" ContentType="application/vnd.openxmlformats-officedocument.theme+xml"/>
  <Override PartName="/ppt/slideLayouts/slideLayout9.xml" ContentType="application/vnd.openxmlformats-officedocument.presentationml.slideLayout+xml"/>
  <Override PartName="/ppt/theme/theme7.xml" ContentType="application/vnd.openxmlformats-officedocument.theme+xml"/>
  <Override PartName="/ppt/slideLayouts/slideLayout10.xml" ContentType="application/vnd.openxmlformats-officedocument.presentationml.slideLayout+xml"/>
  <Override PartName="/ppt/theme/theme8.xml" ContentType="application/vnd.openxmlformats-officedocument.theme+xml"/>
  <Override PartName="/ppt/slideLayouts/slideLayout11.xml" ContentType="application/vnd.openxmlformats-officedocument.presentationml.slideLayout+xml"/>
  <Override PartName="/ppt/theme/theme9.xml" ContentType="application/vnd.openxmlformats-officedocument.theme+xml"/>
  <Override PartName="/ppt/slideLayouts/slideLayout12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0" r:id="rId2"/>
    <p:sldMasterId id="2147483655" r:id="rId3"/>
    <p:sldMasterId id="2147483657" r:id="rId4"/>
    <p:sldMasterId id="2147483670" r:id="rId5"/>
    <p:sldMasterId id="2147483659" r:id="rId6"/>
    <p:sldMasterId id="2147483661" r:id="rId7"/>
    <p:sldMasterId id="2147483663" r:id="rId8"/>
    <p:sldMasterId id="2147483665" r:id="rId9"/>
    <p:sldMasterId id="2147483667" r:id="rId10"/>
  </p:sldMasterIdLst>
  <p:notesMasterIdLst>
    <p:notesMasterId r:id="rId46"/>
  </p:notesMasterIdLst>
  <p:handoutMasterIdLst>
    <p:handoutMasterId r:id="rId47"/>
  </p:handoutMasterIdLst>
  <p:sldIdLst>
    <p:sldId id="256" r:id="rId11"/>
    <p:sldId id="353" r:id="rId12"/>
    <p:sldId id="272" r:id="rId13"/>
    <p:sldId id="335" r:id="rId14"/>
    <p:sldId id="334" r:id="rId15"/>
    <p:sldId id="333" r:id="rId16"/>
    <p:sldId id="332" r:id="rId17"/>
    <p:sldId id="331" r:id="rId18"/>
    <p:sldId id="319" r:id="rId19"/>
    <p:sldId id="320" r:id="rId20"/>
    <p:sldId id="342" r:id="rId21"/>
    <p:sldId id="340" r:id="rId22"/>
    <p:sldId id="343" r:id="rId23"/>
    <p:sldId id="344" r:id="rId24"/>
    <p:sldId id="345" r:id="rId25"/>
    <p:sldId id="346" r:id="rId26"/>
    <p:sldId id="347" r:id="rId27"/>
    <p:sldId id="348" r:id="rId28"/>
    <p:sldId id="349" r:id="rId29"/>
    <p:sldId id="350" r:id="rId30"/>
    <p:sldId id="351" r:id="rId31"/>
    <p:sldId id="352" r:id="rId32"/>
    <p:sldId id="321" r:id="rId33"/>
    <p:sldId id="322" r:id="rId34"/>
    <p:sldId id="323" r:id="rId35"/>
    <p:sldId id="325" r:id="rId36"/>
    <p:sldId id="354" r:id="rId37"/>
    <p:sldId id="326" r:id="rId38"/>
    <p:sldId id="336" r:id="rId39"/>
    <p:sldId id="328" r:id="rId40"/>
    <p:sldId id="337" r:id="rId41"/>
    <p:sldId id="338" r:id="rId42"/>
    <p:sldId id="339" r:id="rId43"/>
    <p:sldId id="341" r:id="rId44"/>
    <p:sldId id="270" r:id="rId45"/>
  </p:sldIdLst>
  <p:sldSz cx="9144000" cy="5143500" type="screen16x9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1789A"/>
    <a:srgbClr val="FF66FF"/>
    <a:srgbClr val="CC00FF"/>
    <a:srgbClr val="9900CC"/>
    <a:srgbClr val="474748"/>
    <a:srgbClr val="996600"/>
    <a:srgbClr val="17BE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946" y="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5" d="100"/>
          <a:sy n="85" d="100"/>
        </p:scale>
        <p:origin x="-3786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openxmlformats.org/officeDocument/2006/relationships/slide" Target="slides/slide16.xml"/><Relationship Id="rId39" Type="http://schemas.openxmlformats.org/officeDocument/2006/relationships/slide" Target="slides/slide29.xml"/><Relationship Id="rId21" Type="http://schemas.openxmlformats.org/officeDocument/2006/relationships/slide" Target="slides/slide11.xml"/><Relationship Id="rId34" Type="http://schemas.openxmlformats.org/officeDocument/2006/relationships/slide" Target="slides/slide24.xml"/><Relationship Id="rId42" Type="http://schemas.openxmlformats.org/officeDocument/2006/relationships/slide" Target="slides/slide32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6.xml"/><Relationship Id="rId29" Type="http://schemas.openxmlformats.org/officeDocument/2006/relationships/slide" Target="slides/slide19.xml"/><Relationship Id="rId11" Type="http://schemas.openxmlformats.org/officeDocument/2006/relationships/slide" Target="slides/slide1.xml"/><Relationship Id="rId24" Type="http://schemas.openxmlformats.org/officeDocument/2006/relationships/slide" Target="slides/slide14.xml"/><Relationship Id="rId32" Type="http://schemas.openxmlformats.org/officeDocument/2006/relationships/slide" Target="slides/slide22.xml"/><Relationship Id="rId37" Type="http://schemas.openxmlformats.org/officeDocument/2006/relationships/slide" Target="slides/slide27.xml"/><Relationship Id="rId40" Type="http://schemas.openxmlformats.org/officeDocument/2006/relationships/slide" Target="slides/slide30.xml"/><Relationship Id="rId45" Type="http://schemas.openxmlformats.org/officeDocument/2006/relationships/slide" Target="slides/slide35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5.xml"/><Relationship Id="rId23" Type="http://schemas.openxmlformats.org/officeDocument/2006/relationships/slide" Target="slides/slide13.xml"/><Relationship Id="rId28" Type="http://schemas.openxmlformats.org/officeDocument/2006/relationships/slide" Target="slides/slide18.xml"/><Relationship Id="rId36" Type="http://schemas.openxmlformats.org/officeDocument/2006/relationships/slide" Target="slides/slide26.xml"/><Relationship Id="rId49" Type="http://schemas.openxmlformats.org/officeDocument/2006/relationships/viewProps" Target="viewProp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9.xml"/><Relationship Id="rId31" Type="http://schemas.openxmlformats.org/officeDocument/2006/relationships/slide" Target="slides/slide21.xml"/><Relationship Id="rId44" Type="http://schemas.openxmlformats.org/officeDocument/2006/relationships/slide" Target="slides/slide34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4.xml"/><Relationship Id="rId22" Type="http://schemas.openxmlformats.org/officeDocument/2006/relationships/slide" Target="slides/slide12.xml"/><Relationship Id="rId27" Type="http://schemas.openxmlformats.org/officeDocument/2006/relationships/slide" Target="slides/slide17.xml"/><Relationship Id="rId30" Type="http://schemas.openxmlformats.org/officeDocument/2006/relationships/slide" Target="slides/slide20.xml"/><Relationship Id="rId35" Type="http://schemas.openxmlformats.org/officeDocument/2006/relationships/slide" Target="slides/slide25.xml"/><Relationship Id="rId43" Type="http://schemas.openxmlformats.org/officeDocument/2006/relationships/slide" Target="slides/slide33.xml"/><Relationship Id="rId48" Type="http://schemas.openxmlformats.org/officeDocument/2006/relationships/presProps" Target="presProps.xml"/><Relationship Id="rId8" Type="http://schemas.openxmlformats.org/officeDocument/2006/relationships/slideMaster" Target="slideMasters/slideMaster8.xml"/><Relationship Id="rId51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slide" Target="slides/slide15.xml"/><Relationship Id="rId33" Type="http://schemas.openxmlformats.org/officeDocument/2006/relationships/slide" Target="slides/slide23.xml"/><Relationship Id="rId38" Type="http://schemas.openxmlformats.org/officeDocument/2006/relationships/slide" Target="slides/slide28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0.xml"/><Relationship Id="rId41" Type="http://schemas.openxmlformats.org/officeDocument/2006/relationships/slide" Target="slides/slide3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D6A30C-50D2-4409-8C57-B758E4448AF7}" type="datetimeFigureOut">
              <a:rPr lang="pt-BR" smtClean="0"/>
              <a:t>30/07/2022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54CFC7-C996-4863-90E8-DB58BF8229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23489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3CBAFB-72C8-4421-82CF-2C64DCD5A75B}" type="datetimeFigureOut">
              <a:rPr lang="pt-BR" smtClean="0"/>
              <a:t>30/07/2022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6F4808-22E8-406A-932F-9218A9615E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01273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187624" y="1589798"/>
            <a:ext cx="7056784" cy="1261963"/>
          </a:xfrm>
          <a:prstGeom prst="rect">
            <a:avLst/>
          </a:prstGeom>
        </p:spPr>
        <p:txBody>
          <a:bodyPr anchor="ctr"/>
          <a:lstStyle>
            <a:lvl1pPr algn="l">
              <a:defRPr sz="5600" b="1" baseline="0">
                <a:solidFill>
                  <a:srgbClr val="474748"/>
                </a:solidFill>
              </a:defRPr>
            </a:lvl1pPr>
          </a:lstStyle>
          <a:p>
            <a:r>
              <a:rPr lang="pt-BR" dirty="0"/>
              <a:t>Título da Aula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1187624" y="2908593"/>
            <a:ext cx="7056784" cy="56630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000" b="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dirty="0"/>
              <a:t>Nome do Professor</a:t>
            </a:r>
          </a:p>
        </p:txBody>
      </p:sp>
    </p:spTree>
    <p:extLst>
      <p:ext uri="{BB962C8B-B14F-4D97-AF65-F5344CB8AC3E}">
        <p14:creationId xmlns:p14="http://schemas.microsoft.com/office/powerpoint/2010/main" val="68919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2716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e texto corr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311950" y="101873"/>
            <a:ext cx="8580530" cy="741685"/>
          </a:xfrm>
          <a:prstGeom prst="rect">
            <a:avLst/>
          </a:prstGeom>
        </p:spPr>
        <p:txBody>
          <a:bodyPr anchor="ctr"/>
          <a:lstStyle>
            <a:lvl1pPr algn="l">
              <a:defRPr sz="3500" b="1" baseline="0"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Título texto</a:t>
            </a:r>
          </a:p>
        </p:txBody>
      </p:sp>
    </p:spTree>
    <p:extLst>
      <p:ext uri="{BB962C8B-B14F-4D97-AF65-F5344CB8AC3E}">
        <p14:creationId xmlns:p14="http://schemas.microsoft.com/office/powerpoint/2010/main" val="37073191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0" y="2131862"/>
            <a:ext cx="9144000" cy="857250"/>
          </a:xfrm>
          <a:prstGeom prst="rect">
            <a:avLst/>
          </a:prstGeom>
        </p:spPr>
        <p:txBody>
          <a:bodyPr anchor="ctr"/>
          <a:lstStyle>
            <a:lvl1pPr algn="ctr">
              <a:defRPr sz="4500" b="1" baseline="0"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Subtítulo da Apresentação</a:t>
            </a:r>
          </a:p>
        </p:txBody>
      </p:sp>
    </p:spTree>
    <p:extLst>
      <p:ext uri="{BB962C8B-B14F-4D97-AF65-F5344CB8AC3E}">
        <p14:creationId xmlns:p14="http://schemas.microsoft.com/office/powerpoint/2010/main" val="3028343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enas texto corr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4897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texto corr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311950" y="101873"/>
            <a:ext cx="8580530" cy="741685"/>
          </a:xfrm>
          <a:prstGeom prst="rect">
            <a:avLst/>
          </a:prstGeom>
        </p:spPr>
        <p:txBody>
          <a:bodyPr anchor="ctr"/>
          <a:lstStyle>
            <a:lvl1pPr algn="l">
              <a:defRPr sz="3500" b="1" baseline="0"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Título texto</a:t>
            </a:r>
          </a:p>
        </p:txBody>
      </p:sp>
    </p:spTree>
    <p:extLst>
      <p:ext uri="{BB962C8B-B14F-4D97-AF65-F5344CB8AC3E}">
        <p14:creationId xmlns:p14="http://schemas.microsoft.com/office/powerpoint/2010/main" val="132371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t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311950" y="101873"/>
            <a:ext cx="8580530" cy="741685"/>
          </a:xfrm>
          <a:prstGeom prst="rect">
            <a:avLst/>
          </a:prstGeom>
        </p:spPr>
        <p:txBody>
          <a:bodyPr anchor="ctr"/>
          <a:lstStyle>
            <a:lvl1pPr algn="l">
              <a:defRPr sz="3500" b="1" baseline="0"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Título texto</a:t>
            </a:r>
          </a:p>
        </p:txBody>
      </p:sp>
    </p:spTree>
    <p:extLst>
      <p:ext uri="{BB962C8B-B14F-4D97-AF65-F5344CB8AC3E}">
        <p14:creationId xmlns:p14="http://schemas.microsoft.com/office/powerpoint/2010/main" val="4015330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, 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313946" y="93385"/>
            <a:ext cx="8506526" cy="750173"/>
          </a:xfrm>
          <a:prstGeom prst="rect">
            <a:avLst/>
          </a:prstGeom>
        </p:spPr>
        <p:txBody>
          <a:bodyPr anchor="ctr"/>
          <a:lstStyle>
            <a:lvl1pPr algn="l">
              <a:defRPr sz="3500" b="1" baseline="0"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Título texto</a:t>
            </a:r>
          </a:p>
        </p:txBody>
      </p:sp>
    </p:spTree>
    <p:extLst>
      <p:ext uri="{BB962C8B-B14F-4D97-AF65-F5344CB8AC3E}">
        <p14:creationId xmlns:p14="http://schemas.microsoft.com/office/powerpoint/2010/main" val="3385020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882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enas image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0" y="195487"/>
            <a:ext cx="9180512" cy="432048"/>
          </a:xfrm>
          <a:prstGeom prst="rect">
            <a:avLst/>
          </a:prstGeom>
        </p:spPr>
        <p:txBody>
          <a:bodyPr anchor="ctr"/>
          <a:lstStyle>
            <a:lvl1pPr>
              <a:defRPr sz="2500" b="1" strike="noStrike" baseline="0">
                <a:solidFill>
                  <a:srgbClr val="17BEBB"/>
                </a:solidFill>
              </a:defRPr>
            </a:lvl1pPr>
          </a:lstStyle>
          <a:p>
            <a:r>
              <a:rPr lang="pt-BR" dirty="0"/>
              <a:t>Exemplo – Slide Com Imagem (Foto)</a:t>
            </a:r>
          </a:p>
        </p:txBody>
      </p:sp>
    </p:spTree>
    <p:extLst>
      <p:ext uri="{BB962C8B-B14F-4D97-AF65-F5344CB8AC3E}">
        <p14:creationId xmlns:p14="http://schemas.microsoft.com/office/powerpoint/2010/main" val="39167197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0" y="195487"/>
            <a:ext cx="9144000" cy="432048"/>
          </a:xfrm>
          <a:prstGeom prst="rect">
            <a:avLst/>
          </a:prstGeom>
        </p:spPr>
        <p:txBody>
          <a:bodyPr anchor="ctr"/>
          <a:lstStyle>
            <a:lvl1pPr>
              <a:defRPr sz="2500" b="1" strike="noStrike" baseline="0">
                <a:solidFill>
                  <a:srgbClr val="17BEBB"/>
                </a:solidFill>
              </a:defRPr>
            </a:lvl1pPr>
          </a:lstStyle>
          <a:p>
            <a:r>
              <a:rPr lang="pt-BR" dirty="0"/>
              <a:t>Exemplo – Tabela</a:t>
            </a:r>
          </a:p>
        </p:txBody>
      </p:sp>
    </p:spTree>
    <p:extLst>
      <p:ext uri="{BB962C8B-B14F-4D97-AF65-F5344CB8AC3E}">
        <p14:creationId xmlns:p14="http://schemas.microsoft.com/office/powerpoint/2010/main" val="1375800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2213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0.png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0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1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1789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/>
          <p:cNvPicPr>
            <a:picLocks noChangeAspect="1"/>
          </p:cNvPicPr>
          <p:nvPr userDrawn="1"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58552" y="0"/>
            <a:ext cx="4585447" cy="5143500"/>
          </a:xfrm>
          <a:prstGeom prst="rect">
            <a:avLst/>
          </a:prstGeom>
        </p:spPr>
      </p:pic>
      <p:pic>
        <p:nvPicPr>
          <p:cNvPr id="12" name="Imagem 11"/>
          <p:cNvPicPr>
            <a:picLocks noChangeAspect="1"/>
          </p:cNvPicPr>
          <p:nvPr userDrawn="1"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95738" y="1586205"/>
            <a:ext cx="7464491" cy="1309396"/>
          </a:xfrm>
          <a:prstGeom prst="rect">
            <a:avLst/>
          </a:prstGeom>
        </p:spPr>
      </p:pic>
      <p:pic>
        <p:nvPicPr>
          <p:cNvPr id="13" name="Imagem 12"/>
          <p:cNvPicPr>
            <a:picLocks noChangeAspect="1"/>
          </p:cNvPicPr>
          <p:nvPr userDrawn="1"/>
        </p:nvPicPr>
        <p:blipFill rotWithShape="1"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24753" y="2796988"/>
            <a:ext cx="7467600" cy="806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481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72" r:id="rId3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61789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58552" y="0"/>
            <a:ext cx="4585447" cy="5143500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772653"/>
            <a:ext cx="9144000" cy="1612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974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6463" y="176462"/>
            <a:ext cx="8799096" cy="4403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67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034716"/>
            <a:ext cx="9144000" cy="3529263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 userDrawn="1"/>
        </p:nvPicPr>
        <p:blipFill rotWithShape="1">
          <a:blip r:embed="rId5" cstate="email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1034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715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034716"/>
            <a:ext cx="9144000" cy="3529263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 userDrawn="1"/>
        </p:nvPicPr>
        <p:blipFill rotWithShape="1">
          <a:blip r:embed="rId5" cstate="email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1034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802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 userDrawn="1"/>
        </p:nvPicPr>
        <p:blipFill rotWithShape="1">
          <a:blip r:embed="rId4" cstate="email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1034716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 userDrawn="1"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034716"/>
            <a:ext cx="4812632" cy="3601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818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764505" cy="4748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710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099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444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61789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2061411" cy="5143500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7088469" y="-4496"/>
            <a:ext cx="206141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285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sz="4400" dirty="0"/>
              <a:t>Caminhos e </a:t>
            </a:r>
            <a:br>
              <a:rPr lang="pt-BR" sz="4400" dirty="0"/>
            </a:br>
            <a:r>
              <a:rPr lang="pt-BR" sz="4400" dirty="0"/>
              <a:t>Noções de Conectividade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E6ABDC9F-DD16-4A24-821B-A34B5B1EF03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000" b="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/>
              <a:t>Leonardo Vilela Cardoso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89746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Passeio / Trajeto / Caminho</a:t>
            </a:r>
          </a:p>
        </p:txBody>
      </p:sp>
    </p:spTree>
    <p:extLst>
      <p:ext uri="{BB962C8B-B14F-4D97-AF65-F5344CB8AC3E}">
        <p14:creationId xmlns:p14="http://schemas.microsoft.com/office/powerpoint/2010/main" val="1498388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Passeio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Dado um grafo G = (V, E), um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passeio</a:t>
            </a:r>
            <a:r>
              <a:rPr lang="pt-B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é uma sequência alternante de vértices e arestas (começando e terminando em vértices) com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</a:t>
            </a:r>
            <a:r>
              <a:rPr lang="pt-BR" sz="20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</a:t>
            </a:r>
            <a:r>
              <a:rPr lang="pt-BR" sz="20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. . ., </a:t>
            </a:r>
            <a:r>
              <a:rPr lang="pt-BR" sz="20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</a:t>
            </a:r>
            <a:r>
              <a:rPr lang="pt-BR" sz="2000" baseline="-25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k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20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baseline="-25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k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em que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representa um vértice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 </a:t>
            </a:r>
            <a:r>
              <a:rPr lang="pt-BR" sz="20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</a:t>
            </a:r>
            <a:r>
              <a:rPr lang="pt-BR" sz="2000" baseline="-25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j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uma aresta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Cada aresta da sequência é incidente ao vértice que a precede e ao vértice que a segue na sequência, isto é,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i+1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20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são adjacentes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para todo i = 0, . . ., k – 1. </a:t>
            </a: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Em um grafo simples, pode-se representar um passeio apenas pela sequência de vértices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. . ., </a:t>
            </a:r>
            <a:r>
              <a:rPr lang="pt-BR" sz="20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baseline="-25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k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(omitindo-se as arestas) pois existe no máximo uma aresta entre cada par de vértices.</a:t>
            </a:r>
          </a:p>
        </p:txBody>
      </p:sp>
    </p:spTree>
    <p:extLst>
      <p:ext uri="{BB962C8B-B14F-4D97-AF65-F5344CB8AC3E}">
        <p14:creationId xmlns:p14="http://schemas.microsoft.com/office/powerpoint/2010/main" val="2094708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Passeio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</a:t>
            </a:r>
          </a:p>
        </p:txBody>
      </p:sp>
      <p:sp>
        <p:nvSpPr>
          <p:cNvPr id="6" name="Elipse 5"/>
          <p:cNvSpPr/>
          <p:nvPr/>
        </p:nvSpPr>
        <p:spPr>
          <a:xfrm>
            <a:off x="1708253" y="1709575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844590" y="2372512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8" name="Elipse 7"/>
          <p:cNvSpPr/>
          <p:nvPr/>
        </p:nvSpPr>
        <p:spPr>
          <a:xfrm>
            <a:off x="1741950" y="2906529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9" name="Elipse 8"/>
          <p:cNvSpPr/>
          <p:nvPr/>
        </p:nvSpPr>
        <p:spPr>
          <a:xfrm>
            <a:off x="1226547" y="3594753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10" name="Elipse 9"/>
          <p:cNvSpPr/>
          <p:nvPr/>
        </p:nvSpPr>
        <p:spPr>
          <a:xfrm>
            <a:off x="2707362" y="3719033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11" name="Elipse 10"/>
          <p:cNvSpPr/>
          <p:nvPr/>
        </p:nvSpPr>
        <p:spPr>
          <a:xfrm>
            <a:off x="2477272" y="2492592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12" name="Elipse 11"/>
          <p:cNvSpPr/>
          <p:nvPr/>
        </p:nvSpPr>
        <p:spPr>
          <a:xfrm>
            <a:off x="3151793" y="1988791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8</a:t>
            </a:r>
          </a:p>
        </p:txBody>
      </p:sp>
      <p:sp>
        <p:nvSpPr>
          <p:cNvPr id="13" name="Elipse 12"/>
          <p:cNvSpPr/>
          <p:nvPr/>
        </p:nvSpPr>
        <p:spPr>
          <a:xfrm>
            <a:off x="3378884" y="298606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7</a:t>
            </a:r>
          </a:p>
        </p:txBody>
      </p:sp>
      <p:cxnSp>
        <p:nvCxnSpPr>
          <p:cNvPr id="19" name="Conector de seta reta 18"/>
          <p:cNvCxnSpPr>
            <a:stCxn id="7" idx="7"/>
            <a:endCxn id="6" idx="3"/>
          </p:cNvCxnSpPr>
          <p:nvPr/>
        </p:nvCxnSpPr>
        <p:spPr>
          <a:xfrm flipV="1">
            <a:off x="1040990" y="1901595"/>
            <a:ext cx="700960" cy="503862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7" idx="4"/>
            <a:endCxn id="9" idx="1"/>
          </p:cNvCxnSpPr>
          <p:nvPr/>
        </p:nvCxnSpPr>
        <p:spPr>
          <a:xfrm>
            <a:off x="959639" y="2597477"/>
            <a:ext cx="300605" cy="1030221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>
            <a:stCxn id="8" idx="5"/>
            <a:endCxn id="10" idx="1"/>
          </p:cNvCxnSpPr>
          <p:nvPr/>
        </p:nvCxnSpPr>
        <p:spPr>
          <a:xfrm>
            <a:off x="1938350" y="3098549"/>
            <a:ext cx="802709" cy="653429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de seta reta 21"/>
          <p:cNvCxnSpPr>
            <a:stCxn id="6" idx="6"/>
            <a:endCxn id="12" idx="1"/>
          </p:cNvCxnSpPr>
          <p:nvPr/>
        </p:nvCxnSpPr>
        <p:spPr>
          <a:xfrm>
            <a:off x="1938350" y="1822058"/>
            <a:ext cx="1247140" cy="199678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de seta reta 22"/>
          <p:cNvCxnSpPr>
            <a:stCxn id="9" idx="6"/>
            <a:endCxn id="10" idx="2"/>
          </p:cNvCxnSpPr>
          <p:nvPr/>
        </p:nvCxnSpPr>
        <p:spPr>
          <a:xfrm>
            <a:off x="1456644" y="3707236"/>
            <a:ext cx="1250718" cy="12428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de seta reta 24"/>
          <p:cNvCxnSpPr>
            <a:stCxn id="10" idx="7"/>
            <a:endCxn id="13" idx="3"/>
          </p:cNvCxnSpPr>
          <p:nvPr/>
        </p:nvCxnSpPr>
        <p:spPr>
          <a:xfrm flipV="1">
            <a:off x="2903762" y="3178086"/>
            <a:ext cx="508819" cy="573892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de seta reta 25"/>
          <p:cNvCxnSpPr>
            <a:stCxn id="8" idx="7"/>
            <a:endCxn id="11" idx="3"/>
          </p:cNvCxnSpPr>
          <p:nvPr/>
        </p:nvCxnSpPr>
        <p:spPr>
          <a:xfrm flipV="1">
            <a:off x="1938350" y="2684612"/>
            <a:ext cx="572619" cy="254862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>
            <a:stCxn id="7" idx="6"/>
            <a:endCxn id="8" idx="1"/>
          </p:cNvCxnSpPr>
          <p:nvPr/>
        </p:nvCxnSpPr>
        <p:spPr>
          <a:xfrm>
            <a:off x="1074687" y="2484995"/>
            <a:ext cx="700960" cy="454479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/>
          <p:cNvCxnSpPr>
            <a:stCxn id="6" idx="5"/>
            <a:endCxn id="11" idx="1"/>
          </p:cNvCxnSpPr>
          <p:nvPr/>
        </p:nvCxnSpPr>
        <p:spPr>
          <a:xfrm>
            <a:off x="1904653" y="1901595"/>
            <a:ext cx="606316" cy="623942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de seta reta 31"/>
          <p:cNvCxnSpPr>
            <a:stCxn id="13" idx="0"/>
            <a:endCxn id="12" idx="4"/>
          </p:cNvCxnSpPr>
          <p:nvPr/>
        </p:nvCxnSpPr>
        <p:spPr>
          <a:xfrm flipH="1" flipV="1">
            <a:off x="3266842" y="2213756"/>
            <a:ext cx="227091" cy="77231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de seta reta 36"/>
          <p:cNvCxnSpPr>
            <a:stCxn id="13" idx="1"/>
            <a:endCxn id="11" idx="5"/>
          </p:cNvCxnSpPr>
          <p:nvPr/>
        </p:nvCxnSpPr>
        <p:spPr>
          <a:xfrm flipH="1" flipV="1">
            <a:off x="2673672" y="2684612"/>
            <a:ext cx="738909" cy="334399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CaixaDeTexto 93"/>
          <p:cNvSpPr txBox="1"/>
          <p:nvPr/>
        </p:nvSpPr>
        <p:spPr>
          <a:xfrm>
            <a:off x="795431" y="1585829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95" name="CaixaDeTexto 94"/>
          <p:cNvSpPr txBox="1"/>
          <p:nvPr/>
        </p:nvSpPr>
        <p:spPr>
          <a:xfrm>
            <a:off x="3826321" y="1650500"/>
            <a:ext cx="4886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  a  2  d  5  e  3  f  6  j  7  i  5  d  2  h  8    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 Passeio</a:t>
            </a:r>
            <a:endParaRPr lang="pt-BR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6" name="CaixaDeTexto 95"/>
          <p:cNvSpPr txBox="1"/>
          <p:nvPr/>
        </p:nvSpPr>
        <p:spPr>
          <a:xfrm>
            <a:off x="1166036" y="1903493"/>
            <a:ext cx="2712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a</a:t>
            </a:r>
          </a:p>
        </p:txBody>
      </p:sp>
      <p:sp>
        <p:nvSpPr>
          <p:cNvPr id="97" name="CaixaDeTexto 96"/>
          <p:cNvSpPr txBox="1"/>
          <p:nvPr/>
        </p:nvSpPr>
        <p:spPr>
          <a:xfrm>
            <a:off x="1375292" y="2443006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b</a:t>
            </a:r>
          </a:p>
        </p:txBody>
      </p:sp>
      <p:sp>
        <p:nvSpPr>
          <p:cNvPr id="98" name="CaixaDeTexto 97"/>
          <p:cNvSpPr txBox="1"/>
          <p:nvPr/>
        </p:nvSpPr>
        <p:spPr>
          <a:xfrm>
            <a:off x="844590" y="2981463"/>
            <a:ext cx="2600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</a:t>
            </a:r>
          </a:p>
        </p:txBody>
      </p:sp>
      <p:sp>
        <p:nvSpPr>
          <p:cNvPr id="99" name="CaixaDeTexto 98"/>
          <p:cNvSpPr txBox="1"/>
          <p:nvPr/>
        </p:nvSpPr>
        <p:spPr>
          <a:xfrm>
            <a:off x="1802736" y="3719033"/>
            <a:ext cx="2712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g</a:t>
            </a:r>
          </a:p>
        </p:txBody>
      </p:sp>
      <p:sp>
        <p:nvSpPr>
          <p:cNvPr id="100" name="CaixaDeTexto 99"/>
          <p:cNvSpPr txBox="1"/>
          <p:nvPr/>
        </p:nvSpPr>
        <p:spPr>
          <a:xfrm>
            <a:off x="2148731" y="2751276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e</a:t>
            </a:r>
          </a:p>
        </p:txBody>
      </p:sp>
      <p:sp>
        <p:nvSpPr>
          <p:cNvPr id="101" name="CaixaDeTexto 100"/>
          <p:cNvSpPr txBox="1"/>
          <p:nvPr/>
        </p:nvSpPr>
        <p:spPr>
          <a:xfrm>
            <a:off x="2206733" y="2022055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d</a:t>
            </a:r>
          </a:p>
        </p:txBody>
      </p:sp>
      <p:sp>
        <p:nvSpPr>
          <p:cNvPr id="102" name="CaixaDeTexto 101"/>
          <p:cNvSpPr txBox="1"/>
          <p:nvPr/>
        </p:nvSpPr>
        <p:spPr>
          <a:xfrm>
            <a:off x="2456699" y="1633039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h</a:t>
            </a:r>
          </a:p>
        </p:txBody>
      </p:sp>
      <p:sp>
        <p:nvSpPr>
          <p:cNvPr id="103" name="CaixaDeTexto 102"/>
          <p:cNvSpPr txBox="1"/>
          <p:nvPr/>
        </p:nvSpPr>
        <p:spPr>
          <a:xfrm>
            <a:off x="3358318" y="2364051"/>
            <a:ext cx="2712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k</a:t>
            </a:r>
          </a:p>
        </p:txBody>
      </p:sp>
      <p:sp>
        <p:nvSpPr>
          <p:cNvPr id="104" name="CaixaDeTexto 103"/>
          <p:cNvSpPr txBox="1"/>
          <p:nvPr/>
        </p:nvSpPr>
        <p:spPr>
          <a:xfrm>
            <a:off x="2975049" y="2593836"/>
            <a:ext cx="2263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i</a:t>
            </a:r>
          </a:p>
        </p:txBody>
      </p:sp>
      <p:sp>
        <p:nvSpPr>
          <p:cNvPr id="105" name="CaixaDeTexto 104"/>
          <p:cNvSpPr txBox="1"/>
          <p:nvPr/>
        </p:nvSpPr>
        <p:spPr>
          <a:xfrm>
            <a:off x="2290692" y="3204165"/>
            <a:ext cx="2391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f</a:t>
            </a:r>
          </a:p>
        </p:txBody>
      </p:sp>
      <p:sp>
        <p:nvSpPr>
          <p:cNvPr id="106" name="CaixaDeTexto 105"/>
          <p:cNvSpPr txBox="1"/>
          <p:nvPr/>
        </p:nvSpPr>
        <p:spPr>
          <a:xfrm>
            <a:off x="3110663" y="3375970"/>
            <a:ext cx="2279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j</a:t>
            </a:r>
          </a:p>
        </p:txBody>
      </p:sp>
      <p:sp>
        <p:nvSpPr>
          <p:cNvPr id="38" name="Elipse 37"/>
          <p:cNvSpPr/>
          <p:nvPr/>
        </p:nvSpPr>
        <p:spPr>
          <a:xfrm>
            <a:off x="841265" y="2369288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39" name="Elipse 38"/>
          <p:cNvSpPr/>
          <p:nvPr/>
        </p:nvSpPr>
        <p:spPr>
          <a:xfrm>
            <a:off x="1705623" y="1710152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40" name="Elipse 39"/>
          <p:cNvSpPr/>
          <p:nvPr/>
        </p:nvSpPr>
        <p:spPr>
          <a:xfrm>
            <a:off x="2473530" y="2483948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41" name="Elipse 40"/>
          <p:cNvSpPr/>
          <p:nvPr/>
        </p:nvSpPr>
        <p:spPr>
          <a:xfrm>
            <a:off x="1747237" y="2901738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42" name="Elipse 41"/>
          <p:cNvSpPr/>
          <p:nvPr/>
        </p:nvSpPr>
        <p:spPr>
          <a:xfrm>
            <a:off x="2704229" y="3726121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43" name="Elipse 42"/>
          <p:cNvSpPr/>
          <p:nvPr/>
        </p:nvSpPr>
        <p:spPr>
          <a:xfrm>
            <a:off x="3375878" y="2979904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7</a:t>
            </a:r>
          </a:p>
        </p:txBody>
      </p:sp>
      <p:sp>
        <p:nvSpPr>
          <p:cNvPr id="44" name="Elipse 43"/>
          <p:cNvSpPr/>
          <p:nvPr/>
        </p:nvSpPr>
        <p:spPr>
          <a:xfrm>
            <a:off x="3156502" y="1984514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8</a:t>
            </a:r>
          </a:p>
        </p:txBody>
      </p:sp>
      <p:cxnSp>
        <p:nvCxnSpPr>
          <p:cNvPr id="4" name="Conector reto 3"/>
          <p:cNvCxnSpPr>
            <a:stCxn id="38" idx="7"/>
            <a:endCxn id="39" idx="3"/>
          </p:cNvCxnSpPr>
          <p:nvPr/>
        </p:nvCxnSpPr>
        <p:spPr>
          <a:xfrm flipV="1">
            <a:off x="1037665" y="1902172"/>
            <a:ext cx="701655" cy="50006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de seta reta 45"/>
          <p:cNvCxnSpPr>
            <a:stCxn id="39" idx="5"/>
            <a:endCxn id="40" idx="1"/>
          </p:cNvCxnSpPr>
          <p:nvPr/>
        </p:nvCxnSpPr>
        <p:spPr>
          <a:xfrm>
            <a:off x="1902023" y="1902172"/>
            <a:ext cx="605204" cy="614721"/>
          </a:xfrm>
          <a:prstGeom prst="straightConnector1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de seta reta 48"/>
          <p:cNvCxnSpPr>
            <a:stCxn id="41" idx="7"/>
            <a:endCxn id="11" idx="3"/>
          </p:cNvCxnSpPr>
          <p:nvPr/>
        </p:nvCxnSpPr>
        <p:spPr>
          <a:xfrm flipV="1">
            <a:off x="1943637" y="2684612"/>
            <a:ext cx="567332" cy="250071"/>
          </a:xfrm>
          <a:prstGeom prst="straightConnector1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de seta reta 51"/>
          <p:cNvCxnSpPr>
            <a:stCxn id="41" idx="5"/>
            <a:endCxn id="42" idx="1"/>
          </p:cNvCxnSpPr>
          <p:nvPr/>
        </p:nvCxnSpPr>
        <p:spPr>
          <a:xfrm>
            <a:off x="1943637" y="3093758"/>
            <a:ext cx="794289" cy="665308"/>
          </a:xfrm>
          <a:prstGeom prst="straightConnector1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de seta reta 54"/>
          <p:cNvCxnSpPr>
            <a:stCxn id="10" idx="7"/>
            <a:endCxn id="43" idx="3"/>
          </p:cNvCxnSpPr>
          <p:nvPr/>
        </p:nvCxnSpPr>
        <p:spPr>
          <a:xfrm flipV="1">
            <a:off x="2903762" y="3171924"/>
            <a:ext cx="505813" cy="580054"/>
          </a:xfrm>
          <a:prstGeom prst="straightConnector1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de seta reta 57"/>
          <p:cNvCxnSpPr>
            <a:stCxn id="43" idx="1"/>
            <a:endCxn id="62" idx="5"/>
          </p:cNvCxnSpPr>
          <p:nvPr/>
        </p:nvCxnSpPr>
        <p:spPr>
          <a:xfrm flipH="1" flipV="1">
            <a:off x="2673672" y="2680539"/>
            <a:ext cx="735903" cy="332310"/>
          </a:xfrm>
          <a:prstGeom prst="straightConnector1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Elipse 61"/>
          <p:cNvSpPr/>
          <p:nvPr/>
        </p:nvSpPr>
        <p:spPr>
          <a:xfrm>
            <a:off x="2477272" y="2488519"/>
            <a:ext cx="230097" cy="224965"/>
          </a:xfrm>
          <a:prstGeom prst="ellipse">
            <a:avLst/>
          </a:prstGeom>
          <a:solidFill>
            <a:srgbClr val="CC00FF"/>
          </a:solidFill>
          <a:ln>
            <a:solidFill>
              <a:srgbClr val="99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cxnSp>
        <p:nvCxnSpPr>
          <p:cNvPr id="69" name="Conector de seta reta 68"/>
          <p:cNvCxnSpPr>
            <a:stCxn id="72" idx="5"/>
            <a:endCxn id="40" idx="1"/>
          </p:cNvCxnSpPr>
          <p:nvPr/>
        </p:nvCxnSpPr>
        <p:spPr>
          <a:xfrm>
            <a:off x="1898606" y="1896804"/>
            <a:ext cx="608621" cy="620089"/>
          </a:xfrm>
          <a:prstGeom prst="straightConnector1">
            <a:avLst/>
          </a:prstGeom>
          <a:ln w="57150" cmpd="dbl">
            <a:solidFill>
              <a:srgbClr val="CC00F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Elipse 71"/>
          <p:cNvSpPr/>
          <p:nvPr/>
        </p:nvSpPr>
        <p:spPr>
          <a:xfrm>
            <a:off x="1702206" y="1704784"/>
            <a:ext cx="230097" cy="224965"/>
          </a:xfrm>
          <a:prstGeom prst="ellipse">
            <a:avLst/>
          </a:prstGeom>
          <a:solidFill>
            <a:srgbClr val="CC00FF"/>
          </a:solidFill>
          <a:ln>
            <a:solidFill>
              <a:srgbClr val="99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cxnSp>
        <p:nvCxnSpPr>
          <p:cNvPr id="74" name="Conector de seta reta 73"/>
          <p:cNvCxnSpPr>
            <a:stCxn id="72" idx="6"/>
            <a:endCxn id="44" idx="1"/>
          </p:cNvCxnSpPr>
          <p:nvPr/>
        </p:nvCxnSpPr>
        <p:spPr>
          <a:xfrm>
            <a:off x="1932303" y="1817267"/>
            <a:ext cx="1257896" cy="200192"/>
          </a:xfrm>
          <a:prstGeom prst="straightConnector1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CaixaDeTexto 64"/>
          <p:cNvSpPr txBox="1"/>
          <p:nvPr/>
        </p:nvSpPr>
        <p:spPr>
          <a:xfrm>
            <a:off x="2423153" y="1160308"/>
            <a:ext cx="15896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Pode haver repetição de vértices e arestas</a:t>
            </a:r>
          </a:p>
        </p:txBody>
      </p:sp>
      <p:cxnSp>
        <p:nvCxnSpPr>
          <p:cNvPr id="67" name="Conector de seta reta 66"/>
          <p:cNvCxnSpPr/>
          <p:nvPr/>
        </p:nvCxnSpPr>
        <p:spPr>
          <a:xfrm flipH="1">
            <a:off x="1972047" y="1505613"/>
            <a:ext cx="478605" cy="19917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ector de seta reta 86"/>
          <p:cNvCxnSpPr/>
          <p:nvPr/>
        </p:nvCxnSpPr>
        <p:spPr>
          <a:xfrm flipH="1">
            <a:off x="2236474" y="1585829"/>
            <a:ext cx="355846" cy="48919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/>
          <p:nvPr/>
        </p:nvCxnSpPr>
        <p:spPr>
          <a:xfrm flipH="1">
            <a:off x="2604058" y="1608143"/>
            <a:ext cx="166977" cy="790212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3647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40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6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80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20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4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600"/>
                            </p:stCondLst>
                            <p:childTnLst>
                              <p:par>
                                <p:cTn id="34" presetID="1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8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1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200"/>
                            </p:stCondLst>
                            <p:childTnLst>
                              <p:par>
                                <p:cTn id="43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400"/>
                            </p:stCondLst>
                            <p:childTnLst>
                              <p:par>
                                <p:cTn id="46" presetID="1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60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80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000"/>
                            </p:stCondLst>
                            <p:childTnLst>
                              <p:par>
                                <p:cTn id="55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" grpId="0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62" grpId="0" animBg="1"/>
      <p:bldP spid="72" grpId="0" animBg="1"/>
      <p:bldP spid="6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Conector de seta reta 48"/>
          <p:cNvCxnSpPr>
            <a:stCxn id="50" idx="5"/>
          </p:cNvCxnSpPr>
          <p:nvPr/>
        </p:nvCxnSpPr>
        <p:spPr>
          <a:xfrm>
            <a:off x="1898606" y="1896804"/>
            <a:ext cx="608621" cy="620089"/>
          </a:xfrm>
          <a:prstGeom prst="straightConnector1">
            <a:avLst/>
          </a:prstGeom>
          <a:ln w="57150" cmpd="dbl">
            <a:solidFill>
              <a:srgbClr val="CC00F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de seta reta 51"/>
          <p:cNvCxnSpPr>
            <a:stCxn id="48" idx="1"/>
            <a:endCxn id="50" idx="5"/>
          </p:cNvCxnSpPr>
          <p:nvPr/>
        </p:nvCxnSpPr>
        <p:spPr>
          <a:xfrm flipH="1" flipV="1">
            <a:off x="1898606" y="1896804"/>
            <a:ext cx="612363" cy="624660"/>
          </a:xfrm>
          <a:prstGeom prst="straightConnector1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Passeio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</a:t>
            </a:r>
          </a:p>
        </p:txBody>
      </p:sp>
      <p:grpSp>
        <p:nvGrpSpPr>
          <p:cNvPr id="93" name="Grupo 92"/>
          <p:cNvGrpSpPr/>
          <p:nvPr/>
        </p:nvGrpSpPr>
        <p:grpSpPr>
          <a:xfrm>
            <a:off x="844590" y="1709575"/>
            <a:ext cx="2764391" cy="2234423"/>
            <a:chOff x="661710" y="1835699"/>
            <a:chExt cx="2764391" cy="2234423"/>
          </a:xfrm>
        </p:grpSpPr>
        <p:sp>
          <p:nvSpPr>
            <p:cNvPr id="6" name="Elipse 5"/>
            <p:cNvSpPr/>
            <p:nvPr/>
          </p:nvSpPr>
          <p:spPr>
            <a:xfrm>
              <a:off x="1525373" y="1835699"/>
              <a:ext cx="230097" cy="2249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2</a:t>
              </a:r>
            </a:p>
          </p:txBody>
        </p:sp>
        <p:sp>
          <p:nvSpPr>
            <p:cNvPr id="7" name="Elipse 6"/>
            <p:cNvSpPr/>
            <p:nvPr/>
          </p:nvSpPr>
          <p:spPr>
            <a:xfrm>
              <a:off x="661710" y="2498636"/>
              <a:ext cx="230097" cy="2249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1</a:t>
              </a:r>
            </a:p>
          </p:txBody>
        </p:sp>
        <p:sp>
          <p:nvSpPr>
            <p:cNvPr id="8" name="Elipse 7"/>
            <p:cNvSpPr/>
            <p:nvPr/>
          </p:nvSpPr>
          <p:spPr>
            <a:xfrm>
              <a:off x="1559070" y="3032653"/>
              <a:ext cx="230097" cy="2249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3</a:t>
              </a:r>
            </a:p>
          </p:txBody>
        </p:sp>
        <p:sp>
          <p:nvSpPr>
            <p:cNvPr id="9" name="Elipse 8"/>
            <p:cNvSpPr/>
            <p:nvPr/>
          </p:nvSpPr>
          <p:spPr>
            <a:xfrm>
              <a:off x="1043667" y="3720877"/>
              <a:ext cx="230097" cy="2249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4</a:t>
              </a:r>
            </a:p>
          </p:txBody>
        </p:sp>
        <p:sp>
          <p:nvSpPr>
            <p:cNvPr id="10" name="Elipse 9"/>
            <p:cNvSpPr/>
            <p:nvPr/>
          </p:nvSpPr>
          <p:spPr>
            <a:xfrm>
              <a:off x="2524482" y="3845157"/>
              <a:ext cx="230097" cy="2249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6</a:t>
              </a:r>
            </a:p>
          </p:txBody>
        </p:sp>
        <p:sp>
          <p:nvSpPr>
            <p:cNvPr id="11" name="Elipse 10"/>
            <p:cNvSpPr/>
            <p:nvPr/>
          </p:nvSpPr>
          <p:spPr>
            <a:xfrm>
              <a:off x="2294385" y="2611119"/>
              <a:ext cx="230097" cy="2249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5</a:t>
              </a:r>
            </a:p>
          </p:txBody>
        </p:sp>
        <p:sp>
          <p:nvSpPr>
            <p:cNvPr id="12" name="Elipse 11"/>
            <p:cNvSpPr/>
            <p:nvPr/>
          </p:nvSpPr>
          <p:spPr>
            <a:xfrm>
              <a:off x="2968913" y="2114915"/>
              <a:ext cx="230097" cy="2249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8</a:t>
              </a:r>
            </a:p>
          </p:txBody>
        </p:sp>
        <p:sp>
          <p:nvSpPr>
            <p:cNvPr id="13" name="Elipse 12"/>
            <p:cNvSpPr/>
            <p:nvPr/>
          </p:nvSpPr>
          <p:spPr>
            <a:xfrm>
              <a:off x="3196004" y="3112190"/>
              <a:ext cx="230097" cy="2249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7</a:t>
              </a:r>
            </a:p>
          </p:txBody>
        </p:sp>
        <p:cxnSp>
          <p:nvCxnSpPr>
            <p:cNvPr id="19" name="Conector de seta reta 18"/>
            <p:cNvCxnSpPr>
              <a:stCxn id="7" idx="7"/>
              <a:endCxn id="6" idx="3"/>
            </p:cNvCxnSpPr>
            <p:nvPr/>
          </p:nvCxnSpPr>
          <p:spPr>
            <a:xfrm flipV="1">
              <a:off x="858110" y="2027719"/>
              <a:ext cx="700960" cy="503862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de seta reta 19"/>
            <p:cNvCxnSpPr>
              <a:stCxn id="7" idx="4"/>
              <a:endCxn id="9" idx="1"/>
            </p:cNvCxnSpPr>
            <p:nvPr/>
          </p:nvCxnSpPr>
          <p:spPr>
            <a:xfrm>
              <a:off x="776759" y="2723601"/>
              <a:ext cx="300605" cy="1030221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de seta reta 20"/>
            <p:cNvCxnSpPr>
              <a:stCxn id="8" idx="5"/>
              <a:endCxn id="10" idx="1"/>
            </p:cNvCxnSpPr>
            <p:nvPr/>
          </p:nvCxnSpPr>
          <p:spPr>
            <a:xfrm>
              <a:off x="1755470" y="3224673"/>
              <a:ext cx="802709" cy="653429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de seta reta 21"/>
            <p:cNvCxnSpPr>
              <a:stCxn id="6" idx="6"/>
              <a:endCxn id="12" idx="1"/>
            </p:cNvCxnSpPr>
            <p:nvPr/>
          </p:nvCxnSpPr>
          <p:spPr>
            <a:xfrm>
              <a:off x="1755470" y="1948182"/>
              <a:ext cx="1247140" cy="199678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de seta reta 22"/>
            <p:cNvCxnSpPr>
              <a:stCxn id="9" idx="6"/>
              <a:endCxn id="10" idx="2"/>
            </p:cNvCxnSpPr>
            <p:nvPr/>
          </p:nvCxnSpPr>
          <p:spPr>
            <a:xfrm>
              <a:off x="1273764" y="3833360"/>
              <a:ext cx="1250718" cy="124280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de seta reta 24"/>
            <p:cNvCxnSpPr>
              <a:stCxn id="10" idx="7"/>
              <a:endCxn id="13" idx="3"/>
            </p:cNvCxnSpPr>
            <p:nvPr/>
          </p:nvCxnSpPr>
          <p:spPr>
            <a:xfrm flipV="1">
              <a:off x="2720882" y="3304210"/>
              <a:ext cx="508819" cy="573892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ector de seta reta 25"/>
            <p:cNvCxnSpPr>
              <a:stCxn id="8" idx="7"/>
              <a:endCxn id="11" idx="3"/>
            </p:cNvCxnSpPr>
            <p:nvPr/>
          </p:nvCxnSpPr>
          <p:spPr>
            <a:xfrm flipV="1">
              <a:off x="1755470" y="2803139"/>
              <a:ext cx="572612" cy="262459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ector de seta reta 26"/>
            <p:cNvCxnSpPr>
              <a:stCxn id="7" idx="6"/>
              <a:endCxn id="8" idx="1"/>
            </p:cNvCxnSpPr>
            <p:nvPr/>
          </p:nvCxnSpPr>
          <p:spPr>
            <a:xfrm>
              <a:off x="891807" y="2611119"/>
              <a:ext cx="700960" cy="454479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ector de seta reta 31"/>
            <p:cNvCxnSpPr>
              <a:stCxn id="13" idx="0"/>
              <a:endCxn id="12" idx="4"/>
            </p:cNvCxnSpPr>
            <p:nvPr/>
          </p:nvCxnSpPr>
          <p:spPr>
            <a:xfrm flipH="1" flipV="1">
              <a:off x="3083962" y="2339880"/>
              <a:ext cx="227091" cy="772310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ector de seta reta 36"/>
            <p:cNvCxnSpPr>
              <a:stCxn id="13" idx="1"/>
              <a:endCxn id="11" idx="5"/>
            </p:cNvCxnSpPr>
            <p:nvPr/>
          </p:nvCxnSpPr>
          <p:spPr>
            <a:xfrm flipH="1" flipV="1">
              <a:off x="2490785" y="2803139"/>
              <a:ext cx="738916" cy="341996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4" name="CaixaDeTexto 93"/>
          <p:cNvSpPr txBox="1"/>
          <p:nvPr/>
        </p:nvSpPr>
        <p:spPr>
          <a:xfrm>
            <a:off x="795431" y="1585829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95" name="CaixaDeTexto 94"/>
          <p:cNvSpPr txBox="1"/>
          <p:nvPr/>
        </p:nvSpPr>
        <p:spPr>
          <a:xfrm>
            <a:off x="3826321" y="1650500"/>
            <a:ext cx="4886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  a  2  d  5  e  3  f  6  j  7  i  5  d  2  h  8    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 Passeio</a:t>
            </a:r>
            <a:endParaRPr lang="pt-BR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6" name="CaixaDeTexto 95"/>
          <p:cNvSpPr txBox="1"/>
          <p:nvPr/>
        </p:nvSpPr>
        <p:spPr>
          <a:xfrm>
            <a:off x="1166036" y="1903493"/>
            <a:ext cx="2712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a</a:t>
            </a:r>
          </a:p>
        </p:txBody>
      </p:sp>
      <p:sp>
        <p:nvSpPr>
          <p:cNvPr id="97" name="CaixaDeTexto 96"/>
          <p:cNvSpPr txBox="1"/>
          <p:nvPr/>
        </p:nvSpPr>
        <p:spPr>
          <a:xfrm>
            <a:off x="1375292" y="2443006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b</a:t>
            </a:r>
          </a:p>
        </p:txBody>
      </p:sp>
      <p:sp>
        <p:nvSpPr>
          <p:cNvPr id="98" name="CaixaDeTexto 97"/>
          <p:cNvSpPr txBox="1"/>
          <p:nvPr/>
        </p:nvSpPr>
        <p:spPr>
          <a:xfrm>
            <a:off x="844590" y="2981463"/>
            <a:ext cx="2600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</a:t>
            </a:r>
          </a:p>
        </p:txBody>
      </p:sp>
      <p:sp>
        <p:nvSpPr>
          <p:cNvPr id="99" name="CaixaDeTexto 98"/>
          <p:cNvSpPr txBox="1"/>
          <p:nvPr/>
        </p:nvSpPr>
        <p:spPr>
          <a:xfrm>
            <a:off x="1802736" y="3719033"/>
            <a:ext cx="2712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g</a:t>
            </a:r>
          </a:p>
        </p:txBody>
      </p:sp>
      <p:sp>
        <p:nvSpPr>
          <p:cNvPr id="100" name="CaixaDeTexto 99"/>
          <p:cNvSpPr txBox="1"/>
          <p:nvPr/>
        </p:nvSpPr>
        <p:spPr>
          <a:xfrm>
            <a:off x="2148731" y="2751276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e</a:t>
            </a:r>
          </a:p>
        </p:txBody>
      </p:sp>
      <p:sp>
        <p:nvSpPr>
          <p:cNvPr id="101" name="CaixaDeTexto 100"/>
          <p:cNvSpPr txBox="1"/>
          <p:nvPr/>
        </p:nvSpPr>
        <p:spPr>
          <a:xfrm>
            <a:off x="2206733" y="2022055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d</a:t>
            </a:r>
          </a:p>
        </p:txBody>
      </p:sp>
      <p:sp>
        <p:nvSpPr>
          <p:cNvPr id="102" name="CaixaDeTexto 101"/>
          <p:cNvSpPr txBox="1"/>
          <p:nvPr/>
        </p:nvSpPr>
        <p:spPr>
          <a:xfrm>
            <a:off x="2456699" y="1633039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h</a:t>
            </a:r>
          </a:p>
        </p:txBody>
      </p:sp>
      <p:sp>
        <p:nvSpPr>
          <p:cNvPr id="103" name="CaixaDeTexto 102"/>
          <p:cNvSpPr txBox="1"/>
          <p:nvPr/>
        </p:nvSpPr>
        <p:spPr>
          <a:xfrm>
            <a:off x="3358318" y="2364051"/>
            <a:ext cx="2712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k</a:t>
            </a:r>
          </a:p>
        </p:txBody>
      </p:sp>
      <p:sp>
        <p:nvSpPr>
          <p:cNvPr id="104" name="CaixaDeTexto 103"/>
          <p:cNvSpPr txBox="1"/>
          <p:nvPr/>
        </p:nvSpPr>
        <p:spPr>
          <a:xfrm>
            <a:off x="2975049" y="2593836"/>
            <a:ext cx="2263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i</a:t>
            </a:r>
          </a:p>
        </p:txBody>
      </p:sp>
      <p:sp>
        <p:nvSpPr>
          <p:cNvPr id="105" name="CaixaDeTexto 104"/>
          <p:cNvSpPr txBox="1"/>
          <p:nvPr/>
        </p:nvSpPr>
        <p:spPr>
          <a:xfrm>
            <a:off x="2290692" y="3204165"/>
            <a:ext cx="2391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f</a:t>
            </a:r>
          </a:p>
        </p:txBody>
      </p:sp>
      <p:sp>
        <p:nvSpPr>
          <p:cNvPr id="106" name="CaixaDeTexto 105"/>
          <p:cNvSpPr txBox="1"/>
          <p:nvPr/>
        </p:nvSpPr>
        <p:spPr>
          <a:xfrm>
            <a:off x="3110663" y="3375970"/>
            <a:ext cx="2279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j</a:t>
            </a:r>
          </a:p>
        </p:txBody>
      </p:sp>
      <p:sp>
        <p:nvSpPr>
          <p:cNvPr id="107" name="CaixaDeTexto 106"/>
          <p:cNvSpPr txBox="1"/>
          <p:nvPr/>
        </p:nvSpPr>
        <p:spPr>
          <a:xfrm>
            <a:off x="3826321" y="2227562"/>
            <a:ext cx="48813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1  2  5  3  6  7  5  2  8                               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 Passeio</a:t>
            </a:r>
            <a:endParaRPr lang="pt-BR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8" name="Elipse 37"/>
          <p:cNvSpPr/>
          <p:nvPr/>
        </p:nvSpPr>
        <p:spPr>
          <a:xfrm>
            <a:off x="841265" y="2369288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39" name="Elipse 38"/>
          <p:cNvSpPr/>
          <p:nvPr/>
        </p:nvSpPr>
        <p:spPr>
          <a:xfrm>
            <a:off x="1747237" y="2901738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40" name="Elipse 39"/>
          <p:cNvSpPr/>
          <p:nvPr/>
        </p:nvSpPr>
        <p:spPr>
          <a:xfrm>
            <a:off x="2704229" y="3726121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41" name="Elipse 40"/>
          <p:cNvSpPr/>
          <p:nvPr/>
        </p:nvSpPr>
        <p:spPr>
          <a:xfrm>
            <a:off x="3375878" y="2979904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7</a:t>
            </a:r>
          </a:p>
        </p:txBody>
      </p:sp>
      <p:sp>
        <p:nvSpPr>
          <p:cNvPr id="42" name="Elipse 41"/>
          <p:cNvSpPr/>
          <p:nvPr/>
        </p:nvSpPr>
        <p:spPr>
          <a:xfrm>
            <a:off x="3156502" y="1984514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8</a:t>
            </a:r>
          </a:p>
        </p:txBody>
      </p:sp>
      <p:cxnSp>
        <p:nvCxnSpPr>
          <p:cNvPr id="43" name="Conector reto 42"/>
          <p:cNvCxnSpPr>
            <a:stCxn id="38" idx="7"/>
          </p:cNvCxnSpPr>
          <p:nvPr/>
        </p:nvCxnSpPr>
        <p:spPr>
          <a:xfrm flipV="1">
            <a:off x="1037665" y="1902172"/>
            <a:ext cx="701655" cy="50006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de seta reta 43"/>
          <p:cNvCxnSpPr>
            <a:stCxn id="39" idx="7"/>
          </p:cNvCxnSpPr>
          <p:nvPr/>
        </p:nvCxnSpPr>
        <p:spPr>
          <a:xfrm flipV="1">
            <a:off x="1943637" y="2684612"/>
            <a:ext cx="567332" cy="250071"/>
          </a:xfrm>
          <a:prstGeom prst="straightConnector1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de seta reta 44"/>
          <p:cNvCxnSpPr>
            <a:stCxn id="39" idx="5"/>
            <a:endCxn id="40" idx="1"/>
          </p:cNvCxnSpPr>
          <p:nvPr/>
        </p:nvCxnSpPr>
        <p:spPr>
          <a:xfrm>
            <a:off x="1943637" y="3093758"/>
            <a:ext cx="794289" cy="665308"/>
          </a:xfrm>
          <a:prstGeom prst="straightConnector1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de seta reta 45"/>
          <p:cNvCxnSpPr>
            <a:endCxn id="41" idx="3"/>
          </p:cNvCxnSpPr>
          <p:nvPr/>
        </p:nvCxnSpPr>
        <p:spPr>
          <a:xfrm flipV="1">
            <a:off x="2903762" y="3171924"/>
            <a:ext cx="505813" cy="580054"/>
          </a:xfrm>
          <a:prstGeom prst="straightConnector1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de seta reta 46"/>
          <p:cNvCxnSpPr>
            <a:stCxn id="41" idx="1"/>
            <a:endCxn id="48" idx="5"/>
          </p:cNvCxnSpPr>
          <p:nvPr/>
        </p:nvCxnSpPr>
        <p:spPr>
          <a:xfrm flipH="1" flipV="1">
            <a:off x="2673672" y="2680539"/>
            <a:ext cx="735903" cy="332310"/>
          </a:xfrm>
          <a:prstGeom prst="straightConnector1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Elipse 47"/>
          <p:cNvSpPr/>
          <p:nvPr/>
        </p:nvSpPr>
        <p:spPr>
          <a:xfrm>
            <a:off x="2477272" y="2488519"/>
            <a:ext cx="230097" cy="224965"/>
          </a:xfrm>
          <a:prstGeom prst="ellipse">
            <a:avLst/>
          </a:prstGeom>
          <a:solidFill>
            <a:srgbClr val="CC00FF"/>
          </a:solidFill>
          <a:ln>
            <a:solidFill>
              <a:srgbClr val="99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50" name="Elipse 49"/>
          <p:cNvSpPr/>
          <p:nvPr/>
        </p:nvSpPr>
        <p:spPr>
          <a:xfrm>
            <a:off x="1702206" y="1704784"/>
            <a:ext cx="230097" cy="224965"/>
          </a:xfrm>
          <a:prstGeom prst="ellipse">
            <a:avLst/>
          </a:prstGeom>
          <a:solidFill>
            <a:srgbClr val="CC00FF"/>
          </a:solidFill>
          <a:ln>
            <a:solidFill>
              <a:srgbClr val="99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cxnSp>
        <p:nvCxnSpPr>
          <p:cNvPr id="51" name="Conector de seta reta 50"/>
          <p:cNvCxnSpPr>
            <a:stCxn id="50" idx="6"/>
            <a:endCxn id="42" idx="1"/>
          </p:cNvCxnSpPr>
          <p:nvPr/>
        </p:nvCxnSpPr>
        <p:spPr>
          <a:xfrm>
            <a:off x="1932303" y="1817267"/>
            <a:ext cx="1257896" cy="200192"/>
          </a:xfrm>
          <a:prstGeom prst="straightConnector1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1054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Passeio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</a:t>
            </a:r>
          </a:p>
        </p:txBody>
      </p:sp>
      <p:grpSp>
        <p:nvGrpSpPr>
          <p:cNvPr id="93" name="Grupo 92"/>
          <p:cNvGrpSpPr/>
          <p:nvPr/>
        </p:nvGrpSpPr>
        <p:grpSpPr>
          <a:xfrm>
            <a:off x="844590" y="1709575"/>
            <a:ext cx="2764391" cy="2234423"/>
            <a:chOff x="661710" y="1835699"/>
            <a:chExt cx="2764391" cy="2234423"/>
          </a:xfrm>
        </p:grpSpPr>
        <p:sp>
          <p:nvSpPr>
            <p:cNvPr id="6" name="Elipse 5"/>
            <p:cNvSpPr/>
            <p:nvPr/>
          </p:nvSpPr>
          <p:spPr>
            <a:xfrm>
              <a:off x="1525373" y="1835699"/>
              <a:ext cx="230097" cy="2249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2</a:t>
              </a:r>
            </a:p>
          </p:txBody>
        </p:sp>
        <p:sp>
          <p:nvSpPr>
            <p:cNvPr id="7" name="Elipse 6"/>
            <p:cNvSpPr/>
            <p:nvPr/>
          </p:nvSpPr>
          <p:spPr>
            <a:xfrm>
              <a:off x="661710" y="2498636"/>
              <a:ext cx="230097" cy="2249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1</a:t>
              </a:r>
            </a:p>
          </p:txBody>
        </p:sp>
        <p:sp>
          <p:nvSpPr>
            <p:cNvPr id="8" name="Elipse 7"/>
            <p:cNvSpPr/>
            <p:nvPr/>
          </p:nvSpPr>
          <p:spPr>
            <a:xfrm>
              <a:off x="1559070" y="3032653"/>
              <a:ext cx="230097" cy="2249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3</a:t>
              </a:r>
            </a:p>
          </p:txBody>
        </p:sp>
        <p:sp>
          <p:nvSpPr>
            <p:cNvPr id="9" name="Elipse 8"/>
            <p:cNvSpPr/>
            <p:nvPr/>
          </p:nvSpPr>
          <p:spPr>
            <a:xfrm>
              <a:off x="1043667" y="3720877"/>
              <a:ext cx="230097" cy="2249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4</a:t>
              </a:r>
            </a:p>
          </p:txBody>
        </p:sp>
        <p:sp>
          <p:nvSpPr>
            <p:cNvPr id="10" name="Elipse 9"/>
            <p:cNvSpPr/>
            <p:nvPr/>
          </p:nvSpPr>
          <p:spPr>
            <a:xfrm>
              <a:off x="2524482" y="3845157"/>
              <a:ext cx="230097" cy="2249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6</a:t>
              </a:r>
            </a:p>
          </p:txBody>
        </p:sp>
        <p:sp>
          <p:nvSpPr>
            <p:cNvPr id="11" name="Elipse 10"/>
            <p:cNvSpPr/>
            <p:nvPr/>
          </p:nvSpPr>
          <p:spPr>
            <a:xfrm>
              <a:off x="2294385" y="2611119"/>
              <a:ext cx="230097" cy="2249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5</a:t>
              </a:r>
            </a:p>
          </p:txBody>
        </p:sp>
        <p:sp>
          <p:nvSpPr>
            <p:cNvPr id="12" name="Elipse 11"/>
            <p:cNvSpPr/>
            <p:nvPr/>
          </p:nvSpPr>
          <p:spPr>
            <a:xfrm>
              <a:off x="2968913" y="2114915"/>
              <a:ext cx="230097" cy="2249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8</a:t>
              </a:r>
            </a:p>
          </p:txBody>
        </p:sp>
        <p:sp>
          <p:nvSpPr>
            <p:cNvPr id="13" name="Elipse 12"/>
            <p:cNvSpPr/>
            <p:nvPr/>
          </p:nvSpPr>
          <p:spPr>
            <a:xfrm>
              <a:off x="3196004" y="3112190"/>
              <a:ext cx="230097" cy="2249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7</a:t>
              </a:r>
            </a:p>
          </p:txBody>
        </p:sp>
        <p:cxnSp>
          <p:nvCxnSpPr>
            <p:cNvPr id="19" name="Conector de seta reta 18"/>
            <p:cNvCxnSpPr>
              <a:stCxn id="7" idx="7"/>
              <a:endCxn id="6" idx="3"/>
            </p:cNvCxnSpPr>
            <p:nvPr/>
          </p:nvCxnSpPr>
          <p:spPr>
            <a:xfrm flipV="1">
              <a:off x="858110" y="2027719"/>
              <a:ext cx="700960" cy="503862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de seta reta 19"/>
            <p:cNvCxnSpPr>
              <a:stCxn id="7" idx="4"/>
              <a:endCxn id="9" idx="1"/>
            </p:cNvCxnSpPr>
            <p:nvPr/>
          </p:nvCxnSpPr>
          <p:spPr>
            <a:xfrm>
              <a:off x="776759" y="2723601"/>
              <a:ext cx="300605" cy="1030221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de seta reta 20"/>
            <p:cNvCxnSpPr>
              <a:stCxn id="8" idx="5"/>
              <a:endCxn id="10" idx="1"/>
            </p:cNvCxnSpPr>
            <p:nvPr/>
          </p:nvCxnSpPr>
          <p:spPr>
            <a:xfrm>
              <a:off x="1755470" y="3224673"/>
              <a:ext cx="802709" cy="653429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de seta reta 21"/>
            <p:cNvCxnSpPr>
              <a:stCxn id="6" idx="6"/>
              <a:endCxn id="12" idx="1"/>
            </p:cNvCxnSpPr>
            <p:nvPr/>
          </p:nvCxnSpPr>
          <p:spPr>
            <a:xfrm>
              <a:off x="1755470" y="1948182"/>
              <a:ext cx="1247140" cy="199678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de seta reta 22"/>
            <p:cNvCxnSpPr>
              <a:stCxn id="9" idx="6"/>
              <a:endCxn id="10" idx="2"/>
            </p:cNvCxnSpPr>
            <p:nvPr/>
          </p:nvCxnSpPr>
          <p:spPr>
            <a:xfrm>
              <a:off x="1273764" y="3833360"/>
              <a:ext cx="1250718" cy="124280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de seta reta 24"/>
            <p:cNvCxnSpPr>
              <a:stCxn id="10" idx="7"/>
              <a:endCxn id="13" idx="3"/>
            </p:cNvCxnSpPr>
            <p:nvPr/>
          </p:nvCxnSpPr>
          <p:spPr>
            <a:xfrm flipV="1">
              <a:off x="2720882" y="3304210"/>
              <a:ext cx="508819" cy="573892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ector de seta reta 25"/>
            <p:cNvCxnSpPr>
              <a:stCxn id="8" idx="7"/>
              <a:endCxn id="11" idx="3"/>
            </p:cNvCxnSpPr>
            <p:nvPr/>
          </p:nvCxnSpPr>
          <p:spPr>
            <a:xfrm flipV="1">
              <a:off x="1755470" y="2803139"/>
              <a:ext cx="572612" cy="262459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ector de seta reta 26"/>
            <p:cNvCxnSpPr>
              <a:stCxn id="7" idx="6"/>
              <a:endCxn id="8" idx="1"/>
            </p:cNvCxnSpPr>
            <p:nvPr/>
          </p:nvCxnSpPr>
          <p:spPr>
            <a:xfrm>
              <a:off x="891807" y="2611119"/>
              <a:ext cx="700960" cy="454479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ector de seta reta 27"/>
            <p:cNvCxnSpPr>
              <a:stCxn id="6" idx="5"/>
              <a:endCxn id="11" idx="1"/>
            </p:cNvCxnSpPr>
            <p:nvPr/>
          </p:nvCxnSpPr>
          <p:spPr>
            <a:xfrm>
              <a:off x="1721773" y="2027719"/>
              <a:ext cx="606309" cy="616345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ector de seta reta 31"/>
            <p:cNvCxnSpPr>
              <a:stCxn id="13" idx="0"/>
              <a:endCxn id="12" idx="4"/>
            </p:cNvCxnSpPr>
            <p:nvPr/>
          </p:nvCxnSpPr>
          <p:spPr>
            <a:xfrm flipH="1" flipV="1">
              <a:off x="3083962" y="2339880"/>
              <a:ext cx="227091" cy="772310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ector de seta reta 36"/>
            <p:cNvCxnSpPr>
              <a:stCxn id="13" idx="1"/>
              <a:endCxn id="11" idx="5"/>
            </p:cNvCxnSpPr>
            <p:nvPr/>
          </p:nvCxnSpPr>
          <p:spPr>
            <a:xfrm flipH="1" flipV="1">
              <a:off x="2490785" y="2803139"/>
              <a:ext cx="738916" cy="341996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4" name="CaixaDeTexto 93"/>
          <p:cNvSpPr txBox="1"/>
          <p:nvPr/>
        </p:nvSpPr>
        <p:spPr>
          <a:xfrm>
            <a:off x="795431" y="1585829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95" name="CaixaDeTexto 94"/>
          <p:cNvSpPr txBox="1"/>
          <p:nvPr/>
        </p:nvSpPr>
        <p:spPr>
          <a:xfrm>
            <a:off x="3826321" y="1650500"/>
            <a:ext cx="4886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  a  2  d  5  e  3  f  6  j  7  i  5  d  2  h  8    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 Passeio</a:t>
            </a:r>
            <a:endParaRPr lang="pt-BR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7" name="CaixaDeTexto 106"/>
          <p:cNvSpPr txBox="1"/>
          <p:nvPr/>
        </p:nvSpPr>
        <p:spPr>
          <a:xfrm>
            <a:off x="3826321" y="2227562"/>
            <a:ext cx="48813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1  2  5  3  6  7  5  2  8                               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 Passeio</a:t>
            </a:r>
            <a:endParaRPr lang="pt-BR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8" name="CaixaDeTexto 107"/>
          <p:cNvSpPr txBox="1"/>
          <p:nvPr/>
        </p:nvSpPr>
        <p:spPr>
          <a:xfrm>
            <a:off x="3826321" y="2957307"/>
            <a:ext cx="36256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>
                <a:solidFill>
                  <a:srgbClr val="0070C0"/>
                </a:solidFill>
              </a:rPr>
              <a:t>Passeio aberto × Passeio fechado</a:t>
            </a:r>
          </a:p>
        </p:txBody>
      </p:sp>
    </p:spTree>
    <p:extLst>
      <p:ext uri="{BB962C8B-B14F-4D97-AF65-F5344CB8AC3E}">
        <p14:creationId xmlns:p14="http://schemas.microsoft.com/office/powerpoint/2010/main" val="1922550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Passeio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</a:t>
            </a:r>
          </a:p>
        </p:txBody>
      </p:sp>
      <p:grpSp>
        <p:nvGrpSpPr>
          <p:cNvPr id="93" name="Grupo 92"/>
          <p:cNvGrpSpPr/>
          <p:nvPr/>
        </p:nvGrpSpPr>
        <p:grpSpPr>
          <a:xfrm>
            <a:off x="844590" y="1709575"/>
            <a:ext cx="2764391" cy="2234423"/>
            <a:chOff x="661710" y="1835699"/>
            <a:chExt cx="2764391" cy="2234423"/>
          </a:xfrm>
        </p:grpSpPr>
        <p:sp>
          <p:nvSpPr>
            <p:cNvPr id="6" name="Elipse 5"/>
            <p:cNvSpPr/>
            <p:nvPr/>
          </p:nvSpPr>
          <p:spPr>
            <a:xfrm>
              <a:off x="1525373" y="1835699"/>
              <a:ext cx="230097" cy="2249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2</a:t>
              </a:r>
            </a:p>
          </p:txBody>
        </p:sp>
        <p:sp>
          <p:nvSpPr>
            <p:cNvPr id="7" name="Elipse 6"/>
            <p:cNvSpPr/>
            <p:nvPr/>
          </p:nvSpPr>
          <p:spPr>
            <a:xfrm>
              <a:off x="661710" y="2498636"/>
              <a:ext cx="230097" cy="224965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1</a:t>
              </a:r>
            </a:p>
          </p:txBody>
        </p:sp>
        <p:sp>
          <p:nvSpPr>
            <p:cNvPr id="8" name="Elipse 7"/>
            <p:cNvSpPr/>
            <p:nvPr/>
          </p:nvSpPr>
          <p:spPr>
            <a:xfrm>
              <a:off x="1559070" y="3032653"/>
              <a:ext cx="230097" cy="2249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3</a:t>
              </a:r>
            </a:p>
          </p:txBody>
        </p:sp>
        <p:sp>
          <p:nvSpPr>
            <p:cNvPr id="9" name="Elipse 8"/>
            <p:cNvSpPr/>
            <p:nvPr/>
          </p:nvSpPr>
          <p:spPr>
            <a:xfrm>
              <a:off x="1043667" y="3720877"/>
              <a:ext cx="230097" cy="224965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4</a:t>
              </a:r>
            </a:p>
          </p:txBody>
        </p:sp>
        <p:sp>
          <p:nvSpPr>
            <p:cNvPr id="10" name="Elipse 9"/>
            <p:cNvSpPr/>
            <p:nvPr/>
          </p:nvSpPr>
          <p:spPr>
            <a:xfrm>
              <a:off x="2524482" y="3845157"/>
              <a:ext cx="230097" cy="224965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6</a:t>
              </a:r>
            </a:p>
          </p:txBody>
        </p:sp>
        <p:sp>
          <p:nvSpPr>
            <p:cNvPr id="11" name="Elipse 10"/>
            <p:cNvSpPr/>
            <p:nvPr/>
          </p:nvSpPr>
          <p:spPr>
            <a:xfrm>
              <a:off x="2294385" y="2611119"/>
              <a:ext cx="230097" cy="2249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5</a:t>
              </a:r>
            </a:p>
          </p:txBody>
        </p:sp>
        <p:sp>
          <p:nvSpPr>
            <p:cNvPr id="12" name="Elipse 11"/>
            <p:cNvSpPr/>
            <p:nvPr/>
          </p:nvSpPr>
          <p:spPr>
            <a:xfrm>
              <a:off x="2968913" y="2114915"/>
              <a:ext cx="230097" cy="2249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8</a:t>
              </a:r>
            </a:p>
          </p:txBody>
        </p:sp>
        <p:sp>
          <p:nvSpPr>
            <p:cNvPr id="13" name="Elipse 12"/>
            <p:cNvSpPr/>
            <p:nvPr/>
          </p:nvSpPr>
          <p:spPr>
            <a:xfrm>
              <a:off x="3196004" y="3112190"/>
              <a:ext cx="230097" cy="224965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7</a:t>
              </a:r>
            </a:p>
          </p:txBody>
        </p:sp>
        <p:cxnSp>
          <p:nvCxnSpPr>
            <p:cNvPr id="19" name="Conector de seta reta 18"/>
            <p:cNvCxnSpPr>
              <a:stCxn id="7" idx="7"/>
              <a:endCxn id="6" idx="3"/>
            </p:cNvCxnSpPr>
            <p:nvPr/>
          </p:nvCxnSpPr>
          <p:spPr>
            <a:xfrm flipV="1">
              <a:off x="858110" y="2027719"/>
              <a:ext cx="700960" cy="503862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de seta reta 19"/>
            <p:cNvCxnSpPr>
              <a:stCxn id="7" idx="4"/>
              <a:endCxn id="9" idx="1"/>
            </p:cNvCxnSpPr>
            <p:nvPr/>
          </p:nvCxnSpPr>
          <p:spPr>
            <a:xfrm>
              <a:off x="776759" y="2723601"/>
              <a:ext cx="300605" cy="1030221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de seta reta 20"/>
            <p:cNvCxnSpPr>
              <a:stCxn id="8" idx="5"/>
              <a:endCxn id="10" idx="1"/>
            </p:cNvCxnSpPr>
            <p:nvPr/>
          </p:nvCxnSpPr>
          <p:spPr>
            <a:xfrm>
              <a:off x="1755470" y="3224673"/>
              <a:ext cx="802709" cy="653429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de seta reta 21"/>
            <p:cNvCxnSpPr>
              <a:stCxn id="6" idx="6"/>
              <a:endCxn id="12" idx="1"/>
            </p:cNvCxnSpPr>
            <p:nvPr/>
          </p:nvCxnSpPr>
          <p:spPr>
            <a:xfrm>
              <a:off x="1755470" y="1948182"/>
              <a:ext cx="1247140" cy="199678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de seta reta 22"/>
            <p:cNvCxnSpPr>
              <a:stCxn id="9" idx="6"/>
              <a:endCxn id="10" idx="2"/>
            </p:cNvCxnSpPr>
            <p:nvPr/>
          </p:nvCxnSpPr>
          <p:spPr>
            <a:xfrm>
              <a:off x="1273764" y="3833360"/>
              <a:ext cx="1250718" cy="124280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de seta reta 24"/>
            <p:cNvCxnSpPr>
              <a:stCxn id="10" idx="7"/>
              <a:endCxn id="13" idx="3"/>
            </p:cNvCxnSpPr>
            <p:nvPr/>
          </p:nvCxnSpPr>
          <p:spPr>
            <a:xfrm flipV="1">
              <a:off x="2720882" y="3304210"/>
              <a:ext cx="508819" cy="573892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ector de seta reta 25"/>
            <p:cNvCxnSpPr>
              <a:stCxn id="8" idx="7"/>
              <a:endCxn id="11" idx="3"/>
            </p:cNvCxnSpPr>
            <p:nvPr/>
          </p:nvCxnSpPr>
          <p:spPr>
            <a:xfrm flipV="1">
              <a:off x="1755470" y="2803139"/>
              <a:ext cx="572612" cy="262459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ector de seta reta 26"/>
            <p:cNvCxnSpPr>
              <a:stCxn id="7" idx="6"/>
              <a:endCxn id="8" idx="1"/>
            </p:cNvCxnSpPr>
            <p:nvPr/>
          </p:nvCxnSpPr>
          <p:spPr>
            <a:xfrm>
              <a:off x="891807" y="2611119"/>
              <a:ext cx="700960" cy="454479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ector de seta reta 27"/>
            <p:cNvCxnSpPr>
              <a:stCxn id="6" idx="5"/>
              <a:endCxn id="11" idx="1"/>
            </p:cNvCxnSpPr>
            <p:nvPr/>
          </p:nvCxnSpPr>
          <p:spPr>
            <a:xfrm>
              <a:off x="1721773" y="2027719"/>
              <a:ext cx="606309" cy="616345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ector de seta reta 31"/>
            <p:cNvCxnSpPr>
              <a:stCxn id="13" idx="0"/>
              <a:endCxn id="12" idx="4"/>
            </p:cNvCxnSpPr>
            <p:nvPr/>
          </p:nvCxnSpPr>
          <p:spPr>
            <a:xfrm flipH="1" flipV="1">
              <a:off x="3083962" y="2339880"/>
              <a:ext cx="227091" cy="772310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ector de seta reta 36"/>
            <p:cNvCxnSpPr>
              <a:stCxn id="13" idx="1"/>
              <a:endCxn id="11" idx="5"/>
            </p:cNvCxnSpPr>
            <p:nvPr/>
          </p:nvCxnSpPr>
          <p:spPr>
            <a:xfrm flipH="1" flipV="1">
              <a:off x="2490785" y="2803139"/>
              <a:ext cx="738916" cy="341996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4" name="CaixaDeTexto 93"/>
          <p:cNvSpPr txBox="1"/>
          <p:nvPr/>
        </p:nvSpPr>
        <p:spPr>
          <a:xfrm>
            <a:off x="795431" y="1585829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95" name="CaixaDeTexto 94"/>
          <p:cNvSpPr txBox="1"/>
          <p:nvPr/>
        </p:nvSpPr>
        <p:spPr>
          <a:xfrm>
            <a:off x="3826321" y="1650500"/>
            <a:ext cx="4886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  a  2  d  5  e  3  f  6  j  7  i  5  d  2  h  8    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 Passeio</a:t>
            </a:r>
            <a:endParaRPr lang="pt-BR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7" name="CaixaDeTexto 106"/>
          <p:cNvSpPr txBox="1"/>
          <p:nvPr/>
        </p:nvSpPr>
        <p:spPr>
          <a:xfrm>
            <a:off x="3826321" y="2227562"/>
            <a:ext cx="48813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1  2  5  3  6  7  5  2  8                               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 Passeio</a:t>
            </a:r>
            <a:endParaRPr lang="pt-BR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8" name="CaixaDeTexto 107"/>
          <p:cNvSpPr txBox="1"/>
          <p:nvPr/>
        </p:nvSpPr>
        <p:spPr>
          <a:xfrm>
            <a:off x="3826321" y="2957307"/>
            <a:ext cx="36256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>
                <a:solidFill>
                  <a:srgbClr val="0070C0"/>
                </a:solidFill>
              </a:rPr>
              <a:t>Passeio aberto × Passeio fechado</a:t>
            </a:r>
          </a:p>
        </p:txBody>
      </p:sp>
      <p:sp>
        <p:nvSpPr>
          <p:cNvPr id="109" name="CaixaDeTexto 108"/>
          <p:cNvSpPr txBox="1"/>
          <p:nvPr/>
        </p:nvSpPr>
        <p:spPr>
          <a:xfrm>
            <a:off x="3826321" y="3425263"/>
            <a:ext cx="4831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1  4  6  7       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 Passeio aberto (origem  término)</a:t>
            </a:r>
            <a:endParaRPr lang="pt-BR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7793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Passeio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</a:t>
            </a:r>
          </a:p>
        </p:txBody>
      </p:sp>
      <p:grpSp>
        <p:nvGrpSpPr>
          <p:cNvPr id="93" name="Grupo 92"/>
          <p:cNvGrpSpPr/>
          <p:nvPr/>
        </p:nvGrpSpPr>
        <p:grpSpPr>
          <a:xfrm>
            <a:off x="844590" y="1709575"/>
            <a:ext cx="2764391" cy="2234423"/>
            <a:chOff x="661710" y="1835699"/>
            <a:chExt cx="2764391" cy="2234423"/>
          </a:xfrm>
        </p:grpSpPr>
        <p:sp>
          <p:nvSpPr>
            <p:cNvPr id="6" name="Elipse 5"/>
            <p:cNvSpPr/>
            <p:nvPr/>
          </p:nvSpPr>
          <p:spPr>
            <a:xfrm>
              <a:off x="1525373" y="1835699"/>
              <a:ext cx="230097" cy="2249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2</a:t>
              </a:r>
            </a:p>
          </p:txBody>
        </p:sp>
        <p:sp>
          <p:nvSpPr>
            <p:cNvPr id="7" name="Elipse 6"/>
            <p:cNvSpPr/>
            <p:nvPr/>
          </p:nvSpPr>
          <p:spPr>
            <a:xfrm>
              <a:off x="661710" y="2498636"/>
              <a:ext cx="230097" cy="224965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1</a:t>
              </a:r>
            </a:p>
          </p:txBody>
        </p:sp>
        <p:sp>
          <p:nvSpPr>
            <p:cNvPr id="8" name="Elipse 7"/>
            <p:cNvSpPr/>
            <p:nvPr/>
          </p:nvSpPr>
          <p:spPr>
            <a:xfrm>
              <a:off x="1559070" y="3032653"/>
              <a:ext cx="230097" cy="224965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3</a:t>
              </a:r>
            </a:p>
          </p:txBody>
        </p:sp>
        <p:sp>
          <p:nvSpPr>
            <p:cNvPr id="9" name="Elipse 8"/>
            <p:cNvSpPr/>
            <p:nvPr/>
          </p:nvSpPr>
          <p:spPr>
            <a:xfrm>
              <a:off x="1043667" y="3720877"/>
              <a:ext cx="230097" cy="224965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4</a:t>
              </a:r>
            </a:p>
          </p:txBody>
        </p:sp>
        <p:sp>
          <p:nvSpPr>
            <p:cNvPr id="10" name="Elipse 9"/>
            <p:cNvSpPr/>
            <p:nvPr/>
          </p:nvSpPr>
          <p:spPr>
            <a:xfrm>
              <a:off x="2524482" y="3845157"/>
              <a:ext cx="230097" cy="224965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6</a:t>
              </a:r>
            </a:p>
          </p:txBody>
        </p:sp>
        <p:sp>
          <p:nvSpPr>
            <p:cNvPr id="11" name="Elipse 10"/>
            <p:cNvSpPr/>
            <p:nvPr/>
          </p:nvSpPr>
          <p:spPr>
            <a:xfrm>
              <a:off x="2294385" y="2611119"/>
              <a:ext cx="230097" cy="2249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5</a:t>
              </a:r>
            </a:p>
          </p:txBody>
        </p:sp>
        <p:sp>
          <p:nvSpPr>
            <p:cNvPr id="12" name="Elipse 11"/>
            <p:cNvSpPr/>
            <p:nvPr/>
          </p:nvSpPr>
          <p:spPr>
            <a:xfrm>
              <a:off x="2968913" y="2114915"/>
              <a:ext cx="230097" cy="2249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8</a:t>
              </a:r>
            </a:p>
          </p:txBody>
        </p:sp>
        <p:sp>
          <p:nvSpPr>
            <p:cNvPr id="13" name="Elipse 12"/>
            <p:cNvSpPr/>
            <p:nvPr/>
          </p:nvSpPr>
          <p:spPr>
            <a:xfrm>
              <a:off x="3196004" y="3112190"/>
              <a:ext cx="230097" cy="2249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7</a:t>
              </a:r>
            </a:p>
          </p:txBody>
        </p:sp>
        <p:cxnSp>
          <p:nvCxnSpPr>
            <p:cNvPr id="19" name="Conector de seta reta 18"/>
            <p:cNvCxnSpPr>
              <a:stCxn id="7" idx="7"/>
              <a:endCxn id="6" idx="3"/>
            </p:cNvCxnSpPr>
            <p:nvPr/>
          </p:nvCxnSpPr>
          <p:spPr>
            <a:xfrm flipV="1">
              <a:off x="858110" y="2027719"/>
              <a:ext cx="700960" cy="503862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de seta reta 19"/>
            <p:cNvCxnSpPr>
              <a:stCxn id="7" idx="4"/>
              <a:endCxn id="9" idx="1"/>
            </p:cNvCxnSpPr>
            <p:nvPr/>
          </p:nvCxnSpPr>
          <p:spPr>
            <a:xfrm>
              <a:off x="776759" y="2723601"/>
              <a:ext cx="300605" cy="1030221"/>
            </a:xfrm>
            <a:prstGeom prst="straightConnector1">
              <a:avLst/>
            </a:prstGeom>
            <a:ln w="28575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de seta reta 20"/>
            <p:cNvCxnSpPr>
              <a:stCxn id="8" idx="5"/>
              <a:endCxn id="10" idx="1"/>
            </p:cNvCxnSpPr>
            <p:nvPr/>
          </p:nvCxnSpPr>
          <p:spPr>
            <a:xfrm>
              <a:off x="1755470" y="3224673"/>
              <a:ext cx="802709" cy="653429"/>
            </a:xfrm>
            <a:prstGeom prst="straightConnector1">
              <a:avLst/>
            </a:prstGeom>
            <a:ln w="28575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de seta reta 21"/>
            <p:cNvCxnSpPr>
              <a:stCxn id="6" idx="6"/>
              <a:endCxn id="12" idx="1"/>
            </p:cNvCxnSpPr>
            <p:nvPr/>
          </p:nvCxnSpPr>
          <p:spPr>
            <a:xfrm>
              <a:off x="1755470" y="1948182"/>
              <a:ext cx="1247140" cy="199678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de seta reta 22"/>
            <p:cNvCxnSpPr>
              <a:stCxn id="9" idx="6"/>
              <a:endCxn id="10" idx="2"/>
            </p:cNvCxnSpPr>
            <p:nvPr/>
          </p:nvCxnSpPr>
          <p:spPr>
            <a:xfrm>
              <a:off x="1273764" y="3833360"/>
              <a:ext cx="1250718" cy="124280"/>
            </a:xfrm>
            <a:prstGeom prst="straightConnector1">
              <a:avLst/>
            </a:prstGeom>
            <a:ln w="28575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de seta reta 24"/>
            <p:cNvCxnSpPr>
              <a:stCxn id="10" idx="7"/>
              <a:endCxn id="13" idx="3"/>
            </p:cNvCxnSpPr>
            <p:nvPr/>
          </p:nvCxnSpPr>
          <p:spPr>
            <a:xfrm flipV="1">
              <a:off x="2720882" y="3304210"/>
              <a:ext cx="508819" cy="573892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ector de seta reta 25"/>
            <p:cNvCxnSpPr>
              <a:stCxn id="8" idx="7"/>
              <a:endCxn id="11" idx="3"/>
            </p:cNvCxnSpPr>
            <p:nvPr/>
          </p:nvCxnSpPr>
          <p:spPr>
            <a:xfrm flipV="1">
              <a:off x="1755470" y="2803139"/>
              <a:ext cx="572612" cy="262459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ector de seta reta 26"/>
            <p:cNvCxnSpPr>
              <a:stCxn id="7" idx="6"/>
              <a:endCxn id="8" idx="1"/>
            </p:cNvCxnSpPr>
            <p:nvPr/>
          </p:nvCxnSpPr>
          <p:spPr>
            <a:xfrm>
              <a:off x="891807" y="2611119"/>
              <a:ext cx="700960" cy="454479"/>
            </a:xfrm>
            <a:prstGeom prst="straightConnector1">
              <a:avLst/>
            </a:prstGeom>
            <a:ln w="28575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ector de seta reta 27"/>
            <p:cNvCxnSpPr>
              <a:stCxn id="6" idx="5"/>
              <a:endCxn id="11" idx="1"/>
            </p:cNvCxnSpPr>
            <p:nvPr/>
          </p:nvCxnSpPr>
          <p:spPr>
            <a:xfrm>
              <a:off x="1721773" y="2027719"/>
              <a:ext cx="606309" cy="616345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ector de seta reta 31"/>
            <p:cNvCxnSpPr>
              <a:stCxn id="13" idx="0"/>
              <a:endCxn id="12" idx="4"/>
            </p:cNvCxnSpPr>
            <p:nvPr/>
          </p:nvCxnSpPr>
          <p:spPr>
            <a:xfrm flipH="1" flipV="1">
              <a:off x="3083962" y="2339880"/>
              <a:ext cx="227091" cy="772310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ector de seta reta 36"/>
            <p:cNvCxnSpPr>
              <a:stCxn id="13" idx="1"/>
              <a:endCxn id="11" idx="5"/>
            </p:cNvCxnSpPr>
            <p:nvPr/>
          </p:nvCxnSpPr>
          <p:spPr>
            <a:xfrm flipH="1" flipV="1">
              <a:off x="2490785" y="2803139"/>
              <a:ext cx="738916" cy="341996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4" name="CaixaDeTexto 93"/>
          <p:cNvSpPr txBox="1"/>
          <p:nvPr/>
        </p:nvSpPr>
        <p:spPr>
          <a:xfrm>
            <a:off x="795431" y="1585829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95" name="CaixaDeTexto 94"/>
          <p:cNvSpPr txBox="1"/>
          <p:nvPr/>
        </p:nvSpPr>
        <p:spPr>
          <a:xfrm>
            <a:off x="3826321" y="1650500"/>
            <a:ext cx="4886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  a  2  d  5  e  3  f  6  j  7  i  5  d  2  h  8    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 Passeio</a:t>
            </a:r>
            <a:endParaRPr lang="pt-BR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7" name="CaixaDeTexto 106"/>
          <p:cNvSpPr txBox="1"/>
          <p:nvPr/>
        </p:nvSpPr>
        <p:spPr>
          <a:xfrm>
            <a:off x="3826321" y="2227562"/>
            <a:ext cx="48813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1  2  5  3  6  7  5  2  8                               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 Passeio</a:t>
            </a:r>
            <a:endParaRPr lang="pt-BR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8" name="CaixaDeTexto 107"/>
          <p:cNvSpPr txBox="1"/>
          <p:nvPr/>
        </p:nvSpPr>
        <p:spPr>
          <a:xfrm>
            <a:off x="3826321" y="2957307"/>
            <a:ext cx="36256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>
                <a:solidFill>
                  <a:srgbClr val="0070C0"/>
                </a:solidFill>
              </a:rPr>
              <a:t>Passeio aberto × Passeio fechado</a:t>
            </a:r>
          </a:p>
        </p:txBody>
      </p:sp>
      <p:sp>
        <p:nvSpPr>
          <p:cNvPr id="109" name="CaixaDeTexto 108"/>
          <p:cNvSpPr txBox="1"/>
          <p:nvPr/>
        </p:nvSpPr>
        <p:spPr>
          <a:xfrm>
            <a:off x="3826321" y="3425263"/>
            <a:ext cx="4831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1  4  6  7       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 Passeio aberto (origem  término)</a:t>
            </a:r>
            <a:endParaRPr lang="pt-BR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10" name="CaixaDeTexto 109"/>
          <p:cNvSpPr txBox="1"/>
          <p:nvPr/>
        </p:nvSpPr>
        <p:spPr>
          <a:xfrm>
            <a:off x="3826321" y="3943998"/>
            <a:ext cx="49432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1  4  6  3  1  </a:t>
            </a:r>
            <a:r>
              <a:rPr lang="pt-B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 Passeio fechado (origem = término)</a:t>
            </a:r>
            <a:endParaRPr lang="pt-BR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7818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Trajeto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Dado um grafo G = (V, E), um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trajeto</a:t>
            </a:r>
            <a:r>
              <a:rPr lang="pt-B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(ou cadeia) é um passeio que não repete arestas. </a:t>
            </a: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4" name="Grupo 3"/>
          <p:cNvGrpSpPr/>
          <p:nvPr/>
        </p:nvGrpSpPr>
        <p:grpSpPr>
          <a:xfrm>
            <a:off x="901346" y="2106866"/>
            <a:ext cx="2764391" cy="2234423"/>
            <a:chOff x="661710" y="1835699"/>
            <a:chExt cx="2764391" cy="2234423"/>
          </a:xfrm>
        </p:grpSpPr>
        <p:sp>
          <p:nvSpPr>
            <p:cNvPr id="6" name="Elipse 5"/>
            <p:cNvSpPr/>
            <p:nvPr/>
          </p:nvSpPr>
          <p:spPr>
            <a:xfrm>
              <a:off x="1525373" y="1835699"/>
              <a:ext cx="230097" cy="2249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2</a:t>
              </a:r>
            </a:p>
          </p:txBody>
        </p:sp>
        <p:sp>
          <p:nvSpPr>
            <p:cNvPr id="7" name="Elipse 6"/>
            <p:cNvSpPr/>
            <p:nvPr/>
          </p:nvSpPr>
          <p:spPr>
            <a:xfrm>
              <a:off x="661710" y="2498636"/>
              <a:ext cx="230097" cy="2249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1</a:t>
              </a:r>
            </a:p>
          </p:txBody>
        </p:sp>
        <p:sp>
          <p:nvSpPr>
            <p:cNvPr id="8" name="Elipse 7"/>
            <p:cNvSpPr/>
            <p:nvPr/>
          </p:nvSpPr>
          <p:spPr>
            <a:xfrm>
              <a:off x="1559070" y="3032653"/>
              <a:ext cx="230097" cy="2249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3</a:t>
              </a:r>
            </a:p>
          </p:txBody>
        </p:sp>
        <p:sp>
          <p:nvSpPr>
            <p:cNvPr id="9" name="Elipse 8"/>
            <p:cNvSpPr/>
            <p:nvPr/>
          </p:nvSpPr>
          <p:spPr>
            <a:xfrm>
              <a:off x="1043667" y="3720877"/>
              <a:ext cx="230097" cy="2249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4</a:t>
              </a:r>
            </a:p>
          </p:txBody>
        </p:sp>
        <p:sp>
          <p:nvSpPr>
            <p:cNvPr id="10" name="Elipse 9"/>
            <p:cNvSpPr/>
            <p:nvPr/>
          </p:nvSpPr>
          <p:spPr>
            <a:xfrm>
              <a:off x="2524482" y="3845157"/>
              <a:ext cx="230097" cy="2249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6</a:t>
              </a:r>
            </a:p>
          </p:txBody>
        </p:sp>
        <p:sp>
          <p:nvSpPr>
            <p:cNvPr id="11" name="Elipse 10"/>
            <p:cNvSpPr/>
            <p:nvPr/>
          </p:nvSpPr>
          <p:spPr>
            <a:xfrm>
              <a:off x="2294385" y="2611119"/>
              <a:ext cx="230097" cy="2249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5</a:t>
              </a:r>
            </a:p>
          </p:txBody>
        </p:sp>
        <p:sp>
          <p:nvSpPr>
            <p:cNvPr id="12" name="Elipse 11"/>
            <p:cNvSpPr/>
            <p:nvPr/>
          </p:nvSpPr>
          <p:spPr>
            <a:xfrm>
              <a:off x="2968913" y="2114915"/>
              <a:ext cx="230097" cy="2249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8</a:t>
              </a:r>
            </a:p>
          </p:txBody>
        </p:sp>
        <p:sp>
          <p:nvSpPr>
            <p:cNvPr id="13" name="Elipse 12"/>
            <p:cNvSpPr/>
            <p:nvPr/>
          </p:nvSpPr>
          <p:spPr>
            <a:xfrm>
              <a:off x="3196004" y="3112190"/>
              <a:ext cx="230097" cy="2249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7</a:t>
              </a:r>
            </a:p>
          </p:txBody>
        </p:sp>
        <p:cxnSp>
          <p:nvCxnSpPr>
            <p:cNvPr id="14" name="Conector de seta reta 13"/>
            <p:cNvCxnSpPr>
              <a:stCxn id="7" idx="7"/>
              <a:endCxn id="6" idx="3"/>
            </p:cNvCxnSpPr>
            <p:nvPr/>
          </p:nvCxnSpPr>
          <p:spPr>
            <a:xfrm flipV="1">
              <a:off x="858110" y="2027719"/>
              <a:ext cx="700960" cy="503862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de seta reta 14"/>
            <p:cNvCxnSpPr>
              <a:stCxn id="7" idx="4"/>
              <a:endCxn id="9" idx="1"/>
            </p:cNvCxnSpPr>
            <p:nvPr/>
          </p:nvCxnSpPr>
          <p:spPr>
            <a:xfrm>
              <a:off x="776759" y="2723601"/>
              <a:ext cx="300605" cy="1030221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de seta reta 15"/>
            <p:cNvCxnSpPr>
              <a:stCxn id="8" idx="5"/>
              <a:endCxn id="10" idx="1"/>
            </p:cNvCxnSpPr>
            <p:nvPr/>
          </p:nvCxnSpPr>
          <p:spPr>
            <a:xfrm>
              <a:off x="1755470" y="3224673"/>
              <a:ext cx="802709" cy="653429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de seta reta 16"/>
            <p:cNvCxnSpPr>
              <a:stCxn id="6" idx="6"/>
              <a:endCxn id="12" idx="1"/>
            </p:cNvCxnSpPr>
            <p:nvPr/>
          </p:nvCxnSpPr>
          <p:spPr>
            <a:xfrm>
              <a:off x="1755470" y="1948182"/>
              <a:ext cx="1247140" cy="199678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de seta reta 17"/>
            <p:cNvCxnSpPr>
              <a:stCxn id="9" idx="6"/>
              <a:endCxn id="10" idx="2"/>
            </p:cNvCxnSpPr>
            <p:nvPr/>
          </p:nvCxnSpPr>
          <p:spPr>
            <a:xfrm>
              <a:off x="1273764" y="3833360"/>
              <a:ext cx="1250718" cy="124280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de seta reta 18"/>
            <p:cNvCxnSpPr>
              <a:stCxn id="10" idx="7"/>
              <a:endCxn id="13" idx="3"/>
            </p:cNvCxnSpPr>
            <p:nvPr/>
          </p:nvCxnSpPr>
          <p:spPr>
            <a:xfrm flipV="1">
              <a:off x="2720882" y="3304210"/>
              <a:ext cx="508819" cy="573892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de seta reta 19"/>
            <p:cNvCxnSpPr>
              <a:stCxn id="8" idx="7"/>
              <a:endCxn id="11" idx="3"/>
            </p:cNvCxnSpPr>
            <p:nvPr/>
          </p:nvCxnSpPr>
          <p:spPr>
            <a:xfrm flipV="1">
              <a:off x="1755470" y="2803139"/>
              <a:ext cx="572612" cy="262459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de seta reta 20"/>
            <p:cNvCxnSpPr>
              <a:stCxn id="7" idx="6"/>
              <a:endCxn id="8" idx="1"/>
            </p:cNvCxnSpPr>
            <p:nvPr/>
          </p:nvCxnSpPr>
          <p:spPr>
            <a:xfrm>
              <a:off x="891807" y="2611119"/>
              <a:ext cx="700960" cy="454479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de seta reta 21"/>
            <p:cNvCxnSpPr>
              <a:stCxn id="6" idx="5"/>
              <a:endCxn id="11" idx="1"/>
            </p:cNvCxnSpPr>
            <p:nvPr/>
          </p:nvCxnSpPr>
          <p:spPr>
            <a:xfrm>
              <a:off x="1721773" y="2027719"/>
              <a:ext cx="606309" cy="616345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de seta reta 22"/>
            <p:cNvCxnSpPr>
              <a:stCxn id="13" idx="0"/>
              <a:endCxn id="12" idx="4"/>
            </p:cNvCxnSpPr>
            <p:nvPr/>
          </p:nvCxnSpPr>
          <p:spPr>
            <a:xfrm flipH="1" flipV="1">
              <a:off x="3083962" y="2339880"/>
              <a:ext cx="227091" cy="772310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ector de seta reta 23"/>
            <p:cNvCxnSpPr>
              <a:stCxn id="13" idx="1"/>
              <a:endCxn id="11" idx="5"/>
            </p:cNvCxnSpPr>
            <p:nvPr/>
          </p:nvCxnSpPr>
          <p:spPr>
            <a:xfrm flipH="1" flipV="1">
              <a:off x="2490785" y="2803139"/>
              <a:ext cx="738916" cy="341996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CaixaDeTexto 24"/>
          <p:cNvSpPr txBox="1"/>
          <p:nvPr/>
        </p:nvSpPr>
        <p:spPr>
          <a:xfrm>
            <a:off x="852187" y="1983120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37" name="CaixaDeTexto 36"/>
          <p:cNvSpPr txBox="1"/>
          <p:nvPr/>
        </p:nvSpPr>
        <p:spPr>
          <a:xfrm>
            <a:off x="4038137" y="3159453"/>
            <a:ext cx="4831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1  2  5  3  6  7  5  2  8  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 Passeio (mas não trajeto)</a:t>
            </a:r>
            <a:endParaRPr lang="pt-BR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8" name="CaixaDeTexto 37"/>
          <p:cNvSpPr txBox="1"/>
          <p:nvPr/>
        </p:nvSpPr>
        <p:spPr>
          <a:xfrm>
            <a:off x="4037439" y="2433416"/>
            <a:ext cx="309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1  2  5  3  6  7  8          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 Trajeto</a:t>
            </a:r>
            <a:endParaRPr lang="pt-BR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39" name="Conector de seta reta 38"/>
          <p:cNvCxnSpPr>
            <a:stCxn id="49" idx="1"/>
            <a:endCxn id="50" idx="5"/>
          </p:cNvCxnSpPr>
          <p:nvPr/>
        </p:nvCxnSpPr>
        <p:spPr>
          <a:xfrm flipH="1" flipV="1">
            <a:off x="1957284" y="2298402"/>
            <a:ext cx="612363" cy="617572"/>
          </a:xfrm>
          <a:prstGeom prst="straightConnector1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Elipse 39"/>
          <p:cNvSpPr/>
          <p:nvPr/>
        </p:nvSpPr>
        <p:spPr>
          <a:xfrm>
            <a:off x="899943" y="2770886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41" name="Elipse 40"/>
          <p:cNvSpPr/>
          <p:nvPr/>
        </p:nvSpPr>
        <p:spPr>
          <a:xfrm>
            <a:off x="1798827" y="3303336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42" name="Elipse 41"/>
          <p:cNvSpPr/>
          <p:nvPr/>
        </p:nvSpPr>
        <p:spPr>
          <a:xfrm>
            <a:off x="2762907" y="4127719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43" name="Elipse 42"/>
          <p:cNvSpPr/>
          <p:nvPr/>
        </p:nvSpPr>
        <p:spPr>
          <a:xfrm>
            <a:off x="3434556" y="3381502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7</a:t>
            </a:r>
          </a:p>
        </p:txBody>
      </p:sp>
      <p:sp>
        <p:nvSpPr>
          <p:cNvPr id="44" name="Elipse 43"/>
          <p:cNvSpPr/>
          <p:nvPr/>
        </p:nvSpPr>
        <p:spPr>
          <a:xfrm>
            <a:off x="3208092" y="2386112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8</a:t>
            </a:r>
          </a:p>
        </p:txBody>
      </p:sp>
      <p:cxnSp>
        <p:nvCxnSpPr>
          <p:cNvPr id="45" name="Conector reto 44"/>
          <p:cNvCxnSpPr>
            <a:stCxn id="40" idx="7"/>
          </p:cNvCxnSpPr>
          <p:nvPr/>
        </p:nvCxnSpPr>
        <p:spPr>
          <a:xfrm flipV="1">
            <a:off x="1096343" y="2303770"/>
            <a:ext cx="701655" cy="50006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de seta reta 45"/>
          <p:cNvCxnSpPr>
            <a:stCxn id="41" idx="7"/>
          </p:cNvCxnSpPr>
          <p:nvPr/>
        </p:nvCxnSpPr>
        <p:spPr>
          <a:xfrm flipV="1">
            <a:off x="1995227" y="3086210"/>
            <a:ext cx="567332" cy="250071"/>
          </a:xfrm>
          <a:prstGeom prst="straightConnector1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de seta reta 46"/>
          <p:cNvCxnSpPr>
            <a:stCxn id="41" idx="5"/>
            <a:endCxn id="42" idx="1"/>
          </p:cNvCxnSpPr>
          <p:nvPr/>
        </p:nvCxnSpPr>
        <p:spPr>
          <a:xfrm>
            <a:off x="1995227" y="3495356"/>
            <a:ext cx="801377" cy="665308"/>
          </a:xfrm>
          <a:prstGeom prst="straightConnector1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de seta reta 47"/>
          <p:cNvCxnSpPr>
            <a:endCxn id="43" idx="3"/>
          </p:cNvCxnSpPr>
          <p:nvPr/>
        </p:nvCxnSpPr>
        <p:spPr>
          <a:xfrm flipV="1">
            <a:off x="2962440" y="3573522"/>
            <a:ext cx="505813" cy="580054"/>
          </a:xfrm>
          <a:prstGeom prst="straightConnector1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Elipse 48"/>
          <p:cNvSpPr/>
          <p:nvPr/>
        </p:nvSpPr>
        <p:spPr>
          <a:xfrm>
            <a:off x="2535950" y="2883029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50" name="Elipse 49"/>
          <p:cNvSpPr/>
          <p:nvPr/>
        </p:nvSpPr>
        <p:spPr>
          <a:xfrm>
            <a:off x="1760884" y="2106382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cxnSp>
        <p:nvCxnSpPr>
          <p:cNvPr id="51" name="Conector de seta reta 50"/>
          <p:cNvCxnSpPr>
            <a:stCxn id="13" idx="0"/>
            <a:endCxn id="44" idx="4"/>
          </p:cNvCxnSpPr>
          <p:nvPr/>
        </p:nvCxnSpPr>
        <p:spPr>
          <a:xfrm flipH="1" flipV="1">
            <a:off x="3323141" y="2611077"/>
            <a:ext cx="227548" cy="772280"/>
          </a:xfrm>
          <a:prstGeom prst="straightConnector1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tângulo 52"/>
          <p:cNvSpPr/>
          <p:nvPr/>
        </p:nvSpPr>
        <p:spPr>
          <a:xfrm>
            <a:off x="4261912" y="3161662"/>
            <a:ext cx="5245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2  5</a:t>
            </a:r>
          </a:p>
        </p:txBody>
      </p:sp>
      <p:sp>
        <p:nvSpPr>
          <p:cNvPr id="54" name="Retângulo 53"/>
          <p:cNvSpPr/>
          <p:nvPr/>
        </p:nvSpPr>
        <p:spPr>
          <a:xfrm>
            <a:off x="5358376" y="3158648"/>
            <a:ext cx="5245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5  2</a:t>
            </a:r>
          </a:p>
        </p:txBody>
      </p:sp>
      <p:cxnSp>
        <p:nvCxnSpPr>
          <p:cNvPr id="56" name="Conector de seta reta 55"/>
          <p:cNvCxnSpPr/>
          <p:nvPr/>
        </p:nvCxnSpPr>
        <p:spPr>
          <a:xfrm flipH="1" flipV="1">
            <a:off x="4544360" y="3514380"/>
            <a:ext cx="196694" cy="312677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de seta reta 58"/>
          <p:cNvCxnSpPr/>
          <p:nvPr/>
        </p:nvCxnSpPr>
        <p:spPr>
          <a:xfrm flipV="1">
            <a:off x="5412282" y="3514379"/>
            <a:ext cx="196694" cy="312677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CaixaDeTexto 59"/>
          <p:cNvSpPr txBox="1"/>
          <p:nvPr/>
        </p:nvSpPr>
        <p:spPr>
          <a:xfrm>
            <a:off x="4451360" y="3854714"/>
            <a:ext cx="12335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{2, 5} se repete</a:t>
            </a:r>
          </a:p>
        </p:txBody>
      </p:sp>
    </p:spTree>
    <p:extLst>
      <p:ext uri="{BB962C8B-B14F-4D97-AF65-F5344CB8AC3E}">
        <p14:creationId xmlns:p14="http://schemas.microsoft.com/office/powerpoint/2010/main" val="2053944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37" grpId="0"/>
      <p:bldP spid="38" grpId="0"/>
      <p:bldP spid="40" grpId="0" animBg="1"/>
      <p:bldP spid="41" grpId="0" animBg="1"/>
      <p:bldP spid="42" grpId="0" animBg="1"/>
      <p:bldP spid="43" grpId="0" animBg="1"/>
      <p:bldP spid="44" grpId="0" animBg="1"/>
      <p:bldP spid="49" grpId="0" animBg="1"/>
      <p:bldP spid="50" grpId="0" animBg="1"/>
      <p:bldP spid="53" grpId="0"/>
      <p:bldP spid="54" grpId="0"/>
      <p:bldP spid="6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Caminho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Dado um grafo G = (V, E), um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caminho</a:t>
            </a:r>
            <a:r>
              <a:rPr lang="pt-B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é um trajeto que não repete vértices entre sua origem e seu término. </a:t>
            </a: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4" name="Grupo 3"/>
          <p:cNvGrpSpPr/>
          <p:nvPr/>
        </p:nvGrpSpPr>
        <p:grpSpPr>
          <a:xfrm>
            <a:off x="901346" y="2135704"/>
            <a:ext cx="2764391" cy="2234423"/>
            <a:chOff x="661710" y="1835699"/>
            <a:chExt cx="2764391" cy="2234423"/>
          </a:xfrm>
        </p:grpSpPr>
        <p:sp>
          <p:nvSpPr>
            <p:cNvPr id="6" name="Elipse 5"/>
            <p:cNvSpPr/>
            <p:nvPr/>
          </p:nvSpPr>
          <p:spPr>
            <a:xfrm>
              <a:off x="1525373" y="1835699"/>
              <a:ext cx="230097" cy="2249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2</a:t>
              </a:r>
            </a:p>
          </p:txBody>
        </p:sp>
        <p:sp>
          <p:nvSpPr>
            <p:cNvPr id="7" name="Elipse 6"/>
            <p:cNvSpPr/>
            <p:nvPr/>
          </p:nvSpPr>
          <p:spPr>
            <a:xfrm>
              <a:off x="661710" y="2498636"/>
              <a:ext cx="230097" cy="2249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1</a:t>
              </a:r>
            </a:p>
          </p:txBody>
        </p:sp>
        <p:sp>
          <p:nvSpPr>
            <p:cNvPr id="8" name="Elipse 7"/>
            <p:cNvSpPr/>
            <p:nvPr/>
          </p:nvSpPr>
          <p:spPr>
            <a:xfrm>
              <a:off x="1559070" y="3032653"/>
              <a:ext cx="230097" cy="2249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3</a:t>
              </a:r>
            </a:p>
          </p:txBody>
        </p:sp>
        <p:sp>
          <p:nvSpPr>
            <p:cNvPr id="9" name="Elipse 8"/>
            <p:cNvSpPr/>
            <p:nvPr/>
          </p:nvSpPr>
          <p:spPr>
            <a:xfrm>
              <a:off x="1043667" y="3720877"/>
              <a:ext cx="230097" cy="2249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4</a:t>
              </a:r>
            </a:p>
          </p:txBody>
        </p:sp>
        <p:sp>
          <p:nvSpPr>
            <p:cNvPr id="10" name="Elipse 9"/>
            <p:cNvSpPr/>
            <p:nvPr/>
          </p:nvSpPr>
          <p:spPr>
            <a:xfrm>
              <a:off x="2524482" y="3845157"/>
              <a:ext cx="230097" cy="2249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6</a:t>
              </a:r>
            </a:p>
          </p:txBody>
        </p:sp>
        <p:sp>
          <p:nvSpPr>
            <p:cNvPr id="11" name="Elipse 10"/>
            <p:cNvSpPr/>
            <p:nvPr/>
          </p:nvSpPr>
          <p:spPr>
            <a:xfrm>
              <a:off x="2294385" y="2611119"/>
              <a:ext cx="230097" cy="2249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5</a:t>
              </a:r>
            </a:p>
          </p:txBody>
        </p:sp>
        <p:sp>
          <p:nvSpPr>
            <p:cNvPr id="12" name="Elipse 11"/>
            <p:cNvSpPr/>
            <p:nvPr/>
          </p:nvSpPr>
          <p:spPr>
            <a:xfrm>
              <a:off x="2968913" y="2114915"/>
              <a:ext cx="230097" cy="2249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8</a:t>
              </a:r>
            </a:p>
          </p:txBody>
        </p:sp>
        <p:sp>
          <p:nvSpPr>
            <p:cNvPr id="13" name="Elipse 12"/>
            <p:cNvSpPr/>
            <p:nvPr/>
          </p:nvSpPr>
          <p:spPr>
            <a:xfrm>
              <a:off x="3196004" y="3112190"/>
              <a:ext cx="230097" cy="2249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7</a:t>
              </a:r>
            </a:p>
          </p:txBody>
        </p:sp>
        <p:cxnSp>
          <p:nvCxnSpPr>
            <p:cNvPr id="14" name="Conector de seta reta 13"/>
            <p:cNvCxnSpPr>
              <a:stCxn id="7" idx="7"/>
              <a:endCxn id="6" idx="3"/>
            </p:cNvCxnSpPr>
            <p:nvPr/>
          </p:nvCxnSpPr>
          <p:spPr>
            <a:xfrm flipV="1">
              <a:off x="858110" y="2027719"/>
              <a:ext cx="700960" cy="503862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de seta reta 14"/>
            <p:cNvCxnSpPr>
              <a:stCxn id="7" idx="4"/>
              <a:endCxn id="9" idx="1"/>
            </p:cNvCxnSpPr>
            <p:nvPr/>
          </p:nvCxnSpPr>
          <p:spPr>
            <a:xfrm>
              <a:off x="776759" y="2723601"/>
              <a:ext cx="300605" cy="1030221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de seta reta 15"/>
            <p:cNvCxnSpPr>
              <a:stCxn id="8" idx="5"/>
              <a:endCxn id="10" idx="1"/>
            </p:cNvCxnSpPr>
            <p:nvPr/>
          </p:nvCxnSpPr>
          <p:spPr>
            <a:xfrm>
              <a:off x="1755470" y="3224673"/>
              <a:ext cx="802709" cy="653429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de seta reta 16"/>
            <p:cNvCxnSpPr>
              <a:stCxn id="6" idx="6"/>
              <a:endCxn id="12" idx="1"/>
            </p:cNvCxnSpPr>
            <p:nvPr/>
          </p:nvCxnSpPr>
          <p:spPr>
            <a:xfrm>
              <a:off x="1755470" y="1948182"/>
              <a:ext cx="1247140" cy="199678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de seta reta 17"/>
            <p:cNvCxnSpPr>
              <a:stCxn id="9" idx="6"/>
              <a:endCxn id="10" idx="2"/>
            </p:cNvCxnSpPr>
            <p:nvPr/>
          </p:nvCxnSpPr>
          <p:spPr>
            <a:xfrm>
              <a:off x="1273764" y="3833360"/>
              <a:ext cx="1250718" cy="124280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de seta reta 18"/>
            <p:cNvCxnSpPr>
              <a:stCxn id="10" idx="7"/>
              <a:endCxn id="13" idx="3"/>
            </p:cNvCxnSpPr>
            <p:nvPr/>
          </p:nvCxnSpPr>
          <p:spPr>
            <a:xfrm flipV="1">
              <a:off x="2720882" y="3304210"/>
              <a:ext cx="508819" cy="573892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de seta reta 19"/>
            <p:cNvCxnSpPr>
              <a:stCxn id="8" idx="7"/>
              <a:endCxn id="11" idx="3"/>
            </p:cNvCxnSpPr>
            <p:nvPr/>
          </p:nvCxnSpPr>
          <p:spPr>
            <a:xfrm flipV="1">
              <a:off x="1755470" y="2803139"/>
              <a:ext cx="572612" cy="262459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de seta reta 20"/>
            <p:cNvCxnSpPr>
              <a:stCxn id="7" idx="6"/>
              <a:endCxn id="8" idx="1"/>
            </p:cNvCxnSpPr>
            <p:nvPr/>
          </p:nvCxnSpPr>
          <p:spPr>
            <a:xfrm>
              <a:off x="891807" y="2611119"/>
              <a:ext cx="700960" cy="454479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de seta reta 21"/>
            <p:cNvCxnSpPr>
              <a:stCxn id="6" idx="5"/>
              <a:endCxn id="11" idx="1"/>
            </p:cNvCxnSpPr>
            <p:nvPr/>
          </p:nvCxnSpPr>
          <p:spPr>
            <a:xfrm>
              <a:off x="1721773" y="2027719"/>
              <a:ext cx="606309" cy="616345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de seta reta 22"/>
            <p:cNvCxnSpPr>
              <a:stCxn id="13" idx="0"/>
              <a:endCxn id="12" idx="4"/>
            </p:cNvCxnSpPr>
            <p:nvPr/>
          </p:nvCxnSpPr>
          <p:spPr>
            <a:xfrm flipH="1" flipV="1">
              <a:off x="3083962" y="2339880"/>
              <a:ext cx="227091" cy="772310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ector de seta reta 23"/>
            <p:cNvCxnSpPr>
              <a:stCxn id="13" idx="1"/>
              <a:endCxn id="11" idx="5"/>
            </p:cNvCxnSpPr>
            <p:nvPr/>
          </p:nvCxnSpPr>
          <p:spPr>
            <a:xfrm flipH="1" flipV="1">
              <a:off x="2490785" y="2803139"/>
              <a:ext cx="738916" cy="341996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CaixaDeTexto 24"/>
          <p:cNvSpPr txBox="1"/>
          <p:nvPr/>
        </p:nvSpPr>
        <p:spPr>
          <a:xfrm>
            <a:off x="852187" y="2011958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37" name="CaixaDeTexto 36"/>
          <p:cNvSpPr txBox="1"/>
          <p:nvPr/>
        </p:nvSpPr>
        <p:spPr>
          <a:xfrm>
            <a:off x="4038137" y="3188291"/>
            <a:ext cx="42991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1  2  5  3  1  4  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 Trajeto (mas não caminho)</a:t>
            </a:r>
            <a:endParaRPr lang="pt-BR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8" name="CaixaDeTexto 37"/>
          <p:cNvSpPr txBox="1"/>
          <p:nvPr/>
        </p:nvSpPr>
        <p:spPr>
          <a:xfrm>
            <a:off x="4037439" y="2462254"/>
            <a:ext cx="2669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1  2  5  3           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 Caminho</a:t>
            </a:r>
            <a:endParaRPr lang="pt-BR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39" name="Conector de seta reta 38"/>
          <p:cNvCxnSpPr>
            <a:stCxn id="49" idx="1"/>
            <a:endCxn id="50" idx="5"/>
          </p:cNvCxnSpPr>
          <p:nvPr/>
        </p:nvCxnSpPr>
        <p:spPr>
          <a:xfrm flipH="1" flipV="1">
            <a:off x="1964372" y="2320152"/>
            <a:ext cx="605275" cy="624660"/>
          </a:xfrm>
          <a:prstGeom prst="straightConnector1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Elipse 39"/>
          <p:cNvSpPr/>
          <p:nvPr/>
        </p:nvSpPr>
        <p:spPr>
          <a:xfrm>
            <a:off x="899943" y="2799724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41" name="Elipse 40"/>
          <p:cNvSpPr/>
          <p:nvPr/>
        </p:nvSpPr>
        <p:spPr>
          <a:xfrm>
            <a:off x="1798827" y="3332174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cxnSp>
        <p:nvCxnSpPr>
          <p:cNvPr id="45" name="Conector reto 44"/>
          <p:cNvCxnSpPr>
            <a:stCxn id="40" idx="7"/>
          </p:cNvCxnSpPr>
          <p:nvPr/>
        </p:nvCxnSpPr>
        <p:spPr>
          <a:xfrm flipV="1">
            <a:off x="1096343" y="2332608"/>
            <a:ext cx="701655" cy="50006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de seta reta 45"/>
          <p:cNvCxnSpPr>
            <a:stCxn id="41" idx="7"/>
          </p:cNvCxnSpPr>
          <p:nvPr/>
        </p:nvCxnSpPr>
        <p:spPr>
          <a:xfrm flipV="1">
            <a:off x="1995227" y="3115048"/>
            <a:ext cx="567332" cy="250071"/>
          </a:xfrm>
          <a:prstGeom prst="straightConnector1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Elipse 48"/>
          <p:cNvSpPr/>
          <p:nvPr/>
        </p:nvSpPr>
        <p:spPr>
          <a:xfrm>
            <a:off x="2535950" y="2911867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50" name="Elipse 49"/>
          <p:cNvSpPr/>
          <p:nvPr/>
        </p:nvSpPr>
        <p:spPr>
          <a:xfrm>
            <a:off x="1767972" y="2128132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52" name="Retângulo 51"/>
          <p:cNvSpPr/>
          <p:nvPr/>
        </p:nvSpPr>
        <p:spPr>
          <a:xfrm>
            <a:off x="4035771" y="3187486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53" name="Retângulo 52"/>
          <p:cNvSpPr/>
          <p:nvPr/>
        </p:nvSpPr>
        <p:spPr>
          <a:xfrm>
            <a:off x="4920811" y="3187807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1</a:t>
            </a:r>
          </a:p>
        </p:txBody>
      </p:sp>
      <p:cxnSp>
        <p:nvCxnSpPr>
          <p:cNvPr id="54" name="Conector de seta reta 53"/>
          <p:cNvCxnSpPr/>
          <p:nvPr/>
        </p:nvCxnSpPr>
        <p:spPr>
          <a:xfrm flipH="1" flipV="1">
            <a:off x="4202236" y="3526448"/>
            <a:ext cx="196694" cy="312677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de seta reta 54"/>
          <p:cNvCxnSpPr/>
          <p:nvPr/>
        </p:nvCxnSpPr>
        <p:spPr>
          <a:xfrm flipV="1">
            <a:off x="4873591" y="3526447"/>
            <a:ext cx="196694" cy="312677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CaixaDeTexto 55"/>
          <p:cNvSpPr txBox="1"/>
          <p:nvPr/>
        </p:nvSpPr>
        <p:spPr>
          <a:xfrm>
            <a:off x="4117390" y="3954787"/>
            <a:ext cx="9975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1 se repete</a:t>
            </a:r>
          </a:p>
        </p:txBody>
      </p:sp>
      <p:cxnSp>
        <p:nvCxnSpPr>
          <p:cNvPr id="27" name="Conector de seta reta 26"/>
          <p:cNvCxnSpPr/>
          <p:nvPr/>
        </p:nvCxnSpPr>
        <p:spPr>
          <a:xfrm flipV="1">
            <a:off x="2416141" y="2227196"/>
            <a:ext cx="750370" cy="38027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aixaDeTexto 27"/>
          <p:cNvSpPr txBox="1"/>
          <p:nvPr/>
        </p:nvSpPr>
        <p:spPr>
          <a:xfrm>
            <a:off x="3024782" y="1937033"/>
            <a:ext cx="11196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Tamanho = 3</a:t>
            </a:r>
          </a:p>
        </p:txBody>
      </p:sp>
      <p:sp>
        <p:nvSpPr>
          <p:cNvPr id="29" name="Retângulo de cantos arredondados 28"/>
          <p:cNvSpPr/>
          <p:nvPr/>
        </p:nvSpPr>
        <p:spPr>
          <a:xfrm>
            <a:off x="5114914" y="1738202"/>
            <a:ext cx="3512558" cy="458792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Tamanho do caminho = número de arestas</a:t>
            </a:r>
          </a:p>
        </p:txBody>
      </p:sp>
    </p:spTree>
    <p:extLst>
      <p:ext uri="{BB962C8B-B14F-4D97-AF65-F5344CB8AC3E}">
        <p14:creationId xmlns:p14="http://schemas.microsoft.com/office/powerpoint/2010/main" val="2144767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37" grpId="0"/>
      <p:bldP spid="38" grpId="0"/>
      <p:bldP spid="40" grpId="0" animBg="1"/>
      <p:bldP spid="41" grpId="0" animBg="1"/>
      <p:bldP spid="49" grpId="0" animBg="1"/>
      <p:bldP spid="50" grpId="0" animBg="1"/>
      <p:bldP spid="52" grpId="0"/>
      <p:bldP spid="53" grpId="0"/>
      <p:bldP spid="56" grpId="0"/>
      <p:bldP spid="28" grpId="0"/>
      <p:bldP spid="2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Distância entre Vértices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Dado um grafo G = (V, E), a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distância</a:t>
            </a:r>
            <a:r>
              <a:rPr lang="pt-B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entre dois vértices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– representada por d(v, w) é igual ao tamanho do menor caminho entre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 </a:t>
            </a:r>
          </a:p>
        </p:txBody>
      </p:sp>
      <p:grpSp>
        <p:nvGrpSpPr>
          <p:cNvPr id="4" name="Grupo 3"/>
          <p:cNvGrpSpPr/>
          <p:nvPr/>
        </p:nvGrpSpPr>
        <p:grpSpPr>
          <a:xfrm>
            <a:off x="901346" y="2135218"/>
            <a:ext cx="2764391" cy="2234423"/>
            <a:chOff x="661710" y="1835699"/>
            <a:chExt cx="2764391" cy="2234423"/>
          </a:xfrm>
        </p:grpSpPr>
        <p:sp>
          <p:nvSpPr>
            <p:cNvPr id="6" name="Elipse 5"/>
            <p:cNvSpPr/>
            <p:nvPr/>
          </p:nvSpPr>
          <p:spPr>
            <a:xfrm>
              <a:off x="1525373" y="1835699"/>
              <a:ext cx="230097" cy="2249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2</a:t>
              </a:r>
            </a:p>
          </p:txBody>
        </p:sp>
        <p:sp>
          <p:nvSpPr>
            <p:cNvPr id="7" name="Elipse 6"/>
            <p:cNvSpPr/>
            <p:nvPr/>
          </p:nvSpPr>
          <p:spPr>
            <a:xfrm>
              <a:off x="661710" y="2498636"/>
              <a:ext cx="230097" cy="2249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1</a:t>
              </a:r>
            </a:p>
          </p:txBody>
        </p:sp>
        <p:sp>
          <p:nvSpPr>
            <p:cNvPr id="8" name="Elipse 7"/>
            <p:cNvSpPr/>
            <p:nvPr/>
          </p:nvSpPr>
          <p:spPr>
            <a:xfrm>
              <a:off x="1559070" y="3032653"/>
              <a:ext cx="230097" cy="2249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3</a:t>
              </a:r>
            </a:p>
          </p:txBody>
        </p:sp>
        <p:sp>
          <p:nvSpPr>
            <p:cNvPr id="9" name="Elipse 8"/>
            <p:cNvSpPr/>
            <p:nvPr/>
          </p:nvSpPr>
          <p:spPr>
            <a:xfrm>
              <a:off x="1043667" y="3720877"/>
              <a:ext cx="230097" cy="2249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4</a:t>
              </a:r>
            </a:p>
          </p:txBody>
        </p:sp>
        <p:sp>
          <p:nvSpPr>
            <p:cNvPr id="10" name="Elipse 9"/>
            <p:cNvSpPr/>
            <p:nvPr/>
          </p:nvSpPr>
          <p:spPr>
            <a:xfrm>
              <a:off x="2524482" y="3845157"/>
              <a:ext cx="230097" cy="2249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6</a:t>
              </a:r>
            </a:p>
          </p:txBody>
        </p:sp>
        <p:sp>
          <p:nvSpPr>
            <p:cNvPr id="11" name="Elipse 10"/>
            <p:cNvSpPr/>
            <p:nvPr/>
          </p:nvSpPr>
          <p:spPr>
            <a:xfrm>
              <a:off x="2294385" y="2611119"/>
              <a:ext cx="230097" cy="2249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5</a:t>
              </a:r>
            </a:p>
          </p:txBody>
        </p:sp>
        <p:sp>
          <p:nvSpPr>
            <p:cNvPr id="12" name="Elipse 11"/>
            <p:cNvSpPr/>
            <p:nvPr/>
          </p:nvSpPr>
          <p:spPr>
            <a:xfrm>
              <a:off x="2968913" y="2114915"/>
              <a:ext cx="230097" cy="2249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8</a:t>
              </a:r>
            </a:p>
          </p:txBody>
        </p:sp>
        <p:sp>
          <p:nvSpPr>
            <p:cNvPr id="13" name="Elipse 12"/>
            <p:cNvSpPr/>
            <p:nvPr/>
          </p:nvSpPr>
          <p:spPr>
            <a:xfrm>
              <a:off x="3196004" y="3112190"/>
              <a:ext cx="230097" cy="2249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7</a:t>
              </a:r>
            </a:p>
          </p:txBody>
        </p:sp>
        <p:cxnSp>
          <p:nvCxnSpPr>
            <p:cNvPr id="16" name="Conector de seta reta 15"/>
            <p:cNvCxnSpPr>
              <a:stCxn id="8" idx="5"/>
              <a:endCxn id="10" idx="1"/>
            </p:cNvCxnSpPr>
            <p:nvPr/>
          </p:nvCxnSpPr>
          <p:spPr>
            <a:xfrm>
              <a:off x="1755470" y="3224673"/>
              <a:ext cx="802709" cy="653429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de seta reta 16"/>
            <p:cNvCxnSpPr>
              <a:stCxn id="6" idx="6"/>
              <a:endCxn id="12" idx="1"/>
            </p:cNvCxnSpPr>
            <p:nvPr/>
          </p:nvCxnSpPr>
          <p:spPr>
            <a:xfrm>
              <a:off x="1755470" y="1948182"/>
              <a:ext cx="1247140" cy="199678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de seta reta 17"/>
            <p:cNvCxnSpPr>
              <a:stCxn id="9" idx="6"/>
              <a:endCxn id="10" idx="2"/>
            </p:cNvCxnSpPr>
            <p:nvPr/>
          </p:nvCxnSpPr>
          <p:spPr>
            <a:xfrm>
              <a:off x="1273764" y="3833360"/>
              <a:ext cx="1250718" cy="124280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de seta reta 19"/>
            <p:cNvCxnSpPr>
              <a:stCxn id="8" idx="7"/>
              <a:endCxn id="11" idx="3"/>
            </p:cNvCxnSpPr>
            <p:nvPr/>
          </p:nvCxnSpPr>
          <p:spPr>
            <a:xfrm flipV="1">
              <a:off x="1755470" y="2803139"/>
              <a:ext cx="572612" cy="262459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de seta reta 20"/>
            <p:cNvCxnSpPr>
              <a:stCxn id="7" idx="6"/>
              <a:endCxn id="8" idx="1"/>
            </p:cNvCxnSpPr>
            <p:nvPr/>
          </p:nvCxnSpPr>
          <p:spPr>
            <a:xfrm>
              <a:off x="891807" y="2611119"/>
              <a:ext cx="700960" cy="454479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de seta reta 21"/>
            <p:cNvCxnSpPr>
              <a:stCxn id="6" idx="5"/>
              <a:endCxn id="11" idx="1"/>
            </p:cNvCxnSpPr>
            <p:nvPr/>
          </p:nvCxnSpPr>
          <p:spPr>
            <a:xfrm>
              <a:off x="1721773" y="2027719"/>
              <a:ext cx="606309" cy="616345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ector de seta reta 23"/>
            <p:cNvCxnSpPr>
              <a:stCxn id="13" idx="1"/>
              <a:endCxn id="11" idx="5"/>
            </p:cNvCxnSpPr>
            <p:nvPr/>
          </p:nvCxnSpPr>
          <p:spPr>
            <a:xfrm flipH="1" flipV="1">
              <a:off x="2490785" y="2803139"/>
              <a:ext cx="738916" cy="341996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CaixaDeTexto 24"/>
          <p:cNvSpPr txBox="1"/>
          <p:nvPr/>
        </p:nvSpPr>
        <p:spPr>
          <a:xfrm>
            <a:off x="852187" y="201147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40" name="Elipse 39"/>
          <p:cNvSpPr/>
          <p:nvPr/>
        </p:nvSpPr>
        <p:spPr>
          <a:xfrm>
            <a:off x="899943" y="2799238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41" name="Elipse 40"/>
          <p:cNvSpPr/>
          <p:nvPr/>
        </p:nvSpPr>
        <p:spPr>
          <a:xfrm>
            <a:off x="1798827" y="3331688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cxnSp>
        <p:nvCxnSpPr>
          <p:cNvPr id="45" name="Conector reto 44"/>
          <p:cNvCxnSpPr>
            <a:stCxn id="40" idx="6"/>
            <a:endCxn id="41" idx="1"/>
          </p:cNvCxnSpPr>
          <p:nvPr/>
        </p:nvCxnSpPr>
        <p:spPr>
          <a:xfrm>
            <a:off x="1130040" y="2911721"/>
            <a:ext cx="702484" cy="45291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de seta reta 41"/>
          <p:cNvCxnSpPr/>
          <p:nvPr/>
        </p:nvCxnSpPr>
        <p:spPr>
          <a:xfrm flipV="1">
            <a:off x="865467" y="3193174"/>
            <a:ext cx="491814" cy="395342"/>
          </a:xfrm>
          <a:prstGeom prst="straightConnector1">
            <a:avLst/>
          </a:prstGeom>
          <a:ln w="190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aixaDeTexto 42"/>
          <p:cNvSpPr txBox="1"/>
          <p:nvPr/>
        </p:nvSpPr>
        <p:spPr>
          <a:xfrm>
            <a:off x="264159" y="3556463"/>
            <a:ext cx="8771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d(1,3) = 1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4076471" y="2121703"/>
            <a:ext cx="45498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Distância entre dois vértices também é denominada de </a:t>
            </a:r>
            <a:r>
              <a:rPr lang="pt-BR" sz="16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distância geodésica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endParaRPr lang="pt-B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3436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40" grpId="0" animBg="1"/>
      <p:bldP spid="41" grpId="0" animBg="1"/>
      <p:bldP spid="4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Distância entre Vértices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Dado um grafo G = (V, E), a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distância</a:t>
            </a:r>
            <a:r>
              <a:rPr lang="pt-B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entre dois vértices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– representada por d(v, w) é igual ao tamanho do menor caminho entre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 </a:t>
            </a:r>
          </a:p>
        </p:txBody>
      </p:sp>
      <p:sp>
        <p:nvSpPr>
          <p:cNvPr id="6" name="Elipse 5"/>
          <p:cNvSpPr/>
          <p:nvPr/>
        </p:nvSpPr>
        <p:spPr>
          <a:xfrm>
            <a:off x="1765009" y="2135218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901346" y="2798155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8" name="Elipse 7"/>
          <p:cNvSpPr/>
          <p:nvPr/>
        </p:nvSpPr>
        <p:spPr>
          <a:xfrm>
            <a:off x="1798706" y="3332172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9" name="Elipse 8"/>
          <p:cNvSpPr/>
          <p:nvPr/>
        </p:nvSpPr>
        <p:spPr>
          <a:xfrm>
            <a:off x="1283303" y="402039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10" name="Elipse 9"/>
          <p:cNvSpPr/>
          <p:nvPr/>
        </p:nvSpPr>
        <p:spPr>
          <a:xfrm>
            <a:off x="2764118" y="414467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11" name="Elipse 10"/>
          <p:cNvSpPr/>
          <p:nvPr/>
        </p:nvSpPr>
        <p:spPr>
          <a:xfrm>
            <a:off x="2534021" y="2910638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12" name="Elipse 11"/>
          <p:cNvSpPr/>
          <p:nvPr/>
        </p:nvSpPr>
        <p:spPr>
          <a:xfrm>
            <a:off x="3208549" y="2414434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8</a:t>
            </a:r>
          </a:p>
        </p:txBody>
      </p:sp>
      <p:sp>
        <p:nvSpPr>
          <p:cNvPr id="13" name="Elipse 12"/>
          <p:cNvSpPr/>
          <p:nvPr/>
        </p:nvSpPr>
        <p:spPr>
          <a:xfrm>
            <a:off x="3435640" y="3411709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7</a:t>
            </a:r>
          </a:p>
        </p:txBody>
      </p:sp>
      <p:cxnSp>
        <p:nvCxnSpPr>
          <p:cNvPr id="16" name="Conector de seta reta 15"/>
          <p:cNvCxnSpPr>
            <a:stCxn id="8" idx="5"/>
            <a:endCxn id="10" idx="1"/>
          </p:cNvCxnSpPr>
          <p:nvPr/>
        </p:nvCxnSpPr>
        <p:spPr>
          <a:xfrm>
            <a:off x="1995106" y="3524192"/>
            <a:ext cx="802709" cy="653429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6" idx="6"/>
            <a:endCxn id="12" idx="1"/>
          </p:cNvCxnSpPr>
          <p:nvPr/>
        </p:nvCxnSpPr>
        <p:spPr>
          <a:xfrm>
            <a:off x="1995106" y="2247701"/>
            <a:ext cx="1247140" cy="199678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17"/>
          <p:cNvCxnSpPr>
            <a:stCxn id="9" idx="6"/>
            <a:endCxn id="10" idx="2"/>
          </p:cNvCxnSpPr>
          <p:nvPr/>
        </p:nvCxnSpPr>
        <p:spPr>
          <a:xfrm>
            <a:off x="1513400" y="4132879"/>
            <a:ext cx="1250718" cy="12428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8" idx="7"/>
            <a:endCxn id="11" idx="3"/>
          </p:cNvCxnSpPr>
          <p:nvPr/>
        </p:nvCxnSpPr>
        <p:spPr>
          <a:xfrm flipV="1">
            <a:off x="1995106" y="3102658"/>
            <a:ext cx="572612" cy="262459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>
            <a:stCxn id="7" idx="6"/>
            <a:endCxn id="8" idx="1"/>
          </p:cNvCxnSpPr>
          <p:nvPr/>
        </p:nvCxnSpPr>
        <p:spPr>
          <a:xfrm>
            <a:off x="1131443" y="2910638"/>
            <a:ext cx="700960" cy="454479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de seta reta 21"/>
          <p:cNvCxnSpPr>
            <a:stCxn id="6" idx="5"/>
            <a:endCxn id="11" idx="1"/>
          </p:cNvCxnSpPr>
          <p:nvPr/>
        </p:nvCxnSpPr>
        <p:spPr>
          <a:xfrm>
            <a:off x="1961409" y="2327238"/>
            <a:ext cx="606309" cy="616345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de seta reta 23"/>
          <p:cNvCxnSpPr>
            <a:stCxn id="13" idx="1"/>
            <a:endCxn id="11" idx="5"/>
          </p:cNvCxnSpPr>
          <p:nvPr/>
        </p:nvCxnSpPr>
        <p:spPr>
          <a:xfrm flipH="1" flipV="1">
            <a:off x="2730421" y="3102658"/>
            <a:ext cx="738916" cy="341996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/>
          <p:cNvSpPr txBox="1"/>
          <p:nvPr/>
        </p:nvSpPr>
        <p:spPr>
          <a:xfrm>
            <a:off x="852187" y="201147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4076471" y="2121703"/>
            <a:ext cx="454985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Distância entre dois vértices também é denominada de </a:t>
            </a:r>
            <a:r>
              <a:rPr lang="pt-BR" sz="16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distância geodésica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endParaRPr lang="pt-B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pt-BR" sz="16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Excentricidade</a:t>
            </a:r>
            <a:r>
              <a:rPr lang="pt-BR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 um vértice 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ou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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 é a maior distância de 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para qualquer outro vértice.</a:t>
            </a:r>
          </a:p>
          <a:p>
            <a:endParaRPr lang="pt-B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6" name="Retângulo 45"/>
          <p:cNvSpPr/>
          <p:nvPr/>
        </p:nvSpPr>
        <p:spPr>
          <a:xfrm>
            <a:off x="489748" y="2456642"/>
            <a:ext cx="72487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</a:t>
            </a: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(1) = ?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313436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Distância entre Vértices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Dado um grafo G = (V, E), a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distância</a:t>
            </a:r>
            <a:r>
              <a:rPr lang="pt-B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entre dois vértices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– representada por d(v, w) é igual ao tamanho do menor caminho entre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 </a:t>
            </a:r>
          </a:p>
        </p:txBody>
      </p:sp>
      <p:sp>
        <p:nvSpPr>
          <p:cNvPr id="6" name="Elipse 5"/>
          <p:cNvSpPr/>
          <p:nvPr/>
        </p:nvSpPr>
        <p:spPr>
          <a:xfrm>
            <a:off x="1765009" y="2135218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901346" y="2798155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8" name="Elipse 7"/>
          <p:cNvSpPr/>
          <p:nvPr/>
        </p:nvSpPr>
        <p:spPr>
          <a:xfrm>
            <a:off x="1798706" y="3332172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9" name="Elipse 8"/>
          <p:cNvSpPr/>
          <p:nvPr/>
        </p:nvSpPr>
        <p:spPr>
          <a:xfrm>
            <a:off x="1283303" y="402039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10" name="Elipse 9"/>
          <p:cNvSpPr/>
          <p:nvPr/>
        </p:nvSpPr>
        <p:spPr>
          <a:xfrm>
            <a:off x="2764118" y="414467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11" name="Elipse 10"/>
          <p:cNvSpPr/>
          <p:nvPr/>
        </p:nvSpPr>
        <p:spPr>
          <a:xfrm>
            <a:off x="2534021" y="2910638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12" name="Elipse 11"/>
          <p:cNvSpPr/>
          <p:nvPr/>
        </p:nvSpPr>
        <p:spPr>
          <a:xfrm>
            <a:off x="3208549" y="2414434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8</a:t>
            </a:r>
          </a:p>
        </p:txBody>
      </p:sp>
      <p:sp>
        <p:nvSpPr>
          <p:cNvPr id="13" name="Elipse 12"/>
          <p:cNvSpPr/>
          <p:nvPr/>
        </p:nvSpPr>
        <p:spPr>
          <a:xfrm>
            <a:off x="3435640" y="3411709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7</a:t>
            </a:r>
          </a:p>
        </p:txBody>
      </p:sp>
      <p:cxnSp>
        <p:nvCxnSpPr>
          <p:cNvPr id="16" name="Conector de seta reta 15"/>
          <p:cNvCxnSpPr>
            <a:stCxn id="8" idx="5"/>
            <a:endCxn id="10" idx="1"/>
          </p:cNvCxnSpPr>
          <p:nvPr/>
        </p:nvCxnSpPr>
        <p:spPr>
          <a:xfrm>
            <a:off x="1995106" y="3524192"/>
            <a:ext cx="802709" cy="653429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6" idx="6"/>
            <a:endCxn id="12" idx="1"/>
          </p:cNvCxnSpPr>
          <p:nvPr/>
        </p:nvCxnSpPr>
        <p:spPr>
          <a:xfrm>
            <a:off x="1995106" y="2247701"/>
            <a:ext cx="1247140" cy="199678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17"/>
          <p:cNvCxnSpPr>
            <a:stCxn id="9" idx="6"/>
            <a:endCxn id="10" idx="2"/>
          </p:cNvCxnSpPr>
          <p:nvPr/>
        </p:nvCxnSpPr>
        <p:spPr>
          <a:xfrm>
            <a:off x="1513400" y="4132879"/>
            <a:ext cx="1250718" cy="12428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8" idx="7"/>
            <a:endCxn id="11" idx="3"/>
          </p:cNvCxnSpPr>
          <p:nvPr/>
        </p:nvCxnSpPr>
        <p:spPr>
          <a:xfrm flipV="1">
            <a:off x="1995106" y="3102658"/>
            <a:ext cx="572612" cy="262459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>
            <a:stCxn id="7" idx="6"/>
            <a:endCxn id="8" idx="1"/>
          </p:cNvCxnSpPr>
          <p:nvPr/>
        </p:nvCxnSpPr>
        <p:spPr>
          <a:xfrm>
            <a:off x="1131443" y="2910638"/>
            <a:ext cx="700960" cy="454479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de seta reta 21"/>
          <p:cNvCxnSpPr>
            <a:stCxn id="6" idx="5"/>
            <a:endCxn id="11" idx="1"/>
          </p:cNvCxnSpPr>
          <p:nvPr/>
        </p:nvCxnSpPr>
        <p:spPr>
          <a:xfrm>
            <a:off x="1961409" y="2327238"/>
            <a:ext cx="606309" cy="616345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de seta reta 23"/>
          <p:cNvCxnSpPr>
            <a:stCxn id="13" idx="1"/>
            <a:endCxn id="11" idx="5"/>
          </p:cNvCxnSpPr>
          <p:nvPr/>
        </p:nvCxnSpPr>
        <p:spPr>
          <a:xfrm flipH="1" flipV="1">
            <a:off x="2730421" y="3102658"/>
            <a:ext cx="738916" cy="341996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/>
          <p:cNvSpPr txBox="1"/>
          <p:nvPr/>
        </p:nvSpPr>
        <p:spPr>
          <a:xfrm>
            <a:off x="852187" y="201147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4076471" y="2121703"/>
            <a:ext cx="454985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Distância entre dois vértices também é denominada de </a:t>
            </a:r>
            <a:r>
              <a:rPr lang="pt-BR" sz="16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distância geodésica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endParaRPr lang="pt-B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pt-BR" sz="16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Excentricidade</a:t>
            </a:r>
            <a:r>
              <a:rPr lang="pt-BR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 um vértice 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ou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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 é a maior distância de 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para qualquer outro vértice.</a:t>
            </a:r>
          </a:p>
          <a:p>
            <a:endParaRPr lang="pt-B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489748" y="2456642"/>
            <a:ext cx="72487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</a:t>
            </a: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(1) = 4</a:t>
            </a:r>
            <a:endParaRPr lang="pt-BR" sz="1400" dirty="0"/>
          </a:p>
        </p:txBody>
      </p:sp>
      <p:cxnSp>
        <p:nvCxnSpPr>
          <p:cNvPr id="30" name="Conector reto 29"/>
          <p:cNvCxnSpPr>
            <a:stCxn id="7" idx="6"/>
            <a:endCxn id="8" idx="1"/>
          </p:cNvCxnSpPr>
          <p:nvPr/>
        </p:nvCxnSpPr>
        <p:spPr>
          <a:xfrm>
            <a:off x="1131443" y="2910638"/>
            <a:ext cx="700960" cy="45447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to 31"/>
          <p:cNvCxnSpPr>
            <a:stCxn id="11" idx="3"/>
            <a:endCxn id="8" idx="7"/>
          </p:cNvCxnSpPr>
          <p:nvPr/>
        </p:nvCxnSpPr>
        <p:spPr>
          <a:xfrm flipH="1">
            <a:off x="1995106" y="3102658"/>
            <a:ext cx="572612" cy="26245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to 33"/>
          <p:cNvCxnSpPr>
            <a:stCxn id="11" idx="1"/>
            <a:endCxn id="6" idx="5"/>
          </p:cNvCxnSpPr>
          <p:nvPr/>
        </p:nvCxnSpPr>
        <p:spPr>
          <a:xfrm flipH="1" flipV="1">
            <a:off x="1961409" y="2327238"/>
            <a:ext cx="606309" cy="61634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to 36"/>
          <p:cNvCxnSpPr>
            <a:stCxn id="12" idx="1"/>
            <a:endCxn id="6" idx="6"/>
          </p:cNvCxnSpPr>
          <p:nvPr/>
        </p:nvCxnSpPr>
        <p:spPr>
          <a:xfrm flipH="1" flipV="1">
            <a:off x="1995106" y="2247701"/>
            <a:ext cx="1247140" cy="19967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5010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Distância entre Vértices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Dado um grafo G = (V, E), a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distância</a:t>
            </a:r>
            <a:r>
              <a:rPr lang="pt-B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entre dois vértices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– representada por d(v, w) é igual ao tamanho do menor caminho entre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 </a:t>
            </a:r>
          </a:p>
        </p:txBody>
      </p:sp>
      <p:sp>
        <p:nvSpPr>
          <p:cNvPr id="6" name="Elipse 5"/>
          <p:cNvSpPr/>
          <p:nvPr/>
        </p:nvSpPr>
        <p:spPr>
          <a:xfrm>
            <a:off x="1765009" y="2135218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901346" y="2798155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8" name="Elipse 7"/>
          <p:cNvSpPr/>
          <p:nvPr/>
        </p:nvSpPr>
        <p:spPr>
          <a:xfrm>
            <a:off x="1798706" y="3332172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9" name="Elipse 8"/>
          <p:cNvSpPr/>
          <p:nvPr/>
        </p:nvSpPr>
        <p:spPr>
          <a:xfrm>
            <a:off x="1283303" y="402039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10" name="Elipse 9"/>
          <p:cNvSpPr/>
          <p:nvPr/>
        </p:nvSpPr>
        <p:spPr>
          <a:xfrm>
            <a:off x="2764118" y="414467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11" name="Elipse 10"/>
          <p:cNvSpPr/>
          <p:nvPr/>
        </p:nvSpPr>
        <p:spPr>
          <a:xfrm>
            <a:off x="2534021" y="2910638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12" name="Elipse 11"/>
          <p:cNvSpPr/>
          <p:nvPr/>
        </p:nvSpPr>
        <p:spPr>
          <a:xfrm>
            <a:off x="3208549" y="2414434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8</a:t>
            </a:r>
          </a:p>
        </p:txBody>
      </p:sp>
      <p:sp>
        <p:nvSpPr>
          <p:cNvPr id="13" name="Elipse 12"/>
          <p:cNvSpPr/>
          <p:nvPr/>
        </p:nvSpPr>
        <p:spPr>
          <a:xfrm>
            <a:off x="3435640" y="3411709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7</a:t>
            </a:r>
          </a:p>
        </p:txBody>
      </p:sp>
      <p:cxnSp>
        <p:nvCxnSpPr>
          <p:cNvPr id="16" name="Conector de seta reta 15"/>
          <p:cNvCxnSpPr>
            <a:stCxn id="8" idx="5"/>
            <a:endCxn id="10" idx="1"/>
          </p:cNvCxnSpPr>
          <p:nvPr/>
        </p:nvCxnSpPr>
        <p:spPr>
          <a:xfrm>
            <a:off x="1995106" y="3524192"/>
            <a:ext cx="802709" cy="653429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6" idx="6"/>
            <a:endCxn id="12" idx="1"/>
          </p:cNvCxnSpPr>
          <p:nvPr/>
        </p:nvCxnSpPr>
        <p:spPr>
          <a:xfrm>
            <a:off x="1995106" y="2247701"/>
            <a:ext cx="1247140" cy="199678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17"/>
          <p:cNvCxnSpPr>
            <a:stCxn id="9" idx="6"/>
            <a:endCxn id="10" idx="2"/>
          </p:cNvCxnSpPr>
          <p:nvPr/>
        </p:nvCxnSpPr>
        <p:spPr>
          <a:xfrm>
            <a:off x="1513400" y="4132879"/>
            <a:ext cx="1250718" cy="12428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8" idx="7"/>
            <a:endCxn id="11" idx="3"/>
          </p:cNvCxnSpPr>
          <p:nvPr/>
        </p:nvCxnSpPr>
        <p:spPr>
          <a:xfrm flipV="1">
            <a:off x="1995106" y="3102658"/>
            <a:ext cx="572612" cy="262459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>
            <a:stCxn id="7" idx="6"/>
            <a:endCxn id="8" idx="1"/>
          </p:cNvCxnSpPr>
          <p:nvPr/>
        </p:nvCxnSpPr>
        <p:spPr>
          <a:xfrm>
            <a:off x="1131443" y="2910638"/>
            <a:ext cx="700960" cy="454479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de seta reta 21"/>
          <p:cNvCxnSpPr>
            <a:stCxn id="6" idx="5"/>
            <a:endCxn id="11" idx="1"/>
          </p:cNvCxnSpPr>
          <p:nvPr/>
        </p:nvCxnSpPr>
        <p:spPr>
          <a:xfrm>
            <a:off x="1961409" y="2327238"/>
            <a:ext cx="606309" cy="616345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de seta reta 23"/>
          <p:cNvCxnSpPr>
            <a:stCxn id="13" idx="1"/>
            <a:endCxn id="11" idx="5"/>
          </p:cNvCxnSpPr>
          <p:nvPr/>
        </p:nvCxnSpPr>
        <p:spPr>
          <a:xfrm flipH="1" flipV="1">
            <a:off x="2730421" y="3102658"/>
            <a:ext cx="738916" cy="341996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/>
          <p:cNvSpPr txBox="1"/>
          <p:nvPr/>
        </p:nvSpPr>
        <p:spPr>
          <a:xfrm>
            <a:off x="852187" y="201147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4076471" y="2121703"/>
            <a:ext cx="454985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Distância entre dois vértices também é denominada de </a:t>
            </a:r>
            <a:r>
              <a:rPr lang="pt-BR" sz="16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distância geodésica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endParaRPr lang="pt-B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pt-BR" sz="16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Excentricidade</a:t>
            </a:r>
            <a:r>
              <a:rPr lang="pt-BR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 um vértice 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ou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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 é a maior distância de 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para qualquer outro vértice.</a:t>
            </a:r>
          </a:p>
          <a:p>
            <a:endParaRPr lang="pt-B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30" name="Conector reto 29"/>
          <p:cNvCxnSpPr>
            <a:stCxn id="8" idx="5"/>
            <a:endCxn id="10" idx="1"/>
          </p:cNvCxnSpPr>
          <p:nvPr/>
        </p:nvCxnSpPr>
        <p:spPr>
          <a:xfrm>
            <a:off x="1995106" y="3524192"/>
            <a:ext cx="802709" cy="65342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to 31"/>
          <p:cNvCxnSpPr>
            <a:stCxn id="11" idx="3"/>
            <a:endCxn id="8" idx="7"/>
          </p:cNvCxnSpPr>
          <p:nvPr/>
        </p:nvCxnSpPr>
        <p:spPr>
          <a:xfrm flipH="1">
            <a:off x="1995106" y="3102658"/>
            <a:ext cx="572612" cy="26245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to 33"/>
          <p:cNvCxnSpPr>
            <a:stCxn id="11" idx="1"/>
            <a:endCxn id="6" idx="5"/>
          </p:cNvCxnSpPr>
          <p:nvPr/>
        </p:nvCxnSpPr>
        <p:spPr>
          <a:xfrm flipH="1" flipV="1">
            <a:off x="1961409" y="2327238"/>
            <a:ext cx="606309" cy="61634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to 36"/>
          <p:cNvCxnSpPr>
            <a:stCxn id="10" idx="2"/>
            <a:endCxn id="9" idx="6"/>
          </p:cNvCxnSpPr>
          <p:nvPr/>
        </p:nvCxnSpPr>
        <p:spPr>
          <a:xfrm flipH="1" flipV="1">
            <a:off x="1513400" y="4132879"/>
            <a:ext cx="1250718" cy="12428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tângulo 32"/>
          <p:cNvSpPr/>
          <p:nvPr/>
        </p:nvSpPr>
        <p:spPr>
          <a:xfrm>
            <a:off x="489748" y="2456642"/>
            <a:ext cx="72487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</a:t>
            </a: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(1) = 4</a:t>
            </a:r>
            <a:endParaRPr lang="pt-BR" sz="1400" dirty="0"/>
          </a:p>
        </p:txBody>
      </p:sp>
      <p:sp>
        <p:nvSpPr>
          <p:cNvPr id="35" name="Retângulo 34"/>
          <p:cNvSpPr/>
          <p:nvPr/>
        </p:nvSpPr>
        <p:spPr>
          <a:xfrm>
            <a:off x="2020720" y="1917032"/>
            <a:ext cx="72487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</a:t>
            </a: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(2) = 4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512765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Distância entre Vértices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Dado um grafo G = (V, E), a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distância</a:t>
            </a:r>
            <a:r>
              <a:rPr lang="pt-B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entre dois vértices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– representada por d(v, w) é igual ao tamanho do menor caminho entre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 </a:t>
            </a:r>
          </a:p>
        </p:txBody>
      </p:sp>
      <p:sp>
        <p:nvSpPr>
          <p:cNvPr id="6" name="Elipse 5"/>
          <p:cNvSpPr/>
          <p:nvPr/>
        </p:nvSpPr>
        <p:spPr>
          <a:xfrm>
            <a:off x="1765009" y="2135218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901346" y="2798155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8" name="Elipse 7"/>
          <p:cNvSpPr/>
          <p:nvPr/>
        </p:nvSpPr>
        <p:spPr>
          <a:xfrm>
            <a:off x="1798706" y="3332172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9" name="Elipse 8"/>
          <p:cNvSpPr/>
          <p:nvPr/>
        </p:nvSpPr>
        <p:spPr>
          <a:xfrm>
            <a:off x="1283303" y="402039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10" name="Elipse 9"/>
          <p:cNvSpPr/>
          <p:nvPr/>
        </p:nvSpPr>
        <p:spPr>
          <a:xfrm>
            <a:off x="2764118" y="414467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11" name="Elipse 10"/>
          <p:cNvSpPr/>
          <p:nvPr/>
        </p:nvSpPr>
        <p:spPr>
          <a:xfrm>
            <a:off x="2534021" y="2910638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12" name="Elipse 11"/>
          <p:cNvSpPr/>
          <p:nvPr/>
        </p:nvSpPr>
        <p:spPr>
          <a:xfrm>
            <a:off x="3208549" y="2414434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8</a:t>
            </a:r>
          </a:p>
        </p:txBody>
      </p:sp>
      <p:sp>
        <p:nvSpPr>
          <p:cNvPr id="13" name="Elipse 12"/>
          <p:cNvSpPr/>
          <p:nvPr/>
        </p:nvSpPr>
        <p:spPr>
          <a:xfrm>
            <a:off x="3435640" y="3411709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7</a:t>
            </a:r>
          </a:p>
        </p:txBody>
      </p:sp>
      <p:cxnSp>
        <p:nvCxnSpPr>
          <p:cNvPr id="16" name="Conector de seta reta 15"/>
          <p:cNvCxnSpPr>
            <a:stCxn id="8" idx="5"/>
            <a:endCxn id="10" idx="1"/>
          </p:cNvCxnSpPr>
          <p:nvPr/>
        </p:nvCxnSpPr>
        <p:spPr>
          <a:xfrm>
            <a:off x="1995106" y="3524192"/>
            <a:ext cx="802709" cy="653429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6" idx="6"/>
            <a:endCxn id="12" idx="1"/>
          </p:cNvCxnSpPr>
          <p:nvPr/>
        </p:nvCxnSpPr>
        <p:spPr>
          <a:xfrm>
            <a:off x="1995106" y="2247701"/>
            <a:ext cx="1247140" cy="199678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17"/>
          <p:cNvCxnSpPr>
            <a:stCxn id="9" idx="6"/>
            <a:endCxn id="10" idx="2"/>
          </p:cNvCxnSpPr>
          <p:nvPr/>
        </p:nvCxnSpPr>
        <p:spPr>
          <a:xfrm>
            <a:off x="1513400" y="4132879"/>
            <a:ext cx="1250718" cy="12428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8" idx="7"/>
            <a:endCxn id="11" idx="3"/>
          </p:cNvCxnSpPr>
          <p:nvPr/>
        </p:nvCxnSpPr>
        <p:spPr>
          <a:xfrm flipV="1">
            <a:off x="1995106" y="3102658"/>
            <a:ext cx="572612" cy="262459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>
            <a:stCxn id="7" idx="6"/>
            <a:endCxn id="8" idx="1"/>
          </p:cNvCxnSpPr>
          <p:nvPr/>
        </p:nvCxnSpPr>
        <p:spPr>
          <a:xfrm>
            <a:off x="1131443" y="2910638"/>
            <a:ext cx="700960" cy="454479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de seta reta 21"/>
          <p:cNvCxnSpPr>
            <a:stCxn id="6" idx="5"/>
            <a:endCxn id="11" idx="1"/>
          </p:cNvCxnSpPr>
          <p:nvPr/>
        </p:nvCxnSpPr>
        <p:spPr>
          <a:xfrm>
            <a:off x="1961409" y="2327238"/>
            <a:ext cx="606309" cy="616345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de seta reta 23"/>
          <p:cNvCxnSpPr>
            <a:stCxn id="13" idx="1"/>
            <a:endCxn id="11" idx="5"/>
          </p:cNvCxnSpPr>
          <p:nvPr/>
        </p:nvCxnSpPr>
        <p:spPr>
          <a:xfrm flipH="1" flipV="1">
            <a:off x="2730421" y="3102658"/>
            <a:ext cx="738916" cy="341996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/>
          <p:cNvSpPr txBox="1"/>
          <p:nvPr/>
        </p:nvSpPr>
        <p:spPr>
          <a:xfrm>
            <a:off x="852187" y="201147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4076471" y="2121703"/>
            <a:ext cx="454985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Distância entre dois vértices também é denominada de </a:t>
            </a:r>
            <a:r>
              <a:rPr lang="pt-BR" sz="16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distância geodésica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endParaRPr lang="pt-B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pt-BR" sz="16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Excentricidade</a:t>
            </a:r>
            <a:r>
              <a:rPr lang="pt-BR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 um vértice 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ou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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 é a maior distância de 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para qualquer outro vértice.</a:t>
            </a:r>
          </a:p>
          <a:p>
            <a:endParaRPr lang="pt-B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32" name="Conector reto 31"/>
          <p:cNvCxnSpPr>
            <a:stCxn id="11" idx="3"/>
            <a:endCxn id="8" idx="7"/>
          </p:cNvCxnSpPr>
          <p:nvPr/>
        </p:nvCxnSpPr>
        <p:spPr>
          <a:xfrm flipH="1">
            <a:off x="1995106" y="3102658"/>
            <a:ext cx="572612" cy="26245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to 33"/>
          <p:cNvCxnSpPr>
            <a:stCxn id="11" idx="1"/>
            <a:endCxn id="6" idx="5"/>
          </p:cNvCxnSpPr>
          <p:nvPr/>
        </p:nvCxnSpPr>
        <p:spPr>
          <a:xfrm flipH="1" flipV="1">
            <a:off x="1961409" y="2327238"/>
            <a:ext cx="606309" cy="61634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to 36"/>
          <p:cNvCxnSpPr>
            <a:stCxn id="12" idx="1"/>
          </p:cNvCxnSpPr>
          <p:nvPr/>
        </p:nvCxnSpPr>
        <p:spPr>
          <a:xfrm flipH="1" flipV="1">
            <a:off x="1997694" y="2239486"/>
            <a:ext cx="1244552" cy="207893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tângulo 32"/>
          <p:cNvSpPr/>
          <p:nvPr/>
        </p:nvSpPr>
        <p:spPr>
          <a:xfrm>
            <a:off x="489748" y="2456642"/>
            <a:ext cx="72487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</a:t>
            </a: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(1) = 4</a:t>
            </a:r>
            <a:endParaRPr lang="pt-BR" sz="1400" dirty="0"/>
          </a:p>
        </p:txBody>
      </p:sp>
      <p:sp>
        <p:nvSpPr>
          <p:cNvPr id="35" name="Retângulo 34"/>
          <p:cNvSpPr/>
          <p:nvPr/>
        </p:nvSpPr>
        <p:spPr>
          <a:xfrm>
            <a:off x="2020720" y="1917032"/>
            <a:ext cx="72487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</a:t>
            </a: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(2) = 4</a:t>
            </a:r>
            <a:endParaRPr lang="pt-BR" sz="1400" dirty="0"/>
          </a:p>
        </p:txBody>
      </p:sp>
      <p:sp>
        <p:nvSpPr>
          <p:cNvPr id="39" name="Retângulo 38"/>
          <p:cNvSpPr/>
          <p:nvPr/>
        </p:nvSpPr>
        <p:spPr>
          <a:xfrm>
            <a:off x="2020720" y="3295952"/>
            <a:ext cx="72487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</a:t>
            </a: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(3) = 3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1186176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Distância entre Vértices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Dado um grafo G = (V, E), a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distância</a:t>
            </a:r>
            <a:r>
              <a:rPr lang="pt-B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entre dois vértices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– representada por d(v, w) é igual ao tamanho do menor caminho entre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 </a:t>
            </a:r>
          </a:p>
        </p:txBody>
      </p:sp>
      <p:sp>
        <p:nvSpPr>
          <p:cNvPr id="6" name="Elipse 5"/>
          <p:cNvSpPr/>
          <p:nvPr/>
        </p:nvSpPr>
        <p:spPr>
          <a:xfrm>
            <a:off x="1765009" y="2135218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901346" y="2798155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9" name="Elipse 8"/>
          <p:cNvSpPr/>
          <p:nvPr/>
        </p:nvSpPr>
        <p:spPr>
          <a:xfrm>
            <a:off x="1283303" y="4020396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10" name="Elipse 9"/>
          <p:cNvSpPr/>
          <p:nvPr/>
        </p:nvSpPr>
        <p:spPr>
          <a:xfrm>
            <a:off x="2764118" y="414467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11" name="Elipse 10"/>
          <p:cNvSpPr/>
          <p:nvPr/>
        </p:nvSpPr>
        <p:spPr>
          <a:xfrm>
            <a:off x="2534021" y="2910638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12" name="Elipse 11"/>
          <p:cNvSpPr/>
          <p:nvPr/>
        </p:nvSpPr>
        <p:spPr>
          <a:xfrm>
            <a:off x="3208549" y="2414434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8</a:t>
            </a:r>
          </a:p>
        </p:txBody>
      </p:sp>
      <p:sp>
        <p:nvSpPr>
          <p:cNvPr id="13" name="Elipse 12"/>
          <p:cNvSpPr/>
          <p:nvPr/>
        </p:nvSpPr>
        <p:spPr>
          <a:xfrm>
            <a:off x="3435640" y="3411709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7</a:t>
            </a:r>
          </a:p>
        </p:txBody>
      </p:sp>
      <p:cxnSp>
        <p:nvCxnSpPr>
          <p:cNvPr id="16" name="Conector de seta reta 15"/>
          <p:cNvCxnSpPr>
            <a:stCxn id="8" idx="5"/>
            <a:endCxn id="10" idx="1"/>
          </p:cNvCxnSpPr>
          <p:nvPr/>
        </p:nvCxnSpPr>
        <p:spPr>
          <a:xfrm>
            <a:off x="1995106" y="3524192"/>
            <a:ext cx="802709" cy="653429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6" idx="6"/>
            <a:endCxn id="12" idx="1"/>
          </p:cNvCxnSpPr>
          <p:nvPr/>
        </p:nvCxnSpPr>
        <p:spPr>
          <a:xfrm>
            <a:off x="1995106" y="2247701"/>
            <a:ext cx="1247140" cy="199678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17"/>
          <p:cNvCxnSpPr>
            <a:stCxn id="9" idx="6"/>
            <a:endCxn id="10" idx="2"/>
          </p:cNvCxnSpPr>
          <p:nvPr/>
        </p:nvCxnSpPr>
        <p:spPr>
          <a:xfrm>
            <a:off x="1513400" y="4132879"/>
            <a:ext cx="1250718" cy="12428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8" idx="7"/>
            <a:endCxn id="11" idx="3"/>
          </p:cNvCxnSpPr>
          <p:nvPr/>
        </p:nvCxnSpPr>
        <p:spPr>
          <a:xfrm flipV="1">
            <a:off x="1995106" y="3102658"/>
            <a:ext cx="572612" cy="262459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>
            <a:stCxn id="7" idx="6"/>
            <a:endCxn id="8" idx="1"/>
          </p:cNvCxnSpPr>
          <p:nvPr/>
        </p:nvCxnSpPr>
        <p:spPr>
          <a:xfrm>
            <a:off x="1131443" y="2910638"/>
            <a:ext cx="700960" cy="454479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de seta reta 21"/>
          <p:cNvCxnSpPr>
            <a:stCxn id="6" idx="5"/>
            <a:endCxn id="11" idx="1"/>
          </p:cNvCxnSpPr>
          <p:nvPr/>
        </p:nvCxnSpPr>
        <p:spPr>
          <a:xfrm>
            <a:off x="1961409" y="2327238"/>
            <a:ext cx="606309" cy="616345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de seta reta 23"/>
          <p:cNvCxnSpPr>
            <a:stCxn id="13" idx="1"/>
            <a:endCxn id="11" idx="5"/>
          </p:cNvCxnSpPr>
          <p:nvPr/>
        </p:nvCxnSpPr>
        <p:spPr>
          <a:xfrm flipH="1" flipV="1">
            <a:off x="2730421" y="3102658"/>
            <a:ext cx="738916" cy="341996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/>
          <p:cNvSpPr txBox="1"/>
          <p:nvPr/>
        </p:nvSpPr>
        <p:spPr>
          <a:xfrm>
            <a:off x="852187" y="201147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4076471" y="2121703"/>
            <a:ext cx="454985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Distância entre dois vértices também é denominada de </a:t>
            </a:r>
            <a:r>
              <a:rPr lang="pt-BR" sz="16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distância geodésica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endParaRPr lang="pt-B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pt-BR" sz="16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Excentricidade</a:t>
            </a:r>
            <a:r>
              <a:rPr lang="pt-BR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 um vértice 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ou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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 é a maior distância de 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para qualquer outro vértice.</a:t>
            </a:r>
          </a:p>
          <a:p>
            <a:endParaRPr lang="pt-B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32" name="Conector reto 31"/>
          <p:cNvCxnSpPr>
            <a:stCxn id="11" idx="3"/>
            <a:endCxn id="8" idx="7"/>
          </p:cNvCxnSpPr>
          <p:nvPr/>
        </p:nvCxnSpPr>
        <p:spPr>
          <a:xfrm flipH="1">
            <a:off x="1995106" y="3102658"/>
            <a:ext cx="572612" cy="26245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to 33"/>
          <p:cNvCxnSpPr>
            <a:stCxn id="11" idx="1"/>
            <a:endCxn id="6" idx="5"/>
          </p:cNvCxnSpPr>
          <p:nvPr/>
        </p:nvCxnSpPr>
        <p:spPr>
          <a:xfrm flipH="1" flipV="1">
            <a:off x="1961409" y="2327238"/>
            <a:ext cx="606309" cy="61634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to 36"/>
          <p:cNvCxnSpPr>
            <a:stCxn id="12" idx="1"/>
          </p:cNvCxnSpPr>
          <p:nvPr/>
        </p:nvCxnSpPr>
        <p:spPr>
          <a:xfrm flipH="1" flipV="1">
            <a:off x="1997694" y="2239486"/>
            <a:ext cx="1244552" cy="207893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tângulo 32"/>
          <p:cNvSpPr/>
          <p:nvPr/>
        </p:nvSpPr>
        <p:spPr>
          <a:xfrm>
            <a:off x="489748" y="2456642"/>
            <a:ext cx="72487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</a:t>
            </a: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(1) = 4</a:t>
            </a:r>
            <a:endParaRPr lang="pt-BR" sz="1400" dirty="0"/>
          </a:p>
        </p:txBody>
      </p:sp>
      <p:sp>
        <p:nvSpPr>
          <p:cNvPr id="35" name="Retângulo 34"/>
          <p:cNvSpPr/>
          <p:nvPr/>
        </p:nvSpPr>
        <p:spPr>
          <a:xfrm>
            <a:off x="2020720" y="1917032"/>
            <a:ext cx="72487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</a:t>
            </a: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(2) = 4</a:t>
            </a:r>
            <a:endParaRPr lang="pt-BR" sz="1400" dirty="0"/>
          </a:p>
        </p:txBody>
      </p:sp>
      <p:cxnSp>
        <p:nvCxnSpPr>
          <p:cNvPr id="27" name="Conector reto 26"/>
          <p:cNvCxnSpPr>
            <a:stCxn id="8" idx="5"/>
            <a:endCxn id="10" idx="1"/>
          </p:cNvCxnSpPr>
          <p:nvPr/>
        </p:nvCxnSpPr>
        <p:spPr>
          <a:xfrm>
            <a:off x="1995106" y="3524192"/>
            <a:ext cx="802709" cy="65342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to 27"/>
          <p:cNvCxnSpPr>
            <a:stCxn id="10" idx="2"/>
            <a:endCxn id="9" idx="6"/>
          </p:cNvCxnSpPr>
          <p:nvPr/>
        </p:nvCxnSpPr>
        <p:spPr>
          <a:xfrm flipH="1" flipV="1">
            <a:off x="1513400" y="4132879"/>
            <a:ext cx="1250718" cy="12428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lipse 7"/>
          <p:cNvSpPr/>
          <p:nvPr/>
        </p:nvSpPr>
        <p:spPr>
          <a:xfrm>
            <a:off x="1798706" y="3332172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39" name="Retângulo 38"/>
          <p:cNvSpPr/>
          <p:nvPr/>
        </p:nvSpPr>
        <p:spPr>
          <a:xfrm>
            <a:off x="559332" y="3990787"/>
            <a:ext cx="72487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</a:t>
            </a: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(4) = 5</a:t>
            </a:r>
            <a:endParaRPr lang="pt-BR" sz="1400" dirty="0"/>
          </a:p>
        </p:txBody>
      </p:sp>
      <p:sp>
        <p:nvSpPr>
          <p:cNvPr id="40" name="Retângulo 39"/>
          <p:cNvSpPr/>
          <p:nvPr/>
        </p:nvSpPr>
        <p:spPr>
          <a:xfrm>
            <a:off x="2020720" y="3295952"/>
            <a:ext cx="72487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</a:t>
            </a: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(3) = 3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2129104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Distância entre Vértices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Dado um grafo G = (V, E), a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distância</a:t>
            </a:r>
            <a:r>
              <a:rPr lang="pt-B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entre dois vértices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– representada por d(v, w) é igual ao tamanho do menor caminho entre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 </a:t>
            </a:r>
          </a:p>
        </p:txBody>
      </p:sp>
      <p:sp>
        <p:nvSpPr>
          <p:cNvPr id="6" name="Elipse 5"/>
          <p:cNvSpPr/>
          <p:nvPr/>
        </p:nvSpPr>
        <p:spPr>
          <a:xfrm>
            <a:off x="1765009" y="2135218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901346" y="2798155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9" name="Elipse 8"/>
          <p:cNvSpPr/>
          <p:nvPr/>
        </p:nvSpPr>
        <p:spPr>
          <a:xfrm>
            <a:off x="1283303" y="4020396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10" name="Elipse 9"/>
          <p:cNvSpPr/>
          <p:nvPr/>
        </p:nvSpPr>
        <p:spPr>
          <a:xfrm>
            <a:off x="2764118" y="414467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11" name="Elipse 10"/>
          <p:cNvSpPr/>
          <p:nvPr/>
        </p:nvSpPr>
        <p:spPr>
          <a:xfrm>
            <a:off x="2534021" y="2910638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12" name="Elipse 11"/>
          <p:cNvSpPr/>
          <p:nvPr/>
        </p:nvSpPr>
        <p:spPr>
          <a:xfrm>
            <a:off x="3208549" y="2414434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8</a:t>
            </a:r>
          </a:p>
        </p:txBody>
      </p:sp>
      <p:sp>
        <p:nvSpPr>
          <p:cNvPr id="13" name="Elipse 12"/>
          <p:cNvSpPr/>
          <p:nvPr/>
        </p:nvSpPr>
        <p:spPr>
          <a:xfrm>
            <a:off x="3435640" y="3411709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7</a:t>
            </a:r>
          </a:p>
        </p:txBody>
      </p:sp>
      <p:cxnSp>
        <p:nvCxnSpPr>
          <p:cNvPr id="16" name="Conector de seta reta 15"/>
          <p:cNvCxnSpPr>
            <a:stCxn id="8" idx="5"/>
            <a:endCxn id="10" idx="1"/>
          </p:cNvCxnSpPr>
          <p:nvPr/>
        </p:nvCxnSpPr>
        <p:spPr>
          <a:xfrm>
            <a:off x="1995106" y="3524192"/>
            <a:ext cx="802709" cy="653429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6" idx="6"/>
            <a:endCxn id="12" idx="1"/>
          </p:cNvCxnSpPr>
          <p:nvPr/>
        </p:nvCxnSpPr>
        <p:spPr>
          <a:xfrm>
            <a:off x="1995106" y="2247701"/>
            <a:ext cx="1247140" cy="199678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17"/>
          <p:cNvCxnSpPr>
            <a:stCxn id="9" idx="6"/>
            <a:endCxn id="10" idx="2"/>
          </p:cNvCxnSpPr>
          <p:nvPr/>
        </p:nvCxnSpPr>
        <p:spPr>
          <a:xfrm>
            <a:off x="1513400" y="4132879"/>
            <a:ext cx="1250718" cy="12428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8" idx="7"/>
            <a:endCxn id="11" idx="3"/>
          </p:cNvCxnSpPr>
          <p:nvPr/>
        </p:nvCxnSpPr>
        <p:spPr>
          <a:xfrm flipV="1">
            <a:off x="1995106" y="3102658"/>
            <a:ext cx="572612" cy="262459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>
            <a:stCxn id="7" idx="6"/>
            <a:endCxn id="8" idx="1"/>
          </p:cNvCxnSpPr>
          <p:nvPr/>
        </p:nvCxnSpPr>
        <p:spPr>
          <a:xfrm>
            <a:off x="1131443" y="2910638"/>
            <a:ext cx="700960" cy="454479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de seta reta 21"/>
          <p:cNvCxnSpPr>
            <a:stCxn id="6" idx="5"/>
            <a:endCxn id="11" idx="1"/>
          </p:cNvCxnSpPr>
          <p:nvPr/>
        </p:nvCxnSpPr>
        <p:spPr>
          <a:xfrm>
            <a:off x="1961409" y="2327238"/>
            <a:ext cx="606309" cy="616345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de seta reta 23"/>
          <p:cNvCxnSpPr>
            <a:stCxn id="13" idx="1"/>
            <a:endCxn id="11" idx="5"/>
          </p:cNvCxnSpPr>
          <p:nvPr/>
        </p:nvCxnSpPr>
        <p:spPr>
          <a:xfrm flipH="1" flipV="1">
            <a:off x="2730421" y="3102658"/>
            <a:ext cx="738916" cy="341996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/>
          <p:cNvSpPr txBox="1"/>
          <p:nvPr/>
        </p:nvSpPr>
        <p:spPr>
          <a:xfrm>
            <a:off x="852187" y="201147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4076471" y="2121703"/>
            <a:ext cx="454985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Distância entre dois vértices também é denominada de </a:t>
            </a:r>
            <a:r>
              <a:rPr lang="pt-BR" sz="16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distância geodésica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endParaRPr lang="pt-B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pt-BR" sz="16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Excentricidade</a:t>
            </a:r>
            <a:r>
              <a:rPr lang="pt-BR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 um vértice 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ou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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 é a maior distância de 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para qualquer outro vértice.</a:t>
            </a:r>
          </a:p>
          <a:p>
            <a:endParaRPr lang="pt-B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32" name="Conector reto 31"/>
          <p:cNvCxnSpPr>
            <a:stCxn id="11" idx="3"/>
            <a:endCxn id="8" idx="7"/>
          </p:cNvCxnSpPr>
          <p:nvPr/>
        </p:nvCxnSpPr>
        <p:spPr>
          <a:xfrm flipH="1">
            <a:off x="1995106" y="3102658"/>
            <a:ext cx="572612" cy="26245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tângulo 32"/>
          <p:cNvSpPr/>
          <p:nvPr/>
        </p:nvSpPr>
        <p:spPr>
          <a:xfrm>
            <a:off x="489748" y="2456642"/>
            <a:ext cx="72487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</a:t>
            </a: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(1) = 4</a:t>
            </a:r>
            <a:endParaRPr lang="pt-BR" sz="1400" dirty="0"/>
          </a:p>
        </p:txBody>
      </p:sp>
      <p:sp>
        <p:nvSpPr>
          <p:cNvPr id="35" name="Retângulo 34"/>
          <p:cNvSpPr/>
          <p:nvPr/>
        </p:nvSpPr>
        <p:spPr>
          <a:xfrm>
            <a:off x="2020720" y="1917032"/>
            <a:ext cx="72487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</a:t>
            </a: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(2) = 4</a:t>
            </a:r>
            <a:endParaRPr lang="pt-BR" sz="1400" dirty="0"/>
          </a:p>
        </p:txBody>
      </p:sp>
      <p:cxnSp>
        <p:nvCxnSpPr>
          <p:cNvPr id="27" name="Conector reto 26"/>
          <p:cNvCxnSpPr>
            <a:stCxn id="8" idx="5"/>
            <a:endCxn id="10" idx="1"/>
          </p:cNvCxnSpPr>
          <p:nvPr/>
        </p:nvCxnSpPr>
        <p:spPr>
          <a:xfrm>
            <a:off x="1995106" y="3524192"/>
            <a:ext cx="802709" cy="65342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to 27"/>
          <p:cNvCxnSpPr>
            <a:stCxn id="10" idx="2"/>
            <a:endCxn id="9" idx="6"/>
          </p:cNvCxnSpPr>
          <p:nvPr/>
        </p:nvCxnSpPr>
        <p:spPr>
          <a:xfrm flipH="1" flipV="1">
            <a:off x="1513400" y="4132879"/>
            <a:ext cx="1250718" cy="12428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tângulo 29"/>
          <p:cNvSpPr/>
          <p:nvPr/>
        </p:nvSpPr>
        <p:spPr>
          <a:xfrm>
            <a:off x="1820773" y="2820168"/>
            <a:ext cx="72487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</a:t>
            </a: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(5) = 3</a:t>
            </a:r>
            <a:endParaRPr lang="pt-BR" sz="1400" dirty="0"/>
          </a:p>
        </p:txBody>
      </p:sp>
      <p:sp>
        <p:nvSpPr>
          <p:cNvPr id="31" name="Retângulo 30"/>
          <p:cNvSpPr/>
          <p:nvPr/>
        </p:nvSpPr>
        <p:spPr>
          <a:xfrm>
            <a:off x="559332" y="3990787"/>
            <a:ext cx="72487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</a:t>
            </a: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(4) = 5</a:t>
            </a:r>
            <a:endParaRPr lang="pt-BR" sz="1400" dirty="0"/>
          </a:p>
        </p:txBody>
      </p:sp>
      <p:sp>
        <p:nvSpPr>
          <p:cNvPr id="8" name="Elipse 7"/>
          <p:cNvSpPr/>
          <p:nvPr/>
        </p:nvSpPr>
        <p:spPr>
          <a:xfrm>
            <a:off x="1798706" y="3332172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39" name="Retângulo 38"/>
          <p:cNvSpPr/>
          <p:nvPr/>
        </p:nvSpPr>
        <p:spPr>
          <a:xfrm>
            <a:off x="2020720" y="3295952"/>
            <a:ext cx="72487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</a:t>
            </a: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(3) = 3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355378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Distância entre Vértices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Dado um grafo G = (V, E), a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distância</a:t>
            </a:r>
            <a:r>
              <a:rPr lang="pt-B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entre dois vértices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– representada por d(v, w) é igual ao tamanho do menor caminho entre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 </a:t>
            </a:r>
          </a:p>
        </p:txBody>
      </p:sp>
      <p:sp>
        <p:nvSpPr>
          <p:cNvPr id="6" name="Elipse 5"/>
          <p:cNvSpPr/>
          <p:nvPr/>
        </p:nvSpPr>
        <p:spPr>
          <a:xfrm>
            <a:off x="1765009" y="2135218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901346" y="2798155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9" name="Elipse 8"/>
          <p:cNvSpPr/>
          <p:nvPr/>
        </p:nvSpPr>
        <p:spPr>
          <a:xfrm>
            <a:off x="1283303" y="4020396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10" name="Elipse 9"/>
          <p:cNvSpPr/>
          <p:nvPr/>
        </p:nvSpPr>
        <p:spPr>
          <a:xfrm>
            <a:off x="2764118" y="4144676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12" name="Elipse 11"/>
          <p:cNvSpPr/>
          <p:nvPr/>
        </p:nvSpPr>
        <p:spPr>
          <a:xfrm>
            <a:off x="3208549" y="2414434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8</a:t>
            </a:r>
          </a:p>
        </p:txBody>
      </p:sp>
      <p:sp>
        <p:nvSpPr>
          <p:cNvPr id="13" name="Elipse 12"/>
          <p:cNvSpPr/>
          <p:nvPr/>
        </p:nvSpPr>
        <p:spPr>
          <a:xfrm>
            <a:off x="3435640" y="3411709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7</a:t>
            </a:r>
          </a:p>
        </p:txBody>
      </p:sp>
      <p:cxnSp>
        <p:nvCxnSpPr>
          <p:cNvPr id="16" name="Conector de seta reta 15"/>
          <p:cNvCxnSpPr>
            <a:stCxn id="8" idx="5"/>
            <a:endCxn id="10" idx="1"/>
          </p:cNvCxnSpPr>
          <p:nvPr/>
        </p:nvCxnSpPr>
        <p:spPr>
          <a:xfrm>
            <a:off x="1995106" y="3524192"/>
            <a:ext cx="802709" cy="653429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6" idx="6"/>
            <a:endCxn id="12" idx="1"/>
          </p:cNvCxnSpPr>
          <p:nvPr/>
        </p:nvCxnSpPr>
        <p:spPr>
          <a:xfrm>
            <a:off x="1995106" y="2247701"/>
            <a:ext cx="1247140" cy="199678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17"/>
          <p:cNvCxnSpPr>
            <a:stCxn id="9" idx="6"/>
            <a:endCxn id="10" idx="2"/>
          </p:cNvCxnSpPr>
          <p:nvPr/>
        </p:nvCxnSpPr>
        <p:spPr>
          <a:xfrm>
            <a:off x="1513400" y="4132879"/>
            <a:ext cx="1250718" cy="12428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8" idx="7"/>
            <a:endCxn id="11" idx="3"/>
          </p:cNvCxnSpPr>
          <p:nvPr/>
        </p:nvCxnSpPr>
        <p:spPr>
          <a:xfrm flipV="1">
            <a:off x="1995106" y="3102658"/>
            <a:ext cx="572612" cy="262459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>
            <a:stCxn id="7" idx="6"/>
            <a:endCxn id="8" idx="1"/>
          </p:cNvCxnSpPr>
          <p:nvPr/>
        </p:nvCxnSpPr>
        <p:spPr>
          <a:xfrm>
            <a:off x="1131443" y="2910638"/>
            <a:ext cx="700960" cy="454479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de seta reta 21"/>
          <p:cNvCxnSpPr>
            <a:stCxn id="6" idx="5"/>
            <a:endCxn id="11" idx="1"/>
          </p:cNvCxnSpPr>
          <p:nvPr/>
        </p:nvCxnSpPr>
        <p:spPr>
          <a:xfrm>
            <a:off x="1961409" y="2327238"/>
            <a:ext cx="606309" cy="616345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de seta reta 23"/>
          <p:cNvCxnSpPr>
            <a:stCxn id="13" idx="1"/>
            <a:endCxn id="11" idx="5"/>
          </p:cNvCxnSpPr>
          <p:nvPr/>
        </p:nvCxnSpPr>
        <p:spPr>
          <a:xfrm flipH="1" flipV="1">
            <a:off x="2730421" y="3102658"/>
            <a:ext cx="738916" cy="341996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/>
          <p:cNvSpPr txBox="1"/>
          <p:nvPr/>
        </p:nvSpPr>
        <p:spPr>
          <a:xfrm>
            <a:off x="852187" y="201147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4076471" y="2121703"/>
            <a:ext cx="454985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Distância entre dois vértices também é denominada de </a:t>
            </a:r>
            <a:r>
              <a:rPr lang="pt-BR" sz="16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distância geodésica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endParaRPr lang="pt-B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pt-BR" sz="16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Excentricidade</a:t>
            </a:r>
            <a:r>
              <a:rPr lang="pt-BR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 um vértice 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ou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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 é a maior distância de 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para qualquer outro vértice.</a:t>
            </a:r>
          </a:p>
          <a:p>
            <a:endParaRPr lang="pt-B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32" name="Conector reto 31"/>
          <p:cNvCxnSpPr>
            <a:stCxn id="11" idx="3"/>
            <a:endCxn id="8" idx="7"/>
          </p:cNvCxnSpPr>
          <p:nvPr/>
        </p:nvCxnSpPr>
        <p:spPr>
          <a:xfrm flipH="1">
            <a:off x="1995106" y="3102658"/>
            <a:ext cx="572612" cy="26245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tângulo 32"/>
          <p:cNvSpPr/>
          <p:nvPr/>
        </p:nvSpPr>
        <p:spPr>
          <a:xfrm>
            <a:off x="489748" y="2456642"/>
            <a:ext cx="72487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</a:t>
            </a: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(1) = 4</a:t>
            </a:r>
            <a:endParaRPr lang="pt-BR" sz="1400" dirty="0"/>
          </a:p>
        </p:txBody>
      </p:sp>
      <p:sp>
        <p:nvSpPr>
          <p:cNvPr id="35" name="Retângulo 34"/>
          <p:cNvSpPr/>
          <p:nvPr/>
        </p:nvSpPr>
        <p:spPr>
          <a:xfrm>
            <a:off x="2020720" y="1917032"/>
            <a:ext cx="72487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</a:t>
            </a: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(2) = 4</a:t>
            </a:r>
            <a:endParaRPr lang="pt-BR" sz="1400" dirty="0"/>
          </a:p>
        </p:txBody>
      </p:sp>
      <p:cxnSp>
        <p:nvCxnSpPr>
          <p:cNvPr id="27" name="Conector reto 26"/>
          <p:cNvCxnSpPr>
            <a:stCxn id="8" idx="5"/>
            <a:endCxn id="10" idx="1"/>
          </p:cNvCxnSpPr>
          <p:nvPr/>
        </p:nvCxnSpPr>
        <p:spPr>
          <a:xfrm>
            <a:off x="1995106" y="3524192"/>
            <a:ext cx="802709" cy="65342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tângulo 37"/>
          <p:cNvSpPr/>
          <p:nvPr/>
        </p:nvSpPr>
        <p:spPr>
          <a:xfrm>
            <a:off x="559332" y="3990787"/>
            <a:ext cx="72487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</a:t>
            </a: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(4) = 5</a:t>
            </a:r>
            <a:endParaRPr lang="pt-BR" sz="1400" dirty="0"/>
          </a:p>
        </p:txBody>
      </p:sp>
      <p:sp>
        <p:nvSpPr>
          <p:cNvPr id="30" name="Retângulo 29"/>
          <p:cNvSpPr/>
          <p:nvPr/>
        </p:nvSpPr>
        <p:spPr>
          <a:xfrm>
            <a:off x="1820773" y="2820168"/>
            <a:ext cx="72487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</a:t>
            </a: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(5) = 3</a:t>
            </a:r>
            <a:endParaRPr lang="pt-BR" sz="1400" dirty="0"/>
          </a:p>
        </p:txBody>
      </p:sp>
      <p:sp>
        <p:nvSpPr>
          <p:cNvPr id="8" name="Elipse 7"/>
          <p:cNvSpPr/>
          <p:nvPr/>
        </p:nvSpPr>
        <p:spPr>
          <a:xfrm>
            <a:off x="1798706" y="3332172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cxnSp>
        <p:nvCxnSpPr>
          <p:cNvPr id="31" name="Conector reto 30"/>
          <p:cNvCxnSpPr/>
          <p:nvPr/>
        </p:nvCxnSpPr>
        <p:spPr>
          <a:xfrm flipH="1" flipV="1">
            <a:off x="1961409" y="2327238"/>
            <a:ext cx="606309" cy="61634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to 33"/>
          <p:cNvCxnSpPr/>
          <p:nvPr/>
        </p:nvCxnSpPr>
        <p:spPr>
          <a:xfrm flipH="1" flipV="1">
            <a:off x="1997694" y="2239486"/>
            <a:ext cx="1244552" cy="207893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/>
          <p:cNvSpPr/>
          <p:nvPr/>
        </p:nvSpPr>
        <p:spPr>
          <a:xfrm>
            <a:off x="2534021" y="2910638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37" name="Retângulo 36"/>
          <p:cNvSpPr/>
          <p:nvPr/>
        </p:nvSpPr>
        <p:spPr>
          <a:xfrm>
            <a:off x="3016705" y="4103269"/>
            <a:ext cx="72487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</a:t>
            </a: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(6) = 4</a:t>
            </a:r>
            <a:endParaRPr lang="pt-BR" sz="1400" dirty="0"/>
          </a:p>
        </p:txBody>
      </p:sp>
      <p:sp>
        <p:nvSpPr>
          <p:cNvPr id="39" name="Retângulo 38"/>
          <p:cNvSpPr/>
          <p:nvPr/>
        </p:nvSpPr>
        <p:spPr>
          <a:xfrm>
            <a:off x="2020720" y="3295952"/>
            <a:ext cx="72487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</a:t>
            </a: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(3) = 3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298070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Distância entre Vértices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Dado um grafo G = (V, E), a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distância</a:t>
            </a:r>
            <a:r>
              <a:rPr lang="pt-B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entre dois vértices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– representada por d(v, w) é igual ao tamanho do menor caminho entre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 </a:t>
            </a:r>
          </a:p>
        </p:txBody>
      </p:sp>
      <p:sp>
        <p:nvSpPr>
          <p:cNvPr id="6" name="Elipse 5"/>
          <p:cNvSpPr/>
          <p:nvPr/>
        </p:nvSpPr>
        <p:spPr>
          <a:xfrm>
            <a:off x="1765009" y="2135218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901346" y="2798155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9" name="Elipse 8"/>
          <p:cNvSpPr/>
          <p:nvPr/>
        </p:nvSpPr>
        <p:spPr>
          <a:xfrm>
            <a:off x="1283303" y="4020396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10" name="Elipse 9"/>
          <p:cNvSpPr/>
          <p:nvPr/>
        </p:nvSpPr>
        <p:spPr>
          <a:xfrm>
            <a:off x="2764118" y="4144676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11" name="Elipse 10"/>
          <p:cNvSpPr/>
          <p:nvPr/>
        </p:nvSpPr>
        <p:spPr>
          <a:xfrm>
            <a:off x="2534021" y="2910638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12" name="Elipse 11"/>
          <p:cNvSpPr/>
          <p:nvPr/>
        </p:nvSpPr>
        <p:spPr>
          <a:xfrm>
            <a:off x="3208549" y="2414434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8</a:t>
            </a:r>
          </a:p>
        </p:txBody>
      </p:sp>
      <p:sp>
        <p:nvSpPr>
          <p:cNvPr id="13" name="Elipse 12"/>
          <p:cNvSpPr/>
          <p:nvPr/>
        </p:nvSpPr>
        <p:spPr>
          <a:xfrm>
            <a:off x="3435640" y="3411709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7</a:t>
            </a:r>
          </a:p>
        </p:txBody>
      </p:sp>
      <p:cxnSp>
        <p:nvCxnSpPr>
          <p:cNvPr id="16" name="Conector de seta reta 15"/>
          <p:cNvCxnSpPr>
            <a:stCxn id="8" idx="5"/>
            <a:endCxn id="10" idx="1"/>
          </p:cNvCxnSpPr>
          <p:nvPr/>
        </p:nvCxnSpPr>
        <p:spPr>
          <a:xfrm>
            <a:off x="1995106" y="3524192"/>
            <a:ext cx="802709" cy="653429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6" idx="6"/>
            <a:endCxn id="12" idx="1"/>
          </p:cNvCxnSpPr>
          <p:nvPr/>
        </p:nvCxnSpPr>
        <p:spPr>
          <a:xfrm>
            <a:off x="1995106" y="2247701"/>
            <a:ext cx="1247140" cy="199678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17"/>
          <p:cNvCxnSpPr>
            <a:stCxn id="9" idx="6"/>
            <a:endCxn id="10" idx="2"/>
          </p:cNvCxnSpPr>
          <p:nvPr/>
        </p:nvCxnSpPr>
        <p:spPr>
          <a:xfrm>
            <a:off x="1513400" y="4132879"/>
            <a:ext cx="1250718" cy="12428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8" idx="7"/>
            <a:endCxn id="11" idx="3"/>
          </p:cNvCxnSpPr>
          <p:nvPr/>
        </p:nvCxnSpPr>
        <p:spPr>
          <a:xfrm flipV="1">
            <a:off x="1995106" y="3102658"/>
            <a:ext cx="572612" cy="262459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>
            <a:stCxn id="7" idx="6"/>
            <a:endCxn id="8" idx="1"/>
          </p:cNvCxnSpPr>
          <p:nvPr/>
        </p:nvCxnSpPr>
        <p:spPr>
          <a:xfrm>
            <a:off x="1131443" y="2910638"/>
            <a:ext cx="700960" cy="454479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de seta reta 21"/>
          <p:cNvCxnSpPr>
            <a:stCxn id="6" idx="5"/>
            <a:endCxn id="11" idx="1"/>
          </p:cNvCxnSpPr>
          <p:nvPr/>
        </p:nvCxnSpPr>
        <p:spPr>
          <a:xfrm>
            <a:off x="1961409" y="2327238"/>
            <a:ext cx="606309" cy="616345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de seta reta 23"/>
          <p:cNvCxnSpPr>
            <a:stCxn id="13" idx="1"/>
            <a:endCxn id="11" idx="5"/>
          </p:cNvCxnSpPr>
          <p:nvPr/>
        </p:nvCxnSpPr>
        <p:spPr>
          <a:xfrm flipH="1" flipV="1">
            <a:off x="2730421" y="3102658"/>
            <a:ext cx="738916" cy="341996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/>
          <p:cNvSpPr txBox="1"/>
          <p:nvPr/>
        </p:nvSpPr>
        <p:spPr>
          <a:xfrm>
            <a:off x="852187" y="201147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4076471" y="2121703"/>
            <a:ext cx="454985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Distância entre dois vértices também é denominada de </a:t>
            </a:r>
            <a:r>
              <a:rPr lang="pt-BR" sz="16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distância geodésica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endParaRPr lang="pt-B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pt-BR" sz="16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Excentricidade</a:t>
            </a:r>
            <a:r>
              <a:rPr lang="pt-BR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 um vértice 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ou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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 é a maior distância de 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para qualquer outro vértice.</a:t>
            </a:r>
          </a:p>
          <a:p>
            <a:endParaRPr lang="pt-B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32" name="Conector reto 31"/>
          <p:cNvCxnSpPr>
            <a:stCxn id="11" idx="3"/>
            <a:endCxn id="8" idx="7"/>
          </p:cNvCxnSpPr>
          <p:nvPr/>
        </p:nvCxnSpPr>
        <p:spPr>
          <a:xfrm flipH="1">
            <a:off x="1995106" y="3102658"/>
            <a:ext cx="572612" cy="26245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tângulo 32"/>
          <p:cNvSpPr/>
          <p:nvPr/>
        </p:nvSpPr>
        <p:spPr>
          <a:xfrm>
            <a:off x="489748" y="2456642"/>
            <a:ext cx="72487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</a:t>
            </a: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(1) = 4</a:t>
            </a:r>
            <a:endParaRPr lang="pt-BR" sz="1400" dirty="0"/>
          </a:p>
        </p:txBody>
      </p:sp>
      <p:sp>
        <p:nvSpPr>
          <p:cNvPr id="35" name="Retângulo 34"/>
          <p:cNvSpPr/>
          <p:nvPr/>
        </p:nvSpPr>
        <p:spPr>
          <a:xfrm>
            <a:off x="2020720" y="1917032"/>
            <a:ext cx="72487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</a:t>
            </a: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(2) = 4</a:t>
            </a:r>
            <a:endParaRPr lang="pt-BR" sz="1400" dirty="0"/>
          </a:p>
        </p:txBody>
      </p:sp>
      <p:cxnSp>
        <p:nvCxnSpPr>
          <p:cNvPr id="27" name="Conector reto 26"/>
          <p:cNvCxnSpPr>
            <a:stCxn id="8" idx="5"/>
            <a:endCxn id="10" idx="1"/>
          </p:cNvCxnSpPr>
          <p:nvPr/>
        </p:nvCxnSpPr>
        <p:spPr>
          <a:xfrm>
            <a:off x="1995106" y="3524192"/>
            <a:ext cx="802709" cy="65342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to 27"/>
          <p:cNvCxnSpPr>
            <a:stCxn id="10" idx="2"/>
            <a:endCxn id="9" idx="6"/>
          </p:cNvCxnSpPr>
          <p:nvPr/>
        </p:nvCxnSpPr>
        <p:spPr>
          <a:xfrm flipH="1" flipV="1">
            <a:off x="1513400" y="4132879"/>
            <a:ext cx="1250718" cy="12428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tângulo 29"/>
          <p:cNvSpPr/>
          <p:nvPr/>
        </p:nvSpPr>
        <p:spPr>
          <a:xfrm>
            <a:off x="1820773" y="2820168"/>
            <a:ext cx="72487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</a:t>
            </a: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(5) = 3</a:t>
            </a:r>
            <a:endParaRPr lang="pt-BR" sz="1400" dirty="0"/>
          </a:p>
        </p:txBody>
      </p:sp>
      <p:sp>
        <p:nvSpPr>
          <p:cNvPr id="8" name="Elipse 7"/>
          <p:cNvSpPr/>
          <p:nvPr/>
        </p:nvSpPr>
        <p:spPr>
          <a:xfrm>
            <a:off x="1798706" y="3332172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31" name="Retângulo 30"/>
          <p:cNvSpPr/>
          <p:nvPr/>
        </p:nvSpPr>
        <p:spPr>
          <a:xfrm>
            <a:off x="559332" y="3990787"/>
            <a:ext cx="72487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</a:t>
            </a: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(4) = 5</a:t>
            </a:r>
            <a:endParaRPr lang="pt-BR" sz="1400" dirty="0"/>
          </a:p>
        </p:txBody>
      </p:sp>
      <p:sp>
        <p:nvSpPr>
          <p:cNvPr id="34" name="Retângulo 33"/>
          <p:cNvSpPr/>
          <p:nvPr/>
        </p:nvSpPr>
        <p:spPr>
          <a:xfrm>
            <a:off x="3016705" y="4103269"/>
            <a:ext cx="72487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</a:t>
            </a: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(6) = 4</a:t>
            </a:r>
            <a:endParaRPr lang="pt-BR" sz="1400" dirty="0"/>
          </a:p>
        </p:txBody>
      </p:sp>
      <p:cxnSp>
        <p:nvCxnSpPr>
          <p:cNvPr id="37" name="Conector reto 36"/>
          <p:cNvCxnSpPr>
            <a:stCxn id="13" idx="1"/>
            <a:endCxn id="11" idx="5"/>
          </p:cNvCxnSpPr>
          <p:nvPr/>
        </p:nvCxnSpPr>
        <p:spPr>
          <a:xfrm flipH="1" flipV="1">
            <a:off x="2730421" y="3102658"/>
            <a:ext cx="738916" cy="34199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tângulo 38"/>
          <p:cNvSpPr/>
          <p:nvPr/>
        </p:nvSpPr>
        <p:spPr>
          <a:xfrm>
            <a:off x="2737440" y="3441221"/>
            <a:ext cx="72487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</a:t>
            </a: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(7) = 4</a:t>
            </a:r>
            <a:endParaRPr lang="pt-BR" sz="1400" dirty="0"/>
          </a:p>
        </p:txBody>
      </p:sp>
      <p:sp>
        <p:nvSpPr>
          <p:cNvPr id="40" name="Retângulo 39"/>
          <p:cNvSpPr/>
          <p:nvPr/>
        </p:nvSpPr>
        <p:spPr>
          <a:xfrm>
            <a:off x="2020720" y="3295952"/>
            <a:ext cx="72487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</a:t>
            </a: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(3) = 3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283518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Distância entre Vértices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Dado um grafo G = (V, E), a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distância</a:t>
            </a:r>
            <a:r>
              <a:rPr lang="pt-B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entre dois vértices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– representada por d(v, w) é igual ao tamanho do menor caminho entre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 </a:t>
            </a:r>
          </a:p>
        </p:txBody>
      </p:sp>
      <p:sp>
        <p:nvSpPr>
          <p:cNvPr id="6" name="Elipse 5"/>
          <p:cNvSpPr/>
          <p:nvPr/>
        </p:nvSpPr>
        <p:spPr>
          <a:xfrm>
            <a:off x="1765009" y="2135218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901346" y="2798155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9" name="Elipse 8"/>
          <p:cNvSpPr/>
          <p:nvPr/>
        </p:nvSpPr>
        <p:spPr>
          <a:xfrm>
            <a:off x="1283303" y="4020396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10" name="Elipse 9"/>
          <p:cNvSpPr/>
          <p:nvPr/>
        </p:nvSpPr>
        <p:spPr>
          <a:xfrm>
            <a:off x="2764118" y="4144676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12" name="Elipse 11"/>
          <p:cNvSpPr/>
          <p:nvPr/>
        </p:nvSpPr>
        <p:spPr>
          <a:xfrm>
            <a:off x="3208549" y="2414434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8</a:t>
            </a:r>
          </a:p>
        </p:txBody>
      </p:sp>
      <p:sp>
        <p:nvSpPr>
          <p:cNvPr id="13" name="Elipse 12"/>
          <p:cNvSpPr/>
          <p:nvPr/>
        </p:nvSpPr>
        <p:spPr>
          <a:xfrm>
            <a:off x="3435640" y="3411709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7</a:t>
            </a:r>
          </a:p>
        </p:txBody>
      </p:sp>
      <p:cxnSp>
        <p:nvCxnSpPr>
          <p:cNvPr id="16" name="Conector de seta reta 15"/>
          <p:cNvCxnSpPr>
            <a:stCxn id="8" idx="5"/>
            <a:endCxn id="10" idx="1"/>
          </p:cNvCxnSpPr>
          <p:nvPr/>
        </p:nvCxnSpPr>
        <p:spPr>
          <a:xfrm>
            <a:off x="1995106" y="3524192"/>
            <a:ext cx="802709" cy="653429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6" idx="6"/>
            <a:endCxn id="12" idx="1"/>
          </p:cNvCxnSpPr>
          <p:nvPr/>
        </p:nvCxnSpPr>
        <p:spPr>
          <a:xfrm>
            <a:off x="1995106" y="2247701"/>
            <a:ext cx="1247140" cy="199678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17"/>
          <p:cNvCxnSpPr>
            <a:stCxn id="9" idx="6"/>
            <a:endCxn id="10" idx="2"/>
          </p:cNvCxnSpPr>
          <p:nvPr/>
        </p:nvCxnSpPr>
        <p:spPr>
          <a:xfrm>
            <a:off x="1513400" y="4132879"/>
            <a:ext cx="1250718" cy="12428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8" idx="7"/>
            <a:endCxn id="11" idx="3"/>
          </p:cNvCxnSpPr>
          <p:nvPr/>
        </p:nvCxnSpPr>
        <p:spPr>
          <a:xfrm flipV="1">
            <a:off x="1995106" y="3102658"/>
            <a:ext cx="572612" cy="262459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>
            <a:stCxn id="7" idx="6"/>
            <a:endCxn id="8" idx="1"/>
          </p:cNvCxnSpPr>
          <p:nvPr/>
        </p:nvCxnSpPr>
        <p:spPr>
          <a:xfrm>
            <a:off x="1131443" y="2910638"/>
            <a:ext cx="700960" cy="454479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de seta reta 21"/>
          <p:cNvCxnSpPr>
            <a:stCxn id="6" idx="5"/>
            <a:endCxn id="11" idx="1"/>
          </p:cNvCxnSpPr>
          <p:nvPr/>
        </p:nvCxnSpPr>
        <p:spPr>
          <a:xfrm>
            <a:off x="1961409" y="2327238"/>
            <a:ext cx="606309" cy="616345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de seta reta 23"/>
          <p:cNvCxnSpPr>
            <a:stCxn id="13" idx="1"/>
            <a:endCxn id="11" idx="5"/>
          </p:cNvCxnSpPr>
          <p:nvPr/>
        </p:nvCxnSpPr>
        <p:spPr>
          <a:xfrm flipH="1" flipV="1">
            <a:off x="2730421" y="3102658"/>
            <a:ext cx="738916" cy="341996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/>
          <p:cNvSpPr txBox="1"/>
          <p:nvPr/>
        </p:nvSpPr>
        <p:spPr>
          <a:xfrm>
            <a:off x="852187" y="201147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4076471" y="2121703"/>
            <a:ext cx="454985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Distância entre dois vértices também é denominada de </a:t>
            </a:r>
            <a:r>
              <a:rPr lang="pt-BR" sz="16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distância geodésica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endParaRPr lang="pt-B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pt-BR" sz="16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Excentricidade</a:t>
            </a:r>
            <a:r>
              <a:rPr lang="pt-BR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 um vértice 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ou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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 é a maior distância de 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para qualquer outro vértice.</a:t>
            </a:r>
          </a:p>
          <a:p>
            <a:endParaRPr lang="pt-B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32" name="Conector reto 31"/>
          <p:cNvCxnSpPr>
            <a:stCxn id="11" idx="3"/>
            <a:endCxn id="8" idx="7"/>
          </p:cNvCxnSpPr>
          <p:nvPr/>
        </p:nvCxnSpPr>
        <p:spPr>
          <a:xfrm flipH="1">
            <a:off x="1995106" y="3102658"/>
            <a:ext cx="572612" cy="26245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tângulo 32"/>
          <p:cNvSpPr/>
          <p:nvPr/>
        </p:nvSpPr>
        <p:spPr>
          <a:xfrm>
            <a:off x="489748" y="2456642"/>
            <a:ext cx="72487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</a:t>
            </a: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(1) = 4</a:t>
            </a:r>
            <a:endParaRPr lang="pt-BR" sz="1400" dirty="0"/>
          </a:p>
        </p:txBody>
      </p:sp>
      <p:sp>
        <p:nvSpPr>
          <p:cNvPr id="35" name="Retângulo 34"/>
          <p:cNvSpPr/>
          <p:nvPr/>
        </p:nvSpPr>
        <p:spPr>
          <a:xfrm>
            <a:off x="2020720" y="1917032"/>
            <a:ext cx="72487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</a:t>
            </a: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(2) = 4</a:t>
            </a:r>
            <a:endParaRPr lang="pt-BR" sz="1400" dirty="0"/>
          </a:p>
        </p:txBody>
      </p:sp>
      <p:cxnSp>
        <p:nvCxnSpPr>
          <p:cNvPr id="27" name="Conector reto 26"/>
          <p:cNvCxnSpPr>
            <a:stCxn id="8" idx="5"/>
            <a:endCxn id="10" idx="1"/>
          </p:cNvCxnSpPr>
          <p:nvPr/>
        </p:nvCxnSpPr>
        <p:spPr>
          <a:xfrm>
            <a:off x="1995106" y="3524192"/>
            <a:ext cx="802709" cy="65342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to 27"/>
          <p:cNvCxnSpPr>
            <a:stCxn id="10" idx="2"/>
            <a:endCxn id="9" idx="6"/>
          </p:cNvCxnSpPr>
          <p:nvPr/>
        </p:nvCxnSpPr>
        <p:spPr>
          <a:xfrm flipH="1" flipV="1">
            <a:off x="1513400" y="4132879"/>
            <a:ext cx="1250718" cy="12428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tângulo 29"/>
          <p:cNvSpPr/>
          <p:nvPr/>
        </p:nvSpPr>
        <p:spPr>
          <a:xfrm>
            <a:off x="1820773" y="2820168"/>
            <a:ext cx="72487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</a:t>
            </a: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(5) = 3</a:t>
            </a:r>
            <a:endParaRPr lang="pt-BR" sz="1400" dirty="0"/>
          </a:p>
        </p:txBody>
      </p:sp>
      <p:sp>
        <p:nvSpPr>
          <p:cNvPr id="8" name="Elipse 7"/>
          <p:cNvSpPr/>
          <p:nvPr/>
        </p:nvSpPr>
        <p:spPr>
          <a:xfrm>
            <a:off x="1798706" y="3332172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31" name="Retângulo 30"/>
          <p:cNvSpPr/>
          <p:nvPr/>
        </p:nvSpPr>
        <p:spPr>
          <a:xfrm>
            <a:off x="559332" y="3990787"/>
            <a:ext cx="72487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</a:t>
            </a: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(4) = 5</a:t>
            </a:r>
            <a:endParaRPr lang="pt-BR" sz="1400" dirty="0"/>
          </a:p>
        </p:txBody>
      </p:sp>
      <p:sp>
        <p:nvSpPr>
          <p:cNvPr id="34" name="Retângulo 33"/>
          <p:cNvSpPr/>
          <p:nvPr/>
        </p:nvSpPr>
        <p:spPr>
          <a:xfrm>
            <a:off x="3016705" y="4103269"/>
            <a:ext cx="72487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</a:t>
            </a: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(6) = 4</a:t>
            </a:r>
            <a:endParaRPr lang="pt-BR" sz="1400" dirty="0"/>
          </a:p>
        </p:txBody>
      </p:sp>
      <p:sp>
        <p:nvSpPr>
          <p:cNvPr id="39" name="Retângulo 38"/>
          <p:cNvSpPr/>
          <p:nvPr/>
        </p:nvSpPr>
        <p:spPr>
          <a:xfrm>
            <a:off x="2737440" y="3441221"/>
            <a:ext cx="72487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</a:t>
            </a: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(7) = 4</a:t>
            </a:r>
            <a:endParaRPr lang="pt-BR" sz="1400" dirty="0"/>
          </a:p>
        </p:txBody>
      </p:sp>
      <p:sp>
        <p:nvSpPr>
          <p:cNvPr id="40" name="Retângulo 39"/>
          <p:cNvSpPr/>
          <p:nvPr/>
        </p:nvSpPr>
        <p:spPr>
          <a:xfrm>
            <a:off x="3007236" y="2635806"/>
            <a:ext cx="72487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</a:t>
            </a: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(8) = 5</a:t>
            </a:r>
            <a:endParaRPr lang="pt-BR" sz="1400" dirty="0"/>
          </a:p>
        </p:txBody>
      </p:sp>
      <p:cxnSp>
        <p:nvCxnSpPr>
          <p:cNvPr id="41" name="Conector reto 40"/>
          <p:cNvCxnSpPr/>
          <p:nvPr/>
        </p:nvCxnSpPr>
        <p:spPr>
          <a:xfrm flipH="1" flipV="1">
            <a:off x="1961409" y="2327238"/>
            <a:ext cx="606309" cy="61634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to 41"/>
          <p:cNvCxnSpPr/>
          <p:nvPr/>
        </p:nvCxnSpPr>
        <p:spPr>
          <a:xfrm flipH="1" flipV="1">
            <a:off x="1997694" y="2239486"/>
            <a:ext cx="1244552" cy="207893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/>
          <p:cNvSpPr/>
          <p:nvPr/>
        </p:nvSpPr>
        <p:spPr>
          <a:xfrm>
            <a:off x="2534021" y="2910638"/>
            <a:ext cx="230097" cy="22496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43" name="Retângulo 42"/>
          <p:cNvSpPr/>
          <p:nvPr/>
        </p:nvSpPr>
        <p:spPr>
          <a:xfrm>
            <a:off x="2020720" y="3295952"/>
            <a:ext cx="72487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</a:t>
            </a: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(3) = 3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1041841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Distância entre Vértices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Dado um grafo G = (V, E), a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distância</a:t>
            </a:r>
            <a:r>
              <a:rPr lang="pt-B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entre dois vértices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– representada por d(v, w) é igual ao tamanho do menor caminho entre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 </a:t>
            </a:r>
          </a:p>
        </p:txBody>
      </p:sp>
      <p:sp>
        <p:nvSpPr>
          <p:cNvPr id="6" name="Elipse 5"/>
          <p:cNvSpPr/>
          <p:nvPr/>
        </p:nvSpPr>
        <p:spPr>
          <a:xfrm>
            <a:off x="1765009" y="2135218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901346" y="2798155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8" name="Elipse 7"/>
          <p:cNvSpPr/>
          <p:nvPr/>
        </p:nvSpPr>
        <p:spPr>
          <a:xfrm>
            <a:off x="1798706" y="3332172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9" name="Elipse 8"/>
          <p:cNvSpPr/>
          <p:nvPr/>
        </p:nvSpPr>
        <p:spPr>
          <a:xfrm>
            <a:off x="1283303" y="402039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10" name="Elipse 9"/>
          <p:cNvSpPr/>
          <p:nvPr/>
        </p:nvSpPr>
        <p:spPr>
          <a:xfrm>
            <a:off x="2764118" y="414467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11" name="Elipse 10"/>
          <p:cNvSpPr/>
          <p:nvPr/>
        </p:nvSpPr>
        <p:spPr>
          <a:xfrm>
            <a:off x="2534021" y="2910638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12" name="Elipse 11"/>
          <p:cNvSpPr/>
          <p:nvPr/>
        </p:nvSpPr>
        <p:spPr>
          <a:xfrm>
            <a:off x="3208549" y="2414434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8</a:t>
            </a:r>
          </a:p>
        </p:txBody>
      </p:sp>
      <p:sp>
        <p:nvSpPr>
          <p:cNvPr id="13" name="Elipse 12"/>
          <p:cNvSpPr/>
          <p:nvPr/>
        </p:nvSpPr>
        <p:spPr>
          <a:xfrm>
            <a:off x="3435640" y="3411709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7</a:t>
            </a:r>
          </a:p>
        </p:txBody>
      </p:sp>
      <p:cxnSp>
        <p:nvCxnSpPr>
          <p:cNvPr id="16" name="Conector de seta reta 15"/>
          <p:cNvCxnSpPr>
            <a:stCxn id="8" idx="5"/>
            <a:endCxn id="10" idx="1"/>
          </p:cNvCxnSpPr>
          <p:nvPr/>
        </p:nvCxnSpPr>
        <p:spPr>
          <a:xfrm>
            <a:off x="1995106" y="3524192"/>
            <a:ext cx="802709" cy="653429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6" idx="6"/>
            <a:endCxn id="12" idx="1"/>
          </p:cNvCxnSpPr>
          <p:nvPr/>
        </p:nvCxnSpPr>
        <p:spPr>
          <a:xfrm>
            <a:off x="1995106" y="2247701"/>
            <a:ext cx="1247140" cy="199678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17"/>
          <p:cNvCxnSpPr>
            <a:stCxn id="9" idx="6"/>
            <a:endCxn id="10" idx="2"/>
          </p:cNvCxnSpPr>
          <p:nvPr/>
        </p:nvCxnSpPr>
        <p:spPr>
          <a:xfrm>
            <a:off x="1513400" y="4132879"/>
            <a:ext cx="1250718" cy="12428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8" idx="7"/>
            <a:endCxn id="11" idx="3"/>
          </p:cNvCxnSpPr>
          <p:nvPr/>
        </p:nvCxnSpPr>
        <p:spPr>
          <a:xfrm flipV="1">
            <a:off x="1995106" y="3102658"/>
            <a:ext cx="572612" cy="262459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>
            <a:stCxn id="7" idx="6"/>
            <a:endCxn id="8" idx="1"/>
          </p:cNvCxnSpPr>
          <p:nvPr/>
        </p:nvCxnSpPr>
        <p:spPr>
          <a:xfrm>
            <a:off x="1131443" y="2910638"/>
            <a:ext cx="700960" cy="454479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de seta reta 21"/>
          <p:cNvCxnSpPr>
            <a:stCxn id="6" idx="5"/>
            <a:endCxn id="11" idx="1"/>
          </p:cNvCxnSpPr>
          <p:nvPr/>
        </p:nvCxnSpPr>
        <p:spPr>
          <a:xfrm>
            <a:off x="1961409" y="2327238"/>
            <a:ext cx="606309" cy="616345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de seta reta 23"/>
          <p:cNvCxnSpPr>
            <a:stCxn id="13" idx="1"/>
            <a:endCxn id="11" idx="5"/>
          </p:cNvCxnSpPr>
          <p:nvPr/>
        </p:nvCxnSpPr>
        <p:spPr>
          <a:xfrm flipH="1" flipV="1">
            <a:off x="2730421" y="3102658"/>
            <a:ext cx="738916" cy="341996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/>
          <p:cNvSpPr txBox="1"/>
          <p:nvPr/>
        </p:nvSpPr>
        <p:spPr>
          <a:xfrm>
            <a:off x="852187" y="201147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4076471" y="2121703"/>
            <a:ext cx="454985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Distância entre dois vértices também é denominada de </a:t>
            </a:r>
            <a:r>
              <a:rPr lang="pt-BR" sz="16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distância geodésica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endParaRPr lang="pt-B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pt-BR" sz="16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Excentricidade</a:t>
            </a:r>
            <a:r>
              <a:rPr lang="pt-BR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 um vértice 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ou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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 é a maior distância de 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para qualquer outro vértice.</a:t>
            </a:r>
          </a:p>
          <a:p>
            <a:endParaRPr lang="pt-B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3" name="Retângulo 22"/>
          <p:cNvSpPr/>
          <p:nvPr/>
        </p:nvSpPr>
        <p:spPr>
          <a:xfrm>
            <a:off x="489748" y="2456642"/>
            <a:ext cx="72487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</a:t>
            </a: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(1) = 4</a:t>
            </a:r>
            <a:endParaRPr lang="pt-BR" sz="1400" dirty="0"/>
          </a:p>
        </p:txBody>
      </p:sp>
      <p:sp>
        <p:nvSpPr>
          <p:cNvPr id="27" name="Retângulo 26"/>
          <p:cNvSpPr/>
          <p:nvPr/>
        </p:nvSpPr>
        <p:spPr>
          <a:xfrm>
            <a:off x="1820773" y="2820168"/>
            <a:ext cx="72487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</a:t>
            </a: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(5) = 3</a:t>
            </a:r>
            <a:endParaRPr lang="pt-BR" sz="1400" dirty="0"/>
          </a:p>
        </p:txBody>
      </p:sp>
      <p:sp>
        <p:nvSpPr>
          <p:cNvPr id="28" name="Retângulo 27"/>
          <p:cNvSpPr/>
          <p:nvPr/>
        </p:nvSpPr>
        <p:spPr>
          <a:xfrm>
            <a:off x="559332" y="3990787"/>
            <a:ext cx="72487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</a:t>
            </a: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(4) = 5</a:t>
            </a:r>
            <a:endParaRPr lang="pt-BR" sz="1400" dirty="0"/>
          </a:p>
        </p:txBody>
      </p:sp>
      <p:sp>
        <p:nvSpPr>
          <p:cNvPr id="30" name="Retângulo 29"/>
          <p:cNvSpPr/>
          <p:nvPr/>
        </p:nvSpPr>
        <p:spPr>
          <a:xfrm>
            <a:off x="3016705" y="4103269"/>
            <a:ext cx="72487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</a:t>
            </a: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(6) = 4</a:t>
            </a:r>
            <a:endParaRPr lang="pt-BR" sz="1400" dirty="0"/>
          </a:p>
        </p:txBody>
      </p:sp>
      <p:sp>
        <p:nvSpPr>
          <p:cNvPr id="31" name="Retângulo 30"/>
          <p:cNvSpPr/>
          <p:nvPr/>
        </p:nvSpPr>
        <p:spPr>
          <a:xfrm>
            <a:off x="2737440" y="3441221"/>
            <a:ext cx="72487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</a:t>
            </a: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(7) = 4</a:t>
            </a:r>
            <a:endParaRPr lang="pt-BR" sz="1400" dirty="0"/>
          </a:p>
        </p:txBody>
      </p:sp>
      <p:sp>
        <p:nvSpPr>
          <p:cNvPr id="32" name="Retângulo 31"/>
          <p:cNvSpPr/>
          <p:nvPr/>
        </p:nvSpPr>
        <p:spPr>
          <a:xfrm>
            <a:off x="3007236" y="2635806"/>
            <a:ext cx="72487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</a:t>
            </a: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(8) = 5</a:t>
            </a:r>
            <a:endParaRPr lang="pt-BR" sz="1400" dirty="0"/>
          </a:p>
        </p:txBody>
      </p:sp>
      <p:sp>
        <p:nvSpPr>
          <p:cNvPr id="33" name="Retângulo 32"/>
          <p:cNvSpPr/>
          <p:nvPr/>
        </p:nvSpPr>
        <p:spPr>
          <a:xfrm>
            <a:off x="2020720" y="1917032"/>
            <a:ext cx="72487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</a:t>
            </a: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(2) = 4</a:t>
            </a:r>
            <a:endParaRPr lang="pt-BR" sz="1400" dirty="0"/>
          </a:p>
        </p:txBody>
      </p:sp>
      <p:sp>
        <p:nvSpPr>
          <p:cNvPr id="34" name="Retângulo 33"/>
          <p:cNvSpPr/>
          <p:nvPr/>
        </p:nvSpPr>
        <p:spPr>
          <a:xfrm>
            <a:off x="2020720" y="3295952"/>
            <a:ext cx="72487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</a:t>
            </a: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(3) = 3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1497326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Distância entre Vértices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Dado um grafo G = (V, E), a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distância</a:t>
            </a:r>
            <a:r>
              <a:rPr lang="pt-B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entre dois vértices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– representada por d(v, w) é igual ao tamanho do menor caminho entre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 </a:t>
            </a:r>
          </a:p>
        </p:txBody>
      </p:sp>
      <p:sp>
        <p:nvSpPr>
          <p:cNvPr id="6" name="Elipse 5"/>
          <p:cNvSpPr/>
          <p:nvPr/>
        </p:nvSpPr>
        <p:spPr>
          <a:xfrm>
            <a:off x="1765009" y="2135218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901346" y="2798155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8" name="Elipse 7"/>
          <p:cNvSpPr/>
          <p:nvPr/>
        </p:nvSpPr>
        <p:spPr>
          <a:xfrm>
            <a:off x="1798706" y="3332172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9" name="Elipse 8"/>
          <p:cNvSpPr/>
          <p:nvPr/>
        </p:nvSpPr>
        <p:spPr>
          <a:xfrm>
            <a:off x="1283303" y="402039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10" name="Elipse 9"/>
          <p:cNvSpPr/>
          <p:nvPr/>
        </p:nvSpPr>
        <p:spPr>
          <a:xfrm>
            <a:off x="2764118" y="414467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11" name="Elipse 10"/>
          <p:cNvSpPr/>
          <p:nvPr/>
        </p:nvSpPr>
        <p:spPr>
          <a:xfrm>
            <a:off x="2534021" y="2910638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12" name="Elipse 11"/>
          <p:cNvSpPr/>
          <p:nvPr/>
        </p:nvSpPr>
        <p:spPr>
          <a:xfrm>
            <a:off x="3208549" y="2414434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8</a:t>
            </a:r>
          </a:p>
        </p:txBody>
      </p:sp>
      <p:sp>
        <p:nvSpPr>
          <p:cNvPr id="13" name="Elipse 12"/>
          <p:cNvSpPr/>
          <p:nvPr/>
        </p:nvSpPr>
        <p:spPr>
          <a:xfrm>
            <a:off x="3435640" y="3411709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7</a:t>
            </a:r>
          </a:p>
        </p:txBody>
      </p:sp>
      <p:cxnSp>
        <p:nvCxnSpPr>
          <p:cNvPr id="16" name="Conector de seta reta 15"/>
          <p:cNvCxnSpPr>
            <a:stCxn id="8" idx="5"/>
            <a:endCxn id="10" idx="1"/>
          </p:cNvCxnSpPr>
          <p:nvPr/>
        </p:nvCxnSpPr>
        <p:spPr>
          <a:xfrm>
            <a:off x="1995106" y="3524192"/>
            <a:ext cx="802709" cy="653429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6" idx="6"/>
            <a:endCxn id="12" idx="1"/>
          </p:cNvCxnSpPr>
          <p:nvPr/>
        </p:nvCxnSpPr>
        <p:spPr>
          <a:xfrm>
            <a:off x="1995106" y="2247701"/>
            <a:ext cx="1247140" cy="199678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17"/>
          <p:cNvCxnSpPr>
            <a:stCxn id="9" idx="6"/>
            <a:endCxn id="10" idx="2"/>
          </p:cNvCxnSpPr>
          <p:nvPr/>
        </p:nvCxnSpPr>
        <p:spPr>
          <a:xfrm>
            <a:off x="1513400" y="4132879"/>
            <a:ext cx="1250718" cy="12428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8" idx="7"/>
            <a:endCxn id="11" idx="3"/>
          </p:cNvCxnSpPr>
          <p:nvPr/>
        </p:nvCxnSpPr>
        <p:spPr>
          <a:xfrm flipV="1">
            <a:off x="1995106" y="3102658"/>
            <a:ext cx="572612" cy="262459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>
            <a:stCxn id="7" idx="6"/>
            <a:endCxn id="8" idx="1"/>
          </p:cNvCxnSpPr>
          <p:nvPr/>
        </p:nvCxnSpPr>
        <p:spPr>
          <a:xfrm>
            <a:off x="1131443" y="2910638"/>
            <a:ext cx="700960" cy="454479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de seta reta 21"/>
          <p:cNvCxnSpPr>
            <a:stCxn id="6" idx="5"/>
            <a:endCxn id="11" idx="1"/>
          </p:cNvCxnSpPr>
          <p:nvPr/>
        </p:nvCxnSpPr>
        <p:spPr>
          <a:xfrm>
            <a:off x="1961409" y="2327238"/>
            <a:ext cx="606309" cy="616345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de seta reta 23"/>
          <p:cNvCxnSpPr>
            <a:stCxn id="13" idx="1"/>
            <a:endCxn id="11" idx="5"/>
          </p:cNvCxnSpPr>
          <p:nvPr/>
        </p:nvCxnSpPr>
        <p:spPr>
          <a:xfrm flipH="1" flipV="1">
            <a:off x="2730421" y="3102658"/>
            <a:ext cx="738916" cy="341996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/>
          <p:cNvSpPr txBox="1"/>
          <p:nvPr/>
        </p:nvSpPr>
        <p:spPr>
          <a:xfrm>
            <a:off x="852187" y="201147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4076471" y="2121703"/>
            <a:ext cx="454985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Distância entre dois vértices também é denominada de </a:t>
            </a:r>
            <a:r>
              <a:rPr lang="pt-BR" sz="16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distância geodésica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endParaRPr lang="pt-B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pt-BR" sz="16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Excentricidade</a:t>
            </a:r>
            <a:r>
              <a:rPr lang="pt-BR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 um vértice 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ou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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 é a maior distância de </a:t>
            </a:r>
            <a:r>
              <a:rPr lang="pt-BR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para qualquer outro vértice.</a:t>
            </a:r>
          </a:p>
          <a:p>
            <a:endParaRPr lang="pt-B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 </a:t>
            </a:r>
            <a:r>
              <a:rPr lang="pt-BR" sz="16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raio</a:t>
            </a:r>
            <a:r>
              <a:rPr lang="pt-BR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 </a:t>
            </a:r>
            <a:r>
              <a:rPr lang="pt-BR" sz="16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diâmetro</a:t>
            </a:r>
            <a:r>
              <a:rPr lang="pt-BR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 um grafo G representam a </a:t>
            </a:r>
            <a:r>
              <a:rPr lang="pt-BR" sz="16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menor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 a </a:t>
            </a:r>
            <a:r>
              <a:rPr lang="pt-BR" sz="16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maior excentricidade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um vértice de G.</a:t>
            </a:r>
          </a:p>
        </p:txBody>
      </p:sp>
      <p:sp>
        <p:nvSpPr>
          <p:cNvPr id="23" name="Retângulo 22"/>
          <p:cNvSpPr/>
          <p:nvPr/>
        </p:nvSpPr>
        <p:spPr>
          <a:xfrm>
            <a:off x="489748" y="2456642"/>
            <a:ext cx="72487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</a:t>
            </a: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(1) = 4</a:t>
            </a:r>
            <a:endParaRPr lang="pt-BR" sz="1400" dirty="0"/>
          </a:p>
        </p:txBody>
      </p:sp>
      <p:sp>
        <p:nvSpPr>
          <p:cNvPr id="26" name="Retângulo 25"/>
          <p:cNvSpPr/>
          <p:nvPr/>
        </p:nvSpPr>
        <p:spPr>
          <a:xfrm>
            <a:off x="2020720" y="3295952"/>
            <a:ext cx="72487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</a:t>
            </a: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(3) = 3</a:t>
            </a:r>
            <a:endParaRPr lang="pt-BR" sz="1400" dirty="0"/>
          </a:p>
        </p:txBody>
      </p:sp>
      <p:sp>
        <p:nvSpPr>
          <p:cNvPr id="27" name="Retângulo 26"/>
          <p:cNvSpPr/>
          <p:nvPr/>
        </p:nvSpPr>
        <p:spPr>
          <a:xfrm>
            <a:off x="1820773" y="2820168"/>
            <a:ext cx="72487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</a:t>
            </a: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(5) = 3</a:t>
            </a:r>
            <a:endParaRPr lang="pt-BR" sz="1400" dirty="0"/>
          </a:p>
        </p:txBody>
      </p:sp>
      <p:sp>
        <p:nvSpPr>
          <p:cNvPr id="28" name="Retângulo 27"/>
          <p:cNvSpPr/>
          <p:nvPr/>
        </p:nvSpPr>
        <p:spPr>
          <a:xfrm>
            <a:off x="559332" y="3990787"/>
            <a:ext cx="72487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</a:t>
            </a: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(4) = 5</a:t>
            </a:r>
            <a:endParaRPr lang="pt-BR" sz="1400" dirty="0"/>
          </a:p>
        </p:txBody>
      </p:sp>
      <p:sp>
        <p:nvSpPr>
          <p:cNvPr id="30" name="Retângulo 29"/>
          <p:cNvSpPr/>
          <p:nvPr/>
        </p:nvSpPr>
        <p:spPr>
          <a:xfrm>
            <a:off x="3016705" y="4103269"/>
            <a:ext cx="72487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</a:t>
            </a: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(6) = 4</a:t>
            </a:r>
            <a:endParaRPr lang="pt-BR" sz="1400" dirty="0"/>
          </a:p>
        </p:txBody>
      </p:sp>
      <p:sp>
        <p:nvSpPr>
          <p:cNvPr id="31" name="Retângulo 30"/>
          <p:cNvSpPr/>
          <p:nvPr/>
        </p:nvSpPr>
        <p:spPr>
          <a:xfrm>
            <a:off x="2737440" y="3441221"/>
            <a:ext cx="72487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</a:t>
            </a: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(7) = 4</a:t>
            </a:r>
            <a:endParaRPr lang="pt-BR" sz="1400" dirty="0"/>
          </a:p>
        </p:txBody>
      </p:sp>
      <p:sp>
        <p:nvSpPr>
          <p:cNvPr id="32" name="Retângulo 31"/>
          <p:cNvSpPr/>
          <p:nvPr/>
        </p:nvSpPr>
        <p:spPr>
          <a:xfrm>
            <a:off x="3007236" y="2635806"/>
            <a:ext cx="72487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</a:t>
            </a: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(8) = 5</a:t>
            </a:r>
            <a:endParaRPr lang="pt-BR" sz="1400" dirty="0"/>
          </a:p>
        </p:txBody>
      </p:sp>
      <p:sp>
        <p:nvSpPr>
          <p:cNvPr id="33" name="Retângulo 32"/>
          <p:cNvSpPr/>
          <p:nvPr/>
        </p:nvSpPr>
        <p:spPr>
          <a:xfrm>
            <a:off x="2020720" y="1917032"/>
            <a:ext cx="72487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</a:t>
            </a: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(2) = 4</a:t>
            </a:r>
            <a:endParaRPr lang="pt-BR" sz="1400" dirty="0"/>
          </a:p>
        </p:txBody>
      </p:sp>
      <p:sp>
        <p:nvSpPr>
          <p:cNvPr id="3" name="CaixaDeTexto 2"/>
          <p:cNvSpPr txBox="1"/>
          <p:nvPr/>
        </p:nvSpPr>
        <p:spPr>
          <a:xfrm>
            <a:off x="335262" y="3225227"/>
            <a:ext cx="11079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raio(G) = 3  	</a:t>
            </a:r>
          </a:p>
          <a:p>
            <a:r>
              <a:rPr lang="pt-BR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diam</a:t>
            </a: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(G) = 5</a:t>
            </a:r>
          </a:p>
        </p:txBody>
      </p:sp>
    </p:spTree>
    <p:extLst>
      <p:ext uri="{BB962C8B-B14F-4D97-AF65-F5344CB8AC3E}">
        <p14:creationId xmlns:p14="http://schemas.microsoft.com/office/powerpoint/2010/main" val="2140230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Caminho Aberto × Caminho Fechado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Dado um grafo G = (V, E), um caminho é dito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fechado</a:t>
            </a:r>
            <a:r>
              <a:rPr lang="pt-B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quando sua origem e seu término são iguais; caso contrário, o caminho é chamado de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aberto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4" name="Grupo 3"/>
          <p:cNvGrpSpPr/>
          <p:nvPr/>
        </p:nvGrpSpPr>
        <p:grpSpPr>
          <a:xfrm>
            <a:off x="901346" y="2142306"/>
            <a:ext cx="2764391" cy="2234423"/>
            <a:chOff x="661710" y="1835699"/>
            <a:chExt cx="2764391" cy="2234423"/>
          </a:xfrm>
        </p:grpSpPr>
        <p:sp>
          <p:nvSpPr>
            <p:cNvPr id="6" name="Elipse 5"/>
            <p:cNvSpPr/>
            <p:nvPr/>
          </p:nvSpPr>
          <p:spPr>
            <a:xfrm>
              <a:off x="1525373" y="1835699"/>
              <a:ext cx="230097" cy="2249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2</a:t>
              </a:r>
            </a:p>
          </p:txBody>
        </p:sp>
        <p:sp>
          <p:nvSpPr>
            <p:cNvPr id="7" name="Elipse 6"/>
            <p:cNvSpPr/>
            <p:nvPr/>
          </p:nvSpPr>
          <p:spPr>
            <a:xfrm>
              <a:off x="661710" y="2498636"/>
              <a:ext cx="230097" cy="2249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1</a:t>
              </a:r>
            </a:p>
          </p:txBody>
        </p:sp>
        <p:sp>
          <p:nvSpPr>
            <p:cNvPr id="8" name="Elipse 7"/>
            <p:cNvSpPr/>
            <p:nvPr/>
          </p:nvSpPr>
          <p:spPr>
            <a:xfrm>
              <a:off x="1559070" y="3032653"/>
              <a:ext cx="230097" cy="2249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3</a:t>
              </a:r>
            </a:p>
          </p:txBody>
        </p:sp>
        <p:sp>
          <p:nvSpPr>
            <p:cNvPr id="9" name="Elipse 8"/>
            <p:cNvSpPr/>
            <p:nvPr/>
          </p:nvSpPr>
          <p:spPr>
            <a:xfrm>
              <a:off x="1043667" y="3720877"/>
              <a:ext cx="230097" cy="2249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4</a:t>
              </a:r>
            </a:p>
          </p:txBody>
        </p:sp>
        <p:sp>
          <p:nvSpPr>
            <p:cNvPr id="10" name="Elipse 9"/>
            <p:cNvSpPr/>
            <p:nvPr/>
          </p:nvSpPr>
          <p:spPr>
            <a:xfrm>
              <a:off x="2524482" y="3845157"/>
              <a:ext cx="230097" cy="2249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6</a:t>
              </a:r>
            </a:p>
          </p:txBody>
        </p:sp>
        <p:sp>
          <p:nvSpPr>
            <p:cNvPr id="11" name="Elipse 10"/>
            <p:cNvSpPr/>
            <p:nvPr/>
          </p:nvSpPr>
          <p:spPr>
            <a:xfrm>
              <a:off x="2294385" y="2611119"/>
              <a:ext cx="230097" cy="2249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5</a:t>
              </a:r>
            </a:p>
          </p:txBody>
        </p:sp>
        <p:sp>
          <p:nvSpPr>
            <p:cNvPr id="12" name="Elipse 11"/>
            <p:cNvSpPr/>
            <p:nvPr/>
          </p:nvSpPr>
          <p:spPr>
            <a:xfrm>
              <a:off x="2968913" y="2114915"/>
              <a:ext cx="230097" cy="2249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8</a:t>
              </a:r>
            </a:p>
          </p:txBody>
        </p:sp>
        <p:sp>
          <p:nvSpPr>
            <p:cNvPr id="13" name="Elipse 12"/>
            <p:cNvSpPr/>
            <p:nvPr/>
          </p:nvSpPr>
          <p:spPr>
            <a:xfrm>
              <a:off x="3196004" y="3112190"/>
              <a:ext cx="230097" cy="2249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7</a:t>
              </a:r>
            </a:p>
          </p:txBody>
        </p:sp>
        <p:cxnSp>
          <p:nvCxnSpPr>
            <p:cNvPr id="14" name="Conector de seta reta 13"/>
            <p:cNvCxnSpPr>
              <a:stCxn id="7" idx="7"/>
              <a:endCxn id="6" idx="3"/>
            </p:cNvCxnSpPr>
            <p:nvPr/>
          </p:nvCxnSpPr>
          <p:spPr>
            <a:xfrm flipV="1">
              <a:off x="858110" y="2027719"/>
              <a:ext cx="700960" cy="503862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de seta reta 14"/>
            <p:cNvCxnSpPr>
              <a:stCxn id="7" idx="4"/>
              <a:endCxn id="9" idx="1"/>
            </p:cNvCxnSpPr>
            <p:nvPr/>
          </p:nvCxnSpPr>
          <p:spPr>
            <a:xfrm>
              <a:off x="776759" y="2723601"/>
              <a:ext cx="300605" cy="1030221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de seta reta 15"/>
            <p:cNvCxnSpPr>
              <a:stCxn id="8" idx="5"/>
              <a:endCxn id="10" idx="1"/>
            </p:cNvCxnSpPr>
            <p:nvPr/>
          </p:nvCxnSpPr>
          <p:spPr>
            <a:xfrm>
              <a:off x="1755470" y="3224673"/>
              <a:ext cx="802709" cy="653429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de seta reta 16"/>
            <p:cNvCxnSpPr>
              <a:stCxn id="6" idx="6"/>
              <a:endCxn id="12" idx="1"/>
            </p:cNvCxnSpPr>
            <p:nvPr/>
          </p:nvCxnSpPr>
          <p:spPr>
            <a:xfrm>
              <a:off x="1755470" y="1948182"/>
              <a:ext cx="1247140" cy="199678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de seta reta 17"/>
            <p:cNvCxnSpPr>
              <a:stCxn id="9" idx="6"/>
              <a:endCxn id="10" idx="2"/>
            </p:cNvCxnSpPr>
            <p:nvPr/>
          </p:nvCxnSpPr>
          <p:spPr>
            <a:xfrm>
              <a:off x="1273764" y="3833360"/>
              <a:ext cx="1250718" cy="124280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de seta reta 18"/>
            <p:cNvCxnSpPr>
              <a:stCxn id="10" idx="7"/>
              <a:endCxn id="13" idx="3"/>
            </p:cNvCxnSpPr>
            <p:nvPr/>
          </p:nvCxnSpPr>
          <p:spPr>
            <a:xfrm flipV="1">
              <a:off x="2720882" y="3304210"/>
              <a:ext cx="508819" cy="573892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de seta reta 19"/>
            <p:cNvCxnSpPr>
              <a:stCxn id="8" idx="7"/>
              <a:endCxn id="11" idx="3"/>
            </p:cNvCxnSpPr>
            <p:nvPr/>
          </p:nvCxnSpPr>
          <p:spPr>
            <a:xfrm flipV="1">
              <a:off x="1755470" y="2803139"/>
              <a:ext cx="572612" cy="262459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de seta reta 20"/>
            <p:cNvCxnSpPr>
              <a:stCxn id="7" idx="6"/>
              <a:endCxn id="8" idx="1"/>
            </p:cNvCxnSpPr>
            <p:nvPr/>
          </p:nvCxnSpPr>
          <p:spPr>
            <a:xfrm>
              <a:off x="891807" y="2611119"/>
              <a:ext cx="700960" cy="454479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de seta reta 21"/>
            <p:cNvCxnSpPr>
              <a:stCxn id="6" idx="5"/>
              <a:endCxn id="11" idx="1"/>
            </p:cNvCxnSpPr>
            <p:nvPr/>
          </p:nvCxnSpPr>
          <p:spPr>
            <a:xfrm>
              <a:off x="1721773" y="2027719"/>
              <a:ext cx="606309" cy="616345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de seta reta 22"/>
            <p:cNvCxnSpPr>
              <a:stCxn id="13" idx="0"/>
              <a:endCxn id="12" idx="4"/>
            </p:cNvCxnSpPr>
            <p:nvPr/>
          </p:nvCxnSpPr>
          <p:spPr>
            <a:xfrm flipH="1" flipV="1">
              <a:off x="3083962" y="2339880"/>
              <a:ext cx="227091" cy="772310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ector de seta reta 23"/>
            <p:cNvCxnSpPr>
              <a:stCxn id="13" idx="1"/>
              <a:endCxn id="11" idx="5"/>
            </p:cNvCxnSpPr>
            <p:nvPr/>
          </p:nvCxnSpPr>
          <p:spPr>
            <a:xfrm flipH="1" flipV="1">
              <a:off x="2490785" y="2803139"/>
              <a:ext cx="738916" cy="341996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CaixaDeTexto 24"/>
          <p:cNvSpPr txBox="1"/>
          <p:nvPr/>
        </p:nvSpPr>
        <p:spPr>
          <a:xfrm>
            <a:off x="852187" y="2018560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38" name="CaixaDeTexto 37"/>
          <p:cNvSpPr txBox="1"/>
          <p:nvPr/>
        </p:nvSpPr>
        <p:spPr>
          <a:xfrm>
            <a:off x="4257176" y="2539736"/>
            <a:ext cx="3346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1  2  5  3           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 Caminho aberto</a:t>
            </a:r>
            <a:endParaRPr lang="pt-BR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39" name="Conector de seta reta 38"/>
          <p:cNvCxnSpPr>
            <a:stCxn id="44" idx="1"/>
            <a:endCxn id="45" idx="5"/>
          </p:cNvCxnSpPr>
          <p:nvPr/>
        </p:nvCxnSpPr>
        <p:spPr>
          <a:xfrm flipH="1" flipV="1">
            <a:off x="1964372" y="2326754"/>
            <a:ext cx="605275" cy="624660"/>
          </a:xfrm>
          <a:prstGeom prst="straightConnector1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Elipse 39"/>
          <p:cNvSpPr/>
          <p:nvPr/>
        </p:nvSpPr>
        <p:spPr>
          <a:xfrm>
            <a:off x="899943" y="2806326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41" name="Elipse 40"/>
          <p:cNvSpPr/>
          <p:nvPr/>
        </p:nvSpPr>
        <p:spPr>
          <a:xfrm>
            <a:off x="1798827" y="3338776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cxnSp>
        <p:nvCxnSpPr>
          <p:cNvPr id="42" name="Conector reto 41"/>
          <p:cNvCxnSpPr>
            <a:stCxn id="40" idx="7"/>
          </p:cNvCxnSpPr>
          <p:nvPr/>
        </p:nvCxnSpPr>
        <p:spPr>
          <a:xfrm flipV="1">
            <a:off x="1096343" y="2339210"/>
            <a:ext cx="701655" cy="50006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de seta reta 42"/>
          <p:cNvCxnSpPr>
            <a:stCxn id="41" idx="7"/>
          </p:cNvCxnSpPr>
          <p:nvPr/>
        </p:nvCxnSpPr>
        <p:spPr>
          <a:xfrm flipV="1">
            <a:off x="1995227" y="3121650"/>
            <a:ext cx="567332" cy="250071"/>
          </a:xfrm>
          <a:prstGeom prst="straightConnector1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Elipse 43"/>
          <p:cNvSpPr/>
          <p:nvPr/>
        </p:nvSpPr>
        <p:spPr>
          <a:xfrm>
            <a:off x="2535950" y="2918469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45" name="Elipse 44"/>
          <p:cNvSpPr/>
          <p:nvPr/>
        </p:nvSpPr>
        <p:spPr>
          <a:xfrm>
            <a:off x="1767972" y="2134734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51" name="CaixaDeTexto 50"/>
          <p:cNvSpPr txBox="1"/>
          <p:nvPr/>
        </p:nvSpPr>
        <p:spPr>
          <a:xfrm>
            <a:off x="4257176" y="3265289"/>
            <a:ext cx="3487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1  2  5  3  1      </a:t>
            </a: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 Caminho fechado</a:t>
            </a:r>
            <a:endParaRPr lang="pt-BR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52" name="Conector de seta reta 51"/>
          <p:cNvCxnSpPr>
            <a:stCxn id="57" idx="1"/>
            <a:endCxn id="58" idx="5"/>
          </p:cNvCxnSpPr>
          <p:nvPr/>
        </p:nvCxnSpPr>
        <p:spPr>
          <a:xfrm flipH="1" flipV="1">
            <a:off x="1961419" y="2323506"/>
            <a:ext cx="605275" cy="624660"/>
          </a:xfrm>
          <a:prstGeom prst="straightConnector1">
            <a:avLst/>
          </a:prstGeom>
          <a:ln w="28575">
            <a:solidFill>
              <a:srgbClr val="FF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Elipse 52"/>
          <p:cNvSpPr/>
          <p:nvPr/>
        </p:nvSpPr>
        <p:spPr>
          <a:xfrm>
            <a:off x="896990" y="2803078"/>
            <a:ext cx="230097" cy="224965"/>
          </a:xfrm>
          <a:prstGeom prst="ellipse">
            <a:avLst/>
          </a:prstGeom>
          <a:solidFill>
            <a:srgbClr val="FF66FF"/>
          </a:solidFill>
          <a:ln>
            <a:solidFill>
              <a:srgbClr val="CC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54" name="Elipse 53"/>
          <p:cNvSpPr/>
          <p:nvPr/>
        </p:nvSpPr>
        <p:spPr>
          <a:xfrm>
            <a:off x="1795874" y="3335528"/>
            <a:ext cx="230097" cy="224965"/>
          </a:xfrm>
          <a:prstGeom prst="ellipse">
            <a:avLst/>
          </a:prstGeom>
          <a:solidFill>
            <a:srgbClr val="FF66FF"/>
          </a:solidFill>
          <a:ln>
            <a:solidFill>
              <a:srgbClr val="CC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cxnSp>
        <p:nvCxnSpPr>
          <p:cNvPr id="55" name="Conector reto 54"/>
          <p:cNvCxnSpPr>
            <a:stCxn id="53" idx="7"/>
          </p:cNvCxnSpPr>
          <p:nvPr/>
        </p:nvCxnSpPr>
        <p:spPr>
          <a:xfrm flipV="1">
            <a:off x="1093390" y="2335962"/>
            <a:ext cx="701655" cy="500061"/>
          </a:xfrm>
          <a:prstGeom prst="line">
            <a:avLst/>
          </a:prstGeom>
          <a:ln w="28575">
            <a:solidFill>
              <a:srgbClr val="FF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de seta reta 55"/>
          <p:cNvCxnSpPr>
            <a:stCxn id="54" idx="7"/>
          </p:cNvCxnSpPr>
          <p:nvPr/>
        </p:nvCxnSpPr>
        <p:spPr>
          <a:xfrm flipV="1">
            <a:off x="1992274" y="3118402"/>
            <a:ext cx="567332" cy="250071"/>
          </a:xfrm>
          <a:prstGeom prst="straightConnector1">
            <a:avLst/>
          </a:prstGeom>
          <a:ln w="28575">
            <a:solidFill>
              <a:srgbClr val="FF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Elipse 56"/>
          <p:cNvSpPr/>
          <p:nvPr/>
        </p:nvSpPr>
        <p:spPr>
          <a:xfrm>
            <a:off x="2532997" y="2915221"/>
            <a:ext cx="230097" cy="224965"/>
          </a:xfrm>
          <a:prstGeom prst="ellipse">
            <a:avLst/>
          </a:prstGeom>
          <a:solidFill>
            <a:srgbClr val="FF66FF"/>
          </a:solidFill>
          <a:ln>
            <a:solidFill>
              <a:srgbClr val="CC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58" name="Elipse 57"/>
          <p:cNvSpPr/>
          <p:nvPr/>
        </p:nvSpPr>
        <p:spPr>
          <a:xfrm>
            <a:off x="1765019" y="2131486"/>
            <a:ext cx="230097" cy="224965"/>
          </a:xfrm>
          <a:prstGeom prst="ellipse">
            <a:avLst/>
          </a:prstGeom>
          <a:solidFill>
            <a:srgbClr val="FF66FF"/>
          </a:solidFill>
          <a:ln>
            <a:solidFill>
              <a:srgbClr val="CC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cxnSp>
        <p:nvCxnSpPr>
          <p:cNvPr id="59" name="Conector de seta reta 58"/>
          <p:cNvCxnSpPr>
            <a:stCxn id="53" idx="6"/>
            <a:endCxn id="54" idx="1"/>
          </p:cNvCxnSpPr>
          <p:nvPr/>
        </p:nvCxnSpPr>
        <p:spPr>
          <a:xfrm>
            <a:off x="1127087" y="2915561"/>
            <a:ext cx="702484" cy="452912"/>
          </a:xfrm>
          <a:prstGeom prst="straightConnector1">
            <a:avLst/>
          </a:prstGeom>
          <a:ln w="28575">
            <a:solidFill>
              <a:srgbClr val="FF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7483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38" grpId="0"/>
      <p:bldP spid="40" grpId="0" animBg="1"/>
      <p:bldP spid="41" grpId="0" animBg="1"/>
      <p:bldP spid="44" grpId="0" animBg="1"/>
      <p:bldP spid="45" grpId="0" animBg="1"/>
      <p:bldP spid="51" grpId="0"/>
      <p:bldP spid="53" grpId="0" animBg="1"/>
      <p:bldP spid="54" grpId="0" animBg="1"/>
      <p:bldP spid="57" grpId="0" animBg="1"/>
      <p:bldP spid="5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Grafo Linear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Um grafo G = (V, E) com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&gt; 1 vértices é dito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linear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(ou grafo caminho) quando possui apenas 2 vértices de grau 1 e os demais vértices possuem grau 2 e estão no caminho entre os vértices de grau 1 – representado por </a:t>
            </a:r>
            <a:r>
              <a:rPr lang="pt-BR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</a:t>
            </a:r>
            <a:r>
              <a:rPr lang="pt-BR" sz="2000" baseline="-25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endParaRPr lang="pt-BR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Caso n = 1, o grafo linear possui apenas um vértice de grau 0.</a:t>
            </a:r>
          </a:p>
        </p:txBody>
      </p:sp>
      <p:sp>
        <p:nvSpPr>
          <p:cNvPr id="4" name="Elipse 3"/>
          <p:cNvSpPr/>
          <p:nvPr/>
        </p:nvSpPr>
        <p:spPr>
          <a:xfrm>
            <a:off x="1152773" y="2734542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6" name="Elipse 5"/>
          <p:cNvSpPr/>
          <p:nvPr/>
        </p:nvSpPr>
        <p:spPr>
          <a:xfrm>
            <a:off x="1758829" y="2734542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7" name="Conector reto 6"/>
          <p:cNvCxnSpPr>
            <a:stCxn id="4" idx="6"/>
            <a:endCxn id="6" idx="2"/>
          </p:cNvCxnSpPr>
          <p:nvPr/>
        </p:nvCxnSpPr>
        <p:spPr>
          <a:xfrm>
            <a:off x="1382870" y="2847025"/>
            <a:ext cx="375959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ixaDeTexto 8"/>
          <p:cNvSpPr txBox="1"/>
          <p:nvPr/>
        </p:nvSpPr>
        <p:spPr>
          <a:xfrm>
            <a:off x="1391152" y="3038151"/>
            <a:ext cx="3593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</a:p>
        </p:txBody>
      </p:sp>
      <p:sp>
        <p:nvSpPr>
          <p:cNvPr id="10" name="Elipse 9"/>
          <p:cNvSpPr/>
          <p:nvPr/>
        </p:nvSpPr>
        <p:spPr>
          <a:xfrm>
            <a:off x="6080578" y="2392812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11" name="Elipse 10"/>
          <p:cNvSpPr/>
          <p:nvPr/>
        </p:nvSpPr>
        <p:spPr>
          <a:xfrm>
            <a:off x="6686634" y="2392812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12" name="Conector reto 11"/>
          <p:cNvCxnSpPr>
            <a:stCxn id="10" idx="6"/>
            <a:endCxn id="11" idx="2"/>
          </p:cNvCxnSpPr>
          <p:nvPr/>
        </p:nvCxnSpPr>
        <p:spPr>
          <a:xfrm>
            <a:off x="6310675" y="2505295"/>
            <a:ext cx="375959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/>
          <p:cNvSpPr txBox="1"/>
          <p:nvPr/>
        </p:nvSpPr>
        <p:spPr>
          <a:xfrm>
            <a:off x="6318957" y="2696421"/>
            <a:ext cx="3593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4</a:t>
            </a:r>
          </a:p>
        </p:txBody>
      </p:sp>
      <p:sp>
        <p:nvSpPr>
          <p:cNvPr id="14" name="Elipse 13"/>
          <p:cNvSpPr/>
          <p:nvPr/>
        </p:nvSpPr>
        <p:spPr>
          <a:xfrm>
            <a:off x="7296669" y="2392812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15" name="Conector reto 14"/>
          <p:cNvCxnSpPr>
            <a:stCxn id="11" idx="6"/>
            <a:endCxn id="14" idx="2"/>
          </p:cNvCxnSpPr>
          <p:nvPr/>
        </p:nvCxnSpPr>
        <p:spPr>
          <a:xfrm>
            <a:off x="6916731" y="2505295"/>
            <a:ext cx="379938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lipse 16"/>
          <p:cNvSpPr/>
          <p:nvPr/>
        </p:nvSpPr>
        <p:spPr>
          <a:xfrm>
            <a:off x="5460414" y="2392812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18" name="Conector reto 17"/>
          <p:cNvCxnSpPr>
            <a:stCxn id="17" idx="6"/>
            <a:endCxn id="10" idx="2"/>
          </p:cNvCxnSpPr>
          <p:nvPr/>
        </p:nvCxnSpPr>
        <p:spPr>
          <a:xfrm>
            <a:off x="5690511" y="2505295"/>
            <a:ext cx="390067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Elipse 19"/>
          <p:cNvSpPr/>
          <p:nvPr/>
        </p:nvSpPr>
        <p:spPr>
          <a:xfrm>
            <a:off x="3408177" y="2734543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21" name="Elipse 20"/>
          <p:cNvSpPr/>
          <p:nvPr/>
        </p:nvSpPr>
        <p:spPr>
          <a:xfrm>
            <a:off x="4014233" y="2734543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22" name="Conector reto 21"/>
          <p:cNvCxnSpPr>
            <a:stCxn id="20" idx="6"/>
            <a:endCxn id="21" idx="2"/>
          </p:cNvCxnSpPr>
          <p:nvPr/>
        </p:nvCxnSpPr>
        <p:spPr>
          <a:xfrm>
            <a:off x="3638274" y="2847026"/>
            <a:ext cx="375959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aixaDeTexto 22"/>
          <p:cNvSpPr txBox="1"/>
          <p:nvPr/>
        </p:nvSpPr>
        <p:spPr>
          <a:xfrm>
            <a:off x="3343528" y="3038152"/>
            <a:ext cx="3593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3</a:t>
            </a:r>
          </a:p>
        </p:txBody>
      </p:sp>
      <p:sp>
        <p:nvSpPr>
          <p:cNvPr id="24" name="Elipse 23"/>
          <p:cNvSpPr/>
          <p:nvPr/>
        </p:nvSpPr>
        <p:spPr>
          <a:xfrm>
            <a:off x="2788013" y="2734543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25" name="Conector reto 24"/>
          <p:cNvCxnSpPr>
            <a:stCxn id="24" idx="6"/>
            <a:endCxn id="20" idx="2"/>
          </p:cNvCxnSpPr>
          <p:nvPr/>
        </p:nvCxnSpPr>
        <p:spPr>
          <a:xfrm>
            <a:off x="3018110" y="2847026"/>
            <a:ext cx="390067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Elipse 27"/>
          <p:cNvSpPr/>
          <p:nvPr/>
        </p:nvSpPr>
        <p:spPr>
          <a:xfrm>
            <a:off x="6374541" y="322610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29" name="Elipse 28"/>
          <p:cNvSpPr/>
          <p:nvPr/>
        </p:nvSpPr>
        <p:spPr>
          <a:xfrm>
            <a:off x="6980597" y="322610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30" name="Conector reto 29"/>
          <p:cNvCxnSpPr>
            <a:stCxn id="28" idx="6"/>
            <a:endCxn id="29" idx="2"/>
          </p:cNvCxnSpPr>
          <p:nvPr/>
        </p:nvCxnSpPr>
        <p:spPr>
          <a:xfrm>
            <a:off x="6604638" y="3338583"/>
            <a:ext cx="375959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aixaDeTexto 30"/>
          <p:cNvSpPr txBox="1"/>
          <p:nvPr/>
        </p:nvSpPr>
        <p:spPr>
          <a:xfrm>
            <a:off x="6309892" y="3529709"/>
            <a:ext cx="3593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5</a:t>
            </a:r>
          </a:p>
        </p:txBody>
      </p:sp>
      <p:sp>
        <p:nvSpPr>
          <p:cNvPr id="32" name="Elipse 31"/>
          <p:cNvSpPr/>
          <p:nvPr/>
        </p:nvSpPr>
        <p:spPr>
          <a:xfrm>
            <a:off x="5754377" y="322610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33" name="Conector reto 32"/>
          <p:cNvCxnSpPr>
            <a:stCxn id="32" idx="6"/>
            <a:endCxn id="28" idx="2"/>
          </p:cNvCxnSpPr>
          <p:nvPr/>
        </p:nvCxnSpPr>
        <p:spPr>
          <a:xfrm>
            <a:off x="5984474" y="3338583"/>
            <a:ext cx="390067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lipse 33"/>
          <p:cNvSpPr/>
          <p:nvPr/>
        </p:nvSpPr>
        <p:spPr>
          <a:xfrm>
            <a:off x="7593741" y="322610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35" name="Conector reto 34"/>
          <p:cNvCxnSpPr>
            <a:stCxn id="29" idx="6"/>
            <a:endCxn id="34" idx="2"/>
          </p:cNvCxnSpPr>
          <p:nvPr/>
        </p:nvCxnSpPr>
        <p:spPr>
          <a:xfrm>
            <a:off x="7210694" y="3338583"/>
            <a:ext cx="383047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ipse 37"/>
          <p:cNvSpPr/>
          <p:nvPr/>
        </p:nvSpPr>
        <p:spPr>
          <a:xfrm>
            <a:off x="5134213" y="322610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39" name="Conector reto 38"/>
          <p:cNvCxnSpPr>
            <a:stCxn id="38" idx="6"/>
            <a:endCxn id="32" idx="2"/>
          </p:cNvCxnSpPr>
          <p:nvPr/>
        </p:nvCxnSpPr>
        <p:spPr>
          <a:xfrm>
            <a:off x="5364310" y="3338583"/>
            <a:ext cx="390067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Elipse 40"/>
          <p:cNvSpPr/>
          <p:nvPr/>
        </p:nvSpPr>
        <p:spPr>
          <a:xfrm>
            <a:off x="7363644" y="3965457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42" name="CaixaDeTexto 41"/>
          <p:cNvSpPr txBox="1"/>
          <p:nvPr/>
        </p:nvSpPr>
        <p:spPr>
          <a:xfrm>
            <a:off x="7664625" y="3908662"/>
            <a:ext cx="3593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745800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9" grpId="0"/>
      <p:bldP spid="10" grpId="0" animBg="1"/>
      <p:bldP spid="11" grpId="0" animBg="1"/>
      <p:bldP spid="13" grpId="0"/>
      <p:bldP spid="14" grpId="0" animBg="1"/>
      <p:bldP spid="17" grpId="0" animBg="1"/>
      <p:bldP spid="20" grpId="0" animBg="1"/>
      <p:bldP spid="21" grpId="0" animBg="1"/>
      <p:bldP spid="23" grpId="0"/>
      <p:bldP spid="24" grpId="0" animBg="1"/>
      <p:bldP spid="28" grpId="0" animBg="1"/>
      <p:bldP spid="29" grpId="0" animBg="1"/>
      <p:bldP spid="31" grpId="0"/>
      <p:bldP spid="32" grpId="0" animBg="1"/>
      <p:bldP spid="34" grpId="0" animBg="1"/>
      <p:bldP spid="38" grpId="0" animBg="1"/>
      <p:bldP spid="41" grpId="0" animBg="1"/>
      <p:bldP spid="4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Ciclo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Dado um grafo G = (V, E), um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ciclo</a:t>
            </a:r>
            <a:r>
              <a:rPr lang="pt-B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é um caminho fechado.</a:t>
            </a: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4" name="Grupo 3"/>
          <p:cNvGrpSpPr/>
          <p:nvPr/>
        </p:nvGrpSpPr>
        <p:grpSpPr>
          <a:xfrm>
            <a:off x="901346" y="1986370"/>
            <a:ext cx="2764391" cy="2234423"/>
            <a:chOff x="661710" y="1835699"/>
            <a:chExt cx="2764391" cy="2234423"/>
          </a:xfrm>
        </p:grpSpPr>
        <p:sp>
          <p:nvSpPr>
            <p:cNvPr id="6" name="Elipse 5"/>
            <p:cNvSpPr/>
            <p:nvPr/>
          </p:nvSpPr>
          <p:spPr>
            <a:xfrm>
              <a:off x="1525373" y="1835699"/>
              <a:ext cx="230097" cy="2249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2</a:t>
              </a:r>
            </a:p>
          </p:txBody>
        </p:sp>
        <p:sp>
          <p:nvSpPr>
            <p:cNvPr id="7" name="Elipse 6"/>
            <p:cNvSpPr/>
            <p:nvPr/>
          </p:nvSpPr>
          <p:spPr>
            <a:xfrm>
              <a:off x="661710" y="2498636"/>
              <a:ext cx="230097" cy="2249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1</a:t>
              </a:r>
            </a:p>
          </p:txBody>
        </p:sp>
        <p:sp>
          <p:nvSpPr>
            <p:cNvPr id="8" name="Elipse 7"/>
            <p:cNvSpPr/>
            <p:nvPr/>
          </p:nvSpPr>
          <p:spPr>
            <a:xfrm>
              <a:off x="1559070" y="3032653"/>
              <a:ext cx="230097" cy="2249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3</a:t>
              </a:r>
            </a:p>
          </p:txBody>
        </p:sp>
        <p:sp>
          <p:nvSpPr>
            <p:cNvPr id="9" name="Elipse 8"/>
            <p:cNvSpPr/>
            <p:nvPr/>
          </p:nvSpPr>
          <p:spPr>
            <a:xfrm>
              <a:off x="1043667" y="3720877"/>
              <a:ext cx="230097" cy="2249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4</a:t>
              </a:r>
            </a:p>
          </p:txBody>
        </p:sp>
        <p:sp>
          <p:nvSpPr>
            <p:cNvPr id="10" name="Elipse 9"/>
            <p:cNvSpPr/>
            <p:nvPr/>
          </p:nvSpPr>
          <p:spPr>
            <a:xfrm>
              <a:off x="2524482" y="3845157"/>
              <a:ext cx="230097" cy="2249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6</a:t>
              </a:r>
            </a:p>
          </p:txBody>
        </p:sp>
        <p:sp>
          <p:nvSpPr>
            <p:cNvPr id="11" name="Elipse 10"/>
            <p:cNvSpPr/>
            <p:nvPr/>
          </p:nvSpPr>
          <p:spPr>
            <a:xfrm>
              <a:off x="2294385" y="2611119"/>
              <a:ext cx="230097" cy="2249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5</a:t>
              </a:r>
            </a:p>
          </p:txBody>
        </p:sp>
        <p:sp>
          <p:nvSpPr>
            <p:cNvPr id="12" name="Elipse 11"/>
            <p:cNvSpPr/>
            <p:nvPr/>
          </p:nvSpPr>
          <p:spPr>
            <a:xfrm>
              <a:off x="2968913" y="2114915"/>
              <a:ext cx="230097" cy="2249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8</a:t>
              </a:r>
            </a:p>
          </p:txBody>
        </p:sp>
        <p:sp>
          <p:nvSpPr>
            <p:cNvPr id="13" name="Elipse 12"/>
            <p:cNvSpPr/>
            <p:nvPr/>
          </p:nvSpPr>
          <p:spPr>
            <a:xfrm>
              <a:off x="3196004" y="3112190"/>
              <a:ext cx="230097" cy="2249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7</a:t>
              </a:r>
            </a:p>
          </p:txBody>
        </p:sp>
        <p:cxnSp>
          <p:nvCxnSpPr>
            <p:cNvPr id="14" name="Conector de seta reta 13"/>
            <p:cNvCxnSpPr>
              <a:stCxn id="7" idx="7"/>
              <a:endCxn id="6" idx="3"/>
            </p:cNvCxnSpPr>
            <p:nvPr/>
          </p:nvCxnSpPr>
          <p:spPr>
            <a:xfrm flipV="1">
              <a:off x="858110" y="2027719"/>
              <a:ext cx="700960" cy="503862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de seta reta 14"/>
            <p:cNvCxnSpPr>
              <a:stCxn id="7" idx="4"/>
              <a:endCxn id="9" idx="1"/>
            </p:cNvCxnSpPr>
            <p:nvPr/>
          </p:nvCxnSpPr>
          <p:spPr>
            <a:xfrm>
              <a:off x="776759" y="2723601"/>
              <a:ext cx="300605" cy="1030221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de seta reta 15"/>
            <p:cNvCxnSpPr>
              <a:stCxn id="8" idx="5"/>
              <a:endCxn id="10" idx="1"/>
            </p:cNvCxnSpPr>
            <p:nvPr/>
          </p:nvCxnSpPr>
          <p:spPr>
            <a:xfrm>
              <a:off x="1755470" y="3224673"/>
              <a:ext cx="802709" cy="653429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de seta reta 16"/>
            <p:cNvCxnSpPr>
              <a:stCxn id="6" idx="6"/>
              <a:endCxn id="12" idx="1"/>
            </p:cNvCxnSpPr>
            <p:nvPr/>
          </p:nvCxnSpPr>
          <p:spPr>
            <a:xfrm>
              <a:off x="1755470" y="1948182"/>
              <a:ext cx="1247140" cy="199678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de seta reta 17"/>
            <p:cNvCxnSpPr>
              <a:stCxn id="9" idx="6"/>
              <a:endCxn id="10" idx="2"/>
            </p:cNvCxnSpPr>
            <p:nvPr/>
          </p:nvCxnSpPr>
          <p:spPr>
            <a:xfrm>
              <a:off x="1273764" y="3833360"/>
              <a:ext cx="1250718" cy="124280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de seta reta 18"/>
            <p:cNvCxnSpPr>
              <a:stCxn id="10" idx="7"/>
              <a:endCxn id="13" idx="3"/>
            </p:cNvCxnSpPr>
            <p:nvPr/>
          </p:nvCxnSpPr>
          <p:spPr>
            <a:xfrm flipV="1">
              <a:off x="2720882" y="3304210"/>
              <a:ext cx="508819" cy="573892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de seta reta 19"/>
            <p:cNvCxnSpPr>
              <a:stCxn id="8" idx="7"/>
              <a:endCxn id="11" idx="3"/>
            </p:cNvCxnSpPr>
            <p:nvPr/>
          </p:nvCxnSpPr>
          <p:spPr>
            <a:xfrm flipV="1">
              <a:off x="1755470" y="2803139"/>
              <a:ext cx="572612" cy="262459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de seta reta 20"/>
            <p:cNvCxnSpPr>
              <a:stCxn id="7" idx="6"/>
              <a:endCxn id="8" idx="1"/>
            </p:cNvCxnSpPr>
            <p:nvPr/>
          </p:nvCxnSpPr>
          <p:spPr>
            <a:xfrm>
              <a:off x="891807" y="2611119"/>
              <a:ext cx="700960" cy="454479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de seta reta 21"/>
            <p:cNvCxnSpPr>
              <a:stCxn id="6" idx="5"/>
              <a:endCxn id="11" idx="1"/>
            </p:cNvCxnSpPr>
            <p:nvPr/>
          </p:nvCxnSpPr>
          <p:spPr>
            <a:xfrm>
              <a:off x="1721773" y="2027719"/>
              <a:ext cx="606309" cy="616345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de seta reta 22"/>
            <p:cNvCxnSpPr>
              <a:stCxn id="13" idx="0"/>
              <a:endCxn id="12" idx="4"/>
            </p:cNvCxnSpPr>
            <p:nvPr/>
          </p:nvCxnSpPr>
          <p:spPr>
            <a:xfrm flipH="1" flipV="1">
              <a:off x="3083962" y="2339880"/>
              <a:ext cx="227091" cy="772310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ector de seta reta 23"/>
            <p:cNvCxnSpPr>
              <a:stCxn id="13" idx="1"/>
              <a:endCxn id="11" idx="5"/>
            </p:cNvCxnSpPr>
            <p:nvPr/>
          </p:nvCxnSpPr>
          <p:spPr>
            <a:xfrm flipH="1" flipV="1">
              <a:off x="2490785" y="2803139"/>
              <a:ext cx="738916" cy="341996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CaixaDeTexto 24"/>
          <p:cNvSpPr txBox="1"/>
          <p:nvPr/>
        </p:nvSpPr>
        <p:spPr>
          <a:xfrm>
            <a:off x="852187" y="1862624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37" name="CaixaDeTexto 36"/>
          <p:cNvSpPr txBox="1"/>
          <p:nvPr/>
        </p:nvSpPr>
        <p:spPr>
          <a:xfrm>
            <a:off x="4037439" y="2312920"/>
            <a:ext cx="22926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2  5  7  8  2       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 Ciclo</a:t>
            </a:r>
            <a:endParaRPr lang="pt-BR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38" name="Conector de seta reta 37"/>
          <p:cNvCxnSpPr>
            <a:stCxn id="43" idx="1"/>
            <a:endCxn id="44" idx="6"/>
          </p:cNvCxnSpPr>
          <p:nvPr/>
        </p:nvCxnSpPr>
        <p:spPr>
          <a:xfrm flipH="1" flipV="1">
            <a:off x="1998069" y="2091281"/>
            <a:ext cx="1244808" cy="207963"/>
          </a:xfrm>
          <a:prstGeom prst="straightConnector1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Elipse 38"/>
          <p:cNvSpPr/>
          <p:nvPr/>
        </p:nvSpPr>
        <p:spPr>
          <a:xfrm>
            <a:off x="2534315" y="2758648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40" name="Elipse 39"/>
          <p:cNvSpPr/>
          <p:nvPr/>
        </p:nvSpPr>
        <p:spPr>
          <a:xfrm>
            <a:off x="3442029" y="3260960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7</a:t>
            </a:r>
          </a:p>
        </p:txBody>
      </p:sp>
      <p:cxnSp>
        <p:nvCxnSpPr>
          <p:cNvPr id="41" name="Conector reto 40"/>
          <p:cNvCxnSpPr>
            <a:stCxn id="11" idx="1"/>
            <a:endCxn id="44" idx="5"/>
          </p:cNvCxnSpPr>
          <p:nvPr/>
        </p:nvCxnSpPr>
        <p:spPr>
          <a:xfrm flipH="1" flipV="1">
            <a:off x="1964372" y="2170818"/>
            <a:ext cx="603346" cy="62391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de seta reta 41"/>
          <p:cNvCxnSpPr>
            <a:stCxn id="40" idx="0"/>
            <a:endCxn id="12" idx="4"/>
          </p:cNvCxnSpPr>
          <p:nvPr/>
        </p:nvCxnSpPr>
        <p:spPr>
          <a:xfrm flipH="1" flipV="1">
            <a:off x="3323598" y="2490551"/>
            <a:ext cx="233480" cy="770409"/>
          </a:xfrm>
          <a:prstGeom prst="straightConnector1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Elipse 42"/>
          <p:cNvSpPr/>
          <p:nvPr/>
        </p:nvSpPr>
        <p:spPr>
          <a:xfrm>
            <a:off x="3209180" y="2266299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8</a:t>
            </a:r>
          </a:p>
        </p:txBody>
      </p:sp>
      <p:sp>
        <p:nvSpPr>
          <p:cNvPr id="44" name="Elipse 43"/>
          <p:cNvSpPr/>
          <p:nvPr/>
        </p:nvSpPr>
        <p:spPr>
          <a:xfrm>
            <a:off x="1767972" y="1978798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4037439" y="3038473"/>
            <a:ext cx="22797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1  3  6  4  1      </a:t>
            </a: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 Ciclo</a:t>
            </a:r>
            <a:endParaRPr lang="pt-BR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63" name="Conector de seta reta 62"/>
          <p:cNvCxnSpPr>
            <a:stCxn id="40" idx="1"/>
            <a:endCxn id="39" idx="5"/>
          </p:cNvCxnSpPr>
          <p:nvPr/>
        </p:nvCxnSpPr>
        <p:spPr>
          <a:xfrm flipH="1" flipV="1">
            <a:off x="2730715" y="2950668"/>
            <a:ext cx="745011" cy="343237"/>
          </a:xfrm>
          <a:prstGeom prst="straightConnector1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Elipse 65"/>
          <p:cNvSpPr/>
          <p:nvPr/>
        </p:nvSpPr>
        <p:spPr>
          <a:xfrm>
            <a:off x="897851" y="2647065"/>
            <a:ext cx="230097" cy="224965"/>
          </a:xfrm>
          <a:prstGeom prst="ellipse">
            <a:avLst/>
          </a:prstGeom>
          <a:solidFill>
            <a:srgbClr val="FF66FF"/>
          </a:solidFill>
          <a:ln>
            <a:solidFill>
              <a:srgbClr val="CC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67" name="Elipse 66"/>
          <p:cNvSpPr/>
          <p:nvPr/>
        </p:nvSpPr>
        <p:spPr>
          <a:xfrm>
            <a:off x="1796601" y="3179699"/>
            <a:ext cx="230097" cy="224965"/>
          </a:xfrm>
          <a:prstGeom prst="ellipse">
            <a:avLst/>
          </a:prstGeom>
          <a:solidFill>
            <a:srgbClr val="FF66FF"/>
          </a:solidFill>
          <a:ln>
            <a:solidFill>
              <a:srgbClr val="CC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68" name="Elipse 67"/>
          <p:cNvSpPr/>
          <p:nvPr/>
        </p:nvSpPr>
        <p:spPr>
          <a:xfrm>
            <a:off x="2761208" y="3992069"/>
            <a:ext cx="230097" cy="224965"/>
          </a:xfrm>
          <a:prstGeom prst="ellipse">
            <a:avLst/>
          </a:prstGeom>
          <a:solidFill>
            <a:srgbClr val="FF66FF"/>
          </a:solidFill>
          <a:ln>
            <a:solidFill>
              <a:srgbClr val="CC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70" name="Elipse 69"/>
          <p:cNvSpPr/>
          <p:nvPr/>
        </p:nvSpPr>
        <p:spPr>
          <a:xfrm>
            <a:off x="1286331" y="3868511"/>
            <a:ext cx="230097" cy="224965"/>
          </a:xfrm>
          <a:prstGeom prst="ellipse">
            <a:avLst/>
          </a:prstGeom>
          <a:solidFill>
            <a:srgbClr val="FF66FF"/>
          </a:solidFill>
          <a:ln>
            <a:solidFill>
              <a:srgbClr val="CC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cxnSp>
        <p:nvCxnSpPr>
          <p:cNvPr id="71" name="Conector de seta reta 70"/>
          <p:cNvCxnSpPr>
            <a:stCxn id="7" idx="6"/>
            <a:endCxn id="67" idx="1"/>
          </p:cNvCxnSpPr>
          <p:nvPr/>
        </p:nvCxnSpPr>
        <p:spPr>
          <a:xfrm>
            <a:off x="1131443" y="2761790"/>
            <a:ext cx="698855" cy="450854"/>
          </a:xfrm>
          <a:prstGeom prst="straightConnector1">
            <a:avLst/>
          </a:prstGeom>
          <a:ln w="28575">
            <a:solidFill>
              <a:srgbClr val="FF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de seta reta 73"/>
          <p:cNvCxnSpPr>
            <a:stCxn id="67" idx="5"/>
            <a:endCxn id="10" idx="1"/>
          </p:cNvCxnSpPr>
          <p:nvPr/>
        </p:nvCxnSpPr>
        <p:spPr>
          <a:xfrm>
            <a:off x="1993001" y="3371719"/>
            <a:ext cx="804814" cy="657054"/>
          </a:xfrm>
          <a:prstGeom prst="straightConnector1">
            <a:avLst/>
          </a:prstGeom>
          <a:ln w="28575">
            <a:solidFill>
              <a:srgbClr val="FF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ector de seta reta 76"/>
          <p:cNvCxnSpPr>
            <a:stCxn id="70" idx="6"/>
            <a:endCxn id="68" idx="2"/>
          </p:cNvCxnSpPr>
          <p:nvPr/>
        </p:nvCxnSpPr>
        <p:spPr>
          <a:xfrm>
            <a:off x="1516428" y="3980994"/>
            <a:ext cx="1244780" cy="123558"/>
          </a:xfrm>
          <a:prstGeom prst="straightConnector1">
            <a:avLst/>
          </a:prstGeom>
          <a:ln w="28575">
            <a:solidFill>
              <a:srgbClr val="FF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ector de seta reta 79"/>
          <p:cNvCxnSpPr>
            <a:stCxn id="66" idx="4"/>
            <a:endCxn id="70" idx="1"/>
          </p:cNvCxnSpPr>
          <p:nvPr/>
        </p:nvCxnSpPr>
        <p:spPr>
          <a:xfrm>
            <a:off x="1012900" y="2872030"/>
            <a:ext cx="307128" cy="1029426"/>
          </a:xfrm>
          <a:prstGeom prst="straightConnector1">
            <a:avLst/>
          </a:prstGeom>
          <a:ln w="28575">
            <a:solidFill>
              <a:srgbClr val="FF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CaixaDeTexto 82"/>
          <p:cNvSpPr txBox="1"/>
          <p:nvPr/>
        </p:nvSpPr>
        <p:spPr>
          <a:xfrm>
            <a:off x="3757407" y="3890131"/>
            <a:ext cx="51350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Em grafos direcionados, utiliza-se também o termo circuito.</a:t>
            </a:r>
          </a:p>
        </p:txBody>
      </p:sp>
    </p:spTree>
    <p:extLst>
      <p:ext uri="{BB962C8B-B14F-4D97-AF65-F5344CB8AC3E}">
        <p14:creationId xmlns:p14="http://schemas.microsoft.com/office/powerpoint/2010/main" val="3901335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37" grpId="0"/>
      <p:bldP spid="39" grpId="0" animBg="1"/>
      <p:bldP spid="40" grpId="0" animBg="1"/>
      <p:bldP spid="43" grpId="0" animBg="1"/>
      <p:bldP spid="44" grpId="0" animBg="1"/>
      <p:bldP spid="45" grpId="0"/>
      <p:bldP spid="66" grpId="0" animBg="1"/>
      <p:bldP spid="67" grpId="0" animBg="1"/>
      <p:bldP spid="68" grpId="0" animBg="1"/>
      <p:bldP spid="70" grpId="0" animBg="1"/>
      <p:bldP spid="8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Grafo Ciclo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Um grafo G = (V, E) com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&gt; 2 vértices é chamado de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grafo ciclo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(ou circular) quando consiste de um único ciclo passando por todos os seus vértices – representado por </a:t>
            </a:r>
            <a:r>
              <a:rPr lang="pt-BR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</a:t>
            </a:r>
            <a:r>
              <a:rPr lang="pt-BR" sz="2000" baseline="-25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 </a:t>
            </a: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Todos os vértices de um grafo ciclo possuem grau igual a 2.</a:t>
            </a:r>
          </a:p>
        </p:txBody>
      </p:sp>
      <p:sp>
        <p:nvSpPr>
          <p:cNvPr id="4" name="Elipse 3"/>
          <p:cNvSpPr/>
          <p:nvPr/>
        </p:nvSpPr>
        <p:spPr>
          <a:xfrm>
            <a:off x="1685286" y="2473045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6" name="Elipse 5"/>
          <p:cNvSpPr/>
          <p:nvPr/>
        </p:nvSpPr>
        <p:spPr>
          <a:xfrm>
            <a:off x="2277166" y="3496162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7" name="Conector reto 6"/>
          <p:cNvCxnSpPr>
            <a:stCxn id="4" idx="5"/>
            <a:endCxn id="6" idx="0"/>
          </p:cNvCxnSpPr>
          <p:nvPr/>
        </p:nvCxnSpPr>
        <p:spPr>
          <a:xfrm>
            <a:off x="1881686" y="2665065"/>
            <a:ext cx="510529" cy="831097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/>
          <p:cNvSpPr txBox="1"/>
          <p:nvPr/>
        </p:nvSpPr>
        <p:spPr>
          <a:xfrm>
            <a:off x="2107853" y="2306698"/>
            <a:ext cx="3593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3</a:t>
            </a:r>
          </a:p>
        </p:txBody>
      </p:sp>
      <p:sp>
        <p:nvSpPr>
          <p:cNvPr id="9" name="Elipse 8"/>
          <p:cNvSpPr/>
          <p:nvPr/>
        </p:nvSpPr>
        <p:spPr>
          <a:xfrm>
            <a:off x="1065123" y="3496162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10" name="Conector reto 9"/>
          <p:cNvCxnSpPr>
            <a:stCxn id="9" idx="0"/>
            <a:endCxn id="4" idx="3"/>
          </p:cNvCxnSpPr>
          <p:nvPr/>
        </p:nvCxnSpPr>
        <p:spPr>
          <a:xfrm flipV="1">
            <a:off x="1180172" y="2665065"/>
            <a:ext cx="538811" cy="831097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>
            <a:stCxn id="9" idx="6"/>
            <a:endCxn id="6" idx="2"/>
          </p:cNvCxnSpPr>
          <p:nvPr/>
        </p:nvCxnSpPr>
        <p:spPr>
          <a:xfrm>
            <a:off x="1295220" y="3608645"/>
            <a:ext cx="981946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Elipse 19"/>
          <p:cNvSpPr/>
          <p:nvPr/>
        </p:nvSpPr>
        <p:spPr>
          <a:xfrm>
            <a:off x="3603380" y="2478084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21" name="Elipse 20"/>
          <p:cNvSpPr/>
          <p:nvPr/>
        </p:nvSpPr>
        <p:spPr>
          <a:xfrm>
            <a:off x="4815424" y="3501202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22" name="Conector reto 21"/>
          <p:cNvCxnSpPr>
            <a:stCxn id="34" idx="4"/>
            <a:endCxn id="21" idx="0"/>
          </p:cNvCxnSpPr>
          <p:nvPr/>
        </p:nvCxnSpPr>
        <p:spPr>
          <a:xfrm flipH="1">
            <a:off x="4930473" y="2703049"/>
            <a:ext cx="2793" cy="7981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aixaDeTexto 22"/>
          <p:cNvSpPr txBox="1"/>
          <p:nvPr/>
        </p:nvSpPr>
        <p:spPr>
          <a:xfrm>
            <a:off x="5163363" y="2308807"/>
            <a:ext cx="3626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4</a:t>
            </a:r>
          </a:p>
        </p:txBody>
      </p:sp>
      <p:sp>
        <p:nvSpPr>
          <p:cNvPr id="24" name="Elipse 23"/>
          <p:cNvSpPr/>
          <p:nvPr/>
        </p:nvSpPr>
        <p:spPr>
          <a:xfrm>
            <a:off x="3603381" y="3501202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25" name="Conector reto 24"/>
          <p:cNvCxnSpPr>
            <a:stCxn id="24" idx="0"/>
            <a:endCxn id="20" idx="4"/>
          </p:cNvCxnSpPr>
          <p:nvPr/>
        </p:nvCxnSpPr>
        <p:spPr>
          <a:xfrm flipH="1" flipV="1">
            <a:off x="3718429" y="2703049"/>
            <a:ext cx="1" cy="79815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to 25"/>
          <p:cNvCxnSpPr>
            <a:stCxn id="24" idx="6"/>
            <a:endCxn id="21" idx="2"/>
          </p:cNvCxnSpPr>
          <p:nvPr/>
        </p:nvCxnSpPr>
        <p:spPr>
          <a:xfrm>
            <a:off x="3833478" y="3613685"/>
            <a:ext cx="981946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lipse 33"/>
          <p:cNvSpPr/>
          <p:nvPr/>
        </p:nvSpPr>
        <p:spPr>
          <a:xfrm>
            <a:off x="4818217" y="2478084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40" name="Conector reto 39"/>
          <p:cNvCxnSpPr>
            <a:stCxn id="20" idx="6"/>
            <a:endCxn id="34" idx="2"/>
          </p:cNvCxnSpPr>
          <p:nvPr/>
        </p:nvCxnSpPr>
        <p:spPr>
          <a:xfrm>
            <a:off x="3833477" y="2590567"/>
            <a:ext cx="984740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Elipse 42"/>
          <p:cNvSpPr/>
          <p:nvPr/>
        </p:nvSpPr>
        <p:spPr>
          <a:xfrm>
            <a:off x="6222155" y="2590568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44" name="Elipse 43"/>
          <p:cNvSpPr/>
          <p:nvPr/>
        </p:nvSpPr>
        <p:spPr>
          <a:xfrm>
            <a:off x="7475392" y="3491119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45" name="Conector reto 44"/>
          <p:cNvCxnSpPr>
            <a:stCxn id="50" idx="4"/>
            <a:endCxn id="44" idx="7"/>
          </p:cNvCxnSpPr>
          <p:nvPr/>
        </p:nvCxnSpPr>
        <p:spPr>
          <a:xfrm flipH="1">
            <a:off x="7671792" y="2828282"/>
            <a:ext cx="252310" cy="695782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CaixaDeTexto 45"/>
          <p:cNvSpPr txBox="1"/>
          <p:nvPr/>
        </p:nvSpPr>
        <p:spPr>
          <a:xfrm>
            <a:off x="7968332" y="2298725"/>
            <a:ext cx="3626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5</a:t>
            </a:r>
          </a:p>
        </p:txBody>
      </p:sp>
      <p:sp>
        <p:nvSpPr>
          <p:cNvPr id="47" name="Elipse 46"/>
          <p:cNvSpPr/>
          <p:nvPr/>
        </p:nvSpPr>
        <p:spPr>
          <a:xfrm>
            <a:off x="6566894" y="3501202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48" name="Conector reto 47"/>
          <p:cNvCxnSpPr>
            <a:stCxn id="47" idx="1"/>
            <a:endCxn id="43" idx="4"/>
          </p:cNvCxnSpPr>
          <p:nvPr/>
        </p:nvCxnSpPr>
        <p:spPr>
          <a:xfrm flipH="1" flipV="1">
            <a:off x="6337204" y="2815533"/>
            <a:ext cx="263387" cy="71861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to 48"/>
          <p:cNvCxnSpPr>
            <a:stCxn id="47" idx="6"/>
            <a:endCxn id="44" idx="2"/>
          </p:cNvCxnSpPr>
          <p:nvPr/>
        </p:nvCxnSpPr>
        <p:spPr>
          <a:xfrm flipV="1">
            <a:off x="6796991" y="3603602"/>
            <a:ext cx="678401" cy="1008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Elipse 49"/>
          <p:cNvSpPr/>
          <p:nvPr/>
        </p:nvSpPr>
        <p:spPr>
          <a:xfrm>
            <a:off x="7809053" y="2603317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51" name="Conector reto 50"/>
          <p:cNvCxnSpPr>
            <a:stCxn id="43" idx="0"/>
            <a:endCxn id="52" idx="2"/>
          </p:cNvCxnSpPr>
          <p:nvPr/>
        </p:nvCxnSpPr>
        <p:spPr>
          <a:xfrm flipV="1">
            <a:off x="6337204" y="2113211"/>
            <a:ext cx="661183" cy="477357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Elipse 51"/>
          <p:cNvSpPr/>
          <p:nvPr/>
        </p:nvSpPr>
        <p:spPr>
          <a:xfrm>
            <a:off x="6998387" y="2000728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71" name="Conector reto 70"/>
          <p:cNvCxnSpPr>
            <a:stCxn id="50" idx="0"/>
            <a:endCxn id="52" idx="6"/>
          </p:cNvCxnSpPr>
          <p:nvPr/>
        </p:nvCxnSpPr>
        <p:spPr>
          <a:xfrm flipH="1" flipV="1">
            <a:off x="7228484" y="2113211"/>
            <a:ext cx="695618" cy="49010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6156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/>
      <p:bldP spid="9" grpId="0" animBg="1"/>
      <p:bldP spid="20" grpId="0" animBg="1"/>
      <p:bldP spid="21" grpId="0" animBg="1"/>
      <p:bldP spid="23" grpId="0"/>
      <p:bldP spid="24" grpId="0" animBg="1"/>
      <p:bldP spid="34" grpId="0" animBg="1"/>
      <p:bldP spid="43" grpId="0" animBg="1"/>
      <p:bldP spid="44" grpId="0" animBg="1"/>
      <p:bldP spid="46" grpId="0"/>
      <p:bldP spid="47" grpId="0" animBg="1"/>
      <p:bldP spid="50" grpId="0" animBg="1"/>
      <p:bldP spid="5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Noções de Conectividade</a:t>
            </a:r>
          </a:p>
        </p:txBody>
      </p:sp>
    </p:spTree>
    <p:extLst>
      <p:ext uri="{BB962C8B-B14F-4D97-AF65-F5344CB8AC3E}">
        <p14:creationId xmlns:p14="http://schemas.microsoft.com/office/powerpoint/2010/main" val="41446275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Grafo Conexo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Um grafo G = (V, E) é dito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conexo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quando existir pelo menos um caminho para todo par de vértices.</a:t>
            </a: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4" name="Grupo 3"/>
          <p:cNvGrpSpPr/>
          <p:nvPr/>
        </p:nvGrpSpPr>
        <p:grpSpPr>
          <a:xfrm>
            <a:off x="908386" y="2049816"/>
            <a:ext cx="2764391" cy="2234423"/>
            <a:chOff x="661710" y="1835699"/>
            <a:chExt cx="2764391" cy="2234423"/>
          </a:xfrm>
        </p:grpSpPr>
        <p:sp>
          <p:nvSpPr>
            <p:cNvPr id="6" name="Elipse 5"/>
            <p:cNvSpPr/>
            <p:nvPr/>
          </p:nvSpPr>
          <p:spPr>
            <a:xfrm>
              <a:off x="1525373" y="1835699"/>
              <a:ext cx="230097" cy="2249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2</a:t>
              </a:r>
            </a:p>
          </p:txBody>
        </p:sp>
        <p:sp>
          <p:nvSpPr>
            <p:cNvPr id="7" name="Elipse 6"/>
            <p:cNvSpPr/>
            <p:nvPr/>
          </p:nvSpPr>
          <p:spPr>
            <a:xfrm>
              <a:off x="661710" y="2498636"/>
              <a:ext cx="230097" cy="2249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1</a:t>
              </a:r>
            </a:p>
          </p:txBody>
        </p:sp>
        <p:sp>
          <p:nvSpPr>
            <p:cNvPr id="8" name="Elipse 7"/>
            <p:cNvSpPr/>
            <p:nvPr/>
          </p:nvSpPr>
          <p:spPr>
            <a:xfrm>
              <a:off x="1559070" y="3032653"/>
              <a:ext cx="230097" cy="2249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3</a:t>
              </a:r>
            </a:p>
          </p:txBody>
        </p:sp>
        <p:sp>
          <p:nvSpPr>
            <p:cNvPr id="9" name="Elipse 8"/>
            <p:cNvSpPr/>
            <p:nvPr/>
          </p:nvSpPr>
          <p:spPr>
            <a:xfrm>
              <a:off x="1043667" y="3720877"/>
              <a:ext cx="230097" cy="2249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4</a:t>
              </a:r>
            </a:p>
          </p:txBody>
        </p:sp>
        <p:sp>
          <p:nvSpPr>
            <p:cNvPr id="10" name="Elipse 9"/>
            <p:cNvSpPr/>
            <p:nvPr/>
          </p:nvSpPr>
          <p:spPr>
            <a:xfrm>
              <a:off x="2524482" y="3845157"/>
              <a:ext cx="230097" cy="2249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6</a:t>
              </a:r>
            </a:p>
          </p:txBody>
        </p:sp>
        <p:sp>
          <p:nvSpPr>
            <p:cNvPr id="11" name="Elipse 10"/>
            <p:cNvSpPr/>
            <p:nvPr/>
          </p:nvSpPr>
          <p:spPr>
            <a:xfrm>
              <a:off x="2294385" y="2611119"/>
              <a:ext cx="230097" cy="2249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5</a:t>
              </a:r>
            </a:p>
          </p:txBody>
        </p:sp>
        <p:sp>
          <p:nvSpPr>
            <p:cNvPr id="12" name="Elipse 11"/>
            <p:cNvSpPr/>
            <p:nvPr/>
          </p:nvSpPr>
          <p:spPr>
            <a:xfrm>
              <a:off x="2968913" y="2114915"/>
              <a:ext cx="230097" cy="2249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8</a:t>
              </a:r>
            </a:p>
          </p:txBody>
        </p:sp>
        <p:sp>
          <p:nvSpPr>
            <p:cNvPr id="13" name="Elipse 12"/>
            <p:cNvSpPr/>
            <p:nvPr/>
          </p:nvSpPr>
          <p:spPr>
            <a:xfrm>
              <a:off x="3196004" y="3112190"/>
              <a:ext cx="230097" cy="2249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7</a:t>
              </a:r>
            </a:p>
          </p:txBody>
        </p:sp>
        <p:cxnSp>
          <p:nvCxnSpPr>
            <p:cNvPr id="14" name="Conector de seta reta 13"/>
            <p:cNvCxnSpPr>
              <a:stCxn id="7" idx="7"/>
              <a:endCxn id="6" idx="3"/>
            </p:cNvCxnSpPr>
            <p:nvPr/>
          </p:nvCxnSpPr>
          <p:spPr>
            <a:xfrm flipV="1">
              <a:off x="858110" y="2027719"/>
              <a:ext cx="700960" cy="503862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de seta reta 14"/>
            <p:cNvCxnSpPr>
              <a:stCxn id="7" idx="4"/>
              <a:endCxn id="9" idx="1"/>
            </p:cNvCxnSpPr>
            <p:nvPr/>
          </p:nvCxnSpPr>
          <p:spPr>
            <a:xfrm>
              <a:off x="776759" y="2723601"/>
              <a:ext cx="300605" cy="1030221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de seta reta 15"/>
            <p:cNvCxnSpPr>
              <a:stCxn id="8" idx="5"/>
              <a:endCxn id="10" idx="1"/>
            </p:cNvCxnSpPr>
            <p:nvPr/>
          </p:nvCxnSpPr>
          <p:spPr>
            <a:xfrm>
              <a:off x="1755470" y="3224673"/>
              <a:ext cx="802709" cy="653429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de seta reta 16"/>
            <p:cNvCxnSpPr>
              <a:stCxn id="6" idx="6"/>
              <a:endCxn id="12" idx="1"/>
            </p:cNvCxnSpPr>
            <p:nvPr/>
          </p:nvCxnSpPr>
          <p:spPr>
            <a:xfrm>
              <a:off x="1755470" y="1948182"/>
              <a:ext cx="1247140" cy="199678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de seta reta 17"/>
            <p:cNvCxnSpPr>
              <a:stCxn id="9" idx="6"/>
              <a:endCxn id="10" idx="2"/>
            </p:cNvCxnSpPr>
            <p:nvPr/>
          </p:nvCxnSpPr>
          <p:spPr>
            <a:xfrm>
              <a:off x="1273764" y="3833360"/>
              <a:ext cx="1250718" cy="124280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de seta reta 18"/>
            <p:cNvCxnSpPr>
              <a:stCxn id="10" idx="7"/>
              <a:endCxn id="13" idx="3"/>
            </p:cNvCxnSpPr>
            <p:nvPr/>
          </p:nvCxnSpPr>
          <p:spPr>
            <a:xfrm flipV="1">
              <a:off x="2720882" y="3304210"/>
              <a:ext cx="508819" cy="573892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de seta reta 19"/>
            <p:cNvCxnSpPr>
              <a:stCxn id="8" idx="7"/>
              <a:endCxn id="11" idx="3"/>
            </p:cNvCxnSpPr>
            <p:nvPr/>
          </p:nvCxnSpPr>
          <p:spPr>
            <a:xfrm flipV="1">
              <a:off x="1755470" y="2803139"/>
              <a:ext cx="572612" cy="262459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de seta reta 20"/>
            <p:cNvCxnSpPr>
              <a:stCxn id="7" idx="6"/>
              <a:endCxn id="8" idx="1"/>
            </p:cNvCxnSpPr>
            <p:nvPr/>
          </p:nvCxnSpPr>
          <p:spPr>
            <a:xfrm>
              <a:off x="891807" y="2611119"/>
              <a:ext cx="700960" cy="454479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de seta reta 21"/>
            <p:cNvCxnSpPr>
              <a:stCxn id="6" idx="5"/>
              <a:endCxn id="11" idx="1"/>
            </p:cNvCxnSpPr>
            <p:nvPr/>
          </p:nvCxnSpPr>
          <p:spPr>
            <a:xfrm>
              <a:off x="1721773" y="2027719"/>
              <a:ext cx="606309" cy="616345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de seta reta 22"/>
            <p:cNvCxnSpPr>
              <a:stCxn id="13" idx="0"/>
              <a:endCxn id="12" idx="4"/>
            </p:cNvCxnSpPr>
            <p:nvPr/>
          </p:nvCxnSpPr>
          <p:spPr>
            <a:xfrm flipH="1" flipV="1">
              <a:off x="3083962" y="2339880"/>
              <a:ext cx="227091" cy="772310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ector de seta reta 23"/>
            <p:cNvCxnSpPr>
              <a:stCxn id="13" idx="1"/>
              <a:endCxn id="11" idx="5"/>
            </p:cNvCxnSpPr>
            <p:nvPr/>
          </p:nvCxnSpPr>
          <p:spPr>
            <a:xfrm flipH="1" flipV="1">
              <a:off x="2490785" y="2803139"/>
              <a:ext cx="738916" cy="341996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CaixaDeTexto 24"/>
          <p:cNvSpPr txBox="1"/>
          <p:nvPr/>
        </p:nvSpPr>
        <p:spPr>
          <a:xfrm>
            <a:off x="859227" y="1926070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4387515" y="1788614"/>
            <a:ext cx="25639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/>
              <a:t>Existe caminho entre 1 e 2 ? </a:t>
            </a:r>
          </a:p>
        </p:txBody>
      </p:sp>
      <p:sp>
        <p:nvSpPr>
          <p:cNvPr id="37" name="CaixaDeTexto 36"/>
          <p:cNvSpPr txBox="1"/>
          <p:nvPr/>
        </p:nvSpPr>
        <p:spPr>
          <a:xfrm>
            <a:off x="6945574" y="1788614"/>
            <a:ext cx="6767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rgbClr val="00B0F0"/>
                </a:solidFill>
                <a:sym typeface="Symbol" panose="05050102010706020507" pitchFamily="18" charset="2"/>
              </a:rPr>
              <a:t> </a:t>
            </a:r>
            <a:r>
              <a:rPr lang="pt-BR" sz="1600" dirty="0">
                <a:solidFill>
                  <a:srgbClr val="00B0F0"/>
                </a:solidFill>
              </a:rPr>
              <a:t>OK</a:t>
            </a:r>
          </a:p>
        </p:txBody>
      </p:sp>
      <p:sp>
        <p:nvSpPr>
          <p:cNvPr id="39" name="CaixaDeTexto 38"/>
          <p:cNvSpPr txBox="1"/>
          <p:nvPr/>
        </p:nvSpPr>
        <p:spPr>
          <a:xfrm>
            <a:off x="4408742" y="2130354"/>
            <a:ext cx="25639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/>
              <a:t>Existe caminho entre 1 e 3 ? </a:t>
            </a:r>
          </a:p>
        </p:txBody>
      </p:sp>
      <p:sp>
        <p:nvSpPr>
          <p:cNvPr id="40" name="CaixaDeTexto 39"/>
          <p:cNvSpPr txBox="1"/>
          <p:nvPr/>
        </p:nvSpPr>
        <p:spPr>
          <a:xfrm>
            <a:off x="6945574" y="2121523"/>
            <a:ext cx="6767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rgbClr val="00B0F0"/>
                </a:solidFill>
                <a:sym typeface="Symbol" panose="05050102010706020507" pitchFamily="18" charset="2"/>
              </a:rPr>
              <a:t> </a:t>
            </a:r>
            <a:r>
              <a:rPr lang="pt-BR" sz="1600" dirty="0">
                <a:solidFill>
                  <a:srgbClr val="00B0F0"/>
                </a:solidFill>
              </a:rPr>
              <a:t>OK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4381667" y="2740122"/>
            <a:ext cx="25639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/>
              <a:t>Existe caminho entre 1 e 8 ? 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6951422" y="2746249"/>
            <a:ext cx="6767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rgbClr val="00B0F0"/>
                </a:solidFill>
                <a:sym typeface="Symbol" panose="05050102010706020507" pitchFamily="18" charset="2"/>
              </a:rPr>
              <a:t> </a:t>
            </a:r>
            <a:r>
              <a:rPr lang="pt-BR" sz="1600" dirty="0">
                <a:solidFill>
                  <a:srgbClr val="00B0F0"/>
                </a:solidFill>
              </a:rPr>
              <a:t>OK</a:t>
            </a:r>
          </a:p>
        </p:txBody>
      </p:sp>
      <p:sp>
        <p:nvSpPr>
          <p:cNvPr id="43" name="CaixaDeTexto 42"/>
          <p:cNvSpPr txBox="1"/>
          <p:nvPr/>
        </p:nvSpPr>
        <p:spPr>
          <a:xfrm>
            <a:off x="4408742" y="3078676"/>
            <a:ext cx="25639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/>
              <a:t>Existe caminho entre 2 e 3 ? 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6957111" y="3075420"/>
            <a:ext cx="6767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rgbClr val="00B0F0"/>
                </a:solidFill>
                <a:sym typeface="Symbol" panose="05050102010706020507" pitchFamily="18" charset="2"/>
              </a:rPr>
              <a:t> </a:t>
            </a:r>
            <a:r>
              <a:rPr lang="pt-BR" sz="1600" dirty="0">
                <a:solidFill>
                  <a:srgbClr val="00B0F0"/>
                </a:solidFill>
              </a:rPr>
              <a:t>OK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5533696" y="2446778"/>
            <a:ext cx="2535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ym typeface="MT Extra" panose="05050102010205020202" pitchFamily="18" charset="2"/>
              </a:rPr>
              <a:t></a:t>
            </a:r>
            <a:endParaRPr lang="pt-BR" sz="1600" dirty="0"/>
          </a:p>
        </p:txBody>
      </p:sp>
      <p:sp>
        <p:nvSpPr>
          <p:cNvPr id="46" name="CaixaDeTexto 45"/>
          <p:cNvSpPr txBox="1"/>
          <p:nvPr/>
        </p:nvSpPr>
        <p:spPr>
          <a:xfrm>
            <a:off x="5533696" y="3482238"/>
            <a:ext cx="2535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ym typeface="MT Extra" panose="05050102010205020202" pitchFamily="18" charset="2"/>
              </a:rPr>
              <a:t></a:t>
            </a:r>
            <a:endParaRPr lang="pt-BR" sz="1600" dirty="0"/>
          </a:p>
        </p:txBody>
      </p:sp>
      <p:sp>
        <p:nvSpPr>
          <p:cNvPr id="47" name="CaixaDeTexto 46"/>
          <p:cNvSpPr txBox="1"/>
          <p:nvPr/>
        </p:nvSpPr>
        <p:spPr>
          <a:xfrm>
            <a:off x="4285889" y="3782435"/>
            <a:ext cx="27492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>
                <a:solidFill>
                  <a:srgbClr val="FF0000"/>
                </a:solidFill>
              </a:rPr>
              <a:t>Como existem caminhos entre todos os pares de vértices</a:t>
            </a:r>
          </a:p>
        </p:txBody>
      </p:sp>
      <p:sp>
        <p:nvSpPr>
          <p:cNvPr id="48" name="Seta para a direita 47"/>
          <p:cNvSpPr/>
          <p:nvPr/>
        </p:nvSpPr>
        <p:spPr>
          <a:xfrm>
            <a:off x="7102549" y="4023988"/>
            <a:ext cx="389860" cy="189174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9" name="CaixaDeTexto 48"/>
          <p:cNvSpPr txBox="1"/>
          <p:nvPr/>
        </p:nvSpPr>
        <p:spPr>
          <a:xfrm>
            <a:off x="7622362" y="3926356"/>
            <a:ext cx="889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Conexo</a:t>
            </a:r>
          </a:p>
        </p:txBody>
      </p:sp>
    </p:spTree>
    <p:extLst>
      <p:ext uri="{BB962C8B-B14F-4D97-AF65-F5344CB8AC3E}">
        <p14:creationId xmlns:p14="http://schemas.microsoft.com/office/powerpoint/2010/main" val="3186432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3" grpId="0"/>
      <p:bldP spid="37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 animBg="1"/>
      <p:bldP spid="4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Grafo Desconexo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Um grafo G = (V, E) é dito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desconexo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quando não existir um caminho entre algum par de vértices.</a:t>
            </a: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4" name="Grupo 3"/>
          <p:cNvGrpSpPr/>
          <p:nvPr/>
        </p:nvGrpSpPr>
        <p:grpSpPr>
          <a:xfrm>
            <a:off x="908386" y="2049816"/>
            <a:ext cx="2764391" cy="2234423"/>
            <a:chOff x="661710" y="1835699"/>
            <a:chExt cx="2764391" cy="2234423"/>
          </a:xfrm>
        </p:grpSpPr>
        <p:sp>
          <p:nvSpPr>
            <p:cNvPr id="6" name="Elipse 5"/>
            <p:cNvSpPr/>
            <p:nvPr/>
          </p:nvSpPr>
          <p:spPr>
            <a:xfrm>
              <a:off x="1525373" y="1835699"/>
              <a:ext cx="230097" cy="2249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2</a:t>
              </a:r>
            </a:p>
          </p:txBody>
        </p:sp>
        <p:sp>
          <p:nvSpPr>
            <p:cNvPr id="7" name="Elipse 6"/>
            <p:cNvSpPr/>
            <p:nvPr/>
          </p:nvSpPr>
          <p:spPr>
            <a:xfrm>
              <a:off x="661710" y="2498636"/>
              <a:ext cx="230097" cy="2249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1</a:t>
              </a:r>
            </a:p>
          </p:txBody>
        </p:sp>
        <p:sp>
          <p:nvSpPr>
            <p:cNvPr id="8" name="Elipse 7"/>
            <p:cNvSpPr/>
            <p:nvPr/>
          </p:nvSpPr>
          <p:spPr>
            <a:xfrm>
              <a:off x="1559070" y="3032653"/>
              <a:ext cx="230097" cy="2249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3</a:t>
              </a:r>
            </a:p>
          </p:txBody>
        </p:sp>
        <p:sp>
          <p:nvSpPr>
            <p:cNvPr id="9" name="Elipse 8"/>
            <p:cNvSpPr/>
            <p:nvPr/>
          </p:nvSpPr>
          <p:spPr>
            <a:xfrm>
              <a:off x="1043667" y="3720877"/>
              <a:ext cx="230097" cy="2249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4</a:t>
              </a:r>
            </a:p>
          </p:txBody>
        </p:sp>
        <p:sp>
          <p:nvSpPr>
            <p:cNvPr id="10" name="Elipse 9"/>
            <p:cNvSpPr/>
            <p:nvPr/>
          </p:nvSpPr>
          <p:spPr>
            <a:xfrm>
              <a:off x="2524482" y="3845157"/>
              <a:ext cx="230097" cy="2249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6</a:t>
              </a:r>
            </a:p>
          </p:txBody>
        </p:sp>
        <p:sp>
          <p:nvSpPr>
            <p:cNvPr id="11" name="Elipse 10"/>
            <p:cNvSpPr/>
            <p:nvPr/>
          </p:nvSpPr>
          <p:spPr>
            <a:xfrm>
              <a:off x="2294385" y="2611119"/>
              <a:ext cx="230097" cy="2249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5</a:t>
              </a:r>
            </a:p>
          </p:txBody>
        </p:sp>
        <p:sp>
          <p:nvSpPr>
            <p:cNvPr id="12" name="Elipse 11"/>
            <p:cNvSpPr/>
            <p:nvPr/>
          </p:nvSpPr>
          <p:spPr>
            <a:xfrm>
              <a:off x="2968913" y="2114915"/>
              <a:ext cx="230097" cy="2249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8</a:t>
              </a:r>
            </a:p>
          </p:txBody>
        </p:sp>
        <p:sp>
          <p:nvSpPr>
            <p:cNvPr id="13" name="Elipse 12"/>
            <p:cNvSpPr/>
            <p:nvPr/>
          </p:nvSpPr>
          <p:spPr>
            <a:xfrm>
              <a:off x="3196004" y="3112190"/>
              <a:ext cx="230097" cy="2249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7</a:t>
              </a:r>
            </a:p>
          </p:txBody>
        </p:sp>
        <p:cxnSp>
          <p:nvCxnSpPr>
            <p:cNvPr id="14" name="Conector de seta reta 13"/>
            <p:cNvCxnSpPr>
              <a:stCxn id="7" idx="7"/>
              <a:endCxn id="6" idx="3"/>
            </p:cNvCxnSpPr>
            <p:nvPr/>
          </p:nvCxnSpPr>
          <p:spPr>
            <a:xfrm flipV="1">
              <a:off x="858110" y="2027719"/>
              <a:ext cx="700960" cy="503862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de seta reta 14"/>
            <p:cNvCxnSpPr>
              <a:stCxn id="7" idx="4"/>
              <a:endCxn id="9" idx="1"/>
            </p:cNvCxnSpPr>
            <p:nvPr/>
          </p:nvCxnSpPr>
          <p:spPr>
            <a:xfrm>
              <a:off x="776759" y="2723601"/>
              <a:ext cx="300605" cy="1030221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de seta reta 17"/>
            <p:cNvCxnSpPr>
              <a:stCxn id="9" idx="6"/>
              <a:endCxn id="10" idx="2"/>
            </p:cNvCxnSpPr>
            <p:nvPr/>
          </p:nvCxnSpPr>
          <p:spPr>
            <a:xfrm>
              <a:off x="1273764" y="3833360"/>
              <a:ext cx="1250718" cy="124280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de seta reta 19"/>
            <p:cNvCxnSpPr>
              <a:stCxn id="8" idx="7"/>
              <a:endCxn id="11" idx="3"/>
            </p:cNvCxnSpPr>
            <p:nvPr/>
          </p:nvCxnSpPr>
          <p:spPr>
            <a:xfrm flipV="1">
              <a:off x="1755470" y="2803139"/>
              <a:ext cx="572612" cy="262459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de seta reta 20"/>
            <p:cNvCxnSpPr>
              <a:stCxn id="7" idx="6"/>
              <a:endCxn id="8" idx="1"/>
            </p:cNvCxnSpPr>
            <p:nvPr/>
          </p:nvCxnSpPr>
          <p:spPr>
            <a:xfrm>
              <a:off x="891807" y="2611119"/>
              <a:ext cx="700960" cy="454479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de seta reta 21"/>
            <p:cNvCxnSpPr>
              <a:stCxn id="6" idx="5"/>
              <a:endCxn id="11" idx="1"/>
            </p:cNvCxnSpPr>
            <p:nvPr/>
          </p:nvCxnSpPr>
          <p:spPr>
            <a:xfrm>
              <a:off x="1721773" y="2027719"/>
              <a:ext cx="606309" cy="616345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de seta reta 22"/>
            <p:cNvCxnSpPr>
              <a:stCxn id="13" idx="0"/>
              <a:endCxn id="12" idx="4"/>
            </p:cNvCxnSpPr>
            <p:nvPr/>
          </p:nvCxnSpPr>
          <p:spPr>
            <a:xfrm flipH="1" flipV="1">
              <a:off x="3083962" y="2339880"/>
              <a:ext cx="227091" cy="772310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CaixaDeTexto 24"/>
          <p:cNvSpPr txBox="1"/>
          <p:nvPr/>
        </p:nvSpPr>
        <p:spPr>
          <a:xfrm>
            <a:off x="859227" y="1926070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4049597" y="1809840"/>
            <a:ext cx="25639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/>
              <a:t>Existe caminho entre 1 e 7 ? 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6619352" y="1815967"/>
            <a:ext cx="8187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rgbClr val="FF0000"/>
                </a:solidFill>
                <a:sym typeface="Symbol" panose="05050102010706020507" pitchFamily="18" charset="2"/>
              </a:rPr>
              <a:t> </a:t>
            </a:r>
            <a:r>
              <a:rPr lang="pt-BR" sz="1600" dirty="0">
                <a:solidFill>
                  <a:srgbClr val="FF0000"/>
                </a:solidFill>
              </a:rPr>
              <a:t>NÃO</a:t>
            </a:r>
          </a:p>
        </p:txBody>
      </p:sp>
      <p:sp>
        <p:nvSpPr>
          <p:cNvPr id="43" name="CaixaDeTexto 42"/>
          <p:cNvSpPr txBox="1"/>
          <p:nvPr/>
        </p:nvSpPr>
        <p:spPr>
          <a:xfrm>
            <a:off x="4049596" y="2155213"/>
            <a:ext cx="25639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/>
              <a:t>Existe caminho entre 1 e 8 ? 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6625041" y="2145138"/>
            <a:ext cx="8187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rgbClr val="FF0000"/>
                </a:solidFill>
                <a:sym typeface="Symbol" panose="05050102010706020507" pitchFamily="18" charset="2"/>
              </a:rPr>
              <a:t> </a:t>
            </a:r>
            <a:r>
              <a:rPr lang="pt-BR" sz="1600" dirty="0">
                <a:solidFill>
                  <a:srgbClr val="FF0000"/>
                </a:solidFill>
              </a:rPr>
              <a:t>NÃO</a:t>
            </a:r>
          </a:p>
        </p:txBody>
      </p:sp>
      <p:sp>
        <p:nvSpPr>
          <p:cNvPr id="47" name="CaixaDeTexto 46"/>
          <p:cNvSpPr txBox="1"/>
          <p:nvPr/>
        </p:nvSpPr>
        <p:spPr>
          <a:xfrm>
            <a:off x="4021069" y="2609411"/>
            <a:ext cx="2881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>
                <a:solidFill>
                  <a:srgbClr val="FF0000"/>
                </a:solidFill>
              </a:rPr>
              <a:t>Como não existe caminho entre todos os pares de vértices</a:t>
            </a:r>
          </a:p>
        </p:txBody>
      </p:sp>
      <p:sp>
        <p:nvSpPr>
          <p:cNvPr id="48" name="Seta para a direita 47"/>
          <p:cNvSpPr/>
          <p:nvPr/>
        </p:nvSpPr>
        <p:spPr>
          <a:xfrm>
            <a:off x="6942540" y="2807212"/>
            <a:ext cx="389860" cy="189174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9" name="CaixaDeTexto 48"/>
          <p:cNvSpPr txBox="1"/>
          <p:nvPr/>
        </p:nvSpPr>
        <p:spPr>
          <a:xfrm>
            <a:off x="7399851" y="2708175"/>
            <a:ext cx="1198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Desconexo</a:t>
            </a:r>
          </a:p>
        </p:txBody>
      </p:sp>
      <p:sp>
        <p:nvSpPr>
          <p:cNvPr id="38" name="CaixaDeTexto 37"/>
          <p:cNvSpPr txBox="1"/>
          <p:nvPr/>
        </p:nvSpPr>
        <p:spPr>
          <a:xfrm>
            <a:off x="4049596" y="3636640"/>
            <a:ext cx="46940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Um grafo desconexo é formado por 2 ou mais grafos conexos chamados </a:t>
            </a:r>
            <a:r>
              <a:rPr lang="pt-BR" sz="1600" dirty="0">
                <a:solidFill>
                  <a:srgbClr val="FF0000"/>
                </a:solidFill>
              </a:rPr>
              <a:t>componentes conexos</a:t>
            </a:r>
            <a:r>
              <a:rPr lang="pt-B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56522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41" grpId="0"/>
      <p:bldP spid="42" grpId="0"/>
      <p:bldP spid="43" grpId="0"/>
      <p:bldP spid="44" grpId="0"/>
      <p:bldP spid="47" grpId="0"/>
      <p:bldP spid="48" grpId="0" animBg="1"/>
      <p:bldP spid="49" grpId="0"/>
      <p:bldP spid="3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Componente Conexo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Dado um grafo G = (V, E), seus componentes conexos são os </a:t>
            </a:r>
            <a:r>
              <a:rPr lang="pt-BR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subgrafos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maximais que são conexos.</a:t>
            </a:r>
          </a:p>
          <a:p>
            <a:endParaRPr lang="pt-BR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Subgrafo maximal é aquele de maior tamanho que atende a uma propriedade (para componentes conexos, a propriedade é ser conexo).</a:t>
            </a: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Elipse 5"/>
          <p:cNvSpPr/>
          <p:nvPr/>
        </p:nvSpPr>
        <p:spPr>
          <a:xfrm>
            <a:off x="1410393" y="304929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836827" y="350682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8" name="Elipse 7"/>
          <p:cNvSpPr/>
          <p:nvPr/>
        </p:nvSpPr>
        <p:spPr>
          <a:xfrm>
            <a:off x="1410392" y="3956953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9" name="Elipse 8"/>
          <p:cNvSpPr/>
          <p:nvPr/>
        </p:nvSpPr>
        <p:spPr>
          <a:xfrm>
            <a:off x="2348195" y="3998969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10" name="Elipse 9"/>
          <p:cNvSpPr/>
          <p:nvPr/>
        </p:nvSpPr>
        <p:spPr>
          <a:xfrm>
            <a:off x="3101673" y="3989898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11" name="Elipse 10"/>
          <p:cNvSpPr/>
          <p:nvPr/>
        </p:nvSpPr>
        <p:spPr>
          <a:xfrm>
            <a:off x="1980094" y="351779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12" name="Elipse 11"/>
          <p:cNvSpPr/>
          <p:nvPr/>
        </p:nvSpPr>
        <p:spPr>
          <a:xfrm>
            <a:off x="3000691" y="2919458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8</a:t>
            </a:r>
          </a:p>
        </p:txBody>
      </p:sp>
      <p:sp>
        <p:nvSpPr>
          <p:cNvPr id="13" name="Elipse 12"/>
          <p:cNvSpPr/>
          <p:nvPr/>
        </p:nvSpPr>
        <p:spPr>
          <a:xfrm>
            <a:off x="3543405" y="358849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7</a:t>
            </a:r>
          </a:p>
        </p:txBody>
      </p:sp>
      <p:cxnSp>
        <p:nvCxnSpPr>
          <p:cNvPr id="14" name="Conector de seta reta 13"/>
          <p:cNvCxnSpPr>
            <a:stCxn id="7" idx="7"/>
            <a:endCxn id="6" idx="3"/>
          </p:cNvCxnSpPr>
          <p:nvPr/>
        </p:nvCxnSpPr>
        <p:spPr>
          <a:xfrm flipV="1">
            <a:off x="1033227" y="3241310"/>
            <a:ext cx="410863" cy="298461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9" idx="6"/>
            <a:endCxn id="10" idx="2"/>
          </p:cNvCxnSpPr>
          <p:nvPr/>
        </p:nvCxnSpPr>
        <p:spPr>
          <a:xfrm flipV="1">
            <a:off x="2578292" y="4102381"/>
            <a:ext cx="523381" cy="9071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17"/>
          <p:cNvCxnSpPr>
            <a:stCxn id="8" idx="7"/>
            <a:endCxn id="11" idx="3"/>
          </p:cNvCxnSpPr>
          <p:nvPr/>
        </p:nvCxnSpPr>
        <p:spPr>
          <a:xfrm flipV="1">
            <a:off x="1606792" y="3709816"/>
            <a:ext cx="406999" cy="280082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>
            <a:stCxn id="7" idx="5"/>
            <a:endCxn id="8" idx="1"/>
          </p:cNvCxnSpPr>
          <p:nvPr/>
        </p:nvCxnSpPr>
        <p:spPr>
          <a:xfrm>
            <a:off x="1033227" y="3698846"/>
            <a:ext cx="410862" cy="291052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5"/>
            <a:endCxn id="11" idx="1"/>
          </p:cNvCxnSpPr>
          <p:nvPr/>
        </p:nvCxnSpPr>
        <p:spPr>
          <a:xfrm>
            <a:off x="1606793" y="3241310"/>
            <a:ext cx="406998" cy="309431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>
            <a:stCxn id="13" idx="1"/>
            <a:endCxn id="12" idx="5"/>
          </p:cNvCxnSpPr>
          <p:nvPr/>
        </p:nvCxnSpPr>
        <p:spPr>
          <a:xfrm flipH="1" flipV="1">
            <a:off x="3197091" y="3111478"/>
            <a:ext cx="380011" cy="509963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aixaDeTexto 21"/>
          <p:cNvSpPr txBox="1"/>
          <p:nvPr/>
        </p:nvSpPr>
        <p:spPr>
          <a:xfrm>
            <a:off x="789028" y="2912958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64" name="Elipse 63"/>
          <p:cNvSpPr/>
          <p:nvPr/>
        </p:nvSpPr>
        <p:spPr>
          <a:xfrm>
            <a:off x="5154515" y="3466785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65" name="Elipse 64"/>
          <p:cNvSpPr/>
          <p:nvPr/>
        </p:nvSpPr>
        <p:spPr>
          <a:xfrm>
            <a:off x="6297782" y="3477755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66" name="CaixaDeTexto 65"/>
          <p:cNvSpPr txBox="1"/>
          <p:nvPr/>
        </p:nvSpPr>
        <p:spPr>
          <a:xfrm>
            <a:off x="5106716" y="2872917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</a:t>
            </a:r>
          </a:p>
        </p:txBody>
      </p:sp>
      <p:sp>
        <p:nvSpPr>
          <p:cNvPr id="67" name="CaixaDeTexto 66"/>
          <p:cNvSpPr txBox="1"/>
          <p:nvPr/>
        </p:nvSpPr>
        <p:spPr>
          <a:xfrm>
            <a:off x="4695591" y="3933103"/>
            <a:ext cx="24584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Subgrafo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mas não é conexo</a:t>
            </a:r>
          </a:p>
        </p:txBody>
      </p:sp>
    </p:spTree>
    <p:extLst>
      <p:ext uri="{BB962C8B-B14F-4D97-AF65-F5344CB8AC3E}">
        <p14:creationId xmlns:p14="http://schemas.microsoft.com/office/powerpoint/2010/main" val="2545264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22" grpId="0"/>
      <p:bldP spid="64" grpId="0" animBg="1"/>
      <p:bldP spid="65" grpId="0" animBg="1"/>
      <p:bldP spid="66" grpId="0"/>
      <p:bldP spid="6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Componente Conexo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Dado um grafo G = (V, E), seus componentes conexos são os </a:t>
            </a:r>
            <a:r>
              <a:rPr lang="pt-BR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subgrafos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maximais que são conexos.</a:t>
            </a:r>
          </a:p>
          <a:p>
            <a:endParaRPr lang="pt-BR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Subgrafo maximal é aquele de maior tamanho que atende a uma propriedade (para componentes conexos, a propriedade é ser conexo).</a:t>
            </a: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Elipse 5"/>
          <p:cNvSpPr/>
          <p:nvPr/>
        </p:nvSpPr>
        <p:spPr>
          <a:xfrm>
            <a:off x="1410393" y="304929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836827" y="350682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8" name="Elipse 7"/>
          <p:cNvSpPr/>
          <p:nvPr/>
        </p:nvSpPr>
        <p:spPr>
          <a:xfrm>
            <a:off x="1410392" y="3956953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9" name="Elipse 8"/>
          <p:cNvSpPr/>
          <p:nvPr/>
        </p:nvSpPr>
        <p:spPr>
          <a:xfrm>
            <a:off x="2348195" y="3998969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10" name="Elipse 9"/>
          <p:cNvSpPr/>
          <p:nvPr/>
        </p:nvSpPr>
        <p:spPr>
          <a:xfrm>
            <a:off x="3101673" y="3989898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11" name="Elipse 10"/>
          <p:cNvSpPr/>
          <p:nvPr/>
        </p:nvSpPr>
        <p:spPr>
          <a:xfrm>
            <a:off x="1980094" y="351779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12" name="Elipse 11"/>
          <p:cNvSpPr/>
          <p:nvPr/>
        </p:nvSpPr>
        <p:spPr>
          <a:xfrm>
            <a:off x="3000691" y="2919458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8</a:t>
            </a:r>
          </a:p>
        </p:txBody>
      </p:sp>
      <p:sp>
        <p:nvSpPr>
          <p:cNvPr id="13" name="Elipse 12"/>
          <p:cNvSpPr/>
          <p:nvPr/>
        </p:nvSpPr>
        <p:spPr>
          <a:xfrm>
            <a:off x="3543405" y="358849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7</a:t>
            </a:r>
          </a:p>
        </p:txBody>
      </p:sp>
      <p:cxnSp>
        <p:nvCxnSpPr>
          <p:cNvPr id="14" name="Conector de seta reta 13"/>
          <p:cNvCxnSpPr>
            <a:stCxn id="7" idx="7"/>
            <a:endCxn id="6" idx="3"/>
          </p:cNvCxnSpPr>
          <p:nvPr/>
        </p:nvCxnSpPr>
        <p:spPr>
          <a:xfrm flipV="1">
            <a:off x="1033227" y="3241310"/>
            <a:ext cx="410863" cy="298461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9" idx="6"/>
            <a:endCxn id="10" idx="2"/>
          </p:cNvCxnSpPr>
          <p:nvPr/>
        </p:nvCxnSpPr>
        <p:spPr>
          <a:xfrm flipV="1">
            <a:off x="2578292" y="4102381"/>
            <a:ext cx="523381" cy="9071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17"/>
          <p:cNvCxnSpPr>
            <a:stCxn id="8" idx="7"/>
            <a:endCxn id="11" idx="3"/>
          </p:cNvCxnSpPr>
          <p:nvPr/>
        </p:nvCxnSpPr>
        <p:spPr>
          <a:xfrm flipV="1">
            <a:off x="1606792" y="3709816"/>
            <a:ext cx="406999" cy="280082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>
            <a:stCxn id="7" idx="5"/>
            <a:endCxn id="8" idx="1"/>
          </p:cNvCxnSpPr>
          <p:nvPr/>
        </p:nvCxnSpPr>
        <p:spPr>
          <a:xfrm>
            <a:off x="1033227" y="3698846"/>
            <a:ext cx="410862" cy="291052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5"/>
            <a:endCxn id="11" idx="1"/>
          </p:cNvCxnSpPr>
          <p:nvPr/>
        </p:nvCxnSpPr>
        <p:spPr>
          <a:xfrm>
            <a:off x="1606793" y="3241310"/>
            <a:ext cx="406998" cy="309431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>
            <a:stCxn id="13" idx="1"/>
            <a:endCxn id="12" idx="5"/>
          </p:cNvCxnSpPr>
          <p:nvPr/>
        </p:nvCxnSpPr>
        <p:spPr>
          <a:xfrm flipH="1" flipV="1">
            <a:off x="3197091" y="3111478"/>
            <a:ext cx="380011" cy="509963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aixaDeTexto 21"/>
          <p:cNvSpPr txBox="1"/>
          <p:nvPr/>
        </p:nvSpPr>
        <p:spPr>
          <a:xfrm>
            <a:off x="789028" y="2912958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67" name="CaixaDeTexto 66"/>
          <p:cNvSpPr txBox="1"/>
          <p:nvPr/>
        </p:nvSpPr>
        <p:spPr>
          <a:xfrm>
            <a:off x="4511442" y="3967249"/>
            <a:ext cx="18606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Subgrafo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conexo mas não maximal</a:t>
            </a:r>
          </a:p>
        </p:txBody>
      </p:sp>
      <p:sp>
        <p:nvSpPr>
          <p:cNvPr id="23" name="Elipse 22"/>
          <p:cNvSpPr/>
          <p:nvPr/>
        </p:nvSpPr>
        <p:spPr>
          <a:xfrm>
            <a:off x="5326718" y="2824934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24" name="Elipse 23"/>
          <p:cNvSpPr/>
          <p:nvPr/>
        </p:nvSpPr>
        <p:spPr>
          <a:xfrm>
            <a:off x="4753152" y="328247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25" name="Elipse 24"/>
          <p:cNvSpPr/>
          <p:nvPr/>
        </p:nvSpPr>
        <p:spPr>
          <a:xfrm>
            <a:off x="5326717" y="3732597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cxnSp>
        <p:nvCxnSpPr>
          <p:cNvPr id="27" name="Conector de seta reta 26"/>
          <p:cNvCxnSpPr>
            <a:stCxn id="24" idx="7"/>
            <a:endCxn id="23" idx="3"/>
          </p:cNvCxnSpPr>
          <p:nvPr/>
        </p:nvCxnSpPr>
        <p:spPr>
          <a:xfrm flipV="1">
            <a:off x="4949552" y="3016954"/>
            <a:ext cx="410863" cy="298461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/>
          <p:cNvCxnSpPr>
            <a:stCxn id="24" idx="5"/>
            <a:endCxn id="25" idx="1"/>
          </p:cNvCxnSpPr>
          <p:nvPr/>
        </p:nvCxnSpPr>
        <p:spPr>
          <a:xfrm>
            <a:off x="4949552" y="3474490"/>
            <a:ext cx="410862" cy="291052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aixaDeTexto 30"/>
          <p:cNvSpPr txBox="1"/>
          <p:nvPr/>
        </p:nvSpPr>
        <p:spPr>
          <a:xfrm>
            <a:off x="4671690" y="2688602"/>
            <a:ext cx="3818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</p:txBody>
      </p:sp>
      <p:sp>
        <p:nvSpPr>
          <p:cNvPr id="32" name="Elipse 31"/>
          <p:cNvSpPr/>
          <p:nvPr/>
        </p:nvSpPr>
        <p:spPr>
          <a:xfrm>
            <a:off x="7493526" y="2825322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33" name="Elipse 32"/>
          <p:cNvSpPr/>
          <p:nvPr/>
        </p:nvSpPr>
        <p:spPr>
          <a:xfrm>
            <a:off x="6919960" y="3282858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34" name="Elipse 33"/>
          <p:cNvSpPr/>
          <p:nvPr/>
        </p:nvSpPr>
        <p:spPr>
          <a:xfrm>
            <a:off x="7493525" y="3732985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35" name="Elipse 34"/>
          <p:cNvSpPr/>
          <p:nvPr/>
        </p:nvSpPr>
        <p:spPr>
          <a:xfrm>
            <a:off x="8063227" y="3293828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cxnSp>
        <p:nvCxnSpPr>
          <p:cNvPr id="36" name="Conector de seta reta 35"/>
          <p:cNvCxnSpPr>
            <a:stCxn id="33" idx="7"/>
            <a:endCxn id="32" idx="3"/>
          </p:cNvCxnSpPr>
          <p:nvPr/>
        </p:nvCxnSpPr>
        <p:spPr>
          <a:xfrm flipV="1">
            <a:off x="7116360" y="3017342"/>
            <a:ext cx="410863" cy="298461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de seta reta 36"/>
          <p:cNvCxnSpPr>
            <a:stCxn id="34" idx="7"/>
            <a:endCxn id="35" idx="3"/>
          </p:cNvCxnSpPr>
          <p:nvPr/>
        </p:nvCxnSpPr>
        <p:spPr>
          <a:xfrm flipV="1">
            <a:off x="7689925" y="3485848"/>
            <a:ext cx="406999" cy="280082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de seta reta 37"/>
          <p:cNvCxnSpPr>
            <a:stCxn id="33" idx="5"/>
            <a:endCxn id="34" idx="1"/>
          </p:cNvCxnSpPr>
          <p:nvPr/>
        </p:nvCxnSpPr>
        <p:spPr>
          <a:xfrm>
            <a:off x="7116360" y="3474878"/>
            <a:ext cx="410862" cy="291052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de seta reta 38"/>
          <p:cNvCxnSpPr>
            <a:stCxn id="32" idx="5"/>
            <a:endCxn id="35" idx="1"/>
          </p:cNvCxnSpPr>
          <p:nvPr/>
        </p:nvCxnSpPr>
        <p:spPr>
          <a:xfrm>
            <a:off x="7689926" y="3017342"/>
            <a:ext cx="406998" cy="309431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CaixaDeTexto 39"/>
          <p:cNvSpPr txBox="1"/>
          <p:nvPr/>
        </p:nvSpPr>
        <p:spPr>
          <a:xfrm>
            <a:off x="6838498" y="2688990"/>
            <a:ext cx="3818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6678250" y="3961690"/>
            <a:ext cx="18606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Subgrafo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conexo maximal</a:t>
            </a:r>
          </a:p>
        </p:txBody>
      </p:sp>
    </p:spTree>
    <p:extLst>
      <p:ext uri="{BB962C8B-B14F-4D97-AF65-F5344CB8AC3E}">
        <p14:creationId xmlns:p14="http://schemas.microsoft.com/office/powerpoint/2010/main" val="3087478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 animBg="1"/>
      <p:bldP spid="34" grpId="0" animBg="1"/>
      <p:bldP spid="35" grpId="0" animBg="1"/>
      <p:bldP spid="40" grpId="0"/>
      <p:bldP spid="4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Componente Conexo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Dado um grafo G = (V, E), seus componentes conexos são os </a:t>
            </a:r>
            <a:r>
              <a:rPr lang="pt-BR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subgrafos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maximais que são conexos.</a:t>
            </a:r>
          </a:p>
          <a:p>
            <a:endParaRPr lang="pt-BR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Subgrafo maximal é aquele de maior tamanho que atende a uma propriedade (para componentes conexos, a propriedade é ser conexo).</a:t>
            </a: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Elipse 5"/>
          <p:cNvSpPr/>
          <p:nvPr/>
        </p:nvSpPr>
        <p:spPr>
          <a:xfrm>
            <a:off x="1410393" y="304929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836827" y="350682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8" name="Elipse 7"/>
          <p:cNvSpPr/>
          <p:nvPr/>
        </p:nvSpPr>
        <p:spPr>
          <a:xfrm>
            <a:off x="1410392" y="3956953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9" name="Elipse 8"/>
          <p:cNvSpPr/>
          <p:nvPr/>
        </p:nvSpPr>
        <p:spPr>
          <a:xfrm>
            <a:off x="2348195" y="3998969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10" name="Elipse 9"/>
          <p:cNvSpPr/>
          <p:nvPr/>
        </p:nvSpPr>
        <p:spPr>
          <a:xfrm>
            <a:off x="3101673" y="3989898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11" name="Elipse 10"/>
          <p:cNvSpPr/>
          <p:nvPr/>
        </p:nvSpPr>
        <p:spPr>
          <a:xfrm>
            <a:off x="1980094" y="351779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12" name="Elipse 11"/>
          <p:cNvSpPr/>
          <p:nvPr/>
        </p:nvSpPr>
        <p:spPr>
          <a:xfrm>
            <a:off x="3000691" y="2919458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8</a:t>
            </a:r>
          </a:p>
        </p:txBody>
      </p:sp>
      <p:sp>
        <p:nvSpPr>
          <p:cNvPr id="13" name="Elipse 12"/>
          <p:cNvSpPr/>
          <p:nvPr/>
        </p:nvSpPr>
        <p:spPr>
          <a:xfrm>
            <a:off x="3543405" y="358849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7</a:t>
            </a:r>
          </a:p>
        </p:txBody>
      </p:sp>
      <p:cxnSp>
        <p:nvCxnSpPr>
          <p:cNvPr id="14" name="Conector de seta reta 13"/>
          <p:cNvCxnSpPr>
            <a:stCxn id="7" idx="7"/>
            <a:endCxn id="6" idx="3"/>
          </p:cNvCxnSpPr>
          <p:nvPr/>
        </p:nvCxnSpPr>
        <p:spPr>
          <a:xfrm flipV="1">
            <a:off x="1033227" y="3241310"/>
            <a:ext cx="410863" cy="298461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9" idx="6"/>
            <a:endCxn id="10" idx="2"/>
          </p:cNvCxnSpPr>
          <p:nvPr/>
        </p:nvCxnSpPr>
        <p:spPr>
          <a:xfrm flipV="1">
            <a:off x="2578292" y="4102381"/>
            <a:ext cx="523381" cy="9071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17"/>
          <p:cNvCxnSpPr>
            <a:stCxn id="8" idx="7"/>
            <a:endCxn id="11" idx="3"/>
          </p:cNvCxnSpPr>
          <p:nvPr/>
        </p:nvCxnSpPr>
        <p:spPr>
          <a:xfrm flipV="1">
            <a:off x="1606792" y="3709816"/>
            <a:ext cx="406999" cy="280082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>
            <a:stCxn id="7" idx="5"/>
            <a:endCxn id="8" idx="1"/>
          </p:cNvCxnSpPr>
          <p:nvPr/>
        </p:nvCxnSpPr>
        <p:spPr>
          <a:xfrm>
            <a:off x="1033227" y="3698846"/>
            <a:ext cx="410862" cy="291052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5"/>
            <a:endCxn id="11" idx="1"/>
          </p:cNvCxnSpPr>
          <p:nvPr/>
        </p:nvCxnSpPr>
        <p:spPr>
          <a:xfrm>
            <a:off x="1606793" y="3241310"/>
            <a:ext cx="406998" cy="309431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>
            <a:stCxn id="13" idx="1"/>
            <a:endCxn id="12" idx="5"/>
          </p:cNvCxnSpPr>
          <p:nvPr/>
        </p:nvCxnSpPr>
        <p:spPr>
          <a:xfrm flipH="1" flipV="1">
            <a:off x="3197091" y="3111478"/>
            <a:ext cx="380011" cy="509963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aixaDeTexto 21"/>
          <p:cNvSpPr txBox="1"/>
          <p:nvPr/>
        </p:nvSpPr>
        <p:spPr>
          <a:xfrm>
            <a:off x="789028" y="2912958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32" name="Elipse 31"/>
          <p:cNvSpPr/>
          <p:nvPr/>
        </p:nvSpPr>
        <p:spPr>
          <a:xfrm>
            <a:off x="5290721" y="2813082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33" name="Elipse 32"/>
          <p:cNvSpPr/>
          <p:nvPr/>
        </p:nvSpPr>
        <p:spPr>
          <a:xfrm>
            <a:off x="4717155" y="3270618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34" name="Elipse 33"/>
          <p:cNvSpPr/>
          <p:nvPr/>
        </p:nvSpPr>
        <p:spPr>
          <a:xfrm>
            <a:off x="5290720" y="3720745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35" name="Elipse 34"/>
          <p:cNvSpPr/>
          <p:nvPr/>
        </p:nvSpPr>
        <p:spPr>
          <a:xfrm>
            <a:off x="5860422" y="3281588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cxnSp>
        <p:nvCxnSpPr>
          <p:cNvPr id="36" name="Conector de seta reta 35"/>
          <p:cNvCxnSpPr>
            <a:stCxn id="33" idx="7"/>
            <a:endCxn id="32" idx="3"/>
          </p:cNvCxnSpPr>
          <p:nvPr/>
        </p:nvCxnSpPr>
        <p:spPr>
          <a:xfrm flipV="1">
            <a:off x="4913555" y="3005102"/>
            <a:ext cx="410863" cy="298461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de seta reta 36"/>
          <p:cNvCxnSpPr>
            <a:stCxn id="34" idx="7"/>
            <a:endCxn id="35" idx="3"/>
          </p:cNvCxnSpPr>
          <p:nvPr/>
        </p:nvCxnSpPr>
        <p:spPr>
          <a:xfrm flipV="1">
            <a:off x="5487120" y="3473608"/>
            <a:ext cx="406999" cy="280082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de seta reta 37"/>
          <p:cNvCxnSpPr>
            <a:stCxn id="33" idx="5"/>
            <a:endCxn id="34" idx="1"/>
          </p:cNvCxnSpPr>
          <p:nvPr/>
        </p:nvCxnSpPr>
        <p:spPr>
          <a:xfrm>
            <a:off x="4913555" y="3462638"/>
            <a:ext cx="410862" cy="291052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de seta reta 38"/>
          <p:cNvCxnSpPr>
            <a:stCxn id="32" idx="5"/>
            <a:endCxn id="35" idx="1"/>
          </p:cNvCxnSpPr>
          <p:nvPr/>
        </p:nvCxnSpPr>
        <p:spPr>
          <a:xfrm>
            <a:off x="5487121" y="3005102"/>
            <a:ext cx="406998" cy="309431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CaixaDeTexto 39"/>
          <p:cNvSpPr txBox="1"/>
          <p:nvPr/>
        </p:nvSpPr>
        <p:spPr>
          <a:xfrm>
            <a:off x="4635693" y="2676750"/>
            <a:ext cx="3818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4475445" y="3949450"/>
            <a:ext cx="18606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Subgrafo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conexo maximal</a:t>
            </a:r>
          </a:p>
        </p:txBody>
      </p:sp>
      <p:sp>
        <p:nvSpPr>
          <p:cNvPr id="42" name="Elipse 41"/>
          <p:cNvSpPr/>
          <p:nvPr/>
        </p:nvSpPr>
        <p:spPr>
          <a:xfrm>
            <a:off x="7321657" y="2813082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43" name="Elipse 42"/>
          <p:cNvSpPr/>
          <p:nvPr/>
        </p:nvSpPr>
        <p:spPr>
          <a:xfrm>
            <a:off x="6748091" y="3270618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44" name="Elipse 43"/>
          <p:cNvSpPr/>
          <p:nvPr/>
        </p:nvSpPr>
        <p:spPr>
          <a:xfrm>
            <a:off x="7321656" y="3720745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45" name="Elipse 44"/>
          <p:cNvSpPr/>
          <p:nvPr/>
        </p:nvSpPr>
        <p:spPr>
          <a:xfrm>
            <a:off x="7891358" y="3281588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cxnSp>
        <p:nvCxnSpPr>
          <p:cNvPr id="46" name="Conector de seta reta 45"/>
          <p:cNvCxnSpPr>
            <a:stCxn id="43" idx="7"/>
            <a:endCxn id="42" idx="3"/>
          </p:cNvCxnSpPr>
          <p:nvPr/>
        </p:nvCxnSpPr>
        <p:spPr>
          <a:xfrm flipV="1">
            <a:off x="6944491" y="3005102"/>
            <a:ext cx="410863" cy="298461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de seta reta 46"/>
          <p:cNvCxnSpPr>
            <a:stCxn id="44" idx="7"/>
            <a:endCxn id="45" idx="3"/>
          </p:cNvCxnSpPr>
          <p:nvPr/>
        </p:nvCxnSpPr>
        <p:spPr>
          <a:xfrm flipV="1">
            <a:off x="7518056" y="3473608"/>
            <a:ext cx="406999" cy="280082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de seta reta 47"/>
          <p:cNvCxnSpPr>
            <a:stCxn id="43" idx="5"/>
            <a:endCxn id="44" idx="1"/>
          </p:cNvCxnSpPr>
          <p:nvPr/>
        </p:nvCxnSpPr>
        <p:spPr>
          <a:xfrm>
            <a:off x="6944491" y="3462638"/>
            <a:ext cx="410862" cy="291052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de seta reta 48"/>
          <p:cNvCxnSpPr>
            <a:stCxn id="42" idx="5"/>
            <a:endCxn id="45" idx="1"/>
          </p:cNvCxnSpPr>
          <p:nvPr/>
        </p:nvCxnSpPr>
        <p:spPr>
          <a:xfrm>
            <a:off x="7518057" y="3005102"/>
            <a:ext cx="406998" cy="309431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CaixaDeTexto 49"/>
          <p:cNvSpPr txBox="1"/>
          <p:nvPr/>
        </p:nvSpPr>
        <p:spPr>
          <a:xfrm>
            <a:off x="6666629" y="2676750"/>
            <a:ext cx="3818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3</a:t>
            </a:r>
          </a:p>
        </p:txBody>
      </p:sp>
      <p:sp>
        <p:nvSpPr>
          <p:cNvPr id="51" name="CaixaDeTexto 50"/>
          <p:cNvSpPr txBox="1"/>
          <p:nvPr/>
        </p:nvSpPr>
        <p:spPr>
          <a:xfrm>
            <a:off x="6506381" y="3949450"/>
            <a:ext cx="18606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Subgrafo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não conexo</a:t>
            </a:r>
          </a:p>
        </p:txBody>
      </p:sp>
      <p:sp>
        <p:nvSpPr>
          <p:cNvPr id="52" name="Elipse 51"/>
          <p:cNvSpPr/>
          <p:nvPr/>
        </p:nvSpPr>
        <p:spPr>
          <a:xfrm>
            <a:off x="8218280" y="375369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66284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3" grpId="0" animBg="1"/>
      <p:bldP spid="44" grpId="0" animBg="1"/>
      <p:bldP spid="45" grpId="0" animBg="1"/>
      <p:bldP spid="50" grpId="0"/>
      <p:bldP spid="51" grpId="0"/>
      <p:bldP spid="52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Componente Conexo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Dado um grafo G = (V, E), seus componentes conexos são os </a:t>
            </a:r>
            <a:r>
              <a:rPr lang="pt-BR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subgrafos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maximais que são conexos.</a:t>
            </a:r>
          </a:p>
          <a:p>
            <a:endParaRPr lang="pt-BR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Subgrafo maximal é aquele de maior tamanho que atende a uma propriedade (para componentes conexos, a propriedade é ser conexo).</a:t>
            </a: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Elipse 5"/>
          <p:cNvSpPr/>
          <p:nvPr/>
        </p:nvSpPr>
        <p:spPr>
          <a:xfrm>
            <a:off x="1410393" y="304929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836827" y="350682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8" name="Elipse 7"/>
          <p:cNvSpPr/>
          <p:nvPr/>
        </p:nvSpPr>
        <p:spPr>
          <a:xfrm>
            <a:off x="1410392" y="3956953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9" name="Elipse 8"/>
          <p:cNvSpPr/>
          <p:nvPr/>
        </p:nvSpPr>
        <p:spPr>
          <a:xfrm>
            <a:off x="2348195" y="3998969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10" name="Elipse 9"/>
          <p:cNvSpPr/>
          <p:nvPr/>
        </p:nvSpPr>
        <p:spPr>
          <a:xfrm>
            <a:off x="3101673" y="3989898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11" name="Elipse 10"/>
          <p:cNvSpPr/>
          <p:nvPr/>
        </p:nvSpPr>
        <p:spPr>
          <a:xfrm>
            <a:off x="1980094" y="351779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12" name="Elipse 11"/>
          <p:cNvSpPr/>
          <p:nvPr/>
        </p:nvSpPr>
        <p:spPr>
          <a:xfrm>
            <a:off x="3000691" y="2919458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8</a:t>
            </a:r>
          </a:p>
        </p:txBody>
      </p:sp>
      <p:sp>
        <p:nvSpPr>
          <p:cNvPr id="13" name="Elipse 12"/>
          <p:cNvSpPr/>
          <p:nvPr/>
        </p:nvSpPr>
        <p:spPr>
          <a:xfrm>
            <a:off x="3543405" y="358849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7</a:t>
            </a:r>
          </a:p>
        </p:txBody>
      </p:sp>
      <p:cxnSp>
        <p:nvCxnSpPr>
          <p:cNvPr id="14" name="Conector de seta reta 13"/>
          <p:cNvCxnSpPr>
            <a:stCxn id="7" idx="7"/>
            <a:endCxn id="6" idx="3"/>
          </p:cNvCxnSpPr>
          <p:nvPr/>
        </p:nvCxnSpPr>
        <p:spPr>
          <a:xfrm flipV="1">
            <a:off x="1033227" y="3241310"/>
            <a:ext cx="410863" cy="298461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9" idx="6"/>
            <a:endCxn id="10" idx="2"/>
          </p:cNvCxnSpPr>
          <p:nvPr/>
        </p:nvCxnSpPr>
        <p:spPr>
          <a:xfrm flipV="1">
            <a:off x="2578292" y="4102381"/>
            <a:ext cx="523381" cy="9071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17"/>
          <p:cNvCxnSpPr>
            <a:stCxn id="8" idx="7"/>
            <a:endCxn id="11" idx="3"/>
          </p:cNvCxnSpPr>
          <p:nvPr/>
        </p:nvCxnSpPr>
        <p:spPr>
          <a:xfrm flipV="1">
            <a:off x="1606792" y="3709816"/>
            <a:ext cx="406999" cy="280082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>
            <a:stCxn id="7" idx="5"/>
            <a:endCxn id="8" idx="1"/>
          </p:cNvCxnSpPr>
          <p:nvPr/>
        </p:nvCxnSpPr>
        <p:spPr>
          <a:xfrm>
            <a:off x="1033227" y="3698846"/>
            <a:ext cx="410862" cy="291052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6" idx="5"/>
            <a:endCxn id="11" idx="1"/>
          </p:cNvCxnSpPr>
          <p:nvPr/>
        </p:nvCxnSpPr>
        <p:spPr>
          <a:xfrm>
            <a:off x="1606793" y="3241310"/>
            <a:ext cx="406998" cy="309431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>
            <a:stCxn id="13" idx="1"/>
            <a:endCxn id="12" idx="5"/>
          </p:cNvCxnSpPr>
          <p:nvPr/>
        </p:nvCxnSpPr>
        <p:spPr>
          <a:xfrm flipH="1" flipV="1">
            <a:off x="3197091" y="3111478"/>
            <a:ext cx="380011" cy="509963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aixaDeTexto 21"/>
          <p:cNvSpPr txBox="1"/>
          <p:nvPr/>
        </p:nvSpPr>
        <p:spPr>
          <a:xfrm>
            <a:off x="789028" y="2912958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53" name="Elipse 52"/>
          <p:cNvSpPr/>
          <p:nvPr/>
        </p:nvSpPr>
        <p:spPr>
          <a:xfrm>
            <a:off x="5294061" y="293978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54" name="Elipse 53"/>
          <p:cNvSpPr/>
          <p:nvPr/>
        </p:nvSpPr>
        <p:spPr>
          <a:xfrm>
            <a:off x="4720495" y="339731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55" name="Elipse 54"/>
          <p:cNvSpPr/>
          <p:nvPr/>
        </p:nvSpPr>
        <p:spPr>
          <a:xfrm>
            <a:off x="5294060" y="3847443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56" name="Elipse 55"/>
          <p:cNvSpPr/>
          <p:nvPr/>
        </p:nvSpPr>
        <p:spPr>
          <a:xfrm>
            <a:off x="6198444" y="4092941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57" name="Elipse 56"/>
          <p:cNvSpPr/>
          <p:nvPr/>
        </p:nvSpPr>
        <p:spPr>
          <a:xfrm>
            <a:off x="6951922" y="408387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58" name="Elipse 57"/>
          <p:cNvSpPr/>
          <p:nvPr/>
        </p:nvSpPr>
        <p:spPr>
          <a:xfrm>
            <a:off x="5863762" y="340828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59" name="Elipse 58"/>
          <p:cNvSpPr/>
          <p:nvPr/>
        </p:nvSpPr>
        <p:spPr>
          <a:xfrm>
            <a:off x="6647057" y="2779332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8</a:t>
            </a:r>
          </a:p>
        </p:txBody>
      </p:sp>
      <p:sp>
        <p:nvSpPr>
          <p:cNvPr id="60" name="Elipse 59"/>
          <p:cNvSpPr/>
          <p:nvPr/>
        </p:nvSpPr>
        <p:spPr>
          <a:xfrm>
            <a:off x="7189771" y="344837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7</a:t>
            </a:r>
          </a:p>
        </p:txBody>
      </p:sp>
      <p:cxnSp>
        <p:nvCxnSpPr>
          <p:cNvPr id="61" name="Conector de seta reta 60"/>
          <p:cNvCxnSpPr>
            <a:stCxn id="54" idx="7"/>
            <a:endCxn id="53" idx="3"/>
          </p:cNvCxnSpPr>
          <p:nvPr/>
        </p:nvCxnSpPr>
        <p:spPr>
          <a:xfrm flipV="1">
            <a:off x="4916895" y="3131800"/>
            <a:ext cx="410863" cy="298461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de seta reta 61"/>
          <p:cNvCxnSpPr>
            <a:stCxn id="56" idx="6"/>
            <a:endCxn id="57" idx="2"/>
          </p:cNvCxnSpPr>
          <p:nvPr/>
        </p:nvCxnSpPr>
        <p:spPr>
          <a:xfrm flipV="1">
            <a:off x="6428541" y="4196353"/>
            <a:ext cx="523381" cy="9071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ector de seta reta 62"/>
          <p:cNvCxnSpPr>
            <a:stCxn id="55" idx="7"/>
            <a:endCxn id="58" idx="3"/>
          </p:cNvCxnSpPr>
          <p:nvPr/>
        </p:nvCxnSpPr>
        <p:spPr>
          <a:xfrm flipV="1">
            <a:off x="5490460" y="3600306"/>
            <a:ext cx="406999" cy="280082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ector de seta reta 63"/>
          <p:cNvCxnSpPr>
            <a:stCxn id="54" idx="5"/>
            <a:endCxn id="55" idx="1"/>
          </p:cNvCxnSpPr>
          <p:nvPr/>
        </p:nvCxnSpPr>
        <p:spPr>
          <a:xfrm>
            <a:off x="4916895" y="3589336"/>
            <a:ext cx="410862" cy="291052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de seta reta 64"/>
          <p:cNvCxnSpPr>
            <a:stCxn id="53" idx="5"/>
            <a:endCxn id="58" idx="1"/>
          </p:cNvCxnSpPr>
          <p:nvPr/>
        </p:nvCxnSpPr>
        <p:spPr>
          <a:xfrm>
            <a:off x="5490461" y="3131800"/>
            <a:ext cx="406998" cy="309431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de seta reta 65"/>
          <p:cNvCxnSpPr>
            <a:stCxn id="60" idx="1"/>
            <a:endCxn id="59" idx="5"/>
          </p:cNvCxnSpPr>
          <p:nvPr/>
        </p:nvCxnSpPr>
        <p:spPr>
          <a:xfrm flipH="1" flipV="1">
            <a:off x="6843457" y="2971352"/>
            <a:ext cx="380011" cy="509963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tângulo de cantos arredondados 3"/>
          <p:cNvSpPr/>
          <p:nvPr/>
        </p:nvSpPr>
        <p:spPr>
          <a:xfrm rot="2619333">
            <a:off x="4702489" y="2857353"/>
            <a:ext cx="1390313" cy="1254657"/>
          </a:xfrm>
          <a:prstGeom prst="roundRect">
            <a:avLst>
              <a:gd name="adj" fmla="val 32680"/>
            </a:avLst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 de cantos arredondados 14"/>
          <p:cNvSpPr/>
          <p:nvPr/>
        </p:nvSpPr>
        <p:spPr>
          <a:xfrm rot="3080693">
            <a:off x="6351664" y="2951469"/>
            <a:ext cx="1376273" cy="510045"/>
          </a:xfrm>
          <a:prstGeom prst="roundRect">
            <a:avLst>
              <a:gd name="adj" fmla="val 41626"/>
            </a:avLst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8" name="Retângulo de cantos arredondados 67"/>
          <p:cNvSpPr/>
          <p:nvPr/>
        </p:nvSpPr>
        <p:spPr>
          <a:xfrm>
            <a:off x="6037516" y="3953850"/>
            <a:ext cx="1303296" cy="476450"/>
          </a:xfrm>
          <a:prstGeom prst="roundRect">
            <a:avLst>
              <a:gd name="adj" fmla="val 41626"/>
            </a:avLst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/>
          <p:cNvSpPr txBox="1"/>
          <p:nvPr/>
        </p:nvSpPr>
        <p:spPr>
          <a:xfrm>
            <a:off x="3884647" y="4047225"/>
            <a:ext cx="11332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Componente</a:t>
            </a:r>
          </a:p>
          <a:p>
            <a:pPr algn="ctr"/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conexo</a:t>
            </a:r>
          </a:p>
        </p:txBody>
      </p:sp>
      <p:cxnSp>
        <p:nvCxnSpPr>
          <p:cNvPr id="24" name="Conector de seta reta 23"/>
          <p:cNvCxnSpPr>
            <a:stCxn id="16" idx="0"/>
          </p:cNvCxnSpPr>
          <p:nvPr/>
        </p:nvCxnSpPr>
        <p:spPr>
          <a:xfrm flipV="1">
            <a:off x="4451277" y="3794172"/>
            <a:ext cx="314906" cy="253053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CaixaDeTexto 68"/>
          <p:cNvSpPr txBox="1"/>
          <p:nvPr/>
        </p:nvSpPr>
        <p:spPr>
          <a:xfrm>
            <a:off x="7687213" y="3657546"/>
            <a:ext cx="11332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Componente</a:t>
            </a:r>
          </a:p>
          <a:p>
            <a:pPr algn="ctr"/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conexo</a:t>
            </a:r>
          </a:p>
        </p:txBody>
      </p:sp>
      <p:cxnSp>
        <p:nvCxnSpPr>
          <p:cNvPr id="70" name="Conector de seta reta 69"/>
          <p:cNvCxnSpPr/>
          <p:nvPr/>
        </p:nvCxnSpPr>
        <p:spPr>
          <a:xfrm flipH="1">
            <a:off x="7424573" y="4092941"/>
            <a:ext cx="439620" cy="129286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de seta reta 70"/>
          <p:cNvCxnSpPr/>
          <p:nvPr/>
        </p:nvCxnSpPr>
        <p:spPr>
          <a:xfrm flipH="1" flipV="1">
            <a:off x="7682509" y="3494312"/>
            <a:ext cx="359576" cy="163234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1631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Número de Arestas – Limites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Dado um grafo simples G = (V, E) com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vértices 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k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componentes. O número mínimo de arestas de G é igual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–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k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 </a:t>
            </a:r>
          </a:p>
          <a:p>
            <a:endParaRPr lang="pt-BR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Além disso, o grafo G possui no máximo (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– </a:t>
            </a:r>
            <a:r>
              <a:rPr lang="pt-BR" sz="2000" i="1">
                <a:solidFill>
                  <a:schemeClr val="tx1">
                    <a:lumMod val="65000"/>
                    <a:lumOff val="35000"/>
                  </a:schemeClr>
                </a:solidFill>
              </a:rPr>
              <a:t>k</a:t>
            </a:r>
            <a:r>
              <a:rPr lang="pt-BR" sz="2000">
                <a:solidFill>
                  <a:schemeClr val="tx1">
                    <a:lumMod val="65000"/>
                    <a:lumOff val="35000"/>
                  </a:schemeClr>
                </a:solidFill>
              </a:rPr>
              <a:t>)×(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–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k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+ 1)/2 arestas.</a:t>
            </a:r>
          </a:p>
        </p:txBody>
      </p:sp>
      <p:sp>
        <p:nvSpPr>
          <p:cNvPr id="41" name="Elipse 40"/>
          <p:cNvSpPr/>
          <p:nvPr/>
        </p:nvSpPr>
        <p:spPr>
          <a:xfrm>
            <a:off x="1390296" y="292871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42" name="Elipse 41"/>
          <p:cNvSpPr/>
          <p:nvPr/>
        </p:nvSpPr>
        <p:spPr>
          <a:xfrm>
            <a:off x="816730" y="338624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43" name="Elipse 42"/>
          <p:cNvSpPr/>
          <p:nvPr/>
        </p:nvSpPr>
        <p:spPr>
          <a:xfrm>
            <a:off x="1390295" y="3836373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44" name="Elipse 43"/>
          <p:cNvSpPr/>
          <p:nvPr/>
        </p:nvSpPr>
        <p:spPr>
          <a:xfrm>
            <a:off x="2145827" y="4061338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45" name="Elipse 44"/>
          <p:cNvSpPr/>
          <p:nvPr/>
        </p:nvSpPr>
        <p:spPr>
          <a:xfrm>
            <a:off x="2738246" y="357239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46" name="Elipse 45"/>
          <p:cNvSpPr/>
          <p:nvPr/>
        </p:nvSpPr>
        <p:spPr>
          <a:xfrm>
            <a:off x="1959997" y="339721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sp>
        <p:nvSpPr>
          <p:cNvPr id="48" name="Elipse 47"/>
          <p:cNvSpPr/>
          <p:nvPr/>
        </p:nvSpPr>
        <p:spPr>
          <a:xfrm>
            <a:off x="2697148" y="3024733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7</a:t>
            </a:r>
          </a:p>
        </p:txBody>
      </p:sp>
      <p:cxnSp>
        <p:nvCxnSpPr>
          <p:cNvPr id="49" name="Conector de seta reta 48"/>
          <p:cNvCxnSpPr>
            <a:stCxn id="42" idx="7"/>
            <a:endCxn id="41" idx="3"/>
          </p:cNvCxnSpPr>
          <p:nvPr/>
        </p:nvCxnSpPr>
        <p:spPr>
          <a:xfrm flipV="1">
            <a:off x="1013130" y="3120730"/>
            <a:ext cx="410863" cy="298461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de seta reta 49"/>
          <p:cNvCxnSpPr>
            <a:stCxn id="44" idx="7"/>
            <a:endCxn id="45" idx="3"/>
          </p:cNvCxnSpPr>
          <p:nvPr/>
        </p:nvCxnSpPr>
        <p:spPr>
          <a:xfrm flipV="1">
            <a:off x="2342227" y="3764410"/>
            <a:ext cx="429716" cy="329873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de seta reta 50"/>
          <p:cNvCxnSpPr>
            <a:stCxn id="43" idx="7"/>
            <a:endCxn id="46" idx="3"/>
          </p:cNvCxnSpPr>
          <p:nvPr/>
        </p:nvCxnSpPr>
        <p:spPr>
          <a:xfrm flipV="1">
            <a:off x="1586695" y="3589236"/>
            <a:ext cx="406999" cy="280082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de seta reta 51"/>
          <p:cNvCxnSpPr>
            <a:stCxn id="42" idx="5"/>
            <a:endCxn id="43" idx="1"/>
          </p:cNvCxnSpPr>
          <p:nvPr/>
        </p:nvCxnSpPr>
        <p:spPr>
          <a:xfrm>
            <a:off x="1013130" y="3578266"/>
            <a:ext cx="410862" cy="291052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CaixaDeTexto 72"/>
          <p:cNvSpPr txBox="1"/>
          <p:nvPr/>
        </p:nvSpPr>
        <p:spPr>
          <a:xfrm>
            <a:off x="734467" y="2792378"/>
            <a:ext cx="3834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570751" y="2791726"/>
            <a:ext cx="5405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 = 7</a:t>
            </a:r>
          </a:p>
          <a:p>
            <a:pPr algn="ctr"/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k = 3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3431796" y="3762756"/>
            <a:ext cx="8369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4 arestas</a:t>
            </a:r>
          </a:p>
        </p:txBody>
      </p:sp>
      <p:sp>
        <p:nvSpPr>
          <p:cNvPr id="25" name="Seta para baixo 24"/>
          <p:cNvSpPr/>
          <p:nvPr/>
        </p:nvSpPr>
        <p:spPr>
          <a:xfrm>
            <a:off x="3755774" y="3362648"/>
            <a:ext cx="189004" cy="37492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8" name="Elipse 77"/>
          <p:cNvSpPr/>
          <p:nvPr/>
        </p:nvSpPr>
        <p:spPr>
          <a:xfrm>
            <a:off x="6889407" y="3857387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6</a:t>
            </a:r>
          </a:p>
        </p:txBody>
      </p:sp>
      <p:sp>
        <p:nvSpPr>
          <p:cNvPr id="81" name="Elipse 80"/>
          <p:cNvSpPr/>
          <p:nvPr/>
        </p:nvSpPr>
        <p:spPr>
          <a:xfrm>
            <a:off x="7126483" y="329297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7</a:t>
            </a:r>
          </a:p>
        </p:txBody>
      </p:sp>
      <p:sp>
        <p:nvSpPr>
          <p:cNvPr id="87" name="CaixaDeTexto 86"/>
          <p:cNvSpPr txBox="1"/>
          <p:nvPr/>
        </p:nvSpPr>
        <p:spPr>
          <a:xfrm>
            <a:off x="5023760" y="2770402"/>
            <a:ext cx="3834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</a:p>
        </p:txBody>
      </p:sp>
      <p:sp>
        <p:nvSpPr>
          <p:cNvPr id="88" name="CaixaDeTexto 87"/>
          <p:cNvSpPr txBox="1"/>
          <p:nvPr/>
        </p:nvSpPr>
        <p:spPr>
          <a:xfrm>
            <a:off x="7806830" y="2791726"/>
            <a:ext cx="5405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 = 7</a:t>
            </a:r>
          </a:p>
          <a:p>
            <a:pPr algn="ctr"/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k = 3</a:t>
            </a:r>
          </a:p>
        </p:txBody>
      </p:sp>
      <p:sp>
        <p:nvSpPr>
          <p:cNvPr id="89" name="CaixaDeTexto 88"/>
          <p:cNvSpPr txBox="1"/>
          <p:nvPr/>
        </p:nvSpPr>
        <p:spPr>
          <a:xfrm>
            <a:off x="7612930" y="3745205"/>
            <a:ext cx="9283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10 arestas</a:t>
            </a:r>
          </a:p>
        </p:txBody>
      </p:sp>
      <p:sp>
        <p:nvSpPr>
          <p:cNvPr id="90" name="Seta para baixo 89"/>
          <p:cNvSpPr/>
          <p:nvPr/>
        </p:nvSpPr>
        <p:spPr>
          <a:xfrm>
            <a:off x="7991853" y="3362648"/>
            <a:ext cx="189004" cy="37492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7" name="Conector reto 26"/>
          <p:cNvCxnSpPr/>
          <p:nvPr/>
        </p:nvCxnSpPr>
        <p:spPr>
          <a:xfrm>
            <a:off x="4609837" y="2690701"/>
            <a:ext cx="0" cy="162700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Elipse 94"/>
          <p:cNvSpPr/>
          <p:nvPr/>
        </p:nvSpPr>
        <p:spPr>
          <a:xfrm>
            <a:off x="5795974" y="3023019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96" name="Elipse 95"/>
          <p:cNvSpPr/>
          <p:nvPr/>
        </p:nvSpPr>
        <p:spPr>
          <a:xfrm>
            <a:off x="5211852" y="3397215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97" name="Elipse 96"/>
          <p:cNvSpPr/>
          <p:nvPr/>
        </p:nvSpPr>
        <p:spPr>
          <a:xfrm>
            <a:off x="5441949" y="4073712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98" name="Elipse 97"/>
          <p:cNvSpPr/>
          <p:nvPr/>
        </p:nvSpPr>
        <p:spPr>
          <a:xfrm>
            <a:off x="6183576" y="4070761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sp>
        <p:nvSpPr>
          <p:cNvPr id="99" name="Elipse 98"/>
          <p:cNvSpPr/>
          <p:nvPr/>
        </p:nvSpPr>
        <p:spPr>
          <a:xfrm>
            <a:off x="6415514" y="3401649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cxnSp>
        <p:nvCxnSpPr>
          <p:cNvPr id="100" name="Conector de seta reta 99"/>
          <p:cNvCxnSpPr>
            <a:stCxn id="96" idx="4"/>
            <a:endCxn id="97" idx="1"/>
          </p:cNvCxnSpPr>
          <p:nvPr/>
        </p:nvCxnSpPr>
        <p:spPr>
          <a:xfrm>
            <a:off x="5326901" y="3622180"/>
            <a:ext cx="148745" cy="484477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ector de seta reta 102"/>
          <p:cNvCxnSpPr>
            <a:stCxn id="99" idx="4"/>
            <a:endCxn id="98" idx="7"/>
          </p:cNvCxnSpPr>
          <p:nvPr/>
        </p:nvCxnSpPr>
        <p:spPr>
          <a:xfrm flipH="1">
            <a:off x="6379976" y="3626614"/>
            <a:ext cx="150587" cy="477092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ector de seta reta 105"/>
          <p:cNvCxnSpPr>
            <a:stCxn id="98" idx="2"/>
            <a:endCxn id="97" idx="6"/>
          </p:cNvCxnSpPr>
          <p:nvPr/>
        </p:nvCxnSpPr>
        <p:spPr>
          <a:xfrm flipH="1">
            <a:off x="5672046" y="4183244"/>
            <a:ext cx="511530" cy="2951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nector de seta reta 108"/>
          <p:cNvCxnSpPr>
            <a:stCxn id="95" idx="6"/>
            <a:endCxn id="99" idx="1"/>
          </p:cNvCxnSpPr>
          <p:nvPr/>
        </p:nvCxnSpPr>
        <p:spPr>
          <a:xfrm>
            <a:off x="6026071" y="3135502"/>
            <a:ext cx="423140" cy="299092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ector de seta reta 111"/>
          <p:cNvCxnSpPr>
            <a:stCxn id="95" idx="2"/>
            <a:endCxn id="96" idx="7"/>
          </p:cNvCxnSpPr>
          <p:nvPr/>
        </p:nvCxnSpPr>
        <p:spPr>
          <a:xfrm flipH="1">
            <a:off x="5408252" y="3135502"/>
            <a:ext cx="387722" cy="294658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ector de seta reta 119"/>
          <p:cNvCxnSpPr>
            <a:stCxn id="95" idx="5"/>
            <a:endCxn id="98" idx="0"/>
          </p:cNvCxnSpPr>
          <p:nvPr/>
        </p:nvCxnSpPr>
        <p:spPr>
          <a:xfrm>
            <a:off x="5992374" y="3215039"/>
            <a:ext cx="306251" cy="855722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ector de seta reta 122"/>
          <p:cNvCxnSpPr>
            <a:stCxn id="96" idx="5"/>
            <a:endCxn id="98" idx="1"/>
          </p:cNvCxnSpPr>
          <p:nvPr/>
        </p:nvCxnSpPr>
        <p:spPr>
          <a:xfrm>
            <a:off x="5408252" y="3589235"/>
            <a:ext cx="809021" cy="514471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Conector de seta reta 125"/>
          <p:cNvCxnSpPr>
            <a:stCxn id="99" idx="3"/>
            <a:endCxn id="97" idx="7"/>
          </p:cNvCxnSpPr>
          <p:nvPr/>
        </p:nvCxnSpPr>
        <p:spPr>
          <a:xfrm flipH="1">
            <a:off x="5638349" y="3593669"/>
            <a:ext cx="810862" cy="512988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Conector de seta reta 128"/>
          <p:cNvCxnSpPr>
            <a:stCxn id="95" idx="3"/>
            <a:endCxn id="97" idx="0"/>
          </p:cNvCxnSpPr>
          <p:nvPr/>
        </p:nvCxnSpPr>
        <p:spPr>
          <a:xfrm flipH="1">
            <a:off x="5556998" y="3215039"/>
            <a:ext cx="272673" cy="858673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Conector de seta reta 131"/>
          <p:cNvCxnSpPr>
            <a:stCxn id="99" idx="2"/>
            <a:endCxn id="96" idx="6"/>
          </p:cNvCxnSpPr>
          <p:nvPr/>
        </p:nvCxnSpPr>
        <p:spPr>
          <a:xfrm flipH="1" flipV="1">
            <a:off x="5441949" y="3509698"/>
            <a:ext cx="973565" cy="4434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4836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8" grpId="0" animBg="1"/>
      <p:bldP spid="73" grpId="0"/>
      <p:bldP spid="3" grpId="0"/>
      <p:bldP spid="23" grpId="0"/>
      <p:bldP spid="25" grpId="0" animBg="1"/>
      <p:bldP spid="78" grpId="0" animBg="1"/>
      <p:bldP spid="81" grpId="0" animBg="1"/>
      <p:bldP spid="87" grpId="0"/>
      <p:bldP spid="88" grpId="0"/>
      <p:bldP spid="89" grpId="0"/>
      <p:bldP spid="90" grpId="0" animBg="1"/>
      <p:bldP spid="95" grpId="0" animBg="1"/>
      <p:bldP spid="96" grpId="0" animBg="1"/>
      <p:bldP spid="97" grpId="0" animBg="1"/>
      <p:bldP spid="98" grpId="0" animBg="1"/>
      <p:bldP spid="99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4834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CAPA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ubtítulo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Apenas texto corrido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ítulo e texto corrido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Item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Título, texto e imagem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Texto e imagem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Apenas imagens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Tabela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Encerramento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1415</TotalTime>
  <Words>2725</Words>
  <Application>Microsoft Office PowerPoint</Application>
  <PresentationFormat>Apresentação na tela (16:9)</PresentationFormat>
  <Paragraphs>620</Paragraphs>
  <Slides>35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10</vt:i4>
      </vt:variant>
      <vt:variant>
        <vt:lpstr>Títulos de slides</vt:lpstr>
      </vt:variant>
      <vt:variant>
        <vt:i4>35</vt:i4>
      </vt:variant>
    </vt:vector>
  </HeadingPairs>
  <TitlesOfParts>
    <vt:vector size="47" baseType="lpstr">
      <vt:lpstr>Arial</vt:lpstr>
      <vt:lpstr>Calibri</vt:lpstr>
      <vt:lpstr>CAPA</vt:lpstr>
      <vt:lpstr>Subtítulo</vt:lpstr>
      <vt:lpstr>Apenas texto corrido</vt:lpstr>
      <vt:lpstr>Título e texto corrido</vt:lpstr>
      <vt:lpstr>Item</vt:lpstr>
      <vt:lpstr>Título, texto e imagem</vt:lpstr>
      <vt:lpstr>Texto e imagem</vt:lpstr>
      <vt:lpstr>Apenas imagens</vt:lpstr>
      <vt:lpstr>Tabela</vt:lpstr>
      <vt:lpstr>Encerramento</vt:lpstr>
      <vt:lpstr>Caminhos e  Noções de Conectividade</vt:lpstr>
      <vt:lpstr>Passeio / Trajeto / Caminho</vt:lpstr>
      <vt:lpstr>Passeio</vt:lpstr>
      <vt:lpstr>Passeio</vt:lpstr>
      <vt:lpstr>Passeio</vt:lpstr>
      <vt:lpstr>Passeio</vt:lpstr>
      <vt:lpstr>Passeio</vt:lpstr>
      <vt:lpstr>Passeio</vt:lpstr>
      <vt:lpstr>Trajeto</vt:lpstr>
      <vt:lpstr>Caminho</vt:lpstr>
      <vt:lpstr>Distância entre Vértices</vt:lpstr>
      <vt:lpstr>Distância entre Vértices</vt:lpstr>
      <vt:lpstr>Distância entre Vértices</vt:lpstr>
      <vt:lpstr>Distância entre Vértices</vt:lpstr>
      <vt:lpstr>Distância entre Vértices</vt:lpstr>
      <vt:lpstr>Distância entre Vértices</vt:lpstr>
      <vt:lpstr>Distância entre Vértices</vt:lpstr>
      <vt:lpstr>Distância entre Vértices</vt:lpstr>
      <vt:lpstr>Distância entre Vértices</vt:lpstr>
      <vt:lpstr>Distância entre Vértices</vt:lpstr>
      <vt:lpstr>Distância entre Vértices</vt:lpstr>
      <vt:lpstr>Distância entre Vértices</vt:lpstr>
      <vt:lpstr>Caminho Aberto × Caminho Fechado</vt:lpstr>
      <vt:lpstr>Grafo Linear</vt:lpstr>
      <vt:lpstr>Ciclo</vt:lpstr>
      <vt:lpstr>Grafo Ciclo</vt:lpstr>
      <vt:lpstr>Noções de Conectividade</vt:lpstr>
      <vt:lpstr>Grafo Conexo</vt:lpstr>
      <vt:lpstr>Grafo Desconexo</vt:lpstr>
      <vt:lpstr>Componente Conexo</vt:lpstr>
      <vt:lpstr>Componente Conexo</vt:lpstr>
      <vt:lpstr>Componente Conexo</vt:lpstr>
      <vt:lpstr>Componente Conexo</vt:lpstr>
      <vt:lpstr>Número de Arestas – Limites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Kelen da Silva Miranda</dc:creator>
  <cp:lastModifiedBy>Leonardo</cp:lastModifiedBy>
  <cp:revision>139</cp:revision>
  <dcterms:created xsi:type="dcterms:W3CDTF">2018-04-05T14:34:00Z</dcterms:created>
  <dcterms:modified xsi:type="dcterms:W3CDTF">2022-07-30T22:53:12Z</dcterms:modified>
</cp:coreProperties>
</file>